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943600" y="-1097280"/>
            <a:ext cx="4114800" cy="411480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594360"/>
            <a:ext cx="2011680" cy="384048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Segoe UI"/>
              </a:rPr>
              <a:t>CAPSTONE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Segoe UI"/>
              </a:rPr>
              <a:t>LoRA Fine-Tuning
Beats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7889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93C5FD"/>
                </a:solidFill>
                <a:latin typeface="Segoe UI"/>
              </a:rPr>
              <a:t>Executive summary · 5-minute version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749039"/>
            <a:ext cx="1691640" cy="438912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Text2SQL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79" y="3749039"/>
            <a:ext cx="1691640" cy="438912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6039" y="384048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SQL2NoSQL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3749039"/>
            <a:ext cx="1691640" cy="438912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384048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Documentation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57200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CBD5E1"/>
                </a:solidFill>
                <a:latin typeface="Segoe UI"/>
              </a:rPr>
              <a:t>Model: Salesforce/codegen-350M-multi</a:t>
            </a:r>
          </a:p>
          <a:p>
            <a:r>
              <a:rPr sz="1300" b="0">
                <a:solidFill>
                  <a:srgbClr val="CBD5E1"/>
                </a:solidFill>
                <a:latin typeface="Segoe UI"/>
              </a:rPr>
              <a:t>Best adapter: LoRA v3 (full TEND ~8k, r=32+FFN, 10 epochs)</a:t>
            </a:r>
          </a:p>
          <a:p>
            <a:r>
              <a:rPr sz="1300" b="0">
                <a:solidFill>
                  <a:srgbClr val="CBD5E1"/>
                </a:solidFill>
                <a:latin typeface="Segoe UI"/>
              </a:rPr>
              <a:t>Judge: gemma3:4b · Evaluated with live database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Segoe UI"/>
              </a:rPr>
              <a:t>The starting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475569"/>
                </a:solidFill>
                <a:latin typeface="Segoe UI"/>
              </a:rPr>
              <a:t>Zero-shot CodeGen struggles on real database tasks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2606040" cy="1508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73152" cy="15087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58191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Segoe UI"/>
              </a:rPr>
              <a:t>TEXT2SQL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874520"/>
            <a:ext cx="2286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F172A"/>
                </a:solidFill>
                <a:latin typeface="Segoe UI"/>
              </a:rPr>
              <a:t>14%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4231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Segoe UI"/>
              </a:rPr>
              <a:t>queries run correctly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417320"/>
            <a:ext cx="2606040" cy="1508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1417320"/>
            <a:ext cx="73152" cy="15087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158191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Segoe UI"/>
              </a:rPr>
              <a:t>SQL2NOSQL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1874520"/>
            <a:ext cx="2286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F172A"/>
                </a:solidFill>
                <a:latin typeface="Segoe UI"/>
              </a:rPr>
              <a:t>22%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24231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Segoe UI"/>
              </a:rPr>
              <a:t>queries run correctly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417320"/>
            <a:ext cx="2606040" cy="1508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89320" y="1417320"/>
            <a:ext cx="73152" cy="15087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0488" y="158191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Segoe UI"/>
              </a:rPr>
              <a:t>EXACT MATCH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0488" y="1874520"/>
            <a:ext cx="2286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F172A"/>
                </a:solidFill>
                <a:latin typeface="Segoe UI"/>
              </a:rPr>
              <a:t>0–4%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0488" y="24231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Segoe UI"/>
              </a:rPr>
              <a:t>string-perfect 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246120"/>
            <a:ext cx="79552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 b="0">
                <a:solidFill>
                  <a:srgbClr val="1E293B"/>
                </a:solidFill>
                <a:latin typeface="Segoe UI"/>
              </a:rPr>
              <a:t>Baseline = same model with no LoRA adapter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 b="0">
                <a:solidFill>
                  <a:srgbClr val="1E293B"/>
                </a:solidFill>
                <a:latin typeface="Segoe UI"/>
              </a:rPr>
              <a:t>We tested on 50 curated Spider gold examples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 b="0">
                <a:solidFill>
                  <a:srgbClr val="1E293B"/>
                </a:solidFill>
                <a:latin typeface="Segoe UI"/>
              </a:rPr>
              <a:t>Success = generated query actually runs and returns correct results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 b="0">
                <a:solidFill>
                  <a:srgbClr val="1E293B"/>
                </a:solidFill>
                <a:latin typeface="Segoe UI"/>
              </a:rPr>
              <a:t>Goal: show LoRA training improves all three pipeline stages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CodeGen LoRA · Spider Gold Validation ·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Segoe UI"/>
              </a:rPr>
              <a:t>Training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475569"/>
                </a:solidFill>
                <a:latin typeface="Segoe UI"/>
              </a:rPr>
              <a:t>Smoke test → full TEND → wider LoRA (v3)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1965960" cy="21488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72A"/>
                </a:solidFill>
                <a:latin typeface="Segoe UI"/>
              </a:rPr>
              <a:t>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Segoe UI"/>
              </a:rPr>
              <a:t>No 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64748B"/>
                </a:solidFill>
                <a:latin typeface="Segoe UI"/>
              </a:rPr>
              <a:t>14% / 22%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39" y="224028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4748B"/>
                </a:solidFill>
                <a:latin typeface="Segoe U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1417320"/>
            <a:ext cx="1965960" cy="21488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1600200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72A"/>
                </a:solidFill>
                <a:latin typeface="Segoe UI"/>
              </a:rPr>
              <a:t>LoRA v1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057400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Segoe UI"/>
              </a:rPr>
              <a:t>50 samples · smoke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788920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D97706"/>
                </a:solidFill>
                <a:latin typeface="Segoe UI"/>
              </a:rPr>
              <a:t>Pipeline check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224028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4748B"/>
                </a:solidFill>
                <a:latin typeface="Segoe U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00600" y="1417320"/>
            <a:ext cx="1965960" cy="2148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1600200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72A"/>
                </a:solidFill>
                <a:latin typeface="Segoe UI"/>
              </a:rPr>
              <a:t>LoRA v2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057400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Segoe UI"/>
              </a:rPr>
              <a:t>~8k · r=16 · 5 epochs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788920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3B82F6"/>
                </a:solidFill>
                <a:latin typeface="Segoe UI"/>
              </a:rPr>
              <a:t>60% / 74%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19" y="224028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4748B"/>
                </a:solidFill>
                <a:latin typeface="Segoe U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0" y="1417320"/>
            <a:ext cx="1965960" cy="2148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6600" y="1600200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72A"/>
                </a:solidFill>
                <a:latin typeface="Segoe UI"/>
              </a:rPr>
              <a:t>LoRA v3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2057400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Segoe UI"/>
              </a:rPr>
              <a:t>~8k · r=32+FFN · 10 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2788920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59669"/>
                </a:solidFill>
                <a:latin typeface="Segoe UI"/>
              </a:rPr>
              <a:t>66% / 86%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886200"/>
            <a:ext cx="8138160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9776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40AF"/>
                </a:solidFill>
                <a:latin typeface="Segoe UI"/>
              </a:rPr>
              <a:t>Insight: Use v2/v3 for capstone numbers. v1 (n=5) only proves the evaluation pipeline works.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CodeGen LoRA · Spider Gold Validation ·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Segoe UI"/>
              </a:rPr>
              <a:t>Main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475569"/>
                </a:solidFill>
                <a:latin typeface="Segoe UI"/>
              </a:rPr>
              <a:t>Execution accuracy improves at every training stage</a:t>
            </a:r>
          </a:p>
        </p:txBody>
      </p:sp>
      <p:pic>
        <p:nvPicPr>
          <p:cNvPr id="5" name="Picture 4" descr="00_improvement_execution_baseline_v1_v2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8092440" cy="470373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5806440"/>
            <a:ext cx="8138160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8978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40AF"/>
                </a:solidFill>
                <a:latin typeface="Segoe UI"/>
              </a:rPr>
              <a:t>Insight: Text2SQL: 14% → 66% · SQL2NoSQL: 22% → 86% with LoRA v3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CodeGen LoRA · Spider Gold Validation ·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Segoe UI"/>
              </a:rPr>
              <a:t>Recommended model: LoRA v3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475569"/>
                </a:solidFill>
                <a:latin typeface="Segoe UI"/>
              </a:rPr>
              <a:t>Deploy to Hugging Face Hub + Cloud Run</a:t>
            </a:r>
          </a:p>
        </p:txBody>
      </p:sp>
      <p:pic>
        <p:nvPicPr>
          <p:cNvPr id="5" name="Picture 4" descr="07_v3_baseline_vs_lora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5669280" cy="29604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355080" y="1234440"/>
            <a:ext cx="2286000" cy="4434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508760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59669"/>
                </a:solidFill>
                <a:latin typeface="Segoe UI"/>
              </a:rPr>
              <a:t>✓  Best execution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2167128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59669"/>
                </a:solidFill>
                <a:latin typeface="Segoe UI"/>
              </a:rPr>
              <a:t>✓  Best exact match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825496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59669"/>
                </a:solidFill>
                <a:latin typeface="Segoe UI"/>
              </a:rPr>
              <a:t>✓  Best doc judge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3483864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59669"/>
                </a:solidFill>
                <a:latin typeface="Segoe UI"/>
              </a:rPr>
              <a:t>✓  Trained on full TEND 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4142232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59669"/>
                </a:solidFill>
                <a:latin typeface="Segoe UI"/>
              </a:rPr>
              <a:t>✓  Production-ready adapter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806440"/>
            <a:ext cx="8138160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8978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40AF"/>
                </a:solidFill>
                <a:latin typeface="Segoe UI"/>
              </a:rPr>
              <a:t>Insight: Set manifest.yaml → checkpoint_version: v3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CodeGen LoRA · Spider Gold Validation ·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Segoe UI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475569"/>
                </a:solidFill>
                <a:latin typeface="Segoe UI"/>
              </a:rPr>
              <a:t>What to say in your capstone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79552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2000" b="0">
                <a:solidFill>
                  <a:srgbClr val="1E293B"/>
                </a:solidFill>
                <a:latin typeface="Segoe UI"/>
              </a:rPr>
              <a:t>1.  LoRA clearly beats zero-shot CodeGen — the improvement is large and consistent.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2000" b="0">
                <a:solidFill>
                  <a:srgbClr val="1E293B"/>
                </a:solidFill>
                <a:latin typeface="Segoe UI"/>
              </a:rPr>
              <a:t>2.  Biggest wins: SQL2NoSQL (22% → 86%) and exact match (4% → 78%).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2000" b="0">
                <a:solidFill>
                  <a:srgbClr val="1E293B"/>
                </a:solidFill>
                <a:latin typeface="Segoe UI"/>
              </a:rPr>
              <a:t>3.  Documentation improves modestly; code generation benefits most from fine-tuning.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2000" b="0">
                <a:solidFill>
                  <a:srgbClr val="1E293B"/>
                </a:solidFill>
                <a:latin typeface="Segoe UI"/>
              </a:rPr>
              <a:t>4.  LoRA capacity and schedule: v2 (r=16, 5 epochs) → v3 (r=32 + FFN, 10 epochs) on the same full TEND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257800"/>
            <a:ext cx="8138160" cy="7772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44068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Recommendation → Promote LoRA v3 to production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CodeGen LoRA · Spider Gold Validation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