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7" roundtripDataSignature="AMtx7mgiaoYBcqKXENh4EbmLzI+xKAaNa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6E8EE8F-F916-4520-B353-C2E76A3E6513}">
  <a:tblStyle styleId="{76E8EE8F-F916-4520-B353-C2E76A3E6513}"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7"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This presentation frames a three-phase capstone project evaluating small LMs (1.5B) against larger LLMs (7B) on code intelligence tasks. We establish baselines, extend datasets with missing data components via execution-validated feedback loops, and fine-tune via QLoRA. Throughout, we maintain honest execution-based evaluation and transparent reporting of both wins and regressions.</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 name="Google Shape;89;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Expand on why this setup matters: Colab and T4 are resource constraints typical in academic settings. Greedy decoding (K=0, temperature=0) is critical because we want reproducible, deterministic outputs — not stochastic sampling that would make it hard to debug and validate. We selected Qwen2.5-Coder specifically because it has strong open-source baselines on code tasks.</a:t>
            </a:r>
            <a:endParaRPr/>
          </a:p>
        </p:txBody>
      </p:sp>
      <p:sp>
        <p:nvSpPr>
          <p:cNvPr id="90" name="Google Shape;90;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 name="Google Shape;96;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This is the throughline of the entire project. Every score reported is backed by actual code execution. We don't count a Java program as 'correct' if it happens to have similar token sequences to the reference — it must compile with javac and pass assertions. This prevents the false positives and false negatives that plague syntactic similarity metrics. Code-to-NL is the one exception where ROUGE-L makes sense since natural language doesn't 'execute'.</a:t>
            </a:r>
            <a:endParaRPr/>
          </a:p>
        </p:txBody>
      </p:sp>
      <p:sp>
        <p:nvSpPr>
          <p:cNvPr id="97" name="Google Shape;97;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3" name="Google Shape;103;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The three bugs were: (1) incorrect indentation handling when extracting Python from multi-part prompts, causing 'return outside function' syntax errors; (2) missing function definition signatures in MBPP prompt templates, leading to NameErrors; (3) missing java.util imports in generated Java causing compilation failures on HumanEval-X. Each round progressively uncovered and fixed one or more of these. This is why we trusted round3 numbers enough to gate Phase 2 on them.</a:t>
            </a:r>
            <a:endParaRPr/>
          </a:p>
        </p:txBody>
      </p:sp>
      <p:sp>
        <p:nvSpPr>
          <p:cNvPr id="104" name="Google Shape;104;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 name="Google Shape;110;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The HumanEval-X scores (0.70/0.86) look suspiciously high compared to vendor-published baselines (~0.30/~0.55 for cross-lingual tasks). We flagged this as possible sample bias on the 50-problem subset. The follow-up runs (seed=7 and full n=164) are documented decision gates before committing to Phase 2. The difficulty ranking (HumanEval &gt; MBPP &gt; HumanEval-X) held consistently across both model sizes.</a:t>
            </a:r>
            <a:endParaRPr/>
          </a:p>
        </p:txBody>
      </p:sp>
      <p:sp>
        <p:nvSpPr>
          <p:cNvPr id="111" name="Google Shape;111;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8" name="Google Shape;118;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This is the key motivation for Phase 2. You cannot build effective RAG systems or fine-tune models without parallel data across all modalities. A retrieval system that can only match NL to Python but not to Java creates a bottleneck. Similarly, fine-tuning on code-only data (no NL context) or NL-only data (no code context) leaves the model under-constrained. The execution validation gate ensures we only add high-quality triplets to the training corpus.</a:t>
            </a:r>
            <a:endParaRPr/>
          </a:p>
        </p:txBody>
      </p:sp>
      <p:sp>
        <p:nvSpPr>
          <p:cNvPr id="119" name="Google Shape;119;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5" name="Google Shape;125;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This is a strong viva slide. The key insight is that including the original prompt again on the retry (the 'anchor') helps the model ground itself. Greedy decoding is still used even on retries — we're not exploring, we're converging. The double round-trip validation for NL is expensive but necessary: a plausible-sounding NL description might not actually be executable by the original Python and Java code.</a:t>
            </a:r>
            <a:endParaRPr/>
          </a:p>
        </p:txBody>
      </p:sp>
      <p:sp>
        <p:nvSpPr>
          <p:cNvPr id="126" name="Google Shape;126;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2" name="Google Shape;132;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This is strong technical viva material. Be ready to explain differential testing, which is used for HumanEval-X's missing Python tests: we parse the function signature, synthesize inputs from type hints, take a trimmed cartesian product, and compare outputs between ground truth and generated code. The -ea flag is critical — Java silently ignores assertion failures without it, making the entire validation strategy fail silently.</a:t>
            </a:r>
            <a:endParaRPr/>
          </a:p>
        </p:txBody>
      </p:sp>
      <p:sp>
        <p:nvSpPr>
          <p:cNvPr id="133" name="Google Shape;133;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9" name="Google Shape;139;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This data is from n=20 per benchmark for the extension run. The 60% success rate on NL generation is a diagnostic signal: NL→code is harder than code→NL, and generating descriptions of existing code is not trivial. The output directly feeds Phase 3 training. All flagged=True records (1700 total across the 3 benchmarks) became the training data for QLoRA.</a:t>
            </a:r>
            <a:endParaRPr/>
          </a:p>
        </p:txBody>
      </p:sp>
      <p:sp>
        <p:nvSpPr>
          <p:cNvPr id="140" name="Google Shape;140;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 name="Google Shape;147;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We use a single fixed train/test split (not per-task splits) to ensure apples-to-apples comparisons and prevent data leakage. The hyperparameters are conservative: small LoRA rank (r=8) and low learning rate (2e-4) reflect the small training set (131 examples). The 4-bit NF4 quantization keeps memory footprint manageable on Colab T4. Code→NL is a new task — it tests whether fine-tuning helps with code documentation.</a:t>
            </a:r>
            <a:endParaRPr/>
          </a:p>
        </p:txBody>
      </p:sp>
      <p:sp>
        <p:nvSpPr>
          <p:cNvPr id="148" name="Google Shape;148;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4" name="Google Shape;154;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This apples-to-apples harness is what makes the cross-phase comparisons valid despite different sample sizes. We're not running a separate test set for each task — it's the same 33 examples. This prevents cherry-picking test sets and ensures fair comparison.</a:t>
            </a:r>
            <a:endParaRPr/>
          </a:p>
        </p:txBody>
      </p:sp>
      <p:sp>
        <p:nvSpPr>
          <p:cNvPr id="155" name="Google Shape;155;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1" name="Google Shape;161;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This is the deck's most important 'honest reporting' slide. Do not hide the regressions. The hypothesis is that the base model was already very strong on NL→code (0.87+ on Python, 0.79+ on Java), leaving little headroom for fine-tuning to help. The small training set (131 examples) and fixed hyperparameters led to capacity reallocation — the model adapted towards the training distribution and away from the base generalization. Code→NL improved dramatically (+0.28) because natural language is inherently more flexible and the model was learning a register shift, not chasing code correctness. Be ready to explain this overfitting/near-ceiling trade-off in the mentor viva.</a:t>
            </a:r>
            <a:endParaRPr/>
          </a:p>
        </p:txBody>
      </p:sp>
      <p:sp>
        <p:nvSpPr>
          <p:cNvPr id="162" name="Google Shape;162;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8" name="Google Shape;168;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This is the single slide that answers 'what benchmarks/tasks/model/eval/scores at each step' if the mentor only wants one summary. The footnote is critical context — different seeds and sample sizes mean absolute comparisons across phases are not apples-to-apples, but the methodology (execution-based, same harness) is consistent.</a:t>
            </a:r>
            <a:endParaRPr/>
          </a:p>
        </p:txBody>
      </p:sp>
      <p:sp>
        <p:nvSpPr>
          <p:cNvPr id="169" name="Google Shape;169;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f3d7bbd08a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8" name="Google Shape;188;g3f3d7bbd08a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This is the deck's most important 'honest reporting' slide. Do not hide the regressions. The hypothesis is that the base model was already very strong on NL→code (0.87+ on Python, 0.79+ on Java), leaving little headroom for fine-tuning to help. The small training set (131 examples) and fixed hyperparameters led to capacity reallocation — the model adapted towards the training distribution and away from the base generalization. Code→NL improved dramatically (+0.28) because natural language is inherently more flexible and the model was learning a register shift, not chasing code correctness. Be ready to explain this overfitting/near-ceiling trade-off in the mentor viva.</a:t>
            </a:r>
            <a:endParaRPr/>
          </a:p>
        </p:txBody>
      </p:sp>
      <p:sp>
        <p:nvSpPr>
          <p:cNvPr id="189" name="Google Shape;189;g3f3d7bbd08a_0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f69226894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g3f692268942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f675f124a4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f675f124a4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f675f124a4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f675f124a4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f3d7bbd08a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f3d7bbd08a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8"/>
          <p:cNvSpPr/>
          <p:nvPr>
            <p:ph idx="2" type="pic"/>
          </p:nvPr>
        </p:nvSpPr>
        <p:spPr>
          <a:xfrm>
            <a:off x="1792288" y="612775"/>
            <a:ext cx="5486400" cy="4114800"/>
          </a:xfrm>
          <a:prstGeom prst="rect">
            <a:avLst/>
          </a:prstGeom>
          <a:noFill/>
          <a:ln>
            <a:noFill/>
          </a:ln>
        </p:spPr>
      </p:sp>
      <p:sp>
        <p:nvSpPr>
          <p:cNvPr id="64" name="Google Shape;64;p2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sp>
        <p:nvSpPr>
          <p:cNvPr id="85" name="Google Shape;85;p1"/>
          <p:cNvSpPr/>
          <p:nvPr/>
        </p:nvSpPr>
        <p:spPr>
          <a:xfrm>
            <a:off x="0" y="1371600"/>
            <a:ext cx="9144000" cy="2286000"/>
          </a:xfrm>
          <a:prstGeom prst="rect">
            <a:avLst/>
          </a:prstGeom>
          <a:solidFill>
            <a:srgbClr val="1F3864"/>
          </a:solidFill>
          <a:ln cap="flat" cmpd="sng" w="9525">
            <a:solidFill>
              <a:srgbClr val="1F386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3200" u="none" cap="none" strike="noStrike">
                <a:solidFill>
                  <a:srgbClr val="FFFFFF"/>
                </a:solidFill>
                <a:latin typeface="Calibri"/>
                <a:ea typeface="Calibri"/>
                <a:cs typeface="Calibri"/>
                <a:sym typeface="Calibri"/>
              </a:rPr>
              <a:t>CodeGen (Group -13): Measuring and Improving Code Intelligence</a:t>
            </a:r>
            <a:endParaRPr/>
          </a:p>
        </p:txBody>
      </p:sp>
      <p:sp>
        <p:nvSpPr>
          <p:cNvPr id="86" name="Google Shape;86;p1"/>
          <p:cNvSpPr txBox="1"/>
          <p:nvPr/>
        </p:nvSpPr>
        <p:spPr>
          <a:xfrm>
            <a:off x="457200" y="3732288"/>
            <a:ext cx="8229600" cy="2586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400" u="none" cap="none" strike="noStrike">
                <a:solidFill>
                  <a:srgbClr val="1F3864"/>
                </a:solidFill>
                <a:latin typeface="Calibri"/>
                <a:ea typeface="Calibri"/>
                <a:cs typeface="Calibri"/>
                <a:sym typeface="Calibri"/>
              </a:rPr>
              <a:t>Baselines → Execution-Validated Dataset Extension → QLoRA Fine-Tuning </a:t>
            </a:r>
            <a:r>
              <a:rPr lang="en-US" sz="2400">
                <a:solidFill>
                  <a:srgbClr val="1F3864"/>
                </a:solidFill>
                <a:latin typeface="Calibri"/>
                <a:ea typeface="Calibri"/>
                <a:cs typeface="Calibri"/>
                <a:sym typeface="Calibri"/>
              </a:rPr>
              <a:t>→ </a:t>
            </a:r>
            <a:r>
              <a:rPr b="0" i="0" lang="en-US" sz="2400" u="none" cap="none" strike="noStrike">
                <a:solidFill>
                  <a:srgbClr val="1F3864"/>
                </a:solidFill>
                <a:latin typeface="Calibri"/>
                <a:ea typeface="Calibri"/>
                <a:cs typeface="Calibri"/>
                <a:sym typeface="Calibri"/>
              </a:rPr>
              <a:t>RAG</a:t>
            </a:r>
            <a:br>
              <a:rPr b="0" i="0" lang="en-US" sz="2400" u="none" cap="none" strike="noStrike">
                <a:solidFill>
                  <a:srgbClr val="1F3864"/>
                </a:solidFill>
                <a:latin typeface="Calibri"/>
                <a:ea typeface="Calibri"/>
                <a:cs typeface="Calibri"/>
                <a:sym typeface="Calibri"/>
              </a:rPr>
            </a:br>
            <a:endParaRPr b="0" i="0" sz="1800" u="none" cap="none" strike="noStrike">
              <a:solidFill>
                <a:schemeClr val="dk1"/>
              </a:solidFill>
              <a:latin typeface="Calibri"/>
              <a:ea typeface="Calibri"/>
              <a:cs typeface="Calibri"/>
              <a:sym typeface="Calibri"/>
            </a:endParaRPr>
          </a:p>
          <a:p>
            <a:pPr indent="0" lvl="0" marL="0" marR="0" rtl="0" algn="ctr">
              <a:spcBef>
                <a:spcPts val="0"/>
              </a:spcBef>
              <a:spcAft>
                <a:spcPts val="0"/>
              </a:spcAft>
              <a:buNone/>
            </a:pPr>
            <a:r>
              <a:rPr b="0" i="0" lang="en-US" sz="2400" u="none" cap="none" strike="noStrike">
                <a:solidFill>
                  <a:srgbClr val="1F3864"/>
                </a:solidFill>
                <a:latin typeface="Calibri"/>
                <a:ea typeface="Calibri"/>
                <a:cs typeface="Calibri"/>
                <a:sym typeface="Calibri"/>
              </a:rPr>
              <a:t>Team Members: Pranali</a:t>
            </a:r>
            <a:endParaRPr/>
          </a:p>
          <a:p>
            <a:pPr indent="0" lvl="0" marL="0" marR="0" rtl="0" algn="l">
              <a:spcBef>
                <a:spcPts val="0"/>
              </a:spcBef>
              <a:spcAft>
                <a:spcPts val="0"/>
              </a:spcAft>
              <a:buNone/>
            </a:pPr>
            <a:r>
              <a:rPr b="0" i="0" lang="en-US" sz="2400" u="none" cap="none" strike="noStrike">
                <a:solidFill>
                  <a:srgbClr val="1F3864"/>
                </a:solidFill>
                <a:latin typeface="Calibri"/>
                <a:ea typeface="Calibri"/>
                <a:cs typeface="Calibri"/>
                <a:sym typeface="Calibri"/>
              </a:rPr>
              <a:t>                                                                    Aditi </a:t>
            </a:r>
            <a:endParaRPr/>
          </a:p>
          <a:p>
            <a:pPr indent="0" lvl="0" marL="0" marR="0" rtl="0" algn="l">
              <a:spcBef>
                <a:spcPts val="0"/>
              </a:spcBef>
              <a:spcAft>
                <a:spcPts val="0"/>
              </a:spcAft>
              <a:buNone/>
            </a:pPr>
            <a:r>
              <a:rPr b="0" i="0" lang="en-US" sz="2400" u="none" cap="none" strike="noStrike">
                <a:solidFill>
                  <a:srgbClr val="1F3864"/>
                </a:solidFill>
                <a:latin typeface="Calibri"/>
                <a:ea typeface="Calibri"/>
                <a:cs typeface="Calibri"/>
                <a:sym typeface="Calibri"/>
              </a:rPr>
              <a:t>                                                                    Ravi</a:t>
            </a:r>
            <a:endParaRPr/>
          </a:p>
          <a:p>
            <a:pPr indent="0" lvl="0" marL="0" marR="0" rtl="0" algn="l">
              <a:spcBef>
                <a:spcPts val="0"/>
              </a:spcBef>
              <a:spcAft>
                <a:spcPts val="0"/>
              </a:spcAft>
              <a:buNone/>
            </a:pPr>
            <a:r>
              <a:rPr b="0" i="0" lang="en-US" sz="2400" u="none" cap="none" strike="noStrike">
                <a:solidFill>
                  <a:srgbClr val="1F3864"/>
                </a:solidFill>
                <a:latin typeface="Calibri"/>
                <a:ea typeface="Calibri"/>
                <a:cs typeface="Calibri"/>
                <a:sym typeface="Calibri"/>
              </a:rPr>
              <a:t>                                                                    Vamsi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 name="Shape 91"/>
        <p:cNvGrpSpPr/>
        <p:nvPr/>
      </p:nvGrpSpPr>
      <p:grpSpPr>
        <a:xfrm>
          <a:off x="0" y="0"/>
          <a:ext cx="0" cy="0"/>
          <a:chOff x="0" y="0"/>
          <a:chExt cx="0" cy="0"/>
        </a:xfrm>
      </p:grpSpPr>
      <p:sp>
        <p:nvSpPr>
          <p:cNvPr id="92" name="Google Shape;92;p2"/>
          <p:cNvSpPr/>
          <p:nvPr/>
        </p:nvSpPr>
        <p:spPr>
          <a:xfrm>
            <a:off x="0" y="274320"/>
            <a:ext cx="9144000" cy="731520"/>
          </a:xfrm>
          <a:prstGeom prst="rect">
            <a:avLst/>
          </a:prstGeom>
          <a:solidFill>
            <a:srgbClr val="1F3864"/>
          </a:solidFill>
          <a:ln cap="flat" cmpd="sng" w="9525">
            <a:solidFill>
              <a:srgbClr val="1F386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800">
                <a:solidFill>
                  <a:srgbClr val="FFFFFF"/>
                </a:solidFill>
                <a:latin typeface="Calibri"/>
                <a:ea typeface="Calibri"/>
                <a:cs typeface="Calibri"/>
                <a:sym typeface="Calibri"/>
              </a:rPr>
              <a:t>How We Started</a:t>
            </a:r>
            <a:endParaRPr/>
          </a:p>
        </p:txBody>
      </p:sp>
      <p:sp>
        <p:nvSpPr>
          <p:cNvPr id="93" name="Google Shape;93;p2"/>
          <p:cNvSpPr txBox="1"/>
          <p:nvPr/>
        </p:nvSpPr>
        <p:spPr>
          <a:xfrm>
            <a:off x="640080" y="1097280"/>
            <a:ext cx="7863840" cy="22159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 Goal: measure and improve NL↔Python↔Java code intelligence in a small LM vs a larger LLM</a:t>
            </a:r>
            <a:endParaRPr/>
          </a:p>
          <a:p>
            <a:pPr indent="0" lvl="0" marL="0" marR="0" rtl="0" algn="l">
              <a:spcBef>
                <a:spcPts val="1200"/>
              </a:spcBef>
              <a:spcAft>
                <a:spcPts val="0"/>
              </a:spcAft>
              <a:buNone/>
            </a:pPr>
            <a:r>
              <a:rPr lang="en-US" sz="1800">
                <a:solidFill>
                  <a:srgbClr val="000000"/>
                </a:solidFill>
                <a:latin typeface="Calibri"/>
                <a:ea typeface="Calibri"/>
                <a:cs typeface="Calibri"/>
                <a:sym typeface="Calibri"/>
              </a:rPr>
              <a:t>• Model family: Qwen2.5-Coder — 1.5B (fp16) , 7B (4-bit NF4 quantized)</a:t>
            </a:r>
            <a:endParaRPr/>
          </a:p>
          <a:p>
            <a:pPr indent="0" lvl="0" marL="0" marR="0" rtl="0" algn="l">
              <a:spcBef>
                <a:spcPts val="1200"/>
              </a:spcBef>
              <a:spcAft>
                <a:spcPts val="0"/>
              </a:spcAft>
              <a:buNone/>
            </a:pPr>
            <a:r>
              <a:rPr lang="en-US" sz="1800">
                <a:solidFill>
                  <a:srgbClr val="000000"/>
                </a:solidFill>
                <a:latin typeface="Calibri"/>
                <a:ea typeface="Calibri"/>
                <a:cs typeface="Calibri"/>
                <a:sym typeface="Calibri"/>
              </a:rPr>
              <a:t>• 3 benchmarks: HumanEval, MBPP, HumanEval-X (Python→Java)</a:t>
            </a:r>
            <a:endParaRPr/>
          </a:p>
          <a:p>
            <a:pPr indent="0" lvl="0" marL="0" marR="0" rtl="0" algn="l">
              <a:spcBef>
                <a:spcPts val="1200"/>
              </a:spcBef>
              <a:spcAft>
                <a:spcPts val="0"/>
              </a:spcAft>
              <a:buNone/>
            </a:pPr>
            <a:r>
              <a:rPr lang="en-US" sz="1800">
                <a:solidFill>
                  <a:srgbClr val="000000"/>
                </a:solidFill>
                <a:latin typeface="Calibri"/>
                <a:ea typeface="Calibri"/>
                <a:cs typeface="Calibri"/>
                <a:sym typeface="Calibri"/>
              </a:rPr>
              <a:t>• Infra: Google Colab + T4 GPU, JDK-17 for Java execution sandbox, greedy decoding (temperature=0) for reproducibility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8" name="Shape 98"/>
        <p:cNvGrpSpPr/>
        <p:nvPr/>
      </p:nvGrpSpPr>
      <p:grpSpPr>
        <a:xfrm>
          <a:off x="0" y="0"/>
          <a:ext cx="0" cy="0"/>
          <a:chOff x="0" y="0"/>
          <a:chExt cx="0" cy="0"/>
        </a:xfrm>
      </p:grpSpPr>
      <p:sp>
        <p:nvSpPr>
          <p:cNvPr id="99" name="Google Shape;99;p3"/>
          <p:cNvSpPr/>
          <p:nvPr/>
        </p:nvSpPr>
        <p:spPr>
          <a:xfrm>
            <a:off x="0" y="274320"/>
            <a:ext cx="9144000" cy="731520"/>
          </a:xfrm>
          <a:prstGeom prst="rect">
            <a:avLst/>
          </a:prstGeom>
          <a:solidFill>
            <a:srgbClr val="1F3864"/>
          </a:solidFill>
          <a:ln cap="flat" cmpd="sng" w="9525">
            <a:solidFill>
              <a:srgbClr val="1F386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800">
                <a:solidFill>
                  <a:srgbClr val="FFFFFF"/>
                </a:solidFill>
                <a:latin typeface="Calibri"/>
                <a:ea typeface="Calibri"/>
                <a:cs typeface="Calibri"/>
                <a:sym typeface="Calibri"/>
              </a:rPr>
              <a:t>Evaluation Philosophy</a:t>
            </a:r>
            <a:endParaRPr/>
          </a:p>
        </p:txBody>
      </p:sp>
      <p:sp>
        <p:nvSpPr>
          <p:cNvPr id="100" name="Google Shape;100;p3"/>
          <p:cNvSpPr txBox="1"/>
          <p:nvPr/>
        </p:nvSpPr>
        <p:spPr>
          <a:xfrm>
            <a:off x="640080" y="1097280"/>
            <a:ext cx="7863840" cy="34747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 Execution-based scoring, not string/text similarity matching</a:t>
            </a:r>
            <a:endParaRPr/>
          </a:p>
          <a:p>
            <a:pPr indent="0" lvl="0" marL="0" marR="0" rtl="0" algn="l">
              <a:spcBef>
                <a:spcPts val="1200"/>
              </a:spcBef>
              <a:spcAft>
                <a:spcPts val="0"/>
              </a:spcAft>
              <a:buNone/>
            </a:pPr>
            <a:r>
              <a:rPr lang="en-US" sz="1800">
                <a:solidFill>
                  <a:srgbClr val="000000"/>
                </a:solidFill>
                <a:latin typeface="Calibri"/>
                <a:ea typeface="Calibri"/>
                <a:cs typeface="Calibri"/>
                <a:sym typeface="Calibri"/>
              </a:rPr>
              <a:t>• pass@1 = generated code actually compiles/runs and passes real hidden tests</a:t>
            </a:r>
            <a:endParaRPr/>
          </a:p>
          <a:p>
            <a:pPr indent="0" lvl="0" marL="0" marR="0" rtl="0" algn="l">
              <a:spcBef>
                <a:spcPts val="1200"/>
              </a:spcBef>
              <a:spcAft>
                <a:spcPts val="0"/>
              </a:spcAft>
              <a:buNone/>
            </a:pPr>
            <a:r>
              <a:rPr lang="en-US" sz="1800">
                <a:solidFill>
                  <a:srgbClr val="000000"/>
                </a:solidFill>
                <a:latin typeface="Calibri"/>
                <a:ea typeface="Calibri"/>
                <a:cs typeface="Calibri"/>
                <a:sym typeface="Calibri"/>
              </a:rPr>
              <a:t>• ROUGE-L F1 used only for natural-language (NL) generation outputs</a:t>
            </a:r>
            <a:endParaRPr/>
          </a:p>
          <a:p>
            <a:pPr indent="0" lvl="0" marL="0" marR="0" rtl="0" algn="l">
              <a:spcBef>
                <a:spcPts val="1200"/>
              </a:spcBef>
              <a:spcAft>
                <a:spcPts val="0"/>
              </a:spcAft>
              <a:buNone/>
            </a:pPr>
            <a:r>
              <a:rPr lang="en-US" sz="1800">
                <a:solidFill>
                  <a:srgbClr val="000000"/>
                </a:solidFill>
                <a:latin typeface="Calibri"/>
                <a:ea typeface="Calibri"/>
                <a:cs typeface="Calibri"/>
                <a:sym typeface="Calibri"/>
              </a:rPr>
              <a:t>• Greedy decoding (K=0) throughout for reproducibility</a:t>
            </a:r>
            <a:endParaRPr/>
          </a:p>
          <a:p>
            <a:pPr indent="0" lvl="0" marL="0" marR="0" rtl="0" algn="l">
              <a:spcBef>
                <a:spcPts val="1200"/>
              </a:spcBef>
              <a:spcAft>
                <a:spcPts val="0"/>
              </a:spcAft>
              <a:buNone/>
            </a:pPr>
            <a:r>
              <a:rPr lang="en-US" sz="1800">
                <a:solidFill>
                  <a:srgbClr val="000000"/>
                </a:solidFill>
                <a:latin typeface="Calibri"/>
                <a:ea typeface="Calibri"/>
                <a:cs typeface="Calibri"/>
                <a:sym typeface="Calibri"/>
              </a:rPr>
              <a:t>• This 'honest execution gate' philosophy carries through all three phases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5" name="Shape 105"/>
        <p:cNvGrpSpPr/>
        <p:nvPr/>
      </p:nvGrpSpPr>
      <p:grpSpPr>
        <a:xfrm>
          <a:off x="0" y="0"/>
          <a:ext cx="0" cy="0"/>
          <a:chOff x="0" y="0"/>
          <a:chExt cx="0" cy="0"/>
        </a:xfrm>
      </p:grpSpPr>
      <p:sp>
        <p:nvSpPr>
          <p:cNvPr id="106" name="Google Shape;106;p4"/>
          <p:cNvSpPr/>
          <p:nvPr/>
        </p:nvSpPr>
        <p:spPr>
          <a:xfrm>
            <a:off x="0" y="274320"/>
            <a:ext cx="9144000" cy="731520"/>
          </a:xfrm>
          <a:prstGeom prst="rect">
            <a:avLst/>
          </a:prstGeom>
          <a:solidFill>
            <a:srgbClr val="1F3864"/>
          </a:solidFill>
          <a:ln cap="flat" cmpd="sng" w="9525">
            <a:solidFill>
              <a:srgbClr val="1F386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800">
                <a:solidFill>
                  <a:srgbClr val="FFFFFF"/>
                </a:solidFill>
                <a:latin typeface="Calibri"/>
                <a:ea typeface="Calibri"/>
                <a:cs typeface="Calibri"/>
                <a:sym typeface="Calibri"/>
              </a:rPr>
              <a:t>Phase 1: Baselines — Setup &amp; Method</a:t>
            </a:r>
            <a:endParaRPr/>
          </a:p>
        </p:txBody>
      </p:sp>
      <p:sp>
        <p:nvSpPr>
          <p:cNvPr id="107" name="Google Shape;107;p4"/>
          <p:cNvSpPr txBox="1"/>
          <p:nvPr/>
        </p:nvSpPr>
        <p:spPr>
          <a:xfrm>
            <a:off x="640080" y="1097280"/>
            <a:ext cx="7863840" cy="34747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 Models: Qwen2.5-Coder-1.5B (fp16) and Qwen2.5-Coder-7B (4-bit NF4)</a:t>
            </a:r>
            <a:endParaRPr/>
          </a:p>
          <a:p>
            <a:pPr indent="0" lvl="0" marL="0" marR="0" rtl="0" algn="l">
              <a:spcBef>
                <a:spcPts val="1200"/>
              </a:spcBef>
              <a:spcAft>
                <a:spcPts val="0"/>
              </a:spcAft>
              <a:buNone/>
            </a:pPr>
            <a:r>
              <a:rPr lang="en-US" sz="1800">
                <a:solidFill>
                  <a:srgbClr val="000000"/>
                </a:solidFill>
                <a:latin typeface="Calibri"/>
                <a:ea typeface="Calibri"/>
                <a:cs typeface="Calibri"/>
                <a:sym typeface="Calibri"/>
              </a:rPr>
              <a:t>• Benchmarks &amp; tasks: HumanEval (NL→Python), MBPP (NL→Python), HumanEval-X (Python→Java)</a:t>
            </a:r>
            <a:endParaRPr/>
          </a:p>
          <a:p>
            <a:pPr indent="0" lvl="0" marL="0" marR="0" rtl="0" algn="l">
              <a:spcBef>
                <a:spcPts val="1200"/>
              </a:spcBef>
              <a:spcAft>
                <a:spcPts val="0"/>
              </a:spcAft>
              <a:buNone/>
            </a:pPr>
            <a:r>
              <a:rPr lang="en-US" sz="1800">
                <a:solidFill>
                  <a:srgbClr val="000000"/>
                </a:solidFill>
                <a:latin typeface="Calibri"/>
                <a:ea typeface="Calibri"/>
                <a:cs typeface="Calibri"/>
                <a:sym typeface="Calibri"/>
              </a:rPr>
              <a:t>• Decoding: greedy, K=0</a:t>
            </a:r>
            <a:endParaRPr/>
          </a:p>
          <a:p>
            <a:pPr indent="0" lvl="0" marL="0" marR="0" rtl="0" algn="l">
              <a:spcBef>
                <a:spcPts val="1200"/>
              </a:spcBef>
              <a:spcAft>
                <a:spcPts val="0"/>
              </a:spcAft>
              <a:buNone/>
            </a:pPr>
            <a:r>
              <a:rPr lang="en-US" sz="1800">
                <a:solidFill>
                  <a:srgbClr val="000000"/>
                </a:solidFill>
                <a:latin typeface="Calibri"/>
                <a:ea typeface="Calibri"/>
                <a:cs typeface="Calibri"/>
                <a:sym typeface="Calibri"/>
              </a:rPr>
              <a:t>• Metric: execution-based pass@1</a:t>
            </a:r>
            <a:endParaRPr/>
          </a:p>
          <a:p>
            <a:pPr indent="0" lvl="0" marL="0" marR="0" rtl="0" algn="l">
              <a:spcBef>
                <a:spcPts val="1200"/>
              </a:spcBef>
              <a:spcAft>
                <a:spcPts val="0"/>
              </a:spcAft>
              <a:buNone/>
            </a:pPr>
            <a:r>
              <a:rPr lang="en-US" sz="1800">
                <a:solidFill>
                  <a:srgbClr val="000000"/>
                </a:solidFill>
                <a:latin typeface="Calibri"/>
                <a:ea typeface="Calibri"/>
                <a:cs typeface="Calibri"/>
                <a:sym typeface="Calibri"/>
              </a:rPr>
              <a:t>• Rigor: found and fixed 3 pipeline bugs (round1→round3) before trusting any numbers — indentation/extraction bugs and a Java import-injection bug that was causing 100% false failures on HumanEval-X</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2" name="Shape 112"/>
        <p:cNvGrpSpPr/>
        <p:nvPr/>
      </p:nvGrpSpPr>
      <p:grpSpPr>
        <a:xfrm>
          <a:off x="0" y="0"/>
          <a:ext cx="0" cy="0"/>
          <a:chOff x="0" y="0"/>
          <a:chExt cx="0" cy="0"/>
        </a:xfrm>
      </p:grpSpPr>
      <p:sp>
        <p:nvSpPr>
          <p:cNvPr id="113" name="Google Shape;113;p5"/>
          <p:cNvSpPr/>
          <p:nvPr/>
        </p:nvSpPr>
        <p:spPr>
          <a:xfrm>
            <a:off x="0" y="274320"/>
            <a:ext cx="9144000" cy="731520"/>
          </a:xfrm>
          <a:prstGeom prst="rect">
            <a:avLst/>
          </a:prstGeom>
          <a:solidFill>
            <a:srgbClr val="1F3864"/>
          </a:solidFill>
          <a:ln cap="flat" cmpd="sng" w="9525">
            <a:solidFill>
              <a:srgbClr val="1F386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800">
                <a:solidFill>
                  <a:srgbClr val="FFFFFF"/>
                </a:solidFill>
                <a:latin typeface="Calibri"/>
                <a:ea typeface="Calibri"/>
                <a:cs typeface="Calibri"/>
                <a:sym typeface="Calibri"/>
              </a:rPr>
              <a:t>Phase 1: Baseline Scores</a:t>
            </a:r>
            <a:endParaRPr/>
          </a:p>
        </p:txBody>
      </p:sp>
      <p:graphicFrame>
        <p:nvGraphicFramePr>
          <p:cNvPr id="114" name="Google Shape;114;p5"/>
          <p:cNvGraphicFramePr/>
          <p:nvPr/>
        </p:nvGraphicFramePr>
        <p:xfrm>
          <a:off x="457200" y="1097280"/>
          <a:ext cx="3000000" cy="3000000"/>
        </p:xfrm>
        <a:graphic>
          <a:graphicData uri="http://schemas.openxmlformats.org/drawingml/2006/table">
            <a:tbl>
              <a:tblPr bandRow="1" firstRow="1">
                <a:noFill/>
                <a:tableStyleId>{76E8EE8F-F916-4520-B353-C2E76A3E6513}</a:tableStyleId>
              </a:tblPr>
              <a:tblGrid>
                <a:gridCol w="1645925"/>
                <a:gridCol w="2011675"/>
                <a:gridCol w="2011675"/>
                <a:gridCol w="2011675"/>
              </a:tblGrid>
              <a:tr h="571500">
                <a:tc>
                  <a:txBody>
                    <a:bodyPr/>
                    <a:lstStyle/>
                    <a:p>
                      <a:pPr indent="0" lvl="0" marL="0" marR="0" rtl="0" algn="l">
                        <a:spcBef>
                          <a:spcPts val="0"/>
                        </a:spcBef>
                        <a:spcAft>
                          <a:spcPts val="0"/>
                        </a:spcAft>
                        <a:buNone/>
                      </a:pPr>
                      <a:r>
                        <a:rPr b="1" lang="en-US" sz="1400" u="none" cap="none" strike="noStrike">
                          <a:solidFill>
                            <a:srgbClr val="FFFFFF"/>
                          </a:solidFill>
                        </a:rPr>
                        <a:t>Benchmark</a:t>
                      </a:r>
                      <a:endParaRPr/>
                    </a:p>
                  </a:txBody>
                  <a:tcPr marT="45725" marB="45725" marR="91450" marL="91450">
                    <a:solidFill>
                      <a:srgbClr val="1F3864"/>
                    </a:solidFill>
                  </a:tcPr>
                </a:tc>
                <a:tc>
                  <a:txBody>
                    <a:bodyPr/>
                    <a:lstStyle/>
                    <a:p>
                      <a:pPr indent="0" lvl="0" marL="0" marR="0" rtl="0" algn="l">
                        <a:spcBef>
                          <a:spcPts val="0"/>
                        </a:spcBef>
                        <a:spcAft>
                          <a:spcPts val="0"/>
                        </a:spcAft>
                        <a:buNone/>
                      </a:pPr>
                      <a:r>
                        <a:rPr b="1" lang="en-US" sz="1400">
                          <a:solidFill>
                            <a:srgbClr val="FFFFFF"/>
                          </a:solidFill>
                        </a:rPr>
                        <a:t>Task</a:t>
                      </a:r>
                      <a:endParaRPr/>
                    </a:p>
                  </a:txBody>
                  <a:tcPr marT="45725" marB="45725" marR="91450" marL="91450">
                    <a:solidFill>
                      <a:srgbClr val="1F3864"/>
                    </a:solidFill>
                  </a:tcPr>
                </a:tc>
                <a:tc>
                  <a:txBody>
                    <a:bodyPr/>
                    <a:lstStyle/>
                    <a:p>
                      <a:pPr indent="0" lvl="0" marL="0" marR="0" rtl="0" algn="l">
                        <a:spcBef>
                          <a:spcPts val="0"/>
                        </a:spcBef>
                        <a:spcAft>
                          <a:spcPts val="0"/>
                        </a:spcAft>
                        <a:buNone/>
                      </a:pPr>
                      <a:r>
                        <a:rPr b="1" lang="en-US" sz="1400">
                          <a:solidFill>
                            <a:srgbClr val="FFFFFF"/>
                          </a:solidFill>
                        </a:rPr>
                        <a:t>1.5B fp16</a:t>
                      </a:r>
                      <a:endParaRPr/>
                    </a:p>
                  </a:txBody>
                  <a:tcPr marT="45725" marB="45725" marR="91450" marL="91450">
                    <a:solidFill>
                      <a:srgbClr val="1F3864"/>
                    </a:solidFill>
                  </a:tcPr>
                </a:tc>
                <a:tc>
                  <a:txBody>
                    <a:bodyPr/>
                    <a:lstStyle/>
                    <a:p>
                      <a:pPr indent="0" lvl="0" marL="0" marR="0" rtl="0" algn="l">
                        <a:spcBef>
                          <a:spcPts val="0"/>
                        </a:spcBef>
                        <a:spcAft>
                          <a:spcPts val="0"/>
                        </a:spcAft>
                        <a:buNone/>
                      </a:pPr>
                      <a:r>
                        <a:rPr b="1" lang="en-US" sz="1400">
                          <a:solidFill>
                            <a:srgbClr val="FFFFFF"/>
                          </a:solidFill>
                        </a:rPr>
                        <a:t>7B 4-bit NF4</a:t>
                      </a:r>
                      <a:endParaRPr/>
                    </a:p>
                  </a:txBody>
                  <a:tcPr marT="45725" marB="45725" marR="91450" marL="91450">
                    <a:solidFill>
                      <a:srgbClr val="1F3864"/>
                    </a:solidFill>
                  </a:tcPr>
                </a:tc>
              </a:tr>
              <a:tr h="571500">
                <a:tc>
                  <a:txBody>
                    <a:bodyPr/>
                    <a:lstStyle/>
                    <a:p>
                      <a:pPr indent="0" lvl="0" marL="0" marR="0" rtl="0" algn="l">
                        <a:spcBef>
                          <a:spcPts val="0"/>
                        </a:spcBef>
                        <a:spcAft>
                          <a:spcPts val="0"/>
                        </a:spcAft>
                        <a:buNone/>
                      </a:pPr>
                      <a:r>
                        <a:rPr lang="en-US" sz="1400">
                          <a:solidFill>
                            <a:srgbClr val="000000"/>
                          </a:solidFill>
                        </a:rPr>
                        <a:t>HumanEval</a:t>
                      </a:r>
                      <a:endParaRPr/>
                    </a:p>
                  </a:txBody>
                  <a:tcPr marT="45725" marB="45725" marR="91450" marL="91450"/>
                </a:tc>
                <a:tc>
                  <a:txBody>
                    <a:bodyPr/>
                    <a:lstStyle/>
                    <a:p>
                      <a:pPr indent="0" lvl="0" marL="0" marR="0" rtl="0" algn="l">
                        <a:spcBef>
                          <a:spcPts val="0"/>
                        </a:spcBef>
                        <a:spcAft>
                          <a:spcPts val="0"/>
                        </a:spcAft>
                        <a:buNone/>
                      </a:pPr>
                      <a:r>
                        <a:rPr lang="en-US" sz="1400">
                          <a:solidFill>
                            <a:srgbClr val="000000"/>
                          </a:solidFill>
                        </a:rPr>
                        <a:t>NL→Python</a:t>
                      </a:r>
                      <a:endParaRPr/>
                    </a:p>
                  </a:txBody>
                  <a:tcPr marT="45725" marB="45725" marR="91450" marL="91450"/>
                </a:tc>
                <a:tc>
                  <a:txBody>
                    <a:bodyPr/>
                    <a:lstStyle/>
                    <a:p>
                      <a:pPr indent="0" lvl="0" marL="0" marR="0" rtl="0" algn="l">
                        <a:spcBef>
                          <a:spcPts val="0"/>
                        </a:spcBef>
                        <a:spcAft>
                          <a:spcPts val="0"/>
                        </a:spcAft>
                        <a:buNone/>
                      </a:pPr>
                      <a:r>
                        <a:rPr lang="en-US" sz="1400">
                          <a:solidFill>
                            <a:srgbClr val="000000"/>
                          </a:solidFill>
                        </a:rPr>
                        <a:t>0.76</a:t>
                      </a:r>
                      <a:endParaRPr/>
                    </a:p>
                  </a:txBody>
                  <a:tcPr marT="45725" marB="45725" marR="91450" marL="91450"/>
                </a:tc>
                <a:tc>
                  <a:txBody>
                    <a:bodyPr/>
                    <a:lstStyle/>
                    <a:p>
                      <a:pPr indent="0" lvl="0" marL="0" marR="0" rtl="0" algn="l">
                        <a:spcBef>
                          <a:spcPts val="0"/>
                        </a:spcBef>
                        <a:spcAft>
                          <a:spcPts val="0"/>
                        </a:spcAft>
                        <a:buNone/>
                      </a:pPr>
                      <a:r>
                        <a:rPr lang="en-US" sz="1400">
                          <a:solidFill>
                            <a:srgbClr val="000000"/>
                          </a:solidFill>
                        </a:rPr>
                        <a:t>0.92</a:t>
                      </a:r>
                      <a:endParaRPr/>
                    </a:p>
                  </a:txBody>
                  <a:tcPr marT="45725" marB="45725" marR="91450" marL="91450"/>
                </a:tc>
              </a:tr>
              <a:tr h="571500">
                <a:tc>
                  <a:txBody>
                    <a:bodyPr/>
                    <a:lstStyle/>
                    <a:p>
                      <a:pPr indent="0" lvl="0" marL="0" marR="0" rtl="0" algn="l">
                        <a:spcBef>
                          <a:spcPts val="0"/>
                        </a:spcBef>
                        <a:spcAft>
                          <a:spcPts val="0"/>
                        </a:spcAft>
                        <a:buNone/>
                      </a:pPr>
                      <a:r>
                        <a:rPr lang="en-US" sz="1400">
                          <a:solidFill>
                            <a:srgbClr val="000000"/>
                          </a:solidFill>
                        </a:rPr>
                        <a:t>MBPP</a:t>
                      </a:r>
                      <a:endParaRPr/>
                    </a:p>
                  </a:txBody>
                  <a:tcPr marT="45725" marB="45725" marR="91450" marL="91450"/>
                </a:tc>
                <a:tc>
                  <a:txBody>
                    <a:bodyPr/>
                    <a:lstStyle/>
                    <a:p>
                      <a:pPr indent="0" lvl="0" marL="0" marR="0" rtl="0" algn="l">
                        <a:spcBef>
                          <a:spcPts val="0"/>
                        </a:spcBef>
                        <a:spcAft>
                          <a:spcPts val="0"/>
                        </a:spcAft>
                        <a:buNone/>
                      </a:pPr>
                      <a:r>
                        <a:rPr lang="en-US" sz="1400">
                          <a:solidFill>
                            <a:srgbClr val="000000"/>
                          </a:solidFill>
                        </a:rPr>
                        <a:t>NL→Python</a:t>
                      </a:r>
                      <a:endParaRPr/>
                    </a:p>
                  </a:txBody>
                  <a:tcPr marT="45725" marB="45725" marR="91450" marL="91450"/>
                </a:tc>
                <a:tc>
                  <a:txBody>
                    <a:bodyPr/>
                    <a:lstStyle/>
                    <a:p>
                      <a:pPr indent="0" lvl="0" marL="0" marR="0" rtl="0" algn="l">
                        <a:spcBef>
                          <a:spcPts val="0"/>
                        </a:spcBef>
                        <a:spcAft>
                          <a:spcPts val="0"/>
                        </a:spcAft>
                        <a:buNone/>
                      </a:pPr>
                      <a:r>
                        <a:rPr lang="en-US" sz="1400">
                          <a:solidFill>
                            <a:srgbClr val="000000"/>
                          </a:solidFill>
                        </a:rPr>
                        <a:t>0.70</a:t>
                      </a:r>
                      <a:endParaRPr/>
                    </a:p>
                  </a:txBody>
                  <a:tcPr marT="45725" marB="45725" marR="91450" marL="91450"/>
                </a:tc>
                <a:tc>
                  <a:txBody>
                    <a:bodyPr/>
                    <a:lstStyle/>
                    <a:p>
                      <a:pPr indent="0" lvl="0" marL="0" marR="0" rtl="0" algn="l">
                        <a:spcBef>
                          <a:spcPts val="0"/>
                        </a:spcBef>
                        <a:spcAft>
                          <a:spcPts val="0"/>
                        </a:spcAft>
                        <a:buNone/>
                      </a:pPr>
                      <a:r>
                        <a:rPr lang="en-US" sz="1400">
                          <a:solidFill>
                            <a:srgbClr val="000000"/>
                          </a:solidFill>
                        </a:rPr>
                        <a:t>0.82</a:t>
                      </a:r>
                      <a:endParaRPr/>
                    </a:p>
                  </a:txBody>
                  <a:tcPr marT="45725" marB="45725" marR="91450" marL="91450"/>
                </a:tc>
              </a:tr>
              <a:tr h="571500">
                <a:tc>
                  <a:txBody>
                    <a:bodyPr/>
                    <a:lstStyle/>
                    <a:p>
                      <a:pPr indent="0" lvl="0" marL="0" marR="0" rtl="0" algn="l">
                        <a:spcBef>
                          <a:spcPts val="0"/>
                        </a:spcBef>
                        <a:spcAft>
                          <a:spcPts val="0"/>
                        </a:spcAft>
                        <a:buNone/>
                      </a:pPr>
                      <a:r>
                        <a:rPr lang="en-US" sz="1400">
                          <a:solidFill>
                            <a:srgbClr val="000000"/>
                          </a:solidFill>
                        </a:rPr>
                        <a:t>HumanEval-X</a:t>
                      </a:r>
                      <a:endParaRPr/>
                    </a:p>
                  </a:txBody>
                  <a:tcPr marT="45725" marB="45725" marR="91450" marL="91450"/>
                </a:tc>
                <a:tc>
                  <a:txBody>
                    <a:bodyPr/>
                    <a:lstStyle/>
                    <a:p>
                      <a:pPr indent="0" lvl="0" marL="0" marR="0" rtl="0" algn="l">
                        <a:spcBef>
                          <a:spcPts val="0"/>
                        </a:spcBef>
                        <a:spcAft>
                          <a:spcPts val="0"/>
                        </a:spcAft>
                        <a:buNone/>
                      </a:pPr>
                      <a:r>
                        <a:rPr lang="en-US" sz="1400">
                          <a:solidFill>
                            <a:srgbClr val="000000"/>
                          </a:solidFill>
                        </a:rPr>
                        <a:t>Python→Java</a:t>
                      </a:r>
                      <a:endParaRPr/>
                    </a:p>
                  </a:txBody>
                  <a:tcPr marT="45725" marB="45725" marR="91450" marL="91450"/>
                </a:tc>
                <a:tc>
                  <a:txBody>
                    <a:bodyPr/>
                    <a:lstStyle/>
                    <a:p>
                      <a:pPr indent="0" lvl="0" marL="0" marR="0" rtl="0" algn="l">
                        <a:spcBef>
                          <a:spcPts val="0"/>
                        </a:spcBef>
                        <a:spcAft>
                          <a:spcPts val="0"/>
                        </a:spcAft>
                        <a:buNone/>
                      </a:pPr>
                      <a:r>
                        <a:rPr lang="en-US" sz="1400">
                          <a:solidFill>
                            <a:srgbClr val="000000"/>
                          </a:solidFill>
                        </a:rPr>
                        <a:t>0.70</a:t>
                      </a:r>
                      <a:endParaRPr/>
                    </a:p>
                  </a:txBody>
                  <a:tcPr marT="45725" marB="45725" marR="91450" marL="91450"/>
                </a:tc>
                <a:tc>
                  <a:txBody>
                    <a:bodyPr/>
                    <a:lstStyle/>
                    <a:p>
                      <a:pPr indent="0" lvl="0" marL="0" marR="0" rtl="0" algn="l">
                        <a:spcBef>
                          <a:spcPts val="0"/>
                        </a:spcBef>
                        <a:spcAft>
                          <a:spcPts val="0"/>
                        </a:spcAft>
                        <a:buNone/>
                      </a:pPr>
                      <a:r>
                        <a:rPr lang="en-US" sz="1400">
                          <a:solidFill>
                            <a:srgbClr val="000000"/>
                          </a:solidFill>
                        </a:rPr>
                        <a:t>0.86</a:t>
                      </a:r>
                      <a:endParaRPr/>
                    </a:p>
                  </a:txBody>
                  <a:tcPr marT="45725" marB="45725" marR="91450" marL="91450"/>
                </a:tc>
              </a:tr>
            </a:tbl>
          </a:graphicData>
        </a:graphic>
      </p:graphicFrame>
      <p:sp>
        <p:nvSpPr>
          <p:cNvPr id="115" name="Google Shape;115;p5"/>
          <p:cNvSpPr txBox="1"/>
          <p:nvPr/>
        </p:nvSpPr>
        <p:spPr>
          <a:xfrm>
            <a:off x="640080" y="3840480"/>
            <a:ext cx="7863840" cy="8002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 7B substantially outperforms 1.5B on every benchmark</a:t>
            </a:r>
            <a:endParaRPr/>
          </a:p>
          <a:p>
            <a:pPr indent="0" lvl="0" marL="0" marR="0" rtl="0" algn="l">
              <a:spcBef>
                <a:spcPts val="1200"/>
              </a:spcBef>
              <a:spcAft>
                <a:spcPts val="0"/>
              </a:spcAft>
              <a:buNone/>
            </a:pPr>
            <a:r>
              <a:rPr lang="en-US" sz="1800">
                <a:solidFill>
                  <a:srgbClr val="000000"/>
                </a:solidFill>
                <a:latin typeface="Calibri"/>
                <a:ea typeface="Calibri"/>
                <a:cs typeface="Calibri"/>
                <a:sym typeface="Calibri"/>
              </a:rPr>
              <a:t>• seed=42, n=50 subset; sample-bias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0" name="Shape 120"/>
        <p:cNvGrpSpPr/>
        <p:nvPr/>
      </p:nvGrpSpPr>
      <p:grpSpPr>
        <a:xfrm>
          <a:off x="0" y="0"/>
          <a:ext cx="0" cy="0"/>
          <a:chOff x="0" y="0"/>
          <a:chExt cx="0" cy="0"/>
        </a:xfrm>
      </p:grpSpPr>
      <p:sp>
        <p:nvSpPr>
          <p:cNvPr id="121" name="Google Shape;121;p6"/>
          <p:cNvSpPr/>
          <p:nvPr/>
        </p:nvSpPr>
        <p:spPr>
          <a:xfrm>
            <a:off x="0" y="274320"/>
            <a:ext cx="9144000" cy="731520"/>
          </a:xfrm>
          <a:prstGeom prst="rect">
            <a:avLst/>
          </a:prstGeom>
          <a:solidFill>
            <a:srgbClr val="1F3864"/>
          </a:solidFill>
          <a:ln cap="flat" cmpd="sng" w="9525">
            <a:solidFill>
              <a:srgbClr val="1F386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800">
                <a:solidFill>
                  <a:srgbClr val="FFFFFF"/>
                </a:solidFill>
                <a:latin typeface="Calibri"/>
                <a:ea typeface="Calibri"/>
                <a:cs typeface="Calibri"/>
                <a:sym typeface="Calibri"/>
              </a:rPr>
              <a:t>Phase 2: Why Extend the Dataset</a:t>
            </a:r>
            <a:endParaRPr/>
          </a:p>
        </p:txBody>
      </p:sp>
      <p:sp>
        <p:nvSpPr>
          <p:cNvPr id="122" name="Google Shape;122;p6"/>
          <p:cNvSpPr txBox="1"/>
          <p:nvPr/>
        </p:nvSpPr>
        <p:spPr>
          <a:xfrm>
            <a:off x="640080" y="1097280"/>
            <a:ext cx="7863840" cy="34747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 RAG and fine-tuning need complete (NL, Python, Java) triplets</a:t>
            </a:r>
            <a:endParaRPr/>
          </a:p>
          <a:p>
            <a:pPr indent="0" lvl="0" marL="0" marR="0" rtl="0" algn="l">
              <a:spcBef>
                <a:spcPts val="1200"/>
              </a:spcBef>
              <a:spcAft>
                <a:spcPts val="0"/>
              </a:spcAft>
              <a:buNone/>
            </a:pPr>
            <a:r>
              <a:rPr lang="en-US" sz="1800">
                <a:solidFill>
                  <a:srgbClr val="000000"/>
                </a:solidFill>
                <a:latin typeface="Calibri"/>
                <a:ea typeface="Calibri"/>
                <a:cs typeface="Calibri"/>
                <a:sym typeface="Calibri"/>
              </a:rPr>
              <a:t>• Each benchmark is missing exactly one component of the triplet:</a:t>
            </a:r>
            <a:endParaRPr/>
          </a:p>
          <a:p>
            <a:pPr indent="0" lvl="0" marL="0" marR="0" rtl="0" algn="l">
              <a:spcBef>
                <a:spcPts val="1200"/>
              </a:spcBef>
              <a:spcAft>
                <a:spcPts val="0"/>
              </a:spcAft>
              <a:buNone/>
            </a:pPr>
            <a:r>
              <a:rPr lang="en-US" sz="1800">
                <a:solidFill>
                  <a:srgbClr val="000000"/>
                </a:solidFill>
                <a:latin typeface="Calibri"/>
                <a:ea typeface="Calibri"/>
                <a:cs typeface="Calibri"/>
                <a:sym typeface="Calibri"/>
              </a:rPr>
              <a:t>  - HumanEval: has NL + Python, missing Java</a:t>
            </a:r>
            <a:endParaRPr/>
          </a:p>
          <a:p>
            <a:pPr indent="0" lvl="0" marL="0" marR="0" rtl="0" algn="l">
              <a:spcBef>
                <a:spcPts val="1200"/>
              </a:spcBef>
              <a:spcAft>
                <a:spcPts val="0"/>
              </a:spcAft>
              <a:buNone/>
            </a:pPr>
            <a:r>
              <a:rPr lang="en-US" sz="1800">
                <a:solidFill>
                  <a:srgbClr val="000000"/>
                </a:solidFill>
                <a:latin typeface="Calibri"/>
                <a:ea typeface="Calibri"/>
                <a:cs typeface="Calibri"/>
                <a:sym typeface="Calibri"/>
              </a:rPr>
              <a:t>  - MBPP: has NL + Python, missing Java</a:t>
            </a:r>
            <a:endParaRPr/>
          </a:p>
          <a:p>
            <a:pPr indent="0" lvl="0" marL="0" marR="0" rtl="0" algn="l">
              <a:spcBef>
                <a:spcPts val="1200"/>
              </a:spcBef>
              <a:spcAft>
                <a:spcPts val="0"/>
              </a:spcAft>
              <a:buNone/>
            </a:pPr>
            <a:r>
              <a:rPr lang="en-US" sz="1800">
                <a:solidFill>
                  <a:srgbClr val="000000"/>
                </a:solidFill>
                <a:latin typeface="Calibri"/>
                <a:ea typeface="Calibri"/>
                <a:cs typeface="Calibri"/>
                <a:sym typeface="Calibri"/>
              </a:rPr>
              <a:t>  - HumanEval-X: has Python + Java, missing NL</a:t>
            </a:r>
            <a:endParaRPr/>
          </a:p>
          <a:p>
            <a:pPr indent="0" lvl="0" marL="0" marR="0" rtl="0" algn="l">
              <a:spcBef>
                <a:spcPts val="1200"/>
              </a:spcBef>
              <a:spcAft>
                <a:spcPts val="0"/>
              </a:spcAft>
              <a:buNone/>
            </a:pPr>
            <a:r>
              <a:rPr lang="en-US" sz="1800">
                <a:solidFill>
                  <a:srgbClr val="000000"/>
                </a:solidFill>
                <a:latin typeface="Calibri"/>
                <a:ea typeface="Calibri"/>
                <a:cs typeface="Calibri"/>
                <a:sym typeface="Calibri"/>
              </a:rPr>
              <a:t>• Goal: generate the missing piece for each benchmark, validated by execution, to produce complete triplets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7" name="Shape 127"/>
        <p:cNvGrpSpPr/>
        <p:nvPr/>
      </p:nvGrpSpPr>
      <p:grpSpPr>
        <a:xfrm>
          <a:off x="0" y="0"/>
          <a:ext cx="0" cy="0"/>
          <a:chOff x="0" y="0"/>
          <a:chExt cx="0" cy="0"/>
        </a:xfrm>
      </p:grpSpPr>
      <p:sp>
        <p:nvSpPr>
          <p:cNvPr id="128" name="Google Shape;128;p7"/>
          <p:cNvSpPr/>
          <p:nvPr/>
        </p:nvSpPr>
        <p:spPr>
          <a:xfrm>
            <a:off x="0" y="274320"/>
            <a:ext cx="9144000" cy="731520"/>
          </a:xfrm>
          <a:prstGeom prst="rect">
            <a:avLst/>
          </a:prstGeom>
          <a:solidFill>
            <a:srgbClr val="1F3864"/>
          </a:solidFill>
          <a:ln cap="flat" cmpd="sng" w="9525">
            <a:solidFill>
              <a:srgbClr val="1F386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800">
                <a:solidFill>
                  <a:srgbClr val="FFFFFF"/>
                </a:solidFill>
                <a:latin typeface="Calibri"/>
                <a:ea typeface="Calibri"/>
                <a:cs typeface="Calibri"/>
                <a:sym typeface="Calibri"/>
              </a:rPr>
              <a:t>Phase 2: The Feedback Loop</a:t>
            </a:r>
            <a:endParaRPr/>
          </a:p>
        </p:txBody>
      </p:sp>
      <p:sp>
        <p:nvSpPr>
          <p:cNvPr id="129" name="Google Shape;129;p7"/>
          <p:cNvSpPr txBox="1"/>
          <p:nvPr/>
        </p:nvSpPr>
        <p:spPr>
          <a:xfrm>
            <a:off x="640080" y="1097280"/>
            <a:ext cx="7863840" cy="34747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 Pipeline: generate → validate via execution → if fail, embed the validator's actual error into a retry prompt (up to 3 attempts) → mark flag</a:t>
            </a:r>
            <a:endParaRPr/>
          </a:p>
          <a:p>
            <a:pPr indent="0" lvl="0" marL="0" marR="0" rtl="0" algn="l">
              <a:spcBef>
                <a:spcPts val="1200"/>
              </a:spcBef>
              <a:spcAft>
                <a:spcPts val="0"/>
              </a:spcAft>
              <a:buNone/>
            </a:pPr>
            <a:r>
              <a:rPr lang="en-US" sz="1800">
                <a:solidFill>
                  <a:srgbClr val="000000"/>
                </a:solidFill>
                <a:latin typeface="Calibri"/>
                <a:ea typeface="Calibri"/>
                <a:cs typeface="Calibri"/>
                <a:sym typeface="Calibri"/>
              </a:rPr>
              <a:t>• Concrete example trace: HumanEval problem #23 ('strlen') — Attempt 1 generates Java using s.length (missing parens), fails to compile; feedback prompt includes the compiler error; Attempt 2 generates s.length() correctly and passes</a:t>
            </a:r>
            <a:endParaRPr/>
          </a:p>
          <a:p>
            <a:pPr indent="0" lvl="0" marL="0" marR="0" rtl="0" algn="l">
              <a:spcBef>
                <a:spcPts val="1200"/>
              </a:spcBef>
              <a:spcAft>
                <a:spcPts val="0"/>
              </a:spcAft>
              <a:buNone/>
            </a:pPr>
            <a:r>
              <a:rPr lang="en-US" sz="1800">
                <a:solidFill>
                  <a:srgbClr val="000000"/>
                </a:solidFill>
                <a:latin typeface="Calibri"/>
                <a:ea typeface="Calibri"/>
                <a:cs typeface="Calibri"/>
                <a:sym typeface="Calibri"/>
              </a:rPr>
              <a:t>• Two flows:</a:t>
            </a:r>
            <a:endParaRPr/>
          </a:p>
          <a:p>
            <a:pPr indent="0" lvl="0" marL="0" marR="0" rtl="0" algn="l">
              <a:spcBef>
                <a:spcPts val="1200"/>
              </a:spcBef>
              <a:spcAft>
                <a:spcPts val="0"/>
              </a:spcAft>
              <a:buNone/>
            </a:pPr>
            <a:r>
              <a:rPr lang="en-US" sz="1800">
                <a:solidFill>
                  <a:srgbClr val="000000"/>
                </a:solidFill>
                <a:latin typeface="Calibri"/>
                <a:ea typeface="Calibri"/>
                <a:cs typeface="Calibri"/>
                <a:sym typeface="Calibri"/>
              </a:rPr>
              <a:t>  - Flow A: generate Java for HumanEval/MBPP (validated via javac + java -ea Main, assertions enabled)</a:t>
            </a:r>
            <a:endParaRPr/>
          </a:p>
          <a:p>
            <a:pPr indent="0" lvl="0" marL="0" marR="0" rtl="0" algn="l">
              <a:spcBef>
                <a:spcPts val="1200"/>
              </a:spcBef>
              <a:spcAft>
                <a:spcPts val="0"/>
              </a:spcAft>
              <a:buNone/>
            </a:pPr>
            <a:r>
              <a:rPr lang="en-US" sz="1800">
                <a:solidFill>
                  <a:srgbClr val="000000"/>
                </a:solidFill>
                <a:latin typeface="Calibri"/>
                <a:ea typeface="Calibri"/>
                <a:cs typeface="Calibri"/>
                <a:sym typeface="Calibri"/>
              </a:rPr>
              <a:t>  - Flow B: generate NL for HumanEval-X (validated via double round-trip — regenerate Python and Java from the new NL and check both against ground truth)</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4" name="Shape 134"/>
        <p:cNvGrpSpPr/>
        <p:nvPr/>
      </p:nvGrpSpPr>
      <p:grpSpPr>
        <a:xfrm>
          <a:off x="0" y="0"/>
          <a:ext cx="0" cy="0"/>
          <a:chOff x="0" y="0"/>
          <a:chExt cx="0" cy="0"/>
        </a:xfrm>
      </p:grpSpPr>
      <p:sp>
        <p:nvSpPr>
          <p:cNvPr id="135" name="Google Shape;135;p8"/>
          <p:cNvSpPr/>
          <p:nvPr/>
        </p:nvSpPr>
        <p:spPr>
          <a:xfrm>
            <a:off x="0" y="274320"/>
            <a:ext cx="9144000" cy="731520"/>
          </a:xfrm>
          <a:prstGeom prst="rect">
            <a:avLst/>
          </a:prstGeom>
          <a:solidFill>
            <a:srgbClr val="1F3864"/>
          </a:solidFill>
          <a:ln cap="flat" cmpd="sng" w="9525">
            <a:solidFill>
              <a:srgbClr val="1F386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800">
                <a:solidFill>
                  <a:srgbClr val="FFFFFF"/>
                </a:solidFill>
                <a:latin typeface="Calibri"/>
                <a:ea typeface="Calibri"/>
                <a:cs typeface="Calibri"/>
                <a:sym typeface="Calibri"/>
              </a:rPr>
              <a:t>Phase 2: Hard Gate vs Soft Signals</a:t>
            </a:r>
            <a:endParaRPr/>
          </a:p>
        </p:txBody>
      </p:sp>
      <p:sp>
        <p:nvSpPr>
          <p:cNvPr id="136" name="Google Shape;136;p8"/>
          <p:cNvSpPr txBox="1"/>
          <p:nvPr/>
        </p:nvSpPr>
        <p:spPr>
          <a:xfrm>
            <a:off x="640080" y="1097280"/>
            <a:ext cx="7863840" cy="249299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 Execution match is the hard gate — it alone decides the flag value</a:t>
            </a:r>
            <a:endParaRPr/>
          </a:p>
          <a:p>
            <a:pPr indent="0" lvl="0" marL="0" marR="0" rtl="0" algn="l">
              <a:spcBef>
                <a:spcPts val="1200"/>
              </a:spcBef>
              <a:spcAft>
                <a:spcPts val="0"/>
              </a:spcAft>
              <a:buNone/>
            </a:pPr>
            <a:r>
              <a:rPr lang="en-US" sz="1800">
                <a:solidFill>
                  <a:srgbClr val="000000"/>
                </a:solidFill>
                <a:latin typeface="Calibri"/>
                <a:ea typeface="Calibri"/>
                <a:cs typeface="Calibri"/>
                <a:sym typeface="Calibri"/>
              </a:rPr>
              <a:t>• AST canonical-equality and AST-bigram Jaccard similarity are computed and logged, but never used to gate/decide validity</a:t>
            </a:r>
            <a:endParaRPr/>
          </a:p>
          <a:p>
            <a:pPr indent="0" lvl="0" marL="0" marR="0" rtl="0" algn="l">
              <a:spcBef>
                <a:spcPts val="1200"/>
              </a:spcBef>
              <a:spcAft>
                <a:spcPts val="0"/>
              </a:spcAft>
              <a:buNone/>
            </a:pPr>
            <a:r>
              <a:rPr lang="en-US" sz="1800">
                <a:solidFill>
                  <a:srgbClr val="000000"/>
                </a:solidFill>
                <a:latin typeface="Calibri"/>
                <a:ea typeface="Calibri"/>
                <a:cs typeface="Calibri"/>
                <a:sym typeface="Calibri"/>
              </a:rPr>
              <a:t>• Why not gate on AST alone: superficially different but functionally equivalent code (variable renaming, refactored structure) would be wrongly rejected; conversely near-identical AST can still have different runtime behavior</a:t>
            </a:r>
            <a:endParaRPr/>
          </a:p>
          <a:p>
            <a:pPr indent="0" lvl="0" marL="0" marR="0" rtl="0" algn="l">
              <a:spcBef>
                <a:spcPts val="120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1" name="Shape 141"/>
        <p:cNvGrpSpPr/>
        <p:nvPr/>
      </p:nvGrpSpPr>
      <p:grpSpPr>
        <a:xfrm>
          <a:off x="0" y="0"/>
          <a:ext cx="0" cy="0"/>
          <a:chOff x="0" y="0"/>
          <a:chExt cx="0" cy="0"/>
        </a:xfrm>
      </p:grpSpPr>
      <p:sp>
        <p:nvSpPr>
          <p:cNvPr id="142" name="Google Shape;142;p9"/>
          <p:cNvSpPr/>
          <p:nvPr/>
        </p:nvSpPr>
        <p:spPr>
          <a:xfrm>
            <a:off x="0" y="274320"/>
            <a:ext cx="9144000" cy="731520"/>
          </a:xfrm>
          <a:prstGeom prst="rect">
            <a:avLst/>
          </a:prstGeom>
          <a:solidFill>
            <a:srgbClr val="1F3864"/>
          </a:solidFill>
          <a:ln cap="flat" cmpd="sng" w="9525">
            <a:solidFill>
              <a:srgbClr val="1F386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800">
                <a:solidFill>
                  <a:srgbClr val="FFFFFF"/>
                </a:solidFill>
                <a:latin typeface="Calibri"/>
                <a:ea typeface="Calibri"/>
                <a:cs typeface="Calibri"/>
                <a:sym typeface="Calibri"/>
              </a:rPr>
              <a:t>Phase 2: Extension Results</a:t>
            </a:r>
            <a:endParaRPr/>
          </a:p>
        </p:txBody>
      </p:sp>
      <p:graphicFrame>
        <p:nvGraphicFramePr>
          <p:cNvPr id="143" name="Google Shape;143;p9"/>
          <p:cNvGraphicFramePr/>
          <p:nvPr/>
        </p:nvGraphicFramePr>
        <p:xfrm>
          <a:off x="457200" y="1097280"/>
          <a:ext cx="3000000" cy="3000000"/>
        </p:xfrm>
        <a:graphic>
          <a:graphicData uri="http://schemas.openxmlformats.org/drawingml/2006/table">
            <a:tbl>
              <a:tblPr bandRow="1" firstRow="1">
                <a:noFill/>
                <a:tableStyleId>{76E8EE8F-F916-4520-B353-C2E76A3E6513}</a:tableStyleId>
              </a:tblPr>
              <a:tblGrid>
                <a:gridCol w="1645925"/>
                <a:gridCol w="2011675"/>
                <a:gridCol w="2011675"/>
                <a:gridCol w="2011675"/>
              </a:tblGrid>
              <a:tr h="571500">
                <a:tc>
                  <a:txBody>
                    <a:bodyPr/>
                    <a:lstStyle/>
                    <a:p>
                      <a:pPr indent="0" lvl="0" marL="0" marR="0" rtl="0" algn="l">
                        <a:spcBef>
                          <a:spcPts val="0"/>
                        </a:spcBef>
                        <a:spcAft>
                          <a:spcPts val="0"/>
                        </a:spcAft>
                        <a:buNone/>
                      </a:pPr>
                      <a:r>
                        <a:rPr b="1" lang="en-US" sz="1400">
                          <a:solidFill>
                            <a:srgbClr val="FFFFFF"/>
                          </a:solidFill>
                        </a:rPr>
                        <a:t>Benchmark</a:t>
                      </a:r>
                      <a:endParaRPr/>
                    </a:p>
                  </a:txBody>
                  <a:tcPr marT="45725" marB="45725" marR="91450" marL="91450">
                    <a:solidFill>
                      <a:srgbClr val="1F3864"/>
                    </a:solidFill>
                  </a:tcPr>
                </a:tc>
                <a:tc>
                  <a:txBody>
                    <a:bodyPr/>
                    <a:lstStyle/>
                    <a:p>
                      <a:pPr indent="0" lvl="0" marL="0" marR="0" rtl="0" algn="l">
                        <a:spcBef>
                          <a:spcPts val="0"/>
                        </a:spcBef>
                        <a:spcAft>
                          <a:spcPts val="0"/>
                        </a:spcAft>
                        <a:buNone/>
                      </a:pPr>
                      <a:r>
                        <a:rPr b="1" lang="en-US" sz="1400">
                          <a:solidFill>
                            <a:srgbClr val="FFFFFF"/>
                          </a:solidFill>
                        </a:rPr>
                        <a:t>Missing Piece Generated</a:t>
                      </a:r>
                      <a:endParaRPr/>
                    </a:p>
                  </a:txBody>
                  <a:tcPr marT="45725" marB="45725" marR="91450" marL="91450">
                    <a:solidFill>
                      <a:srgbClr val="1F3864"/>
                    </a:solidFill>
                  </a:tcPr>
                </a:tc>
                <a:tc>
                  <a:txBody>
                    <a:bodyPr/>
                    <a:lstStyle/>
                    <a:p>
                      <a:pPr indent="0" lvl="0" marL="0" marR="0" rtl="0" algn="l">
                        <a:spcBef>
                          <a:spcPts val="0"/>
                        </a:spcBef>
                        <a:spcAft>
                          <a:spcPts val="0"/>
                        </a:spcAft>
                        <a:buNone/>
                      </a:pPr>
                      <a:r>
                        <a:rPr b="1" lang="en-US" sz="1400">
                          <a:solidFill>
                            <a:srgbClr val="FFFFFF"/>
                          </a:solidFill>
                        </a:rPr>
                        <a:t>Flag-True Rate</a:t>
                      </a:r>
                      <a:endParaRPr/>
                    </a:p>
                  </a:txBody>
                  <a:tcPr marT="45725" marB="45725" marR="91450" marL="91450">
                    <a:solidFill>
                      <a:srgbClr val="1F3864"/>
                    </a:solidFill>
                  </a:tcPr>
                </a:tc>
                <a:tc>
                  <a:txBody>
                    <a:bodyPr/>
                    <a:lstStyle/>
                    <a:p>
                      <a:pPr indent="0" lvl="0" marL="0" marR="0" rtl="0" algn="l">
                        <a:spcBef>
                          <a:spcPts val="0"/>
                        </a:spcBef>
                        <a:spcAft>
                          <a:spcPts val="0"/>
                        </a:spcAft>
                        <a:buNone/>
                      </a:pPr>
                      <a:r>
                        <a:rPr b="1" lang="en-US" sz="1400">
                          <a:solidFill>
                            <a:srgbClr val="FFFFFF"/>
                          </a:solidFill>
                        </a:rPr>
                        <a:t>Mean Attempts</a:t>
                      </a:r>
                      <a:endParaRPr/>
                    </a:p>
                  </a:txBody>
                  <a:tcPr marT="45725" marB="45725" marR="91450" marL="91450">
                    <a:solidFill>
                      <a:srgbClr val="1F3864"/>
                    </a:solidFill>
                  </a:tcPr>
                </a:tc>
              </a:tr>
              <a:tr h="571500">
                <a:tc>
                  <a:txBody>
                    <a:bodyPr/>
                    <a:lstStyle/>
                    <a:p>
                      <a:pPr indent="0" lvl="0" marL="0" marR="0" rtl="0" algn="l">
                        <a:spcBef>
                          <a:spcPts val="0"/>
                        </a:spcBef>
                        <a:spcAft>
                          <a:spcPts val="0"/>
                        </a:spcAft>
                        <a:buNone/>
                      </a:pPr>
                      <a:r>
                        <a:rPr lang="en-US" sz="1400">
                          <a:solidFill>
                            <a:srgbClr val="000000"/>
                          </a:solidFill>
                        </a:rPr>
                        <a:t>HumanEval</a:t>
                      </a:r>
                      <a:endParaRPr/>
                    </a:p>
                  </a:txBody>
                  <a:tcPr marT="45725" marB="45725" marR="91450" marL="91450"/>
                </a:tc>
                <a:tc>
                  <a:txBody>
                    <a:bodyPr/>
                    <a:lstStyle/>
                    <a:p>
                      <a:pPr indent="0" lvl="0" marL="0" marR="0" rtl="0" algn="l">
                        <a:spcBef>
                          <a:spcPts val="0"/>
                        </a:spcBef>
                        <a:spcAft>
                          <a:spcPts val="0"/>
                        </a:spcAft>
                        <a:buNone/>
                      </a:pPr>
                      <a:r>
                        <a:rPr lang="en-US" sz="1400">
                          <a:solidFill>
                            <a:srgbClr val="000000"/>
                          </a:solidFill>
                        </a:rPr>
                        <a:t>Java (Flow A)</a:t>
                      </a:r>
                      <a:endParaRPr/>
                    </a:p>
                  </a:txBody>
                  <a:tcPr marT="45725" marB="45725" marR="91450" marL="91450"/>
                </a:tc>
                <a:tc>
                  <a:txBody>
                    <a:bodyPr/>
                    <a:lstStyle/>
                    <a:p>
                      <a:pPr indent="0" lvl="0" marL="0" marR="0" rtl="0" algn="l">
                        <a:spcBef>
                          <a:spcPts val="0"/>
                        </a:spcBef>
                        <a:spcAft>
                          <a:spcPts val="0"/>
                        </a:spcAft>
                        <a:buNone/>
                      </a:pPr>
                      <a:r>
                        <a:rPr lang="en-US" sz="1400">
                          <a:solidFill>
                            <a:srgbClr val="000000"/>
                          </a:solidFill>
                        </a:rPr>
                        <a:t>85%</a:t>
                      </a:r>
                      <a:endParaRPr/>
                    </a:p>
                  </a:txBody>
                  <a:tcPr marT="45725" marB="45725" marR="91450" marL="91450"/>
                </a:tc>
                <a:tc>
                  <a:txBody>
                    <a:bodyPr/>
                    <a:lstStyle/>
                    <a:p>
                      <a:pPr indent="0" lvl="0" marL="0" marR="0" rtl="0" algn="l">
                        <a:spcBef>
                          <a:spcPts val="0"/>
                        </a:spcBef>
                        <a:spcAft>
                          <a:spcPts val="0"/>
                        </a:spcAft>
                        <a:buNone/>
                      </a:pPr>
                      <a:r>
                        <a:rPr lang="en-US" sz="1400">
                          <a:solidFill>
                            <a:srgbClr val="000000"/>
                          </a:solidFill>
                        </a:rPr>
                        <a:t>1.30</a:t>
                      </a:r>
                      <a:endParaRPr/>
                    </a:p>
                  </a:txBody>
                  <a:tcPr marT="45725" marB="45725" marR="91450" marL="91450"/>
                </a:tc>
              </a:tr>
              <a:tr h="571500">
                <a:tc>
                  <a:txBody>
                    <a:bodyPr/>
                    <a:lstStyle/>
                    <a:p>
                      <a:pPr indent="0" lvl="0" marL="0" marR="0" rtl="0" algn="l">
                        <a:spcBef>
                          <a:spcPts val="0"/>
                        </a:spcBef>
                        <a:spcAft>
                          <a:spcPts val="0"/>
                        </a:spcAft>
                        <a:buNone/>
                      </a:pPr>
                      <a:r>
                        <a:rPr lang="en-US" sz="1400">
                          <a:solidFill>
                            <a:srgbClr val="000000"/>
                          </a:solidFill>
                        </a:rPr>
                        <a:t>MBPP</a:t>
                      </a:r>
                      <a:endParaRPr/>
                    </a:p>
                  </a:txBody>
                  <a:tcPr marT="45725" marB="45725" marR="91450" marL="91450"/>
                </a:tc>
                <a:tc>
                  <a:txBody>
                    <a:bodyPr/>
                    <a:lstStyle/>
                    <a:p>
                      <a:pPr indent="0" lvl="0" marL="0" marR="0" rtl="0" algn="l">
                        <a:spcBef>
                          <a:spcPts val="0"/>
                        </a:spcBef>
                        <a:spcAft>
                          <a:spcPts val="0"/>
                        </a:spcAft>
                        <a:buNone/>
                      </a:pPr>
                      <a:r>
                        <a:rPr lang="en-US" sz="1400">
                          <a:solidFill>
                            <a:srgbClr val="000000"/>
                          </a:solidFill>
                        </a:rPr>
                        <a:t>Java (Flow A)</a:t>
                      </a:r>
                      <a:endParaRPr/>
                    </a:p>
                  </a:txBody>
                  <a:tcPr marT="45725" marB="45725" marR="91450" marL="91450"/>
                </a:tc>
                <a:tc>
                  <a:txBody>
                    <a:bodyPr/>
                    <a:lstStyle/>
                    <a:p>
                      <a:pPr indent="0" lvl="0" marL="0" marR="0" rtl="0" algn="l">
                        <a:spcBef>
                          <a:spcPts val="0"/>
                        </a:spcBef>
                        <a:spcAft>
                          <a:spcPts val="0"/>
                        </a:spcAft>
                        <a:buNone/>
                      </a:pPr>
                      <a:r>
                        <a:rPr lang="en-US" sz="1400">
                          <a:solidFill>
                            <a:srgbClr val="000000"/>
                          </a:solidFill>
                        </a:rPr>
                        <a:t>95%</a:t>
                      </a:r>
                      <a:endParaRPr/>
                    </a:p>
                  </a:txBody>
                  <a:tcPr marT="45725" marB="45725" marR="91450" marL="91450"/>
                </a:tc>
                <a:tc>
                  <a:txBody>
                    <a:bodyPr/>
                    <a:lstStyle/>
                    <a:p>
                      <a:pPr indent="0" lvl="0" marL="0" marR="0" rtl="0" algn="l">
                        <a:spcBef>
                          <a:spcPts val="0"/>
                        </a:spcBef>
                        <a:spcAft>
                          <a:spcPts val="0"/>
                        </a:spcAft>
                        <a:buNone/>
                      </a:pPr>
                      <a:r>
                        <a:rPr lang="en-US" sz="1400">
                          <a:solidFill>
                            <a:srgbClr val="000000"/>
                          </a:solidFill>
                        </a:rPr>
                        <a:t>1.15</a:t>
                      </a:r>
                      <a:endParaRPr/>
                    </a:p>
                  </a:txBody>
                  <a:tcPr marT="45725" marB="45725" marR="91450" marL="91450"/>
                </a:tc>
              </a:tr>
              <a:tr h="571500">
                <a:tc>
                  <a:txBody>
                    <a:bodyPr/>
                    <a:lstStyle/>
                    <a:p>
                      <a:pPr indent="0" lvl="0" marL="0" marR="0" rtl="0" algn="l">
                        <a:spcBef>
                          <a:spcPts val="0"/>
                        </a:spcBef>
                        <a:spcAft>
                          <a:spcPts val="0"/>
                        </a:spcAft>
                        <a:buNone/>
                      </a:pPr>
                      <a:r>
                        <a:rPr lang="en-US" sz="1400">
                          <a:solidFill>
                            <a:srgbClr val="000000"/>
                          </a:solidFill>
                        </a:rPr>
                        <a:t>HumanEval-X</a:t>
                      </a:r>
                      <a:endParaRPr/>
                    </a:p>
                  </a:txBody>
                  <a:tcPr marT="45725" marB="45725" marR="91450" marL="91450"/>
                </a:tc>
                <a:tc>
                  <a:txBody>
                    <a:bodyPr/>
                    <a:lstStyle/>
                    <a:p>
                      <a:pPr indent="0" lvl="0" marL="0" marR="0" rtl="0" algn="l">
                        <a:spcBef>
                          <a:spcPts val="0"/>
                        </a:spcBef>
                        <a:spcAft>
                          <a:spcPts val="0"/>
                        </a:spcAft>
                        <a:buNone/>
                      </a:pPr>
                      <a:r>
                        <a:rPr lang="en-US" sz="1400">
                          <a:solidFill>
                            <a:srgbClr val="000000"/>
                          </a:solidFill>
                        </a:rPr>
                        <a:t>NL (Flow B)</a:t>
                      </a:r>
                      <a:endParaRPr/>
                    </a:p>
                  </a:txBody>
                  <a:tcPr marT="45725" marB="45725" marR="91450" marL="91450"/>
                </a:tc>
                <a:tc>
                  <a:txBody>
                    <a:bodyPr/>
                    <a:lstStyle/>
                    <a:p>
                      <a:pPr indent="0" lvl="0" marL="0" marR="0" rtl="0" algn="l">
                        <a:spcBef>
                          <a:spcPts val="0"/>
                        </a:spcBef>
                        <a:spcAft>
                          <a:spcPts val="0"/>
                        </a:spcAft>
                        <a:buNone/>
                      </a:pPr>
                      <a:r>
                        <a:rPr lang="en-US" sz="1400">
                          <a:solidFill>
                            <a:srgbClr val="000000"/>
                          </a:solidFill>
                        </a:rPr>
                        <a:t>60%</a:t>
                      </a:r>
                      <a:endParaRPr/>
                    </a:p>
                  </a:txBody>
                  <a:tcPr marT="45725" marB="45725" marR="91450" marL="91450"/>
                </a:tc>
                <a:tc>
                  <a:txBody>
                    <a:bodyPr/>
                    <a:lstStyle/>
                    <a:p>
                      <a:pPr indent="0" lvl="0" marL="0" marR="0" rtl="0" algn="l">
                        <a:spcBef>
                          <a:spcPts val="0"/>
                        </a:spcBef>
                        <a:spcAft>
                          <a:spcPts val="0"/>
                        </a:spcAft>
                        <a:buNone/>
                      </a:pPr>
                      <a:r>
                        <a:rPr lang="en-US" sz="1400">
                          <a:solidFill>
                            <a:srgbClr val="000000"/>
                          </a:solidFill>
                        </a:rPr>
                        <a:t>1.80</a:t>
                      </a:r>
                      <a:endParaRPr/>
                    </a:p>
                  </a:txBody>
                  <a:tcPr marT="45725" marB="45725" marR="91450" marL="91450"/>
                </a:tc>
              </a:tr>
            </a:tbl>
          </a:graphicData>
        </a:graphic>
      </p:graphicFrame>
      <p:sp>
        <p:nvSpPr>
          <p:cNvPr id="144" name="Google Shape;144;p9"/>
          <p:cNvSpPr txBox="1"/>
          <p:nvPr/>
        </p:nvSpPr>
        <p:spPr>
          <a:xfrm>
            <a:off x="640080" y="3840480"/>
            <a:ext cx="7863900" cy="1508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 </a:t>
            </a:r>
            <a:r>
              <a:rPr lang="en-US" sz="1800">
                <a:latin typeface="Calibri"/>
                <a:ea typeface="Calibri"/>
                <a:cs typeface="Calibri"/>
                <a:sym typeface="Calibri"/>
              </a:rPr>
              <a:t>M</a:t>
            </a:r>
            <a:r>
              <a:rPr lang="en-US" sz="1800">
                <a:solidFill>
                  <a:srgbClr val="000000"/>
                </a:solidFill>
                <a:latin typeface="Calibri"/>
                <a:ea typeface="Calibri"/>
                <a:cs typeface="Calibri"/>
                <a:sym typeface="Calibri"/>
              </a:rPr>
              <a:t>ean attempts &gt; 1 shows the feedback loop recovers real failures</a:t>
            </a:r>
            <a:endParaRPr/>
          </a:p>
          <a:p>
            <a:pPr indent="0" lvl="0" marL="0" marR="0" rtl="0" algn="l">
              <a:spcBef>
                <a:spcPts val="1200"/>
              </a:spcBef>
              <a:spcAft>
                <a:spcPts val="0"/>
              </a:spcAft>
              <a:buNone/>
            </a:pPr>
            <a:r>
              <a:rPr lang="en-US" sz="1800">
                <a:solidFill>
                  <a:srgbClr val="000000"/>
                </a:solidFill>
                <a:latin typeface="Calibri"/>
                <a:ea typeface="Calibri"/>
                <a:cs typeface="Calibri"/>
                <a:sym typeface="Calibri"/>
              </a:rPr>
              <a:t>• HumanEval-X (NL generation, Flow B) is the bottleneck — hardest task, most retries, lowest success</a:t>
            </a:r>
            <a:endParaRPr/>
          </a:p>
          <a:p>
            <a:pPr indent="0" lvl="0" marL="0" marR="0" rtl="0" algn="l">
              <a:spcBef>
                <a:spcPts val="1200"/>
              </a:spcBef>
              <a:spcAft>
                <a:spcPts val="0"/>
              </a:spcAft>
              <a:buNone/>
            </a:pPr>
            <a:r>
              <a:rPr lang="en-US" sz="1800">
                <a:solidFill>
                  <a:srgbClr val="000000"/>
                </a:solidFill>
                <a:latin typeface="Calibri"/>
                <a:ea typeface="Calibri"/>
                <a:cs typeface="Calibri"/>
                <a:sym typeface="Calibri"/>
              </a:rPr>
              <a:t>• Output feeds directly into Phase 3 as extended_*_seed13.csv</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9" name="Shape 149"/>
        <p:cNvGrpSpPr/>
        <p:nvPr/>
      </p:nvGrpSpPr>
      <p:grpSpPr>
        <a:xfrm>
          <a:off x="0" y="0"/>
          <a:ext cx="0" cy="0"/>
          <a:chOff x="0" y="0"/>
          <a:chExt cx="0" cy="0"/>
        </a:xfrm>
      </p:grpSpPr>
      <p:sp>
        <p:nvSpPr>
          <p:cNvPr id="150" name="Google Shape;150;p10"/>
          <p:cNvSpPr/>
          <p:nvPr/>
        </p:nvSpPr>
        <p:spPr>
          <a:xfrm>
            <a:off x="0" y="274320"/>
            <a:ext cx="9144000" cy="731520"/>
          </a:xfrm>
          <a:prstGeom prst="rect">
            <a:avLst/>
          </a:prstGeom>
          <a:solidFill>
            <a:srgbClr val="1F3864"/>
          </a:solidFill>
          <a:ln cap="flat" cmpd="sng" w="9525">
            <a:solidFill>
              <a:srgbClr val="1F386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800">
                <a:solidFill>
                  <a:srgbClr val="FFFFFF"/>
                </a:solidFill>
                <a:latin typeface="Calibri"/>
                <a:ea typeface="Calibri"/>
                <a:cs typeface="Calibri"/>
                <a:sym typeface="Calibri"/>
              </a:rPr>
              <a:t>Phase 3: QLoRA Setup</a:t>
            </a:r>
            <a:endParaRPr/>
          </a:p>
        </p:txBody>
      </p:sp>
      <p:sp>
        <p:nvSpPr>
          <p:cNvPr id="151" name="Google Shape;151;p10"/>
          <p:cNvSpPr txBox="1"/>
          <p:nvPr/>
        </p:nvSpPr>
        <p:spPr>
          <a:xfrm>
            <a:off x="640080" y="1097280"/>
            <a:ext cx="7863900" cy="2216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 Base model: Qwen2.5-Coder-</a:t>
            </a:r>
            <a:r>
              <a:rPr lang="en-US" sz="1800">
                <a:latin typeface="Calibri"/>
                <a:ea typeface="Calibri"/>
                <a:cs typeface="Calibri"/>
                <a:sym typeface="Calibri"/>
              </a:rPr>
              <a:t>1.5</a:t>
            </a:r>
            <a:r>
              <a:rPr lang="en-US" sz="1800">
                <a:solidFill>
                  <a:srgbClr val="000000"/>
                </a:solidFill>
                <a:latin typeface="Calibri"/>
                <a:ea typeface="Calibri"/>
                <a:cs typeface="Calibri"/>
                <a:sym typeface="Calibri"/>
              </a:rPr>
              <a:t>B</a:t>
            </a:r>
            <a:endParaRPr/>
          </a:p>
          <a:p>
            <a:pPr indent="0" lvl="0" marL="0" marR="0" rtl="0" algn="l">
              <a:spcBef>
                <a:spcPts val="1200"/>
              </a:spcBef>
              <a:spcAft>
                <a:spcPts val="0"/>
              </a:spcAft>
              <a:buNone/>
            </a:pPr>
            <a:r>
              <a:rPr lang="en-US" sz="1800">
                <a:solidFill>
                  <a:srgbClr val="000000"/>
                </a:solidFill>
                <a:latin typeface="Calibri"/>
                <a:ea typeface="Calibri"/>
                <a:cs typeface="Calibri"/>
                <a:sym typeface="Calibri"/>
              </a:rPr>
              <a:t>• LoRA config: r=8, alpha=16, dropout=0.05, target modules on attention + MLP projections, 3 epochs, learning rate 2e-4</a:t>
            </a:r>
            <a:endParaRPr/>
          </a:p>
          <a:p>
            <a:pPr indent="0" lvl="0" marL="0" marR="0" rtl="0" algn="l">
              <a:spcBef>
                <a:spcPts val="1200"/>
              </a:spcBef>
              <a:spcAft>
                <a:spcPts val="0"/>
              </a:spcAft>
              <a:buNone/>
            </a:pPr>
            <a:r>
              <a:rPr lang="en-US" sz="1800">
                <a:solidFill>
                  <a:srgbClr val="000000"/>
                </a:solidFill>
                <a:latin typeface="Calibri"/>
                <a:ea typeface="Calibri"/>
                <a:cs typeface="Calibri"/>
                <a:sym typeface="Calibri"/>
              </a:rPr>
              <a:t>• Training data: merged HumanEval ∩ HumanEval-X on shared problem ID (164 records), </a:t>
            </a:r>
            <a:r>
              <a:rPr lang="en-US" sz="1800">
                <a:latin typeface="Calibri"/>
                <a:ea typeface="Calibri"/>
                <a:cs typeface="Calibri"/>
                <a:sym typeface="Calibri"/>
              </a:rPr>
              <a:t>extended mbpp dataset.</a:t>
            </a:r>
            <a:endParaRPr sz="1800">
              <a:latin typeface="Calibri"/>
              <a:ea typeface="Calibri"/>
              <a:cs typeface="Calibri"/>
              <a:sym typeface="Calibri"/>
            </a:endParaRPr>
          </a:p>
          <a:p>
            <a:pPr indent="0" lvl="0" marL="0" marR="0" rtl="0" algn="l">
              <a:spcBef>
                <a:spcPts val="1200"/>
              </a:spcBef>
              <a:spcAft>
                <a:spcPts val="0"/>
              </a:spcAft>
              <a:buNone/>
            </a:pPr>
            <a:r>
              <a:rPr lang="en-US" sz="1800">
                <a:solidFill>
                  <a:srgbClr val="000000"/>
                </a:solidFill>
                <a:latin typeface="Calibri"/>
                <a:ea typeface="Calibri"/>
                <a:cs typeface="Calibri"/>
                <a:sym typeface="Calibri"/>
              </a:rPr>
              <a:t>• Four tasks trained: NL→Python, NL→Java, Python→Java, Code→NL</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6" name="Shape 156"/>
        <p:cNvGrpSpPr/>
        <p:nvPr/>
      </p:nvGrpSpPr>
      <p:grpSpPr>
        <a:xfrm>
          <a:off x="0" y="0"/>
          <a:ext cx="0" cy="0"/>
          <a:chOff x="0" y="0"/>
          <a:chExt cx="0" cy="0"/>
        </a:xfrm>
      </p:grpSpPr>
      <p:sp>
        <p:nvSpPr>
          <p:cNvPr id="157" name="Google Shape;157;p11"/>
          <p:cNvSpPr/>
          <p:nvPr/>
        </p:nvSpPr>
        <p:spPr>
          <a:xfrm>
            <a:off x="0" y="274320"/>
            <a:ext cx="9144000" cy="731520"/>
          </a:xfrm>
          <a:prstGeom prst="rect">
            <a:avLst/>
          </a:prstGeom>
          <a:solidFill>
            <a:srgbClr val="1F3864"/>
          </a:solidFill>
          <a:ln cap="flat" cmpd="sng" w="9525">
            <a:solidFill>
              <a:srgbClr val="1F386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800">
                <a:solidFill>
                  <a:srgbClr val="FFFFFF"/>
                </a:solidFill>
                <a:latin typeface="Calibri"/>
                <a:ea typeface="Calibri"/>
                <a:cs typeface="Calibri"/>
                <a:sym typeface="Calibri"/>
              </a:rPr>
              <a:t>Phase 3: Evaluation Strategy</a:t>
            </a:r>
            <a:endParaRPr/>
          </a:p>
        </p:txBody>
      </p:sp>
      <p:sp>
        <p:nvSpPr>
          <p:cNvPr id="158" name="Google Shape;158;p11"/>
          <p:cNvSpPr txBox="1"/>
          <p:nvPr/>
        </p:nvSpPr>
        <p:spPr>
          <a:xfrm>
            <a:off x="640080" y="1097280"/>
            <a:ext cx="7863840" cy="34747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 Compare zero-shot (base model) vs QLoRA-adapted model on the same 33 held-out examples</a:t>
            </a:r>
            <a:endParaRPr/>
          </a:p>
          <a:p>
            <a:pPr indent="0" lvl="0" marL="0" marR="0" rtl="0" algn="l">
              <a:spcBef>
                <a:spcPts val="1200"/>
              </a:spcBef>
              <a:spcAft>
                <a:spcPts val="0"/>
              </a:spcAft>
              <a:buNone/>
            </a:pPr>
            <a:r>
              <a:rPr lang="en-US" sz="1800">
                <a:solidFill>
                  <a:srgbClr val="000000"/>
                </a:solidFill>
                <a:latin typeface="Calibri"/>
                <a:ea typeface="Calibri"/>
                <a:cs typeface="Calibri"/>
                <a:sym typeface="Calibri"/>
              </a:rPr>
              <a:t>• Metric: pass@1 (execution-based) for code-generating tasks; ROUGE-L F1 for the Code→NL task</a:t>
            </a:r>
            <a:endParaRPr/>
          </a:p>
          <a:p>
            <a:pPr indent="0" lvl="0" marL="0" marR="0" rtl="0" algn="l">
              <a:spcBef>
                <a:spcPts val="1200"/>
              </a:spcBef>
              <a:spcAft>
                <a:spcPts val="0"/>
              </a:spcAft>
              <a:buNone/>
            </a:pPr>
            <a:r>
              <a:rPr lang="en-US" sz="1800">
                <a:solidFill>
                  <a:srgbClr val="000000"/>
                </a:solidFill>
                <a:latin typeface="Calibri"/>
                <a:ea typeface="Calibri"/>
                <a:cs typeface="Calibri"/>
                <a:sym typeface="Calibri"/>
              </a:rPr>
              <a:t>• Identical held-out split reused across all 4 tasks</a:t>
            </a:r>
            <a:endParaRPr/>
          </a:p>
          <a:p>
            <a:pPr indent="0" lvl="0" marL="0" marR="0" rtl="0" algn="l">
              <a:spcBef>
                <a:spcPts val="1200"/>
              </a:spcBef>
              <a:spcAft>
                <a:spcPts val="0"/>
              </a:spcAft>
              <a:buNone/>
            </a:pPr>
            <a:r>
              <a:rPr lang="en-US" sz="1800">
                <a:solidFill>
                  <a:srgbClr val="000000"/>
                </a:solidFill>
                <a:latin typeface="Calibri"/>
                <a:ea typeface="Calibri"/>
                <a:cs typeface="Calibri"/>
                <a:sym typeface="Calibri"/>
              </a:rPr>
              <a:t>• Same execution harness as Phase 1 and Phase 2 — apples-to-apples scoring throughout the whole project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3" name="Shape 163"/>
        <p:cNvGrpSpPr/>
        <p:nvPr/>
      </p:nvGrpSpPr>
      <p:grpSpPr>
        <a:xfrm>
          <a:off x="0" y="0"/>
          <a:ext cx="0" cy="0"/>
          <a:chOff x="0" y="0"/>
          <a:chExt cx="0" cy="0"/>
        </a:xfrm>
      </p:grpSpPr>
      <p:sp>
        <p:nvSpPr>
          <p:cNvPr id="164" name="Google Shape;164;p12"/>
          <p:cNvSpPr/>
          <p:nvPr/>
        </p:nvSpPr>
        <p:spPr>
          <a:xfrm>
            <a:off x="0" y="274320"/>
            <a:ext cx="9144000" cy="731520"/>
          </a:xfrm>
          <a:prstGeom prst="rect">
            <a:avLst/>
          </a:prstGeom>
          <a:solidFill>
            <a:srgbClr val="1F3864"/>
          </a:solidFill>
          <a:ln cap="flat" cmpd="sng" w="9525">
            <a:solidFill>
              <a:srgbClr val="1F386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800">
                <a:solidFill>
                  <a:srgbClr val="FFFFFF"/>
                </a:solidFill>
                <a:latin typeface="Calibri"/>
                <a:ea typeface="Calibri"/>
                <a:cs typeface="Calibri"/>
                <a:sym typeface="Calibri"/>
              </a:rPr>
              <a:t>Phase 3: LoRA Results</a:t>
            </a:r>
            <a:endParaRPr/>
          </a:p>
        </p:txBody>
      </p:sp>
      <p:graphicFrame>
        <p:nvGraphicFramePr>
          <p:cNvPr id="165" name="Google Shape;165;p12"/>
          <p:cNvGraphicFramePr/>
          <p:nvPr/>
        </p:nvGraphicFramePr>
        <p:xfrm>
          <a:off x="457200" y="1097280"/>
          <a:ext cx="3000000" cy="3000000"/>
        </p:xfrm>
        <a:graphic>
          <a:graphicData uri="http://schemas.openxmlformats.org/drawingml/2006/table">
            <a:tbl>
              <a:tblPr bandRow="1" firstRow="1">
                <a:noFill/>
                <a:tableStyleId>{76E8EE8F-F916-4520-B353-C2E76A3E6513}</a:tableStyleId>
              </a:tblPr>
              <a:tblGrid>
                <a:gridCol w="1371600"/>
                <a:gridCol w="1737350"/>
                <a:gridCol w="1737350"/>
                <a:gridCol w="1737350"/>
                <a:gridCol w="1737350"/>
              </a:tblGrid>
              <a:tr h="457200">
                <a:tc>
                  <a:txBody>
                    <a:bodyPr/>
                    <a:lstStyle/>
                    <a:p>
                      <a:pPr indent="0" lvl="0" marL="0" marR="0" rtl="0" algn="l">
                        <a:spcBef>
                          <a:spcPts val="0"/>
                        </a:spcBef>
                        <a:spcAft>
                          <a:spcPts val="0"/>
                        </a:spcAft>
                        <a:buNone/>
                      </a:pPr>
                      <a:r>
                        <a:rPr b="1" lang="en-US" sz="1400">
                          <a:solidFill>
                            <a:srgbClr val="FFFFFF"/>
                          </a:solidFill>
                        </a:rPr>
                        <a:t>Task</a:t>
                      </a:r>
                      <a:endParaRPr/>
                    </a:p>
                  </a:txBody>
                  <a:tcPr marT="45725" marB="45725" marR="91450" marL="91450">
                    <a:solidFill>
                      <a:srgbClr val="1F3864"/>
                    </a:solidFill>
                  </a:tcPr>
                </a:tc>
                <a:tc>
                  <a:txBody>
                    <a:bodyPr/>
                    <a:lstStyle/>
                    <a:p>
                      <a:pPr indent="0" lvl="0" marL="0" marR="0" rtl="0" algn="l">
                        <a:spcBef>
                          <a:spcPts val="0"/>
                        </a:spcBef>
                        <a:spcAft>
                          <a:spcPts val="0"/>
                        </a:spcAft>
                        <a:buNone/>
                      </a:pPr>
                      <a:r>
                        <a:rPr b="1" lang="en-US" sz="1400">
                          <a:solidFill>
                            <a:srgbClr val="FFFFFF"/>
                          </a:solidFill>
                        </a:rPr>
                        <a:t>Metric</a:t>
                      </a:r>
                      <a:endParaRPr/>
                    </a:p>
                  </a:txBody>
                  <a:tcPr marT="45725" marB="45725" marR="91450" marL="91450">
                    <a:solidFill>
                      <a:srgbClr val="1F3864"/>
                    </a:solidFill>
                  </a:tcPr>
                </a:tc>
                <a:tc>
                  <a:txBody>
                    <a:bodyPr/>
                    <a:lstStyle/>
                    <a:p>
                      <a:pPr indent="0" lvl="0" marL="0" marR="0" rtl="0" algn="l">
                        <a:spcBef>
                          <a:spcPts val="0"/>
                        </a:spcBef>
                        <a:spcAft>
                          <a:spcPts val="0"/>
                        </a:spcAft>
                        <a:buNone/>
                      </a:pPr>
                      <a:r>
                        <a:rPr b="1" lang="en-US" sz="1400">
                          <a:solidFill>
                            <a:srgbClr val="FFFFFF"/>
                          </a:solidFill>
                        </a:rPr>
                        <a:t>Zero-shot</a:t>
                      </a:r>
                      <a:endParaRPr/>
                    </a:p>
                  </a:txBody>
                  <a:tcPr marT="45725" marB="45725" marR="91450" marL="91450">
                    <a:solidFill>
                      <a:srgbClr val="1F3864"/>
                    </a:solidFill>
                  </a:tcPr>
                </a:tc>
                <a:tc>
                  <a:txBody>
                    <a:bodyPr/>
                    <a:lstStyle/>
                    <a:p>
                      <a:pPr indent="0" lvl="0" marL="0" marR="0" rtl="0" algn="l">
                        <a:spcBef>
                          <a:spcPts val="0"/>
                        </a:spcBef>
                        <a:spcAft>
                          <a:spcPts val="0"/>
                        </a:spcAft>
                        <a:buNone/>
                      </a:pPr>
                      <a:r>
                        <a:rPr b="1" lang="en-US" sz="1400">
                          <a:solidFill>
                            <a:srgbClr val="FFFFFF"/>
                          </a:solidFill>
                        </a:rPr>
                        <a:t>QLoRA</a:t>
                      </a:r>
                      <a:endParaRPr/>
                    </a:p>
                  </a:txBody>
                  <a:tcPr marT="45725" marB="45725" marR="91450" marL="91450">
                    <a:solidFill>
                      <a:srgbClr val="1F3864"/>
                    </a:solidFill>
                  </a:tcPr>
                </a:tc>
                <a:tc>
                  <a:txBody>
                    <a:bodyPr/>
                    <a:lstStyle/>
                    <a:p>
                      <a:pPr indent="0" lvl="0" marL="0" marR="0" rtl="0" algn="l">
                        <a:spcBef>
                          <a:spcPts val="0"/>
                        </a:spcBef>
                        <a:spcAft>
                          <a:spcPts val="0"/>
                        </a:spcAft>
                        <a:buNone/>
                      </a:pPr>
                      <a:r>
                        <a:rPr b="1" lang="en-US" sz="1400">
                          <a:solidFill>
                            <a:srgbClr val="FFFFFF"/>
                          </a:solidFill>
                        </a:rPr>
                        <a:t>Delta</a:t>
                      </a:r>
                      <a:endParaRPr/>
                    </a:p>
                  </a:txBody>
                  <a:tcPr marT="45725" marB="45725" marR="91450" marL="91450">
                    <a:solidFill>
                      <a:srgbClr val="1F3864"/>
                    </a:solidFill>
                  </a:tcPr>
                </a:tc>
              </a:tr>
              <a:tr h="457200">
                <a:tc>
                  <a:txBody>
                    <a:bodyPr/>
                    <a:lstStyle/>
                    <a:p>
                      <a:pPr indent="0" lvl="0" marL="0" marR="0" rtl="0" algn="l">
                        <a:spcBef>
                          <a:spcPts val="0"/>
                        </a:spcBef>
                        <a:spcAft>
                          <a:spcPts val="0"/>
                        </a:spcAft>
                        <a:buNone/>
                      </a:pPr>
                      <a:r>
                        <a:rPr lang="en-US" sz="1400">
                          <a:solidFill>
                            <a:srgbClr val="000000"/>
                          </a:solidFill>
                        </a:rPr>
                        <a:t>NL→Python</a:t>
                      </a:r>
                      <a:endParaRPr/>
                    </a:p>
                  </a:txBody>
                  <a:tcPr marT="45725" marB="45725" marR="91450" marL="91450"/>
                </a:tc>
                <a:tc>
                  <a:txBody>
                    <a:bodyPr/>
                    <a:lstStyle/>
                    <a:p>
                      <a:pPr indent="0" lvl="0" marL="0" marR="0" rtl="0" algn="l">
                        <a:spcBef>
                          <a:spcPts val="0"/>
                        </a:spcBef>
                        <a:spcAft>
                          <a:spcPts val="0"/>
                        </a:spcAft>
                        <a:buNone/>
                      </a:pPr>
                      <a:r>
                        <a:rPr lang="en-US" sz="1400">
                          <a:solidFill>
                            <a:srgbClr val="000000"/>
                          </a:solidFill>
                        </a:rPr>
                        <a:t>pass@1</a:t>
                      </a:r>
                      <a:endParaRPr/>
                    </a:p>
                  </a:txBody>
                  <a:tcPr marT="45725" marB="45725" marR="91450" marL="91450"/>
                </a:tc>
                <a:tc>
                  <a:txBody>
                    <a:bodyPr/>
                    <a:lstStyle/>
                    <a:p>
                      <a:pPr indent="0" lvl="0" marL="0" marR="0" rtl="0" algn="l">
                        <a:spcBef>
                          <a:spcPts val="0"/>
                        </a:spcBef>
                        <a:spcAft>
                          <a:spcPts val="0"/>
                        </a:spcAft>
                        <a:buNone/>
                      </a:pPr>
                      <a:r>
                        <a:rPr lang="en-US">
                          <a:solidFill>
                            <a:srgbClr val="000000"/>
                          </a:solidFill>
                        </a:rPr>
                        <a:t>0.6364</a:t>
                      </a:r>
                      <a:endParaRPr/>
                    </a:p>
                  </a:txBody>
                  <a:tcPr marT="45725" marB="45725" marR="91450" marL="91450"/>
                </a:tc>
                <a:tc>
                  <a:txBody>
                    <a:bodyPr/>
                    <a:lstStyle/>
                    <a:p>
                      <a:pPr indent="0" lvl="0" marL="0" marR="0" rtl="0" algn="l">
                        <a:spcBef>
                          <a:spcPts val="0"/>
                        </a:spcBef>
                        <a:spcAft>
                          <a:spcPts val="0"/>
                        </a:spcAft>
                        <a:buNone/>
                      </a:pPr>
                      <a:r>
                        <a:rPr lang="en-US" sz="1400">
                          <a:solidFill>
                            <a:srgbClr val="000000"/>
                          </a:solidFill>
                        </a:rPr>
                        <a:t>0.</a:t>
                      </a:r>
                      <a:r>
                        <a:rPr lang="en-US">
                          <a:solidFill>
                            <a:srgbClr val="000000"/>
                          </a:solidFill>
                        </a:rPr>
                        <a:t>6364</a:t>
                      </a:r>
                      <a:endParaRPr/>
                    </a:p>
                  </a:txBody>
                  <a:tcPr marT="45725" marB="45725" marR="91450" marL="91450"/>
                </a:tc>
                <a:tc>
                  <a:txBody>
                    <a:bodyPr/>
                    <a:lstStyle/>
                    <a:p>
                      <a:pPr indent="0" lvl="0" marL="0" marR="0" rtl="0" algn="l">
                        <a:spcBef>
                          <a:spcPts val="0"/>
                        </a:spcBef>
                        <a:spcAft>
                          <a:spcPts val="0"/>
                        </a:spcAft>
                        <a:buNone/>
                      </a:pPr>
                      <a:r>
                        <a:rPr b="1" lang="en-US"/>
                        <a:t>       -</a:t>
                      </a:r>
                      <a:endParaRPr/>
                    </a:p>
                  </a:txBody>
                  <a:tcPr marT="45725" marB="45725" marR="91450" marL="91450"/>
                </a:tc>
              </a:tr>
              <a:tr h="457200">
                <a:tc>
                  <a:txBody>
                    <a:bodyPr/>
                    <a:lstStyle/>
                    <a:p>
                      <a:pPr indent="0" lvl="0" marL="0" marR="0" rtl="0" algn="l">
                        <a:spcBef>
                          <a:spcPts val="0"/>
                        </a:spcBef>
                        <a:spcAft>
                          <a:spcPts val="0"/>
                        </a:spcAft>
                        <a:buNone/>
                      </a:pPr>
                      <a:r>
                        <a:rPr lang="en-US" sz="1400">
                          <a:solidFill>
                            <a:srgbClr val="000000"/>
                          </a:solidFill>
                        </a:rPr>
                        <a:t>NL→Java</a:t>
                      </a:r>
                      <a:endParaRPr/>
                    </a:p>
                  </a:txBody>
                  <a:tcPr marT="45725" marB="45725" marR="91450" marL="91450"/>
                </a:tc>
                <a:tc>
                  <a:txBody>
                    <a:bodyPr/>
                    <a:lstStyle/>
                    <a:p>
                      <a:pPr indent="0" lvl="0" marL="0" marR="0" rtl="0" algn="l">
                        <a:spcBef>
                          <a:spcPts val="0"/>
                        </a:spcBef>
                        <a:spcAft>
                          <a:spcPts val="0"/>
                        </a:spcAft>
                        <a:buNone/>
                      </a:pPr>
                      <a:r>
                        <a:rPr lang="en-US" sz="1400">
                          <a:solidFill>
                            <a:srgbClr val="000000"/>
                          </a:solidFill>
                        </a:rPr>
                        <a:t>pass@1</a:t>
                      </a:r>
                      <a:endParaRPr/>
                    </a:p>
                  </a:txBody>
                  <a:tcPr marT="45725" marB="45725" marR="91450" marL="91450"/>
                </a:tc>
                <a:tc>
                  <a:txBody>
                    <a:bodyPr/>
                    <a:lstStyle/>
                    <a:p>
                      <a:pPr indent="0" lvl="0" marL="0" marR="0" rtl="0" algn="l">
                        <a:spcBef>
                          <a:spcPts val="0"/>
                        </a:spcBef>
                        <a:spcAft>
                          <a:spcPts val="0"/>
                        </a:spcAft>
                        <a:buNone/>
                      </a:pPr>
                      <a:r>
                        <a:rPr lang="en-US" sz="1400">
                          <a:solidFill>
                            <a:srgbClr val="000000"/>
                          </a:solidFill>
                        </a:rPr>
                        <a:t>0.</a:t>
                      </a:r>
                      <a:r>
                        <a:rPr lang="en-US">
                          <a:solidFill>
                            <a:srgbClr val="000000"/>
                          </a:solidFill>
                        </a:rPr>
                        <a:t>4848</a:t>
                      </a:r>
                      <a:endParaRPr/>
                    </a:p>
                  </a:txBody>
                  <a:tcPr marT="45725" marB="45725" marR="91450" marL="91450"/>
                </a:tc>
                <a:tc>
                  <a:txBody>
                    <a:bodyPr/>
                    <a:lstStyle/>
                    <a:p>
                      <a:pPr indent="0" lvl="0" marL="0" marR="0" rtl="0" algn="l">
                        <a:spcBef>
                          <a:spcPts val="0"/>
                        </a:spcBef>
                        <a:spcAft>
                          <a:spcPts val="0"/>
                        </a:spcAft>
                        <a:buNone/>
                      </a:pPr>
                      <a:r>
                        <a:rPr lang="en-US" sz="1400">
                          <a:solidFill>
                            <a:srgbClr val="000000"/>
                          </a:solidFill>
                        </a:rPr>
                        <a:t>0.6</a:t>
                      </a:r>
                      <a:r>
                        <a:rPr lang="en-US">
                          <a:solidFill>
                            <a:srgbClr val="000000"/>
                          </a:solidFill>
                        </a:rPr>
                        <a:t>061</a:t>
                      </a:r>
                      <a:endParaRPr/>
                    </a:p>
                  </a:txBody>
                  <a:tcPr marT="45725" marB="45725" marR="91450" marL="91450"/>
                </a:tc>
                <a:tc>
                  <a:txBody>
                    <a:bodyPr/>
                    <a:lstStyle/>
                    <a:p>
                      <a:pPr indent="0" lvl="0" marL="0" marR="0" rtl="0" algn="l">
                        <a:spcBef>
                          <a:spcPts val="0"/>
                        </a:spcBef>
                        <a:spcAft>
                          <a:spcPts val="0"/>
                        </a:spcAft>
                        <a:buNone/>
                      </a:pPr>
                      <a:r>
                        <a:rPr b="1" lang="en-US"/>
                        <a:t>  0.1212</a:t>
                      </a:r>
                      <a:endParaRPr/>
                    </a:p>
                  </a:txBody>
                  <a:tcPr marT="45725" marB="45725" marR="91450" marL="91450"/>
                </a:tc>
              </a:tr>
              <a:tr h="457200">
                <a:tc>
                  <a:txBody>
                    <a:bodyPr/>
                    <a:lstStyle/>
                    <a:p>
                      <a:pPr indent="0" lvl="0" marL="0" marR="0" rtl="0" algn="l">
                        <a:spcBef>
                          <a:spcPts val="0"/>
                        </a:spcBef>
                        <a:spcAft>
                          <a:spcPts val="0"/>
                        </a:spcAft>
                        <a:buNone/>
                      </a:pPr>
                      <a:r>
                        <a:rPr lang="en-US" sz="1400">
                          <a:solidFill>
                            <a:srgbClr val="000000"/>
                          </a:solidFill>
                        </a:rPr>
                        <a:t>Code→NL</a:t>
                      </a:r>
                      <a:endParaRPr/>
                    </a:p>
                  </a:txBody>
                  <a:tcPr marT="45725" marB="45725" marR="91450" marL="91450"/>
                </a:tc>
                <a:tc>
                  <a:txBody>
                    <a:bodyPr/>
                    <a:lstStyle/>
                    <a:p>
                      <a:pPr indent="0" lvl="0" marL="0" marR="0" rtl="0" algn="l">
                        <a:spcBef>
                          <a:spcPts val="0"/>
                        </a:spcBef>
                        <a:spcAft>
                          <a:spcPts val="0"/>
                        </a:spcAft>
                        <a:buNone/>
                      </a:pPr>
                      <a:r>
                        <a:rPr lang="en-US" sz="1400">
                          <a:solidFill>
                            <a:srgbClr val="000000"/>
                          </a:solidFill>
                        </a:rPr>
                        <a:t>ROUGE-L F1</a:t>
                      </a:r>
                      <a:endParaRPr/>
                    </a:p>
                  </a:txBody>
                  <a:tcPr marT="45725" marB="45725" marR="91450" marL="91450"/>
                </a:tc>
                <a:tc>
                  <a:txBody>
                    <a:bodyPr/>
                    <a:lstStyle/>
                    <a:p>
                      <a:pPr indent="0" lvl="0" marL="0" marR="0" rtl="0" algn="l">
                        <a:spcBef>
                          <a:spcPts val="0"/>
                        </a:spcBef>
                        <a:spcAft>
                          <a:spcPts val="0"/>
                        </a:spcAft>
                        <a:buNone/>
                      </a:pPr>
                      <a:r>
                        <a:rPr lang="en-US" sz="1400">
                          <a:solidFill>
                            <a:srgbClr val="000000"/>
                          </a:solidFill>
                        </a:rPr>
                        <a:t>0.2</a:t>
                      </a:r>
                      <a:r>
                        <a:rPr lang="en-US">
                          <a:solidFill>
                            <a:srgbClr val="000000"/>
                          </a:solidFill>
                        </a:rPr>
                        <a:t>414</a:t>
                      </a:r>
                      <a:endParaRPr/>
                    </a:p>
                  </a:txBody>
                  <a:tcPr marT="45725" marB="45725" marR="91450" marL="91450"/>
                </a:tc>
                <a:tc>
                  <a:txBody>
                    <a:bodyPr/>
                    <a:lstStyle/>
                    <a:p>
                      <a:pPr indent="0" lvl="0" marL="0" marR="0" rtl="0" algn="l">
                        <a:spcBef>
                          <a:spcPts val="0"/>
                        </a:spcBef>
                        <a:spcAft>
                          <a:spcPts val="0"/>
                        </a:spcAft>
                        <a:buNone/>
                      </a:pPr>
                      <a:r>
                        <a:rPr lang="en-US" sz="1400">
                          <a:solidFill>
                            <a:srgbClr val="000000"/>
                          </a:solidFill>
                        </a:rPr>
                        <a:t>0.</a:t>
                      </a:r>
                      <a:r>
                        <a:rPr lang="en-US">
                          <a:solidFill>
                            <a:srgbClr val="000000"/>
                          </a:solidFill>
                        </a:rPr>
                        <a:t>4179</a:t>
                      </a:r>
                      <a:endParaRPr/>
                    </a:p>
                  </a:txBody>
                  <a:tcPr marT="45725" marB="45725" marR="91450" marL="91450"/>
                </a:tc>
                <a:tc>
                  <a:txBody>
                    <a:bodyPr/>
                    <a:lstStyle/>
                    <a:p>
                      <a:pPr indent="0" lvl="0" marL="0" marR="0" rtl="0" algn="l">
                        <a:spcBef>
                          <a:spcPts val="0"/>
                        </a:spcBef>
                        <a:spcAft>
                          <a:spcPts val="0"/>
                        </a:spcAft>
                        <a:buNone/>
                      </a:pPr>
                      <a:r>
                        <a:rPr b="1" lang="en-US"/>
                        <a:t>  </a:t>
                      </a:r>
                      <a:r>
                        <a:rPr b="1" lang="en-US" sz="1400">
                          <a:solidFill>
                            <a:schemeClr val="dk1"/>
                          </a:solidFill>
                        </a:rPr>
                        <a:t>0.</a:t>
                      </a:r>
                      <a:r>
                        <a:rPr b="1" lang="en-US"/>
                        <a:t>1766</a:t>
                      </a:r>
                      <a:endParaRPr/>
                    </a:p>
                  </a:txBody>
                  <a:tcPr marT="45725" marB="45725" marR="91450" marL="91450"/>
                </a:tc>
              </a:tr>
              <a:tr h="457200">
                <a:tc>
                  <a:txBody>
                    <a:bodyPr/>
                    <a:lstStyle/>
                    <a:p>
                      <a:pPr indent="0" lvl="0" marL="0" marR="0" rtl="0" algn="l">
                        <a:spcBef>
                          <a:spcPts val="0"/>
                        </a:spcBef>
                        <a:spcAft>
                          <a:spcPts val="0"/>
                        </a:spcAft>
                        <a:buNone/>
                      </a:pPr>
                      <a:r>
                        <a:rPr lang="en-US" sz="1400">
                          <a:solidFill>
                            <a:srgbClr val="000000"/>
                          </a:solidFill>
                        </a:rPr>
                        <a:t>Python→Java</a:t>
                      </a:r>
                      <a:endParaRPr/>
                    </a:p>
                  </a:txBody>
                  <a:tcPr marT="45725" marB="45725" marR="91450" marL="91450"/>
                </a:tc>
                <a:tc>
                  <a:txBody>
                    <a:bodyPr/>
                    <a:lstStyle/>
                    <a:p>
                      <a:pPr indent="0" lvl="0" marL="0" marR="0" rtl="0" algn="l">
                        <a:spcBef>
                          <a:spcPts val="0"/>
                        </a:spcBef>
                        <a:spcAft>
                          <a:spcPts val="0"/>
                        </a:spcAft>
                        <a:buNone/>
                      </a:pPr>
                      <a:r>
                        <a:rPr lang="en-US" sz="1400">
                          <a:solidFill>
                            <a:srgbClr val="000000"/>
                          </a:solidFill>
                        </a:rPr>
                        <a:t>pass@1</a:t>
                      </a:r>
                      <a:endParaRPr/>
                    </a:p>
                  </a:txBody>
                  <a:tcPr marT="45725" marB="45725" marR="91450" marL="91450"/>
                </a:tc>
                <a:tc>
                  <a:txBody>
                    <a:bodyPr/>
                    <a:lstStyle/>
                    <a:p>
                      <a:pPr indent="0" lvl="0" marL="0" marR="0" rtl="0" algn="l">
                        <a:spcBef>
                          <a:spcPts val="0"/>
                        </a:spcBef>
                        <a:spcAft>
                          <a:spcPts val="0"/>
                        </a:spcAft>
                        <a:buNone/>
                      </a:pPr>
                      <a:r>
                        <a:rPr lang="en-US" sz="1400">
                          <a:solidFill>
                            <a:srgbClr val="000000"/>
                          </a:solidFill>
                        </a:rPr>
                        <a:t>0.</a:t>
                      </a:r>
                      <a:r>
                        <a:rPr lang="en-US">
                          <a:solidFill>
                            <a:srgbClr val="000000"/>
                          </a:solidFill>
                        </a:rPr>
                        <a:t>7273</a:t>
                      </a:r>
                      <a:endParaRPr/>
                    </a:p>
                  </a:txBody>
                  <a:tcPr marT="45725" marB="45725" marR="91450" marL="91450"/>
                </a:tc>
                <a:tc>
                  <a:txBody>
                    <a:bodyPr/>
                    <a:lstStyle/>
                    <a:p>
                      <a:pPr indent="0" lvl="0" marL="0" marR="0" rtl="0" algn="l">
                        <a:spcBef>
                          <a:spcPts val="0"/>
                        </a:spcBef>
                        <a:spcAft>
                          <a:spcPts val="0"/>
                        </a:spcAft>
                        <a:buNone/>
                      </a:pPr>
                      <a:r>
                        <a:rPr lang="en-US">
                          <a:solidFill>
                            <a:srgbClr val="000000"/>
                          </a:solidFill>
                        </a:rPr>
                        <a:t>0.7576</a:t>
                      </a:r>
                      <a:endParaRPr sz="1000">
                        <a:highlight>
                          <a:srgbClr val="FFFFFF"/>
                        </a:highlight>
                        <a:latin typeface="Arial"/>
                        <a:ea typeface="Arial"/>
                        <a:cs typeface="Arial"/>
                        <a:sym typeface="Arial"/>
                      </a:endParaRPr>
                    </a:p>
                    <a:p>
                      <a:pPr indent="0" lvl="0" marL="0" marR="0" rtl="0" algn="l">
                        <a:spcBef>
                          <a:spcPts val="0"/>
                        </a:spcBef>
                        <a:spcAft>
                          <a:spcPts val="0"/>
                        </a:spcAft>
                        <a:buNone/>
                      </a:pPr>
                      <a:r>
                        <a:t/>
                      </a:r>
                      <a:endParaRPr>
                        <a:solidFill>
                          <a:srgbClr val="000000"/>
                        </a:solidFill>
                      </a:endParaRPr>
                    </a:p>
                  </a:txBody>
                  <a:tcPr marT="45725" marB="45725" marR="91450" marL="91450"/>
                </a:tc>
                <a:tc>
                  <a:txBody>
                    <a:bodyPr/>
                    <a:lstStyle/>
                    <a:p>
                      <a:pPr indent="0" lvl="0" marL="0" marR="0" rtl="0" algn="l">
                        <a:spcBef>
                          <a:spcPts val="0"/>
                        </a:spcBef>
                        <a:spcAft>
                          <a:spcPts val="0"/>
                        </a:spcAft>
                        <a:buNone/>
                      </a:pPr>
                      <a:r>
                        <a:rPr b="1" lang="en-US"/>
                        <a:t>  </a:t>
                      </a:r>
                      <a:r>
                        <a:rPr b="1" lang="en-US" sz="1400">
                          <a:solidFill>
                            <a:schemeClr val="dk1"/>
                          </a:solidFill>
                        </a:rPr>
                        <a:t>0.0303</a:t>
                      </a:r>
                      <a:endParaRPr/>
                    </a:p>
                  </a:txBody>
                  <a:tcPr marT="45725" marB="45725" marR="91450" marL="91450"/>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0" name="Shape 170"/>
        <p:cNvGrpSpPr/>
        <p:nvPr/>
      </p:nvGrpSpPr>
      <p:grpSpPr>
        <a:xfrm>
          <a:off x="0" y="0"/>
          <a:ext cx="0" cy="0"/>
          <a:chOff x="0" y="0"/>
          <a:chExt cx="0" cy="0"/>
        </a:xfrm>
      </p:grpSpPr>
      <p:sp>
        <p:nvSpPr>
          <p:cNvPr id="171" name="Google Shape;171;p13"/>
          <p:cNvSpPr/>
          <p:nvPr/>
        </p:nvSpPr>
        <p:spPr>
          <a:xfrm>
            <a:off x="0" y="274320"/>
            <a:ext cx="9144000" cy="731520"/>
          </a:xfrm>
          <a:prstGeom prst="rect">
            <a:avLst/>
          </a:prstGeom>
          <a:solidFill>
            <a:srgbClr val="1F3864"/>
          </a:solidFill>
          <a:ln cap="flat" cmpd="sng" w="9525">
            <a:solidFill>
              <a:srgbClr val="1F386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800">
                <a:solidFill>
                  <a:srgbClr val="FFFFFF"/>
                </a:solidFill>
                <a:latin typeface="Calibri"/>
                <a:ea typeface="Calibri"/>
                <a:cs typeface="Calibri"/>
                <a:sym typeface="Calibri"/>
              </a:rPr>
              <a:t>Scorecard (At-a-Glance)</a:t>
            </a:r>
            <a:endParaRPr/>
          </a:p>
        </p:txBody>
      </p:sp>
      <p:graphicFrame>
        <p:nvGraphicFramePr>
          <p:cNvPr id="172" name="Google Shape;172;p13"/>
          <p:cNvGraphicFramePr/>
          <p:nvPr/>
        </p:nvGraphicFramePr>
        <p:xfrm>
          <a:off x="457200" y="1097280"/>
          <a:ext cx="3000000" cy="3000000"/>
        </p:xfrm>
        <a:graphic>
          <a:graphicData uri="http://schemas.openxmlformats.org/drawingml/2006/table">
            <a:tbl>
              <a:tblPr bandRow="1" firstRow="1">
                <a:noFill/>
                <a:tableStyleId>{76E8EE8F-F916-4520-B353-C2E76A3E6513}</a:tableStyleId>
              </a:tblPr>
              <a:tblGrid>
                <a:gridCol w="1371600"/>
                <a:gridCol w="1371600"/>
                <a:gridCol w="1371600"/>
                <a:gridCol w="1371600"/>
                <a:gridCol w="1371600"/>
                <a:gridCol w="1371600"/>
              </a:tblGrid>
              <a:tr h="571500">
                <a:tc>
                  <a:txBody>
                    <a:bodyPr/>
                    <a:lstStyle/>
                    <a:p>
                      <a:pPr indent="0" lvl="0" marL="0" marR="0" rtl="0" algn="l">
                        <a:spcBef>
                          <a:spcPts val="0"/>
                        </a:spcBef>
                        <a:spcAft>
                          <a:spcPts val="0"/>
                        </a:spcAft>
                        <a:buNone/>
                      </a:pPr>
                      <a:r>
                        <a:rPr b="1" lang="en-US" sz="1400">
                          <a:solidFill>
                            <a:srgbClr val="FFFFFF"/>
                          </a:solidFill>
                        </a:rPr>
                        <a:t>Phase</a:t>
                      </a:r>
                      <a:endParaRPr/>
                    </a:p>
                  </a:txBody>
                  <a:tcPr marT="45725" marB="45725" marR="91450" marL="91450">
                    <a:solidFill>
                      <a:srgbClr val="1F3864"/>
                    </a:solidFill>
                  </a:tcPr>
                </a:tc>
                <a:tc>
                  <a:txBody>
                    <a:bodyPr/>
                    <a:lstStyle/>
                    <a:p>
                      <a:pPr indent="0" lvl="0" marL="0" marR="0" rtl="0" algn="l">
                        <a:spcBef>
                          <a:spcPts val="0"/>
                        </a:spcBef>
                        <a:spcAft>
                          <a:spcPts val="0"/>
                        </a:spcAft>
                        <a:buNone/>
                      </a:pPr>
                      <a:r>
                        <a:rPr b="1" lang="en-US" sz="1400">
                          <a:solidFill>
                            <a:srgbClr val="FFFFFF"/>
                          </a:solidFill>
                        </a:rPr>
                        <a:t>Model</a:t>
                      </a:r>
                      <a:endParaRPr/>
                    </a:p>
                  </a:txBody>
                  <a:tcPr marT="45725" marB="45725" marR="91450" marL="91450">
                    <a:solidFill>
                      <a:srgbClr val="1F3864"/>
                    </a:solidFill>
                  </a:tcPr>
                </a:tc>
                <a:tc>
                  <a:txBody>
                    <a:bodyPr/>
                    <a:lstStyle/>
                    <a:p>
                      <a:pPr indent="0" lvl="0" marL="0" marR="0" rtl="0" algn="l">
                        <a:spcBef>
                          <a:spcPts val="0"/>
                        </a:spcBef>
                        <a:spcAft>
                          <a:spcPts val="0"/>
                        </a:spcAft>
                        <a:buNone/>
                      </a:pPr>
                      <a:r>
                        <a:rPr b="1" lang="en-US" sz="1400">
                          <a:solidFill>
                            <a:srgbClr val="FFFFFF"/>
                          </a:solidFill>
                        </a:rPr>
                        <a:t>Benchmark(s)</a:t>
                      </a:r>
                      <a:endParaRPr/>
                    </a:p>
                  </a:txBody>
                  <a:tcPr marT="45725" marB="45725" marR="91450" marL="91450">
                    <a:solidFill>
                      <a:srgbClr val="1F3864"/>
                    </a:solidFill>
                  </a:tcPr>
                </a:tc>
                <a:tc>
                  <a:txBody>
                    <a:bodyPr/>
                    <a:lstStyle/>
                    <a:p>
                      <a:pPr indent="0" lvl="0" marL="0" marR="0" rtl="0" algn="l">
                        <a:spcBef>
                          <a:spcPts val="0"/>
                        </a:spcBef>
                        <a:spcAft>
                          <a:spcPts val="0"/>
                        </a:spcAft>
                        <a:buNone/>
                      </a:pPr>
                      <a:r>
                        <a:rPr b="1" lang="en-US" sz="1400">
                          <a:solidFill>
                            <a:srgbClr val="FFFFFF"/>
                          </a:solidFill>
                        </a:rPr>
                        <a:t>Task(s)</a:t>
                      </a:r>
                      <a:endParaRPr/>
                    </a:p>
                  </a:txBody>
                  <a:tcPr marT="45725" marB="45725" marR="91450" marL="91450">
                    <a:solidFill>
                      <a:srgbClr val="1F3864"/>
                    </a:solidFill>
                  </a:tcPr>
                </a:tc>
                <a:tc>
                  <a:txBody>
                    <a:bodyPr/>
                    <a:lstStyle/>
                    <a:p>
                      <a:pPr indent="0" lvl="0" marL="0" marR="0" rtl="0" algn="l">
                        <a:spcBef>
                          <a:spcPts val="0"/>
                        </a:spcBef>
                        <a:spcAft>
                          <a:spcPts val="0"/>
                        </a:spcAft>
                        <a:buNone/>
                      </a:pPr>
                      <a:r>
                        <a:rPr b="1" lang="en-US" sz="1400">
                          <a:solidFill>
                            <a:srgbClr val="FFFFFF"/>
                          </a:solidFill>
                        </a:rPr>
                        <a:t>Eval Metric</a:t>
                      </a:r>
                      <a:endParaRPr/>
                    </a:p>
                  </a:txBody>
                  <a:tcPr marT="45725" marB="45725" marR="91450" marL="91450">
                    <a:solidFill>
                      <a:srgbClr val="1F3864"/>
                    </a:solidFill>
                  </a:tcPr>
                </a:tc>
                <a:tc>
                  <a:txBody>
                    <a:bodyPr/>
                    <a:lstStyle/>
                    <a:p>
                      <a:pPr indent="0" lvl="0" marL="0" marR="0" rtl="0" algn="l">
                        <a:spcBef>
                          <a:spcPts val="0"/>
                        </a:spcBef>
                        <a:spcAft>
                          <a:spcPts val="0"/>
                        </a:spcAft>
                        <a:buNone/>
                      </a:pPr>
                      <a:r>
                        <a:rPr b="1" lang="en-US" sz="1400">
                          <a:solidFill>
                            <a:srgbClr val="FFFFFF"/>
                          </a:solidFill>
                        </a:rPr>
                        <a:t>Headline Score</a:t>
                      </a:r>
                      <a:endParaRPr/>
                    </a:p>
                  </a:txBody>
                  <a:tcPr marT="45725" marB="45725" marR="91450" marL="91450">
                    <a:solidFill>
                      <a:srgbClr val="1F3864"/>
                    </a:solidFill>
                  </a:tcPr>
                </a:tc>
              </a:tr>
              <a:tr h="571500">
                <a:tc>
                  <a:txBody>
                    <a:bodyPr/>
                    <a:lstStyle/>
                    <a:p>
                      <a:pPr indent="0" lvl="0" marL="0" marR="0" rtl="0" algn="l">
                        <a:spcBef>
                          <a:spcPts val="0"/>
                        </a:spcBef>
                        <a:spcAft>
                          <a:spcPts val="0"/>
                        </a:spcAft>
                        <a:buNone/>
                      </a:pPr>
                      <a:r>
                        <a:rPr lang="en-US" sz="1400">
                          <a:solidFill>
                            <a:srgbClr val="000000"/>
                          </a:solidFill>
                        </a:rPr>
                        <a:t>Phase 1: Baselines</a:t>
                      </a:r>
                      <a:endParaRPr/>
                    </a:p>
                  </a:txBody>
                  <a:tcPr marT="45725" marB="45725" marR="91450" marL="91450"/>
                </a:tc>
                <a:tc>
                  <a:txBody>
                    <a:bodyPr/>
                    <a:lstStyle/>
                    <a:p>
                      <a:pPr indent="0" lvl="0" marL="0" marR="0" rtl="0" algn="l">
                        <a:spcBef>
                          <a:spcPts val="0"/>
                        </a:spcBef>
                        <a:spcAft>
                          <a:spcPts val="0"/>
                        </a:spcAft>
                        <a:buNone/>
                      </a:pPr>
                      <a:r>
                        <a:rPr lang="en-US" sz="1400">
                          <a:solidFill>
                            <a:srgbClr val="000000"/>
                          </a:solidFill>
                        </a:rPr>
                        <a:t>Qwen2.5-Coder 1.5B / 7B</a:t>
                      </a:r>
                      <a:endParaRPr/>
                    </a:p>
                  </a:txBody>
                  <a:tcPr marT="45725" marB="45725" marR="91450" marL="91450"/>
                </a:tc>
                <a:tc>
                  <a:txBody>
                    <a:bodyPr/>
                    <a:lstStyle/>
                    <a:p>
                      <a:pPr indent="0" lvl="0" marL="0" marR="0" rtl="0" algn="l">
                        <a:spcBef>
                          <a:spcPts val="0"/>
                        </a:spcBef>
                        <a:spcAft>
                          <a:spcPts val="0"/>
                        </a:spcAft>
                        <a:buNone/>
                      </a:pPr>
                      <a:r>
                        <a:rPr lang="en-US" sz="1400">
                          <a:solidFill>
                            <a:srgbClr val="000000"/>
                          </a:solidFill>
                        </a:rPr>
                        <a:t>HumanEval, MBPP, HumanEval-X</a:t>
                      </a:r>
                      <a:endParaRPr/>
                    </a:p>
                  </a:txBody>
                  <a:tcPr marT="45725" marB="45725" marR="91450" marL="91450"/>
                </a:tc>
                <a:tc>
                  <a:txBody>
                    <a:bodyPr/>
                    <a:lstStyle/>
                    <a:p>
                      <a:pPr indent="0" lvl="0" marL="0" marR="0" rtl="0" algn="l">
                        <a:spcBef>
                          <a:spcPts val="0"/>
                        </a:spcBef>
                        <a:spcAft>
                          <a:spcPts val="0"/>
                        </a:spcAft>
                        <a:buNone/>
                      </a:pPr>
                      <a:r>
                        <a:rPr lang="en-US" sz="1400">
                          <a:solidFill>
                            <a:srgbClr val="000000"/>
                          </a:solidFill>
                        </a:rPr>
                        <a:t>NL→Python, Python→Java</a:t>
                      </a:r>
                      <a:endParaRPr/>
                    </a:p>
                  </a:txBody>
                  <a:tcPr marT="45725" marB="45725" marR="91450" marL="91450"/>
                </a:tc>
                <a:tc>
                  <a:txBody>
                    <a:bodyPr/>
                    <a:lstStyle/>
                    <a:p>
                      <a:pPr indent="0" lvl="0" marL="0" marR="0" rtl="0" algn="l">
                        <a:spcBef>
                          <a:spcPts val="0"/>
                        </a:spcBef>
                        <a:spcAft>
                          <a:spcPts val="0"/>
                        </a:spcAft>
                        <a:buNone/>
                      </a:pPr>
                      <a:r>
                        <a:rPr lang="en-US" sz="1400">
                          <a:solidFill>
                            <a:srgbClr val="000000"/>
                          </a:solidFill>
                        </a:rPr>
                        <a:t>Execution pass@1</a:t>
                      </a:r>
                      <a:endParaRPr/>
                    </a:p>
                  </a:txBody>
                  <a:tcPr marT="45725" marB="45725" marR="91450" marL="91450"/>
                </a:tc>
                <a:tc>
                  <a:txBody>
                    <a:bodyPr/>
                    <a:lstStyle/>
                    <a:p>
                      <a:pPr indent="0" lvl="0" marL="0" marR="0" rtl="0" algn="l">
                        <a:spcBef>
                          <a:spcPts val="0"/>
                        </a:spcBef>
                        <a:spcAft>
                          <a:spcPts val="0"/>
                        </a:spcAft>
                        <a:buNone/>
                      </a:pPr>
                      <a:r>
                        <a:rPr lang="en-US" sz="1400">
                          <a:solidFill>
                            <a:srgbClr val="000000"/>
                          </a:solidFill>
                        </a:rPr>
                        <a:t>0.70–0.92 (7B)</a:t>
                      </a:r>
                      <a:endParaRPr/>
                    </a:p>
                  </a:txBody>
                  <a:tcPr marT="45725" marB="45725" marR="91450" marL="91450"/>
                </a:tc>
              </a:tr>
              <a:tr h="571500">
                <a:tc>
                  <a:txBody>
                    <a:bodyPr/>
                    <a:lstStyle/>
                    <a:p>
                      <a:pPr indent="0" lvl="0" marL="0" marR="0" rtl="0" algn="l">
                        <a:spcBef>
                          <a:spcPts val="0"/>
                        </a:spcBef>
                        <a:spcAft>
                          <a:spcPts val="0"/>
                        </a:spcAft>
                        <a:buNone/>
                      </a:pPr>
                      <a:r>
                        <a:rPr lang="en-US" sz="1400">
                          <a:solidFill>
                            <a:srgbClr val="000000"/>
                          </a:solidFill>
                        </a:rPr>
                        <a:t>Phase 2: Dataset Extension</a:t>
                      </a:r>
                      <a:endParaRPr/>
                    </a:p>
                  </a:txBody>
                  <a:tcPr marT="45725" marB="45725" marR="91450" marL="91450"/>
                </a:tc>
                <a:tc>
                  <a:txBody>
                    <a:bodyPr/>
                    <a:lstStyle/>
                    <a:p>
                      <a:pPr indent="0" lvl="0" marL="0" marR="0" rtl="0" algn="l">
                        <a:spcBef>
                          <a:spcPts val="0"/>
                        </a:spcBef>
                        <a:spcAft>
                          <a:spcPts val="0"/>
                        </a:spcAft>
                        <a:buNone/>
                      </a:pPr>
                      <a:r>
                        <a:rPr lang="en-US" sz="1400">
                          <a:solidFill>
                            <a:srgbClr val="000000"/>
                          </a:solidFill>
                        </a:rPr>
                        <a:t>Qwen2.5-Coder-</a:t>
                      </a:r>
                      <a:r>
                        <a:rPr lang="en-US">
                          <a:solidFill>
                            <a:srgbClr val="000000"/>
                          </a:solidFill>
                        </a:rPr>
                        <a:t>1.5</a:t>
                      </a:r>
                      <a:r>
                        <a:rPr lang="en-US" sz="1400">
                          <a:solidFill>
                            <a:srgbClr val="000000"/>
                          </a:solidFill>
                        </a:rPr>
                        <a:t>B</a:t>
                      </a:r>
                      <a:endParaRPr/>
                    </a:p>
                  </a:txBody>
                  <a:tcPr marT="45725" marB="45725" marR="91450" marL="91450"/>
                </a:tc>
                <a:tc>
                  <a:txBody>
                    <a:bodyPr/>
                    <a:lstStyle/>
                    <a:p>
                      <a:pPr indent="0" lvl="0" marL="0" marR="0" rtl="0" algn="l">
                        <a:spcBef>
                          <a:spcPts val="0"/>
                        </a:spcBef>
                        <a:spcAft>
                          <a:spcPts val="0"/>
                        </a:spcAft>
                        <a:buNone/>
                      </a:pPr>
                      <a:r>
                        <a:rPr lang="en-US" sz="1400">
                          <a:solidFill>
                            <a:srgbClr val="000000"/>
                          </a:solidFill>
                        </a:rPr>
                        <a:t>HumanEval, MBPP, HumanEval-X</a:t>
                      </a:r>
                      <a:endParaRPr/>
                    </a:p>
                  </a:txBody>
                  <a:tcPr marT="45725" marB="45725" marR="91450" marL="91450"/>
                </a:tc>
                <a:tc>
                  <a:txBody>
                    <a:bodyPr/>
                    <a:lstStyle/>
                    <a:p>
                      <a:pPr indent="0" lvl="0" marL="0" marR="0" rtl="0" algn="l">
                        <a:spcBef>
                          <a:spcPts val="0"/>
                        </a:spcBef>
                        <a:spcAft>
                          <a:spcPts val="0"/>
                        </a:spcAft>
                        <a:buNone/>
                      </a:pPr>
                      <a:r>
                        <a:rPr lang="en-US" sz="1400">
                          <a:solidFill>
                            <a:srgbClr val="000000"/>
                          </a:solidFill>
                        </a:rPr>
                        <a:t>Java gen, NL gen (feedback loop)</a:t>
                      </a:r>
                      <a:endParaRPr/>
                    </a:p>
                  </a:txBody>
                  <a:tcPr marT="45725" marB="45725" marR="91450" marL="91450"/>
                </a:tc>
                <a:tc>
                  <a:txBody>
                    <a:bodyPr/>
                    <a:lstStyle/>
                    <a:p>
                      <a:pPr indent="0" lvl="0" marL="0" marR="0" rtl="0" algn="l">
                        <a:spcBef>
                          <a:spcPts val="0"/>
                        </a:spcBef>
                        <a:spcAft>
                          <a:spcPts val="0"/>
                        </a:spcAft>
                        <a:buNone/>
                      </a:pPr>
                      <a:r>
                        <a:rPr lang="en-US" sz="1400">
                          <a:solidFill>
                            <a:srgbClr val="000000"/>
                          </a:solidFill>
                        </a:rPr>
                        <a:t>Execution pass@1 (flag-true rate)</a:t>
                      </a:r>
                      <a:endParaRPr/>
                    </a:p>
                  </a:txBody>
                  <a:tcPr marT="45725" marB="45725" marR="91450" marL="91450"/>
                </a:tc>
                <a:tc>
                  <a:txBody>
                    <a:bodyPr/>
                    <a:lstStyle/>
                    <a:p>
                      <a:pPr indent="0" lvl="0" marL="0" marR="0" rtl="0" algn="l">
                        <a:spcBef>
                          <a:spcPts val="0"/>
                        </a:spcBef>
                        <a:spcAft>
                          <a:spcPts val="0"/>
                        </a:spcAft>
                        <a:buNone/>
                      </a:pPr>
                      <a:r>
                        <a:rPr lang="en-US" sz="1400">
                          <a:solidFill>
                            <a:srgbClr val="000000"/>
                          </a:solidFill>
                        </a:rPr>
                        <a:t>60–95%</a:t>
                      </a:r>
                      <a:endParaRPr/>
                    </a:p>
                  </a:txBody>
                  <a:tcPr marT="45725" marB="45725" marR="91450" marL="91450"/>
                </a:tc>
              </a:tr>
              <a:tr h="571500">
                <a:tc>
                  <a:txBody>
                    <a:bodyPr/>
                    <a:lstStyle/>
                    <a:p>
                      <a:pPr indent="0" lvl="0" marL="0" marR="0" rtl="0" algn="l">
                        <a:spcBef>
                          <a:spcPts val="0"/>
                        </a:spcBef>
                        <a:spcAft>
                          <a:spcPts val="0"/>
                        </a:spcAft>
                        <a:buNone/>
                      </a:pPr>
                      <a:r>
                        <a:rPr lang="en-US" sz="1400">
                          <a:solidFill>
                            <a:srgbClr val="000000"/>
                          </a:solidFill>
                        </a:rPr>
                        <a:t>Phase 3: QLoRA Fine-Tune</a:t>
                      </a:r>
                      <a:endParaRPr/>
                    </a:p>
                  </a:txBody>
                  <a:tcPr marT="45725" marB="45725" marR="91450" marL="91450"/>
                </a:tc>
                <a:tc>
                  <a:txBody>
                    <a:bodyPr/>
                    <a:lstStyle/>
                    <a:p>
                      <a:pPr indent="0" lvl="0" marL="0" marR="0" rtl="0" algn="l">
                        <a:spcBef>
                          <a:spcPts val="0"/>
                        </a:spcBef>
                        <a:spcAft>
                          <a:spcPts val="0"/>
                        </a:spcAft>
                        <a:buNone/>
                      </a:pPr>
                      <a:r>
                        <a:rPr lang="en-US" sz="1400">
                          <a:solidFill>
                            <a:srgbClr val="000000"/>
                          </a:solidFill>
                        </a:rPr>
                        <a:t>Qwen2.5-Coder-</a:t>
                      </a:r>
                      <a:r>
                        <a:rPr lang="en-US">
                          <a:solidFill>
                            <a:srgbClr val="000000"/>
                          </a:solidFill>
                        </a:rPr>
                        <a:t>1.5</a:t>
                      </a:r>
                      <a:r>
                        <a:rPr lang="en-US" sz="1400">
                          <a:solidFill>
                            <a:srgbClr val="000000"/>
                          </a:solidFill>
                        </a:rPr>
                        <a:t>B (LoRA)</a:t>
                      </a:r>
                      <a:endParaRPr/>
                    </a:p>
                  </a:txBody>
                  <a:tcPr marT="45725" marB="45725" marR="91450" marL="91450"/>
                </a:tc>
                <a:tc>
                  <a:txBody>
                    <a:bodyPr/>
                    <a:lstStyle/>
                    <a:p>
                      <a:pPr indent="0" lvl="0" marL="0" marR="0" rtl="0" algn="l">
                        <a:spcBef>
                          <a:spcPts val="0"/>
                        </a:spcBef>
                        <a:spcAft>
                          <a:spcPts val="0"/>
                        </a:spcAft>
                        <a:buNone/>
                      </a:pPr>
                      <a:r>
                        <a:rPr lang="en-US" sz="1400">
                          <a:solidFill>
                            <a:srgbClr val="000000"/>
                          </a:solidFill>
                        </a:rPr>
                        <a:t>Merged HumanEval ∩ HumanEval-X (+MBPP-derived)</a:t>
                      </a:r>
                      <a:endParaRPr/>
                    </a:p>
                  </a:txBody>
                  <a:tcPr marT="45725" marB="45725" marR="91450" marL="91450"/>
                </a:tc>
                <a:tc>
                  <a:txBody>
                    <a:bodyPr/>
                    <a:lstStyle/>
                    <a:p>
                      <a:pPr indent="0" lvl="0" marL="0" marR="0" rtl="0" algn="l">
                        <a:spcBef>
                          <a:spcPts val="0"/>
                        </a:spcBef>
                        <a:spcAft>
                          <a:spcPts val="0"/>
                        </a:spcAft>
                        <a:buNone/>
                      </a:pPr>
                      <a:r>
                        <a:rPr lang="en-US" sz="1400">
                          <a:solidFill>
                            <a:srgbClr val="000000"/>
                          </a:solidFill>
                        </a:rPr>
                        <a:t>NL→Python, NL→Java, Python→Java, Code→NL</a:t>
                      </a:r>
                      <a:endParaRPr/>
                    </a:p>
                  </a:txBody>
                  <a:tcPr marT="45725" marB="45725" marR="91450" marL="91450"/>
                </a:tc>
                <a:tc>
                  <a:txBody>
                    <a:bodyPr/>
                    <a:lstStyle/>
                    <a:p>
                      <a:pPr indent="0" lvl="0" marL="0" marR="0" rtl="0" algn="l">
                        <a:spcBef>
                          <a:spcPts val="0"/>
                        </a:spcBef>
                        <a:spcAft>
                          <a:spcPts val="0"/>
                        </a:spcAft>
                        <a:buNone/>
                      </a:pPr>
                      <a:r>
                        <a:rPr lang="en-US" sz="1400">
                          <a:solidFill>
                            <a:srgbClr val="000000"/>
                          </a:solidFill>
                        </a:rPr>
                        <a:t>pass@1 / ROUGE-L F1</a:t>
                      </a:r>
                      <a:endParaRPr/>
                    </a:p>
                  </a:txBody>
                  <a:tcPr marT="45725" marB="45725" marR="91450" marL="91450"/>
                </a:tc>
                <a:tc>
                  <a:txBody>
                    <a:bodyPr/>
                    <a:lstStyle/>
                    <a:p>
                      <a:pPr indent="0" lvl="0" marL="0" marR="0" rtl="0" algn="l">
                        <a:spcBef>
                          <a:spcPts val="0"/>
                        </a:spcBef>
                        <a:spcAft>
                          <a:spcPts val="0"/>
                        </a:spcAft>
                        <a:buNone/>
                      </a:pPr>
                      <a:r>
                        <a:rPr b="1" lang="en-US">
                          <a:solidFill>
                            <a:srgbClr val="228B22"/>
                          </a:solidFill>
                        </a:rPr>
                        <a:t>gains : 0.1212,0.1766,</a:t>
                      </a:r>
                      <a:endParaRPr b="1">
                        <a:solidFill>
                          <a:srgbClr val="228B22"/>
                        </a:solidFill>
                      </a:endParaRPr>
                    </a:p>
                    <a:p>
                      <a:pPr indent="0" lvl="0" marL="0" marR="0" rtl="0" algn="l">
                        <a:spcBef>
                          <a:spcPts val="0"/>
                        </a:spcBef>
                        <a:spcAft>
                          <a:spcPts val="0"/>
                        </a:spcAft>
                        <a:buNone/>
                      </a:pPr>
                      <a:r>
                        <a:rPr b="1" lang="en-US">
                          <a:solidFill>
                            <a:srgbClr val="228B22"/>
                          </a:solidFill>
                        </a:rPr>
                        <a:t>0.0303</a:t>
                      </a:r>
                      <a:endParaRPr b="1">
                        <a:solidFill>
                          <a:srgbClr val="228B22"/>
                        </a:solidFill>
                      </a:endParaRPr>
                    </a:p>
                  </a:txBody>
                  <a:tcPr marT="45725" marB="45725" marR="91450" marL="91450"/>
                </a:tc>
              </a:tr>
            </a:tbl>
          </a:graphicData>
        </a:graphic>
      </p:graphicFrame>
      <p:sp>
        <p:nvSpPr>
          <p:cNvPr id="173" name="Google Shape;173;p13"/>
          <p:cNvSpPr txBox="1"/>
          <p:nvPr/>
        </p:nvSpPr>
        <p:spPr>
          <a:xfrm>
            <a:off x="457200" y="6217920"/>
            <a:ext cx="8229600"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000">
                <a:solidFill>
                  <a:srgbClr val="404040"/>
                </a:solidFill>
                <a:latin typeface="Calibri"/>
                <a:ea typeface="Calibri"/>
                <a:cs typeface="Calibri"/>
                <a:sym typeface="Calibri"/>
              </a:rPr>
              <a:t>Methodology note: seeds and sample sizes differ by phase (Phase 1: seed=42, n=50; Phase 2: seed=13, n=20; Phase 3: seed=13, n=33) — the same execution-based scoring harness was used throughout, so results remain comparable in kind even though absolute sample sizes differ.</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7" name="Shape 177"/>
        <p:cNvGrpSpPr/>
        <p:nvPr/>
      </p:nvGrpSpPr>
      <p:grpSpPr>
        <a:xfrm>
          <a:off x="0" y="0"/>
          <a:ext cx="0" cy="0"/>
          <a:chOff x="0" y="0"/>
          <a:chExt cx="0" cy="0"/>
        </a:xfrm>
      </p:grpSpPr>
      <p:sp>
        <p:nvSpPr>
          <p:cNvPr id="178" name="Google Shape;178;p15"/>
          <p:cNvSpPr/>
          <p:nvPr/>
        </p:nvSpPr>
        <p:spPr>
          <a:xfrm>
            <a:off x="0" y="274320"/>
            <a:ext cx="9144000" cy="731520"/>
          </a:xfrm>
          <a:prstGeom prst="rect">
            <a:avLst/>
          </a:prstGeom>
          <a:solidFill>
            <a:srgbClr val="1F3864"/>
          </a:solidFill>
          <a:ln cap="flat" cmpd="sng" w="9525">
            <a:solidFill>
              <a:srgbClr val="1F386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800">
                <a:solidFill>
                  <a:srgbClr val="FFFFFF"/>
                </a:solidFill>
                <a:latin typeface="Calibri"/>
                <a:ea typeface="Calibri"/>
                <a:cs typeface="Calibri"/>
                <a:sym typeface="Calibri"/>
              </a:rPr>
              <a:t>Phase 3b: RAG — </a:t>
            </a:r>
            <a:r>
              <a:rPr b="1" lang="en-US" sz="2800">
                <a:solidFill>
                  <a:schemeClr val="lt1"/>
                </a:solidFill>
                <a:latin typeface="Calibri"/>
                <a:ea typeface="Calibri"/>
                <a:cs typeface="Calibri"/>
                <a:sym typeface="Calibri"/>
              </a:rPr>
              <a:t>Motivation &amp; Setup</a:t>
            </a:r>
            <a:endParaRPr/>
          </a:p>
        </p:txBody>
      </p:sp>
      <p:sp>
        <p:nvSpPr>
          <p:cNvPr id="179" name="Google Shape;179;p15"/>
          <p:cNvSpPr txBox="1"/>
          <p:nvPr/>
        </p:nvSpPr>
        <p:spPr>
          <a:xfrm>
            <a:off x="640080" y="1097280"/>
            <a:ext cx="7863900" cy="1405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n-US" sz="1800">
                <a:solidFill>
                  <a:schemeClr val="dk1"/>
                </a:solidFill>
                <a:latin typeface="Calibri"/>
                <a:ea typeface="Calibri"/>
                <a:cs typeface="Calibri"/>
                <a:sym typeface="Calibri"/>
              </a:rPr>
              <a:t>• </a:t>
            </a:r>
            <a:r>
              <a:rPr b="1" lang="en-US" sz="1800">
                <a:solidFill>
                  <a:schemeClr val="dk1"/>
                </a:solidFill>
                <a:latin typeface="Calibri"/>
                <a:ea typeface="Calibri"/>
                <a:cs typeface="Calibri"/>
                <a:sym typeface="Calibri"/>
              </a:rPr>
              <a:t>Motivation</a:t>
            </a:r>
            <a:r>
              <a:rPr lang="en-US" sz="1800">
                <a:solidFill>
                  <a:schemeClr val="dk1"/>
                </a:solidFill>
                <a:latin typeface="Calibri"/>
                <a:ea typeface="Calibri"/>
                <a:cs typeface="Calibri"/>
                <a:sym typeface="Calibri"/>
              </a:rPr>
              <a:t>: RAG retrieves similar solved examples at inference time and prepends them as few-shot context - no finetuning/</a:t>
            </a:r>
            <a:r>
              <a:rPr lang="en-US" sz="1800">
                <a:solidFill>
                  <a:schemeClr val="dk1"/>
                </a:solidFill>
                <a:latin typeface="Calibri"/>
                <a:ea typeface="Calibri"/>
                <a:cs typeface="Calibri"/>
                <a:sym typeface="Calibri"/>
              </a:rPr>
              <a:t>retraining</a:t>
            </a:r>
            <a:r>
              <a:rPr lang="en-US" sz="1800">
                <a:solidFill>
                  <a:schemeClr val="dk1"/>
                </a:solidFill>
                <a:latin typeface="Calibri"/>
                <a:ea typeface="Calibri"/>
                <a:cs typeface="Calibri"/>
                <a:sym typeface="Calibri"/>
              </a:rPr>
              <a:t> of model weights</a:t>
            </a:r>
            <a:endParaRPr>
              <a:solidFill>
                <a:schemeClr val="dk1"/>
              </a:solidFill>
            </a:endParaRPr>
          </a:p>
          <a:p>
            <a:pPr indent="0" lvl="0" marL="0" rtl="0" algn="l">
              <a:spcBef>
                <a:spcPts val="800"/>
              </a:spcBef>
              <a:spcAft>
                <a:spcPts val="0"/>
              </a:spcAft>
              <a:buClr>
                <a:schemeClr val="dk1"/>
              </a:buClr>
              <a:buFont typeface="Arial"/>
              <a:buNone/>
            </a:pPr>
            <a:r>
              <a:rPr lang="en-US" sz="1800">
                <a:solidFill>
                  <a:schemeClr val="dk1"/>
                </a:solidFill>
                <a:latin typeface="Calibri"/>
                <a:ea typeface="Calibri"/>
                <a:cs typeface="Calibri"/>
                <a:sym typeface="Calibri"/>
              </a:rPr>
              <a:t>• </a:t>
            </a:r>
            <a:r>
              <a:rPr b="1" lang="en-US" sz="1800">
                <a:solidFill>
                  <a:schemeClr val="dk1"/>
                </a:solidFill>
                <a:latin typeface="Calibri"/>
                <a:ea typeface="Calibri"/>
                <a:cs typeface="Calibri"/>
                <a:sym typeface="Calibri"/>
              </a:rPr>
              <a:t>Knowledge base: </a:t>
            </a:r>
            <a:r>
              <a:rPr lang="en-US" sz="1800">
                <a:solidFill>
                  <a:schemeClr val="dk1"/>
                </a:solidFill>
                <a:latin typeface="Calibri"/>
                <a:ea typeface="Calibri"/>
                <a:cs typeface="Calibri"/>
                <a:sym typeface="Calibri"/>
              </a:rPr>
              <a:t>Extended datasets from humaneval, human eval-x, mbpp</a:t>
            </a:r>
            <a:endParaRPr>
              <a:solidFill>
                <a:schemeClr val="dk1"/>
              </a:solidFill>
            </a:endParaRPr>
          </a:p>
          <a:p>
            <a:pPr indent="0" lvl="0" marL="0" rtl="0" algn="l">
              <a:spcBef>
                <a:spcPts val="800"/>
              </a:spcBef>
              <a:spcAft>
                <a:spcPts val="0"/>
              </a:spcAft>
              <a:buClr>
                <a:schemeClr val="dk1"/>
              </a:buClr>
              <a:buFont typeface="Arial"/>
              <a:buNone/>
            </a:pPr>
            <a:r>
              <a:rPr lang="en-US" sz="1800">
                <a:solidFill>
                  <a:schemeClr val="dk1"/>
                </a:solidFill>
                <a:latin typeface="Calibri"/>
                <a:ea typeface="Calibri"/>
                <a:cs typeface="Calibri"/>
                <a:sym typeface="Calibri"/>
              </a:rPr>
              <a:t>• Four tasks: NL→Python, NL→Java, Python→Java, Code→NL</a:t>
            </a:r>
            <a:endParaRPr sz="1700">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3" name="Shape 183"/>
        <p:cNvGrpSpPr/>
        <p:nvPr/>
      </p:nvGrpSpPr>
      <p:grpSpPr>
        <a:xfrm>
          <a:off x="0" y="0"/>
          <a:ext cx="0" cy="0"/>
          <a:chOff x="0" y="0"/>
          <a:chExt cx="0" cy="0"/>
        </a:xfrm>
      </p:grpSpPr>
      <p:sp>
        <p:nvSpPr>
          <p:cNvPr id="184" name="Google Shape;184;p16"/>
          <p:cNvSpPr/>
          <p:nvPr/>
        </p:nvSpPr>
        <p:spPr>
          <a:xfrm>
            <a:off x="0" y="274320"/>
            <a:ext cx="9144000" cy="731520"/>
          </a:xfrm>
          <a:prstGeom prst="rect">
            <a:avLst/>
          </a:prstGeom>
          <a:solidFill>
            <a:srgbClr val="1F3864"/>
          </a:solidFill>
          <a:ln cap="flat" cmpd="sng" w="9525">
            <a:solidFill>
              <a:srgbClr val="1F386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800">
                <a:solidFill>
                  <a:srgbClr val="FFFFFF"/>
                </a:solidFill>
                <a:latin typeface="Calibri"/>
                <a:ea typeface="Calibri"/>
                <a:cs typeface="Calibri"/>
                <a:sym typeface="Calibri"/>
              </a:rPr>
              <a:t>Phase 3b: RAG — Pipeline</a:t>
            </a:r>
            <a:endParaRPr/>
          </a:p>
        </p:txBody>
      </p:sp>
      <p:sp>
        <p:nvSpPr>
          <p:cNvPr id="185" name="Google Shape;185;p16"/>
          <p:cNvSpPr txBox="1"/>
          <p:nvPr/>
        </p:nvSpPr>
        <p:spPr>
          <a:xfrm>
            <a:off x="640080" y="1097280"/>
            <a:ext cx="7863900" cy="4525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Font typeface="Arial"/>
              <a:buNone/>
            </a:pPr>
            <a:r>
              <a:rPr lang="en-US" sz="1800">
                <a:solidFill>
                  <a:schemeClr val="dk1"/>
                </a:solidFill>
                <a:latin typeface="Calibri"/>
                <a:ea typeface="Calibri"/>
                <a:cs typeface="Calibri"/>
                <a:sym typeface="Calibri"/>
              </a:rPr>
              <a:t>•</a:t>
            </a:r>
            <a:r>
              <a:rPr b="1" lang="en-US" sz="1800">
                <a:solidFill>
                  <a:schemeClr val="dk1"/>
                </a:solidFill>
                <a:latin typeface="Calibri"/>
                <a:ea typeface="Calibri"/>
                <a:cs typeface="Calibri"/>
                <a:sym typeface="Calibri"/>
              </a:rPr>
              <a:t> Step 1 — Inputs</a:t>
            </a:r>
            <a:r>
              <a:rPr lang="en-US" sz="1800">
                <a:solidFill>
                  <a:schemeClr val="dk1"/>
                </a:solidFill>
                <a:latin typeface="Calibri"/>
                <a:ea typeface="Calibri"/>
                <a:cs typeface="Calibri"/>
                <a:sym typeface="Calibri"/>
              </a:rPr>
              <a:t>: embedding model and knowledge base built from execution-validated data</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Font typeface="Arial"/>
              <a:buNone/>
            </a:pPr>
            <a:r>
              <a:rPr lang="en-US" sz="1800">
                <a:solidFill>
                  <a:schemeClr val="dk1"/>
                </a:solidFill>
                <a:latin typeface="Calibri"/>
                <a:ea typeface="Calibri"/>
                <a:cs typeface="Calibri"/>
                <a:sym typeface="Calibri"/>
              </a:rPr>
              <a:t>   - Embedding model: all-MiniLM-L6-v2 • 384-dim, L2-normalised • runs on CPU (GPU reserved for generation)</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Font typeface="Arial"/>
              <a:buNone/>
            </a:pPr>
            <a:r>
              <a:rPr lang="en-US" sz="1800">
                <a:solidFill>
                  <a:schemeClr val="dk1"/>
                </a:solidFill>
                <a:latin typeface="Calibri"/>
                <a:ea typeface="Calibri"/>
                <a:cs typeface="Calibri"/>
                <a:sym typeface="Calibri"/>
              </a:rPr>
              <a:t>   - Corpus: HumanEval + HumanEval-X + MBPP, flag=True only — ~380 execution-validated examples</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Font typeface="Arial"/>
              <a:buNone/>
            </a:pPr>
            <a:r>
              <a:rPr lang="en-US" sz="1800">
                <a:solidFill>
                  <a:schemeClr val="dk1"/>
                </a:solidFill>
                <a:latin typeface="Calibri"/>
                <a:ea typeface="Calibri"/>
                <a:cs typeface="Calibri"/>
                <a:sym typeface="Calibri"/>
              </a:rPr>
              <a:t>• </a:t>
            </a:r>
            <a:r>
              <a:rPr b="1" lang="en-US" sz="1800">
                <a:solidFill>
                  <a:schemeClr val="dk1"/>
                </a:solidFill>
                <a:latin typeface="Calibri"/>
                <a:ea typeface="Calibri"/>
                <a:cs typeface="Calibri"/>
                <a:sym typeface="Calibri"/>
              </a:rPr>
              <a:t>Step 2 — Build two FAISS indexes</a:t>
            </a:r>
            <a:r>
              <a:rPr lang="en-US" sz="1800">
                <a:solidFill>
                  <a:schemeClr val="dk1"/>
                </a:solidFill>
                <a:latin typeface="Calibri"/>
                <a:ea typeface="Calibri"/>
                <a:cs typeface="Calibri"/>
                <a:sym typeface="Calibri"/>
              </a:rPr>
              <a:t> (exact cosine search):</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Font typeface="Arial"/>
              <a:buNone/>
            </a:pPr>
            <a:r>
              <a:rPr lang="en-US" sz="1800">
                <a:solidFill>
                  <a:schemeClr val="dk1"/>
                </a:solidFill>
                <a:latin typeface="Calibri"/>
                <a:ea typeface="Calibri"/>
                <a:cs typeface="Calibri"/>
                <a:sym typeface="Calibri"/>
              </a:rPr>
              <a:t>   - NL index: embeds NL descriptions → used for NL→Python, NL→Java</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Font typeface="Arial"/>
              <a:buNone/>
            </a:pPr>
            <a:r>
              <a:rPr lang="en-US" sz="1800">
                <a:solidFill>
                  <a:schemeClr val="dk1"/>
                </a:solidFill>
                <a:latin typeface="Calibri"/>
                <a:ea typeface="Calibri"/>
                <a:cs typeface="Calibri"/>
                <a:sym typeface="Calibri"/>
              </a:rPr>
              <a:t>   - Code index: embeds Python code → used for Python→Java, Code→NL</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Font typeface="Arial"/>
              <a:buNone/>
            </a:pPr>
            <a:r>
              <a:rPr lang="en-US" sz="1800">
                <a:solidFill>
                  <a:schemeClr val="dk1"/>
                </a:solidFill>
                <a:latin typeface="Calibri"/>
                <a:ea typeface="Calibri"/>
                <a:cs typeface="Calibri"/>
                <a:sym typeface="Calibri"/>
              </a:rPr>
              <a:t>• </a:t>
            </a:r>
            <a:r>
              <a:rPr b="1" lang="en-US" sz="1800">
                <a:solidFill>
                  <a:schemeClr val="dk1"/>
                </a:solidFill>
                <a:latin typeface="Calibri"/>
                <a:ea typeface="Calibri"/>
                <a:cs typeface="Calibri"/>
                <a:sym typeface="Calibri"/>
              </a:rPr>
              <a:t>Step 3 — At query time</a:t>
            </a:r>
            <a:r>
              <a:rPr lang="en-US" sz="1800">
                <a:solidFill>
                  <a:schemeClr val="dk1"/>
                </a:solidFill>
                <a:latin typeface="Calibri"/>
                <a:ea typeface="Calibri"/>
                <a:cs typeface="Calibri"/>
                <a:sym typeface="Calibri"/>
              </a:rPr>
              <a:t>: embed test problem → dot-product search → top-K most similar row retrieved</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Font typeface="Arial"/>
              <a:buNone/>
            </a:pPr>
            <a:r>
              <a:rPr lang="en-US" sz="1800">
                <a:solidFill>
                  <a:schemeClr val="dk1"/>
                </a:solidFill>
                <a:latin typeface="Calibri"/>
                <a:ea typeface="Calibri"/>
                <a:cs typeface="Calibri"/>
                <a:sym typeface="Calibri"/>
              </a:rPr>
              <a:t>   - Self-retrieval guard: test problems excluded from their own corpus — model never sees its own answer</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Font typeface="Arial"/>
              <a:buNone/>
            </a:pPr>
            <a:r>
              <a:rPr lang="en-US" sz="1800">
                <a:solidFill>
                  <a:schemeClr val="dk1"/>
                </a:solidFill>
                <a:latin typeface="Calibri"/>
                <a:ea typeface="Calibri"/>
                <a:cs typeface="Calibri"/>
                <a:sym typeface="Calibri"/>
              </a:rPr>
              <a:t>• </a:t>
            </a:r>
            <a:r>
              <a:rPr b="1" lang="en-US" sz="1800">
                <a:solidFill>
                  <a:schemeClr val="dk1"/>
                </a:solidFill>
                <a:latin typeface="Calibri"/>
                <a:ea typeface="Calibri"/>
                <a:cs typeface="Calibri"/>
                <a:sym typeface="Calibri"/>
              </a:rPr>
              <a:t>Step 4 — Prompt assembly:</a:t>
            </a:r>
            <a:r>
              <a:rPr lang="en-US" sz="1800">
                <a:solidFill>
                  <a:schemeClr val="dk1"/>
                </a:solidFill>
                <a:latin typeface="Calibri"/>
                <a:ea typeface="Calibri"/>
                <a:cs typeface="Calibri"/>
                <a:sym typeface="Calibri"/>
              </a:rPr>
              <a:t> retrieved example (NL + Python + Java) prepended as few-shot context before the actual task → sent to Qwen</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Font typeface="Arial"/>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0" name="Shape 190"/>
        <p:cNvGrpSpPr/>
        <p:nvPr/>
      </p:nvGrpSpPr>
      <p:grpSpPr>
        <a:xfrm>
          <a:off x="0" y="0"/>
          <a:ext cx="0" cy="0"/>
          <a:chOff x="0" y="0"/>
          <a:chExt cx="0" cy="0"/>
        </a:xfrm>
      </p:grpSpPr>
      <p:sp>
        <p:nvSpPr>
          <p:cNvPr id="191" name="Google Shape;191;g3f3d7bbd08a_0_0"/>
          <p:cNvSpPr/>
          <p:nvPr/>
        </p:nvSpPr>
        <p:spPr>
          <a:xfrm>
            <a:off x="0" y="274320"/>
            <a:ext cx="9144000" cy="731400"/>
          </a:xfrm>
          <a:prstGeom prst="rect">
            <a:avLst/>
          </a:prstGeom>
          <a:solidFill>
            <a:srgbClr val="1F3864"/>
          </a:solidFill>
          <a:ln cap="flat" cmpd="sng" w="9525">
            <a:solidFill>
              <a:srgbClr val="1F386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800">
                <a:solidFill>
                  <a:srgbClr val="FFFFFF"/>
                </a:solidFill>
                <a:latin typeface="Calibri"/>
                <a:ea typeface="Calibri"/>
                <a:cs typeface="Calibri"/>
                <a:sym typeface="Calibri"/>
              </a:rPr>
              <a:t>Phase 3: RAG Results</a:t>
            </a:r>
            <a:endParaRPr/>
          </a:p>
        </p:txBody>
      </p:sp>
      <p:graphicFrame>
        <p:nvGraphicFramePr>
          <p:cNvPr id="192" name="Google Shape;192;g3f3d7bbd08a_0_0"/>
          <p:cNvGraphicFramePr/>
          <p:nvPr/>
        </p:nvGraphicFramePr>
        <p:xfrm>
          <a:off x="431325" y="1303330"/>
          <a:ext cx="3000000" cy="3000000"/>
        </p:xfrm>
        <a:graphic>
          <a:graphicData uri="http://schemas.openxmlformats.org/drawingml/2006/table">
            <a:tbl>
              <a:tblPr bandRow="1" firstRow="1">
                <a:noFill/>
                <a:tableStyleId>{76E8EE8F-F916-4520-B353-C2E76A3E6513}</a:tableStyleId>
              </a:tblPr>
              <a:tblGrid>
                <a:gridCol w="1388675"/>
                <a:gridCol w="1251050"/>
                <a:gridCol w="1447225"/>
                <a:gridCol w="1498950"/>
                <a:gridCol w="1757750"/>
              </a:tblGrid>
              <a:tr h="457200">
                <a:tc>
                  <a:txBody>
                    <a:bodyPr/>
                    <a:lstStyle/>
                    <a:p>
                      <a:pPr indent="0" lvl="0" marL="0" marR="0" rtl="0" algn="l">
                        <a:spcBef>
                          <a:spcPts val="0"/>
                        </a:spcBef>
                        <a:spcAft>
                          <a:spcPts val="0"/>
                        </a:spcAft>
                        <a:buNone/>
                      </a:pPr>
                      <a:r>
                        <a:rPr b="1" lang="en-US" sz="1400">
                          <a:solidFill>
                            <a:srgbClr val="FFFFFF"/>
                          </a:solidFill>
                        </a:rPr>
                        <a:t>Task</a:t>
                      </a:r>
                      <a:endParaRPr/>
                    </a:p>
                  </a:txBody>
                  <a:tcPr marT="45725" marB="45725" marR="91450" marL="91450">
                    <a:solidFill>
                      <a:srgbClr val="1F3864"/>
                    </a:solidFill>
                  </a:tcPr>
                </a:tc>
                <a:tc>
                  <a:txBody>
                    <a:bodyPr/>
                    <a:lstStyle/>
                    <a:p>
                      <a:pPr indent="0" lvl="0" marL="0" marR="0" rtl="0" algn="l">
                        <a:spcBef>
                          <a:spcPts val="0"/>
                        </a:spcBef>
                        <a:spcAft>
                          <a:spcPts val="0"/>
                        </a:spcAft>
                        <a:buNone/>
                      </a:pPr>
                      <a:r>
                        <a:rPr b="1" lang="en-US" sz="1400">
                          <a:solidFill>
                            <a:srgbClr val="FFFFFF"/>
                          </a:solidFill>
                        </a:rPr>
                        <a:t>Metric</a:t>
                      </a:r>
                      <a:endParaRPr/>
                    </a:p>
                  </a:txBody>
                  <a:tcPr marT="45725" marB="45725" marR="91450" marL="91450">
                    <a:solidFill>
                      <a:srgbClr val="1F3864"/>
                    </a:solidFill>
                  </a:tcPr>
                </a:tc>
                <a:tc>
                  <a:txBody>
                    <a:bodyPr/>
                    <a:lstStyle/>
                    <a:p>
                      <a:pPr indent="0" lvl="0" marL="0" marR="0" rtl="0" algn="l">
                        <a:spcBef>
                          <a:spcPts val="0"/>
                        </a:spcBef>
                        <a:spcAft>
                          <a:spcPts val="0"/>
                        </a:spcAft>
                        <a:buNone/>
                      </a:pPr>
                      <a:r>
                        <a:rPr lang="en-US"/>
                        <a:t>Baseline</a:t>
                      </a:r>
                      <a:endParaRPr/>
                    </a:p>
                  </a:txBody>
                  <a:tcPr marT="45725" marB="45725" marR="91450" marL="91450">
                    <a:lnB cap="flat" cmpd="sng" w="12700">
                      <a:solidFill>
                        <a:schemeClr val="lt1"/>
                      </a:solidFill>
                      <a:prstDash val="solid"/>
                      <a:round/>
                      <a:headEnd len="sm" w="sm" type="none"/>
                      <a:tailEnd len="sm" w="sm" type="none"/>
                    </a:lnB>
                    <a:solidFill>
                      <a:srgbClr val="1F3864"/>
                    </a:solidFill>
                  </a:tcPr>
                </a:tc>
                <a:tc>
                  <a:txBody>
                    <a:bodyPr/>
                    <a:lstStyle/>
                    <a:p>
                      <a:pPr indent="0" lvl="0" marL="0" marR="0" rtl="0" algn="l">
                        <a:spcBef>
                          <a:spcPts val="0"/>
                        </a:spcBef>
                        <a:spcAft>
                          <a:spcPts val="0"/>
                        </a:spcAft>
                        <a:buNone/>
                      </a:pPr>
                      <a:r>
                        <a:rPr lang="en-US"/>
                        <a:t>QLoRA</a:t>
                      </a:r>
                      <a:endParaRPr/>
                    </a:p>
                  </a:txBody>
                  <a:tcPr marT="45725" marB="45725" marR="91450" marL="91450">
                    <a:lnB cap="flat" cmpd="sng" w="12700">
                      <a:solidFill>
                        <a:schemeClr val="lt1"/>
                      </a:solidFill>
                      <a:prstDash val="solid"/>
                      <a:round/>
                      <a:headEnd len="sm" w="sm" type="none"/>
                      <a:tailEnd len="sm" w="sm" type="none"/>
                    </a:lnB>
                    <a:solidFill>
                      <a:srgbClr val="1F3864"/>
                    </a:solidFill>
                  </a:tcPr>
                </a:tc>
                <a:tc>
                  <a:txBody>
                    <a:bodyPr/>
                    <a:lstStyle/>
                    <a:p>
                      <a:pPr indent="0" lvl="0" marL="0" marR="0" rtl="0" algn="l">
                        <a:spcBef>
                          <a:spcPts val="0"/>
                        </a:spcBef>
                        <a:spcAft>
                          <a:spcPts val="0"/>
                        </a:spcAft>
                        <a:buNone/>
                      </a:pPr>
                      <a:r>
                        <a:rPr lang="en-US"/>
                        <a:t>QLoRA + </a:t>
                      </a:r>
                      <a:r>
                        <a:rPr lang="en-US">
                          <a:solidFill>
                            <a:srgbClr val="FFFFFF"/>
                          </a:solidFill>
                        </a:rPr>
                        <a:t>RAG</a:t>
                      </a:r>
                      <a:endParaRPr/>
                    </a:p>
                  </a:txBody>
                  <a:tcPr marT="45725" marB="45725" marR="91450" marL="91450">
                    <a:solidFill>
                      <a:srgbClr val="1F3864"/>
                    </a:solidFill>
                  </a:tcPr>
                </a:tc>
              </a:tr>
              <a:tr h="457200">
                <a:tc>
                  <a:txBody>
                    <a:bodyPr/>
                    <a:lstStyle/>
                    <a:p>
                      <a:pPr indent="0" lvl="0" marL="0" marR="0" rtl="0" algn="l">
                        <a:spcBef>
                          <a:spcPts val="0"/>
                        </a:spcBef>
                        <a:spcAft>
                          <a:spcPts val="0"/>
                        </a:spcAft>
                        <a:buNone/>
                      </a:pPr>
                      <a:r>
                        <a:rPr lang="en-US" sz="1400">
                          <a:solidFill>
                            <a:srgbClr val="000000"/>
                          </a:solidFill>
                        </a:rPr>
                        <a:t>NL→Python</a:t>
                      </a:r>
                      <a:endParaRPr/>
                    </a:p>
                  </a:txBody>
                  <a:tcPr marT="45725" marB="45725" marR="91450" marL="91450"/>
                </a:tc>
                <a:tc>
                  <a:txBody>
                    <a:bodyPr/>
                    <a:lstStyle/>
                    <a:p>
                      <a:pPr indent="0" lvl="0" marL="0" marR="0" rtl="0" algn="l">
                        <a:spcBef>
                          <a:spcPts val="0"/>
                        </a:spcBef>
                        <a:spcAft>
                          <a:spcPts val="0"/>
                        </a:spcAft>
                        <a:buNone/>
                      </a:pPr>
                      <a:r>
                        <a:rPr lang="en-US" sz="1400">
                          <a:solidFill>
                            <a:srgbClr val="000000"/>
                          </a:solidFill>
                        </a:rPr>
                        <a:t>pass@1</a:t>
                      </a:r>
                      <a:endParaRPr/>
                    </a:p>
                  </a:txBody>
                  <a:tcPr marT="45725" marB="45725" marR="91450" marL="91450">
                    <a:lnR cap="flat" cmpd="sng" w="12700">
                      <a:solidFill>
                        <a:schemeClr val="lt1"/>
                      </a:solidFill>
                      <a:prstDash val="solid"/>
                      <a:round/>
                      <a:headEnd len="sm" w="sm" type="none"/>
                      <a:tailEnd len="sm" w="sm" type="none"/>
                    </a:lnR>
                  </a:tcPr>
                </a:tc>
                <a:tc>
                  <a:txBody>
                    <a:bodyPr/>
                    <a:lstStyle/>
                    <a:p>
                      <a:pPr indent="0" lvl="0" marL="0" marR="0" rtl="0" algn="l">
                        <a:spcBef>
                          <a:spcPts val="0"/>
                        </a:spcBef>
                        <a:spcAft>
                          <a:spcPts val="0"/>
                        </a:spcAft>
                        <a:buNone/>
                      </a:pPr>
                      <a:r>
                        <a:rPr lang="en-US">
                          <a:solidFill>
                            <a:srgbClr val="000000"/>
                          </a:solidFill>
                        </a:rPr>
                        <a:t>0.6364</a:t>
                      </a:r>
                      <a:endParaRPr>
                        <a:solidFill>
                          <a:srgbClr val="000000"/>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US" sz="1400">
                          <a:solidFill>
                            <a:srgbClr val="000000"/>
                          </a:solidFill>
                        </a:rPr>
                        <a:t>0.</a:t>
                      </a:r>
                      <a:r>
                        <a:rPr lang="en-US">
                          <a:solidFill>
                            <a:srgbClr val="000000"/>
                          </a:solidFill>
                        </a:rPr>
                        <a:t>6364</a:t>
                      </a:r>
                      <a:endParaRPr>
                        <a:solidFill>
                          <a:srgbClr val="000000"/>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a:solidFill>
                            <a:srgbClr val="000000"/>
                          </a:solidFill>
                        </a:rPr>
                        <a:t> 0.5455</a:t>
                      </a:r>
                      <a:endParaRPr sz="1000">
                        <a:highlight>
                          <a:srgbClr val="FFFFFF"/>
                        </a:highlight>
                        <a:latin typeface="Arial"/>
                        <a:ea typeface="Arial"/>
                        <a:cs typeface="Arial"/>
                        <a:sym typeface="Arial"/>
                      </a:endParaRPr>
                    </a:p>
                    <a:p>
                      <a:pPr indent="0" lvl="0" marL="0" marR="0" rtl="0" algn="l">
                        <a:spcBef>
                          <a:spcPts val="0"/>
                        </a:spcBef>
                        <a:spcAft>
                          <a:spcPts val="0"/>
                        </a:spcAft>
                        <a:buNone/>
                      </a:pPr>
                      <a:r>
                        <a:t/>
                      </a:r>
                      <a:endParaRPr b="1"/>
                    </a:p>
                  </a:txBody>
                  <a:tcPr marT="45725" marB="45725" marR="91450" marL="91450">
                    <a:lnL cap="flat" cmpd="sng" w="12700">
                      <a:solidFill>
                        <a:schemeClr val="lt1"/>
                      </a:solidFill>
                      <a:prstDash val="solid"/>
                      <a:round/>
                      <a:headEnd len="sm" w="sm" type="none"/>
                      <a:tailEnd len="sm" w="sm" type="none"/>
                    </a:lnL>
                  </a:tcPr>
                </a:tc>
              </a:tr>
              <a:tr h="457200">
                <a:tc>
                  <a:txBody>
                    <a:bodyPr/>
                    <a:lstStyle/>
                    <a:p>
                      <a:pPr indent="0" lvl="0" marL="0" marR="0" rtl="0" algn="l">
                        <a:spcBef>
                          <a:spcPts val="0"/>
                        </a:spcBef>
                        <a:spcAft>
                          <a:spcPts val="0"/>
                        </a:spcAft>
                        <a:buNone/>
                      </a:pPr>
                      <a:r>
                        <a:rPr lang="en-US" sz="1400">
                          <a:solidFill>
                            <a:srgbClr val="000000"/>
                          </a:solidFill>
                        </a:rPr>
                        <a:t>NL→Java</a:t>
                      </a:r>
                      <a:endParaRPr/>
                    </a:p>
                  </a:txBody>
                  <a:tcPr marT="45725" marB="45725" marR="91450" marL="91450"/>
                </a:tc>
                <a:tc>
                  <a:txBody>
                    <a:bodyPr/>
                    <a:lstStyle/>
                    <a:p>
                      <a:pPr indent="0" lvl="0" marL="0" marR="0" rtl="0" algn="l">
                        <a:spcBef>
                          <a:spcPts val="0"/>
                        </a:spcBef>
                        <a:spcAft>
                          <a:spcPts val="0"/>
                        </a:spcAft>
                        <a:buNone/>
                      </a:pPr>
                      <a:r>
                        <a:rPr lang="en-US" sz="1400">
                          <a:solidFill>
                            <a:srgbClr val="000000"/>
                          </a:solidFill>
                        </a:rPr>
                        <a:t>pass@1</a:t>
                      </a:r>
                      <a:endParaRPr/>
                    </a:p>
                  </a:txBody>
                  <a:tcPr marT="45725" marB="45725" marR="91450" marL="91450">
                    <a:lnR cap="flat" cmpd="sng" w="12700">
                      <a:solidFill>
                        <a:schemeClr val="lt1"/>
                      </a:solidFill>
                      <a:prstDash val="solid"/>
                      <a:round/>
                      <a:headEnd len="sm" w="sm" type="none"/>
                      <a:tailEnd len="sm" w="sm" type="none"/>
                    </a:lnR>
                  </a:tcPr>
                </a:tc>
                <a:tc>
                  <a:txBody>
                    <a:bodyPr/>
                    <a:lstStyle/>
                    <a:p>
                      <a:pPr indent="0" lvl="0" marL="0" marR="0" rtl="0" algn="l">
                        <a:spcBef>
                          <a:spcPts val="0"/>
                        </a:spcBef>
                        <a:spcAft>
                          <a:spcPts val="0"/>
                        </a:spcAft>
                        <a:buNone/>
                      </a:pPr>
                      <a:r>
                        <a:rPr lang="en-US" sz="1400">
                          <a:solidFill>
                            <a:srgbClr val="000000"/>
                          </a:solidFill>
                        </a:rPr>
                        <a:t>0.</a:t>
                      </a:r>
                      <a:r>
                        <a:rPr lang="en-US">
                          <a:solidFill>
                            <a:srgbClr val="000000"/>
                          </a:solidFill>
                        </a:rPr>
                        <a:t>4848</a:t>
                      </a:r>
                      <a:endParaRPr>
                        <a:solidFill>
                          <a:srgbClr val="000000"/>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US" sz="1400">
                          <a:solidFill>
                            <a:srgbClr val="000000"/>
                          </a:solidFill>
                        </a:rPr>
                        <a:t>0.6</a:t>
                      </a:r>
                      <a:r>
                        <a:rPr lang="en-US">
                          <a:solidFill>
                            <a:srgbClr val="000000"/>
                          </a:solidFill>
                        </a:rPr>
                        <a:t>061</a:t>
                      </a:r>
                      <a:endParaRPr>
                        <a:solidFill>
                          <a:srgbClr val="000000"/>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US">
                          <a:solidFill>
                            <a:srgbClr val="000000"/>
                          </a:solidFill>
                        </a:rPr>
                        <a:t>  0.</a:t>
                      </a:r>
                      <a:r>
                        <a:rPr lang="en-US">
                          <a:solidFill>
                            <a:srgbClr val="000000"/>
                          </a:solidFill>
                        </a:rPr>
                        <a:t>6364</a:t>
                      </a:r>
                      <a:endParaRPr sz="1000">
                        <a:highlight>
                          <a:srgbClr val="FFFFFF"/>
                        </a:highlight>
                        <a:latin typeface="Arial"/>
                        <a:ea typeface="Arial"/>
                        <a:cs typeface="Arial"/>
                        <a:sym typeface="Arial"/>
                      </a:endParaRPr>
                    </a:p>
                    <a:p>
                      <a:pPr indent="0" lvl="0" marL="0" marR="0" rtl="0" algn="l">
                        <a:spcBef>
                          <a:spcPts val="0"/>
                        </a:spcBef>
                        <a:spcAft>
                          <a:spcPts val="0"/>
                        </a:spcAft>
                        <a:buNone/>
                      </a:pPr>
                      <a:r>
                        <a:t/>
                      </a:r>
                      <a:endParaRPr b="1"/>
                    </a:p>
                  </a:txBody>
                  <a:tcPr marT="45725" marB="45725" marR="91450" marL="91450">
                    <a:lnL cap="flat" cmpd="sng" w="12700">
                      <a:solidFill>
                        <a:schemeClr val="lt1"/>
                      </a:solidFill>
                      <a:prstDash val="solid"/>
                      <a:round/>
                      <a:headEnd len="sm" w="sm" type="none"/>
                      <a:tailEnd len="sm" w="sm" type="none"/>
                    </a:lnL>
                  </a:tcPr>
                </a:tc>
              </a:tr>
              <a:tr h="457200">
                <a:tc>
                  <a:txBody>
                    <a:bodyPr/>
                    <a:lstStyle/>
                    <a:p>
                      <a:pPr indent="0" lvl="0" marL="0" marR="0" rtl="0" algn="l">
                        <a:spcBef>
                          <a:spcPts val="0"/>
                        </a:spcBef>
                        <a:spcAft>
                          <a:spcPts val="0"/>
                        </a:spcAft>
                        <a:buNone/>
                      </a:pPr>
                      <a:r>
                        <a:rPr lang="en-US" sz="1400">
                          <a:solidFill>
                            <a:srgbClr val="000000"/>
                          </a:solidFill>
                        </a:rPr>
                        <a:t>Python→Java</a:t>
                      </a:r>
                      <a:endParaRPr/>
                    </a:p>
                  </a:txBody>
                  <a:tcPr marT="45725" marB="45725" marR="91450" marL="91450">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US" sz="1400">
                          <a:solidFill>
                            <a:srgbClr val="000000"/>
                          </a:solidFill>
                        </a:rPr>
                        <a:t>pass@1</a:t>
                      </a:r>
                      <a:endParaRPr/>
                    </a:p>
                  </a:txBody>
                  <a:tcPr marT="45725" marB="45725" marR="91450" marL="91450">
                    <a:lnR cap="flat" cmpd="sng" w="12700">
                      <a:solidFill>
                        <a:schemeClr val="lt1"/>
                      </a:solidFill>
                      <a:prstDash val="solid"/>
                      <a:round/>
                      <a:headEnd len="sm" w="sm" type="none"/>
                      <a:tailEnd len="sm" w="sm" type="none"/>
                    </a:lnR>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US" sz="1400">
                          <a:solidFill>
                            <a:srgbClr val="000000"/>
                          </a:solidFill>
                        </a:rPr>
                        <a:t>0.</a:t>
                      </a:r>
                      <a:r>
                        <a:rPr lang="en-US">
                          <a:solidFill>
                            <a:srgbClr val="000000"/>
                          </a:solidFill>
                        </a:rPr>
                        <a:t>7273</a:t>
                      </a:r>
                      <a:endParaRPr>
                        <a:solidFill>
                          <a:srgbClr val="000000"/>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US">
                          <a:solidFill>
                            <a:srgbClr val="000000"/>
                          </a:solidFill>
                        </a:rPr>
                        <a:t>0.7576</a:t>
                      </a:r>
                      <a:endParaRPr sz="1000">
                        <a:highlight>
                          <a:srgbClr val="FFFFFF"/>
                        </a:highlight>
                        <a:latin typeface="Arial"/>
                        <a:ea typeface="Arial"/>
                        <a:cs typeface="Arial"/>
                        <a:sym typeface="Arial"/>
                      </a:endParaRPr>
                    </a:p>
                    <a:p>
                      <a:pPr indent="0" lvl="0" marL="0" marR="0" rtl="0" algn="l">
                        <a:spcBef>
                          <a:spcPts val="0"/>
                        </a:spcBef>
                        <a:spcAft>
                          <a:spcPts val="0"/>
                        </a:spcAft>
                        <a:buNone/>
                      </a:pPr>
                      <a:r>
                        <a:t/>
                      </a:r>
                      <a:endParaRPr>
                        <a:solidFill>
                          <a:srgbClr val="000000"/>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US">
                          <a:solidFill>
                            <a:srgbClr val="000000"/>
                          </a:solidFill>
                        </a:rPr>
                        <a:t>  0.</a:t>
                      </a:r>
                      <a:r>
                        <a:rPr lang="en-US">
                          <a:solidFill>
                            <a:srgbClr val="000000"/>
                          </a:solidFill>
                        </a:rPr>
                        <a:t>6667</a:t>
                      </a:r>
                      <a:endParaRPr sz="1000">
                        <a:highlight>
                          <a:srgbClr val="FFFFFF"/>
                        </a:highlight>
                        <a:latin typeface="Arial"/>
                        <a:ea typeface="Arial"/>
                        <a:cs typeface="Arial"/>
                        <a:sym typeface="Arial"/>
                      </a:endParaRPr>
                    </a:p>
                    <a:p>
                      <a:pPr indent="0" lvl="0" marL="0" marR="0" rtl="0" algn="l">
                        <a:spcBef>
                          <a:spcPts val="0"/>
                        </a:spcBef>
                        <a:spcAft>
                          <a:spcPts val="0"/>
                        </a:spcAft>
                        <a:buNone/>
                      </a:pPr>
                      <a:r>
                        <a:t/>
                      </a:r>
                      <a:endParaRPr b="1"/>
                    </a:p>
                  </a:txBody>
                  <a:tcPr marT="45725" marB="45725" marR="91450" marL="91450">
                    <a:lnL cap="flat" cmpd="sng" w="12700">
                      <a:solidFill>
                        <a:schemeClr val="lt1"/>
                      </a:solidFill>
                      <a:prstDash val="solid"/>
                      <a:round/>
                      <a:headEnd len="sm" w="sm" type="none"/>
                      <a:tailEnd len="sm" w="sm" type="none"/>
                    </a:lnL>
                    <a:lnB cap="flat" cmpd="sng" w="12700">
                      <a:solidFill>
                        <a:schemeClr val="lt1"/>
                      </a:solidFill>
                      <a:prstDash val="solid"/>
                      <a:round/>
                      <a:headEnd len="sm" w="sm" type="none"/>
                      <a:tailEnd len="sm" w="sm" type="none"/>
                    </a:lnB>
                  </a:tcPr>
                </a:tc>
              </a:tr>
              <a:tr h="457200">
                <a:tc>
                  <a:txBody>
                    <a:bodyPr/>
                    <a:lstStyle/>
                    <a:p>
                      <a:pPr indent="0" lvl="0" marL="0" marR="0" rtl="0" algn="l">
                        <a:spcBef>
                          <a:spcPts val="0"/>
                        </a:spcBef>
                        <a:spcAft>
                          <a:spcPts val="0"/>
                        </a:spcAft>
                        <a:buNone/>
                      </a:pPr>
                      <a:r>
                        <a:rPr lang="en-US" sz="1400">
                          <a:solidFill>
                            <a:srgbClr val="000000"/>
                          </a:solidFill>
                        </a:rPr>
                        <a:t>Code→NL</a:t>
                      </a:r>
                      <a:endParaRPr sz="1400">
                        <a:solidFill>
                          <a:srgbClr val="000000"/>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US" sz="1400">
                          <a:solidFill>
                            <a:srgbClr val="000000"/>
                          </a:solidFill>
                        </a:rPr>
                        <a:t>ROUGE-L F1</a:t>
                      </a:r>
                      <a:endParaRPr sz="1400">
                        <a:solidFill>
                          <a:srgbClr val="000000"/>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US" sz="1400">
                          <a:solidFill>
                            <a:srgbClr val="000000"/>
                          </a:solidFill>
                        </a:rPr>
                        <a:t>0.2</a:t>
                      </a:r>
                      <a:r>
                        <a:rPr lang="en-US">
                          <a:solidFill>
                            <a:srgbClr val="000000"/>
                          </a:solidFill>
                        </a:rPr>
                        <a:t>414</a:t>
                      </a:r>
                      <a:endParaRPr sz="1400">
                        <a:solidFill>
                          <a:srgbClr val="000000"/>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US" sz="1400">
                          <a:solidFill>
                            <a:srgbClr val="000000"/>
                          </a:solidFill>
                        </a:rPr>
                        <a:t>0.</a:t>
                      </a:r>
                      <a:r>
                        <a:rPr lang="en-US">
                          <a:solidFill>
                            <a:srgbClr val="000000"/>
                          </a:solidFill>
                        </a:rPr>
                        <a:t>4179</a:t>
                      </a:r>
                      <a:endParaRPr>
                        <a:solidFill>
                          <a:srgbClr val="000000"/>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US">
                          <a:solidFill>
                            <a:srgbClr val="000000"/>
                          </a:solidFill>
                        </a:rPr>
                        <a:t>  0.7683</a:t>
                      </a:r>
                      <a:endParaRPr sz="1000">
                        <a:highlight>
                          <a:srgbClr val="FFFFFF"/>
                        </a:highlight>
                        <a:latin typeface="Arial"/>
                        <a:ea typeface="Arial"/>
                        <a:cs typeface="Arial"/>
                        <a:sym typeface="Arial"/>
                      </a:endParaRPr>
                    </a:p>
                    <a:p>
                      <a:pPr indent="0" lvl="0" marL="0" marR="0" rtl="0" algn="l">
                        <a:spcBef>
                          <a:spcPts val="0"/>
                        </a:spcBef>
                        <a:spcAft>
                          <a:spcPts val="0"/>
                        </a:spcAft>
                        <a:buNone/>
                      </a:pPr>
                      <a:r>
                        <a:t/>
                      </a:r>
                      <a:endParaRPr b="1">
                        <a:solidFill>
                          <a:srgbClr val="000000"/>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r>
            </a:tbl>
          </a:graphicData>
        </a:graphic>
      </p:graphicFrame>
      <p:sp>
        <p:nvSpPr>
          <p:cNvPr id="193" name="Google Shape;193;g3f3d7bbd08a_0_0"/>
          <p:cNvSpPr txBox="1"/>
          <p:nvPr/>
        </p:nvSpPr>
        <p:spPr>
          <a:xfrm>
            <a:off x="487400" y="4231250"/>
            <a:ext cx="7231500" cy="192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dk1"/>
                </a:solidFill>
                <a:latin typeface="Calibri"/>
                <a:ea typeface="Calibri"/>
                <a:cs typeface="Calibri"/>
                <a:sym typeface="Calibri"/>
              </a:rPr>
              <a:t>RAG showed mixed results:</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   - improvement on two tasks: slight gain on NL→Java and marginal gain on Code→NL (where descriptive tasks benefit from retrieved format examples)</a:t>
            </a:r>
            <a:endParaRPr sz="18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800">
                <a:solidFill>
                  <a:schemeClr val="dk1"/>
                </a:solidFill>
                <a:latin typeface="Calibri"/>
                <a:ea typeface="Calibri"/>
                <a:cs typeface="Calibri"/>
                <a:sym typeface="Calibri"/>
              </a:rPr>
              <a:t>   - degradation on two tasks: NL→Python and Python→Java</a:t>
            </a:r>
            <a:endParaRPr sz="1800">
              <a:solidFill>
                <a:schemeClr val="dk1"/>
              </a:solidFill>
              <a:latin typeface="Calibri"/>
              <a:ea typeface="Calibri"/>
              <a:cs typeface="Calibri"/>
              <a:sym typeface="Calibri"/>
            </a:endParaRPr>
          </a:p>
          <a:p>
            <a:pPr indent="0" lvl="0" marL="0" rtl="0" algn="l">
              <a:spcBef>
                <a:spcPts val="800"/>
              </a:spcBef>
              <a:spcAft>
                <a:spcPts val="0"/>
              </a:spcAft>
              <a:buClr>
                <a:schemeClr val="dk1"/>
              </a:buClr>
              <a:buFont typeface="Arial"/>
              <a:buNone/>
            </a:pPr>
            <a:r>
              <a:t/>
            </a:r>
            <a:endParaRPr sz="1700">
              <a:solidFill>
                <a:schemeClr val="dk1"/>
              </a:solidFill>
              <a:latin typeface="Calibri"/>
              <a:ea typeface="Calibri"/>
              <a:cs typeface="Calibri"/>
              <a:sym typeface="Calibri"/>
            </a:endParaRPr>
          </a:p>
          <a:p>
            <a:pPr indent="0" lvl="0" marL="0" rtl="0" algn="l">
              <a:spcBef>
                <a:spcPts val="800"/>
              </a:spcBef>
              <a:spcAft>
                <a:spcPts val="0"/>
              </a:spcAft>
              <a:buClr>
                <a:schemeClr val="dk1"/>
              </a:buClr>
              <a:buFont typeface="Arial"/>
              <a:buNone/>
            </a:pPr>
            <a:r>
              <a:t/>
            </a:r>
            <a:endParaRPr sz="32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7" name="Shape 197"/>
        <p:cNvGrpSpPr/>
        <p:nvPr/>
      </p:nvGrpSpPr>
      <p:grpSpPr>
        <a:xfrm>
          <a:off x="0" y="0"/>
          <a:ext cx="0" cy="0"/>
          <a:chOff x="0" y="0"/>
          <a:chExt cx="0" cy="0"/>
        </a:xfrm>
      </p:grpSpPr>
      <p:sp>
        <p:nvSpPr>
          <p:cNvPr id="198" name="Google Shape;198;g3f692268942_0_7"/>
          <p:cNvSpPr/>
          <p:nvPr/>
        </p:nvSpPr>
        <p:spPr>
          <a:xfrm>
            <a:off x="0" y="274320"/>
            <a:ext cx="9144000" cy="731400"/>
          </a:xfrm>
          <a:prstGeom prst="rect">
            <a:avLst/>
          </a:prstGeom>
          <a:solidFill>
            <a:srgbClr val="1F3864"/>
          </a:solidFill>
          <a:ln cap="flat" cmpd="sng" w="9525">
            <a:solidFill>
              <a:srgbClr val="1F386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FFFFFF"/>
                </a:solidFill>
                <a:latin typeface="Calibri"/>
                <a:ea typeface="Calibri"/>
                <a:cs typeface="Calibri"/>
                <a:sym typeface="Calibri"/>
              </a:rPr>
              <a:t>System Design — Choosing QLoRA for the </a:t>
            </a:r>
            <a:r>
              <a:rPr b="1" lang="en-US" sz="2800">
                <a:solidFill>
                  <a:srgbClr val="FFFFFF"/>
                </a:solidFill>
                <a:latin typeface="Calibri"/>
                <a:ea typeface="Calibri"/>
                <a:cs typeface="Calibri"/>
                <a:sym typeface="Calibri"/>
              </a:rPr>
              <a:t>Deployment</a:t>
            </a:r>
            <a:endParaRPr b="0" i="0" sz="1400" u="none" cap="none" strike="noStrike">
              <a:solidFill>
                <a:srgbClr val="000000"/>
              </a:solidFill>
              <a:latin typeface="Arial"/>
              <a:ea typeface="Arial"/>
              <a:cs typeface="Arial"/>
              <a:sym typeface="Arial"/>
            </a:endParaRPr>
          </a:p>
        </p:txBody>
      </p:sp>
      <p:sp>
        <p:nvSpPr>
          <p:cNvPr id="199" name="Google Shape;199;g3f692268942_0_7"/>
          <p:cNvSpPr/>
          <p:nvPr/>
        </p:nvSpPr>
        <p:spPr>
          <a:xfrm>
            <a:off x="850000" y="1060000"/>
            <a:ext cx="7443900" cy="660000"/>
          </a:xfrm>
          <a:prstGeom prst="roundRect">
            <a:avLst>
              <a:gd fmla="val 6000" name="adj"/>
            </a:avLst>
          </a:prstGeom>
          <a:solidFill>
            <a:srgbClr val="EDF1F9"/>
          </a:solidFill>
          <a:ln cap="flat" cmpd="sng" w="19050">
            <a:solidFill>
              <a:srgbClr val="1F3864"/>
            </a:solidFill>
            <a:prstDash val="solid"/>
            <a:round/>
            <a:headEnd len="sm" w="sm" type="none"/>
            <a:tailEnd len="sm" w="sm" type="none"/>
          </a:ln>
          <a:effectLst>
            <a:outerShdw blurRad="40000" rotWithShape="0" dir="5400000" dist="18000">
              <a:srgbClr val="000000">
                <a:alpha val="2196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0" name="Google Shape;200;g3f692268942_0_7"/>
          <p:cNvSpPr txBox="1"/>
          <p:nvPr/>
        </p:nvSpPr>
        <p:spPr>
          <a:xfrm>
            <a:off x="970000" y="1115000"/>
            <a:ext cx="7203900" cy="57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1F3864"/>
                </a:solidFill>
                <a:latin typeface="Calibri"/>
                <a:ea typeface="Calibri"/>
                <a:cs typeface="Calibri"/>
                <a:sym typeface="Calibri"/>
              </a:rPr>
              <a:t>Baselines  →  Execution-Validated Dataset Extension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200"/>
              </a:spcBef>
              <a:spcAft>
                <a:spcPts val="0"/>
              </a:spcAft>
              <a:buClr>
                <a:srgbClr val="000000"/>
              </a:buClr>
              <a:buSzPts val="1100"/>
              <a:buFont typeface="Arial"/>
              <a:buNone/>
            </a:pPr>
            <a:r>
              <a:rPr b="0" i="0" lang="en-US" sz="1100" u="none" cap="none" strike="noStrike">
                <a:solidFill>
                  <a:srgbClr val="44546A"/>
                </a:solidFill>
                <a:latin typeface="Calibri"/>
                <a:ea typeface="Calibri"/>
                <a:cs typeface="Calibri"/>
                <a:sym typeface="Calibri"/>
              </a:rPr>
              <a:t>Qwen2.5-Coder (1.5B / 7B) zero-shot  •  HumanEval + MBPP + HumanEval-X merged into complete NL + Python + Java triplets</a:t>
            </a:r>
            <a:endParaRPr b="0" i="0" sz="1400" u="none" cap="none" strike="noStrike">
              <a:solidFill>
                <a:srgbClr val="000000"/>
              </a:solidFill>
              <a:latin typeface="Arial"/>
              <a:ea typeface="Arial"/>
              <a:cs typeface="Arial"/>
              <a:sym typeface="Arial"/>
            </a:endParaRPr>
          </a:p>
        </p:txBody>
      </p:sp>
      <p:cxnSp>
        <p:nvCxnSpPr>
          <p:cNvPr id="201" name="Google Shape;201;g3f692268942_0_7"/>
          <p:cNvCxnSpPr/>
          <p:nvPr/>
        </p:nvCxnSpPr>
        <p:spPr>
          <a:xfrm>
            <a:off x="4572000" y="1720000"/>
            <a:ext cx="0" cy="150000"/>
          </a:xfrm>
          <a:prstGeom prst="straightConnector1">
            <a:avLst/>
          </a:prstGeom>
          <a:noFill/>
          <a:ln cap="flat" cmpd="sng" w="22225">
            <a:solidFill>
              <a:srgbClr val="7F8FA6"/>
            </a:solidFill>
            <a:prstDash val="solid"/>
            <a:round/>
            <a:headEnd len="sm" w="sm" type="none"/>
            <a:tailEnd len="sm" w="sm" type="none"/>
          </a:ln>
        </p:spPr>
      </p:cxnSp>
      <p:cxnSp>
        <p:nvCxnSpPr>
          <p:cNvPr id="202" name="Google Shape;202;g3f692268942_0_7"/>
          <p:cNvCxnSpPr/>
          <p:nvPr/>
        </p:nvCxnSpPr>
        <p:spPr>
          <a:xfrm flipH="1">
            <a:off x="2480100" y="1870000"/>
            <a:ext cx="2091900" cy="189900"/>
          </a:xfrm>
          <a:prstGeom prst="straightConnector1">
            <a:avLst/>
          </a:prstGeom>
          <a:noFill/>
          <a:ln cap="flat" cmpd="sng" w="25400">
            <a:solidFill>
              <a:srgbClr val="1E7B34"/>
            </a:solidFill>
            <a:prstDash val="solid"/>
            <a:round/>
            <a:headEnd len="sm" w="sm" type="none"/>
            <a:tailEnd len="med" w="med" type="triangle"/>
          </a:ln>
        </p:spPr>
      </p:cxnSp>
      <p:cxnSp>
        <p:nvCxnSpPr>
          <p:cNvPr id="203" name="Google Shape;203;g3f692268942_0_7"/>
          <p:cNvCxnSpPr/>
          <p:nvPr/>
        </p:nvCxnSpPr>
        <p:spPr>
          <a:xfrm>
            <a:off x="4572000" y="1870000"/>
            <a:ext cx="2091900" cy="189900"/>
          </a:xfrm>
          <a:prstGeom prst="straightConnector1">
            <a:avLst/>
          </a:prstGeom>
          <a:noFill/>
          <a:ln cap="flat" cmpd="sng" w="25400">
            <a:solidFill>
              <a:srgbClr val="B3261E"/>
            </a:solidFill>
            <a:prstDash val="dash"/>
            <a:round/>
            <a:headEnd len="sm" w="sm" type="none"/>
            <a:tailEnd len="med" w="med" type="triangle"/>
          </a:ln>
        </p:spPr>
      </p:cxnSp>
      <p:sp>
        <p:nvSpPr>
          <p:cNvPr id="204" name="Google Shape;204;g3f692268942_0_7"/>
          <p:cNvSpPr/>
          <p:nvPr/>
        </p:nvSpPr>
        <p:spPr>
          <a:xfrm>
            <a:off x="700000" y="2060000"/>
            <a:ext cx="3560100" cy="2060100"/>
          </a:xfrm>
          <a:prstGeom prst="roundRect">
            <a:avLst>
              <a:gd fmla="val 6000" name="adj"/>
            </a:avLst>
          </a:prstGeom>
          <a:solidFill>
            <a:srgbClr val="E7F4EA"/>
          </a:solidFill>
          <a:ln cap="flat" cmpd="sng" w="25400">
            <a:solidFill>
              <a:srgbClr val="1E7B34"/>
            </a:solidFill>
            <a:prstDash val="solid"/>
            <a:round/>
            <a:headEnd len="sm" w="sm" type="none"/>
            <a:tailEnd len="sm" w="sm" type="none"/>
          </a:ln>
          <a:effectLst>
            <a:outerShdw blurRad="40000" rotWithShape="0" dir="5400000" dist="18000">
              <a:srgbClr val="000000">
                <a:alpha val="2196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5" name="Google Shape;205;g3f692268942_0_7"/>
          <p:cNvSpPr txBox="1"/>
          <p:nvPr/>
        </p:nvSpPr>
        <p:spPr>
          <a:xfrm>
            <a:off x="850000" y="2210000"/>
            <a:ext cx="3260100" cy="1760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E7B34"/>
                </a:solidFill>
                <a:latin typeface="Calibri"/>
                <a:ea typeface="Calibri"/>
                <a:cs typeface="Calibri"/>
                <a:sym typeface="Calibri"/>
              </a:rPr>
              <a:t>Phase 3a — QLoRA Fine-Tuning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050"/>
              <a:buFont typeface="Arial"/>
              <a:buNone/>
            </a:pPr>
            <a:r>
              <a:rPr b="0" i="0" lang="en-US" sz="1050" u="none" cap="none" strike="noStrike">
                <a:solidFill>
                  <a:srgbClr val="2B2B2B"/>
                </a:solidFill>
                <a:latin typeface="Calibri"/>
                <a:ea typeface="Calibri"/>
                <a:cs typeface="Calibri"/>
                <a:sym typeface="Calibri"/>
              </a:rPr>
              <a:t>• Low-rank adapters (r=8) on attention + MLP projections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50"/>
              </a:spcBef>
              <a:spcAft>
                <a:spcPts val="0"/>
              </a:spcAft>
              <a:buClr>
                <a:srgbClr val="000000"/>
              </a:buClr>
              <a:buSzPts val="1050"/>
              <a:buFont typeface="Arial"/>
              <a:buNone/>
            </a:pPr>
            <a:r>
              <a:rPr b="0" i="0" lang="en-US" sz="1050" u="none" cap="none" strike="noStrike">
                <a:solidFill>
                  <a:srgbClr val="2B2B2B"/>
                </a:solidFill>
                <a:latin typeface="Calibri"/>
                <a:ea typeface="Calibri"/>
                <a:cs typeface="Calibri"/>
                <a:sym typeface="Calibri"/>
              </a:rPr>
              <a:t>• Trained on 131 examples + MBPP-augmented Java data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50"/>
              </a:spcBef>
              <a:spcAft>
                <a:spcPts val="0"/>
              </a:spcAft>
              <a:buClr>
                <a:srgbClr val="000000"/>
              </a:buClr>
              <a:buSzPts val="1050"/>
              <a:buFont typeface="Arial"/>
              <a:buNone/>
            </a:pPr>
            <a:r>
              <a:rPr b="0" i="0" lang="en-US" sz="1050" u="none" cap="none" strike="noStrike">
                <a:solidFill>
                  <a:srgbClr val="2B2B2B"/>
                </a:solidFill>
                <a:latin typeface="Calibri"/>
                <a:ea typeface="Calibri"/>
                <a:cs typeface="Calibri"/>
                <a:sym typeface="Calibri"/>
              </a:rPr>
              <a:t>• Base weights frozen (4-bit) — only adapters updated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150"/>
              <a:buFont typeface="Arial"/>
              <a:buNone/>
            </a:pPr>
            <a:r>
              <a:rPr b="1" i="0" lang="en-US" sz="1150" u="none" cap="none" strike="noStrike">
                <a:solidFill>
                  <a:srgbClr val="1E7B34"/>
                </a:solidFill>
                <a:latin typeface="Calibri"/>
                <a:ea typeface="Calibri"/>
                <a:cs typeface="Calibri"/>
                <a:sym typeface="Calibri"/>
              </a:rPr>
              <a:t>Consistent gains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50"/>
              </a:spcBef>
              <a:spcAft>
                <a:spcPts val="0"/>
              </a:spcAft>
              <a:buClr>
                <a:srgbClr val="000000"/>
              </a:buClr>
              <a:buSzPts val="1000"/>
              <a:buFont typeface="Arial"/>
              <a:buNone/>
            </a:pPr>
            <a:r>
              <a:rPr b="0" i="1" lang="en-US" sz="1000" u="none" cap="none" strike="noStrike">
                <a:solidFill>
                  <a:srgbClr val="3C6B47"/>
                </a:solidFill>
                <a:latin typeface="Calibri"/>
                <a:ea typeface="Calibri"/>
                <a:cs typeface="Calibri"/>
                <a:sym typeface="Calibri"/>
              </a:rPr>
              <a:t>NL→Java +0.12   •   Code→NL +0.18   •   Py→Java +0.03</a:t>
            </a:r>
            <a:endParaRPr b="0" i="0" sz="1400" u="none" cap="none" strike="noStrike">
              <a:solidFill>
                <a:srgbClr val="000000"/>
              </a:solidFill>
              <a:latin typeface="Arial"/>
              <a:ea typeface="Arial"/>
              <a:cs typeface="Arial"/>
              <a:sym typeface="Arial"/>
            </a:endParaRPr>
          </a:p>
        </p:txBody>
      </p:sp>
      <p:sp>
        <p:nvSpPr>
          <p:cNvPr id="206" name="Google Shape;206;g3f692268942_0_7"/>
          <p:cNvSpPr/>
          <p:nvPr/>
        </p:nvSpPr>
        <p:spPr>
          <a:xfrm>
            <a:off x="4090000" y="1890000"/>
            <a:ext cx="339900" cy="339900"/>
          </a:xfrm>
          <a:prstGeom prst="ellipse">
            <a:avLst/>
          </a:prstGeom>
          <a:solidFill>
            <a:srgbClr val="1E7B34"/>
          </a:solidFill>
          <a:ln>
            <a:noFill/>
          </a:ln>
          <a:effectLst>
            <a:outerShdw blurRad="30000" rotWithShape="0" dir="5400000" dist="15000">
              <a:srgbClr val="000000">
                <a:alpha val="27840"/>
              </a:srgbClr>
            </a:outerShdw>
          </a:effectLst>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Calibri"/>
                <a:ea typeface="Calibri"/>
                <a:cs typeface="Calibri"/>
                <a:sym typeface="Calibri"/>
              </a:rPr>
              <a:t>✓</a:t>
            </a:r>
            <a:endParaRPr/>
          </a:p>
        </p:txBody>
      </p:sp>
      <p:sp>
        <p:nvSpPr>
          <p:cNvPr id="207" name="Google Shape;207;g3f692268942_0_7"/>
          <p:cNvSpPr/>
          <p:nvPr/>
        </p:nvSpPr>
        <p:spPr>
          <a:xfrm>
            <a:off x="4884000" y="2060000"/>
            <a:ext cx="3560100" cy="2060100"/>
          </a:xfrm>
          <a:prstGeom prst="roundRect">
            <a:avLst>
              <a:gd fmla="val 6000" name="adj"/>
            </a:avLst>
          </a:prstGeom>
          <a:solidFill>
            <a:srgbClr val="FBEAE9"/>
          </a:solidFill>
          <a:ln cap="flat" cmpd="sng" w="25400">
            <a:solidFill>
              <a:srgbClr val="B3261E"/>
            </a:solidFill>
            <a:prstDash val="solid"/>
            <a:round/>
            <a:headEnd len="sm" w="sm" type="none"/>
            <a:tailEnd len="sm" w="sm" type="none"/>
          </a:ln>
          <a:effectLst>
            <a:outerShdw blurRad="40000" rotWithShape="0" dir="5400000" dist="18000">
              <a:srgbClr val="000000">
                <a:alpha val="2196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8" name="Google Shape;208;g3f692268942_0_7"/>
          <p:cNvSpPr txBox="1"/>
          <p:nvPr/>
        </p:nvSpPr>
        <p:spPr>
          <a:xfrm>
            <a:off x="5034000" y="2210000"/>
            <a:ext cx="3260100" cy="1760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B3261E"/>
                </a:solidFill>
                <a:latin typeface="Calibri"/>
                <a:ea typeface="Calibri"/>
                <a:cs typeface="Calibri"/>
                <a:sym typeface="Calibri"/>
              </a:rPr>
              <a:t>Phase 3b — RAG (Retrieval-Augmented Gen.)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050"/>
              <a:buFont typeface="Arial"/>
              <a:buNone/>
            </a:pPr>
            <a:r>
              <a:rPr b="0" i="0" lang="en-US" sz="1050" u="none" cap="none" strike="noStrike">
                <a:solidFill>
                  <a:srgbClr val="2B2B2B"/>
                </a:solidFill>
                <a:latin typeface="Calibri"/>
                <a:ea typeface="Calibri"/>
                <a:cs typeface="Calibri"/>
                <a:sym typeface="Calibri"/>
              </a:rPr>
              <a:t>• FAISS retrieval over ~380 validated examples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50"/>
              </a:spcBef>
              <a:spcAft>
                <a:spcPts val="0"/>
              </a:spcAft>
              <a:buClr>
                <a:srgbClr val="000000"/>
              </a:buClr>
              <a:buSzPts val="1050"/>
              <a:buFont typeface="Arial"/>
              <a:buNone/>
            </a:pPr>
            <a:r>
              <a:rPr b="0" i="0" lang="en-US" sz="1050" u="none" cap="none" strike="noStrike">
                <a:solidFill>
                  <a:srgbClr val="2B2B2B"/>
                </a:solidFill>
                <a:latin typeface="Calibri"/>
                <a:ea typeface="Calibri"/>
                <a:cs typeface="Calibri"/>
                <a:sym typeface="Calibri"/>
              </a:rPr>
              <a:t>• K=1 few-shot context injected at inference only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50"/>
              </a:spcBef>
              <a:spcAft>
                <a:spcPts val="0"/>
              </a:spcAft>
              <a:buClr>
                <a:srgbClr val="000000"/>
              </a:buClr>
              <a:buSzPts val="1050"/>
              <a:buFont typeface="Arial"/>
              <a:buNone/>
            </a:pPr>
            <a:r>
              <a:rPr b="0" i="0" lang="en-US" sz="1050" u="none" cap="none" strike="noStrike">
                <a:solidFill>
                  <a:srgbClr val="2B2B2B"/>
                </a:solidFill>
                <a:latin typeface="Calibri"/>
                <a:ea typeface="Calibri"/>
                <a:cs typeface="Calibri"/>
                <a:sym typeface="Calibri"/>
              </a:rPr>
              <a:t>• No weight updates — layered on the fine-tuned model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150"/>
              <a:buFont typeface="Arial"/>
              <a:buNone/>
            </a:pPr>
            <a:r>
              <a:rPr b="1" i="0" lang="en-US" sz="1150" u="none" cap="none" strike="noStrike">
                <a:solidFill>
                  <a:srgbClr val="B3261E"/>
                </a:solidFill>
                <a:latin typeface="Calibri"/>
                <a:ea typeface="Calibri"/>
                <a:cs typeface="Calibri"/>
                <a:sym typeface="Calibri"/>
              </a:rPr>
              <a:t>Inconsistent / regressive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50"/>
              </a:spcBef>
              <a:spcAft>
                <a:spcPts val="0"/>
              </a:spcAft>
              <a:buClr>
                <a:srgbClr val="000000"/>
              </a:buClr>
              <a:buSzPts val="1000"/>
              <a:buFont typeface="Arial"/>
              <a:buNone/>
            </a:pPr>
            <a:r>
              <a:rPr i="1" lang="en-US" sz="1000">
                <a:solidFill>
                  <a:srgbClr val="8C3B34"/>
                </a:solidFill>
                <a:latin typeface="Calibri"/>
                <a:ea typeface="Calibri"/>
                <a:cs typeface="Calibri"/>
                <a:sym typeface="Calibri"/>
              </a:rPr>
              <a:t>slight gain on NL -&gt; Java</a:t>
            </a:r>
            <a:r>
              <a:rPr b="0" i="1" lang="en-US" sz="1000" u="none" cap="none" strike="noStrike">
                <a:solidFill>
                  <a:srgbClr val="8C3B34"/>
                </a:solidFill>
                <a:latin typeface="Calibri"/>
                <a:ea typeface="Calibri"/>
                <a:cs typeface="Calibri"/>
                <a:sym typeface="Calibri"/>
              </a:rPr>
              <a:t>  •   marginal gain on Code→NL</a:t>
            </a:r>
            <a:endParaRPr b="0" i="0" sz="1400" u="none" cap="none" strike="noStrike">
              <a:solidFill>
                <a:srgbClr val="000000"/>
              </a:solidFill>
              <a:latin typeface="Arial"/>
              <a:ea typeface="Arial"/>
              <a:cs typeface="Arial"/>
              <a:sym typeface="Arial"/>
            </a:endParaRPr>
          </a:p>
        </p:txBody>
      </p:sp>
      <p:sp>
        <p:nvSpPr>
          <p:cNvPr id="209" name="Google Shape;209;g3f692268942_0_7"/>
          <p:cNvSpPr/>
          <p:nvPr/>
        </p:nvSpPr>
        <p:spPr>
          <a:xfrm>
            <a:off x="8274000" y="1890000"/>
            <a:ext cx="339900" cy="339900"/>
          </a:xfrm>
          <a:prstGeom prst="ellipse">
            <a:avLst/>
          </a:prstGeom>
          <a:solidFill>
            <a:srgbClr val="B3261E"/>
          </a:solidFill>
          <a:ln>
            <a:noFill/>
          </a:ln>
          <a:effectLst>
            <a:outerShdw blurRad="30000" rotWithShape="0" dir="5400000" dist="15000">
              <a:srgbClr val="000000">
                <a:alpha val="27840"/>
              </a:srgbClr>
            </a:outerShdw>
          </a:effectLst>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Calibri"/>
                <a:ea typeface="Calibri"/>
                <a:cs typeface="Calibri"/>
                <a:sym typeface="Calibri"/>
              </a:rPr>
              <a:t>✗</a:t>
            </a:r>
            <a:endParaRPr/>
          </a:p>
        </p:txBody>
      </p:sp>
      <p:cxnSp>
        <p:nvCxnSpPr>
          <p:cNvPr id="210" name="Google Shape;210;g3f692268942_0_7"/>
          <p:cNvCxnSpPr/>
          <p:nvPr/>
        </p:nvCxnSpPr>
        <p:spPr>
          <a:xfrm>
            <a:off x="2480000" y="4120000"/>
            <a:ext cx="2091900" cy="620100"/>
          </a:xfrm>
          <a:prstGeom prst="straightConnector1">
            <a:avLst/>
          </a:prstGeom>
          <a:noFill/>
          <a:ln cap="flat" cmpd="sng" w="28575">
            <a:solidFill>
              <a:srgbClr val="1E7B34"/>
            </a:solidFill>
            <a:prstDash val="solid"/>
            <a:round/>
            <a:headEnd len="sm" w="sm" type="none"/>
            <a:tailEnd len="med" w="med" type="triangle"/>
          </a:ln>
        </p:spPr>
      </p:cxnSp>
      <p:sp>
        <p:nvSpPr>
          <p:cNvPr id="211" name="Google Shape;211;g3f692268942_0_7"/>
          <p:cNvSpPr txBox="1"/>
          <p:nvPr/>
        </p:nvSpPr>
        <p:spPr>
          <a:xfrm>
            <a:off x="1780000" y="4290000"/>
            <a:ext cx="900000" cy="26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50"/>
              <a:buFont typeface="Arial"/>
              <a:buNone/>
            </a:pPr>
            <a:r>
              <a:rPr b="1" i="0" lang="en-US" sz="1050" u="none" cap="none" strike="noStrike">
                <a:solidFill>
                  <a:srgbClr val="1E7B34"/>
                </a:solidFill>
                <a:latin typeface="Calibri"/>
                <a:ea typeface="Calibri"/>
                <a:cs typeface="Calibri"/>
                <a:sym typeface="Calibri"/>
              </a:rPr>
              <a:t>Selected</a:t>
            </a:r>
            <a:endParaRPr b="0" i="0" sz="1400" u="none" cap="none" strike="noStrike">
              <a:solidFill>
                <a:srgbClr val="000000"/>
              </a:solidFill>
              <a:latin typeface="Arial"/>
              <a:ea typeface="Arial"/>
              <a:cs typeface="Arial"/>
              <a:sym typeface="Arial"/>
            </a:endParaRPr>
          </a:p>
        </p:txBody>
      </p:sp>
      <p:cxnSp>
        <p:nvCxnSpPr>
          <p:cNvPr id="212" name="Google Shape;212;g3f692268942_0_7"/>
          <p:cNvCxnSpPr/>
          <p:nvPr/>
        </p:nvCxnSpPr>
        <p:spPr>
          <a:xfrm>
            <a:off x="6664000" y="4120000"/>
            <a:ext cx="0" cy="399900"/>
          </a:xfrm>
          <a:prstGeom prst="straightConnector1">
            <a:avLst/>
          </a:prstGeom>
          <a:noFill/>
          <a:ln cap="flat" cmpd="sng" w="22225">
            <a:solidFill>
              <a:srgbClr val="9B9B9B"/>
            </a:solidFill>
            <a:prstDash val="dash"/>
            <a:round/>
            <a:headEnd len="sm" w="sm" type="none"/>
            <a:tailEnd len="sm" w="sm" type="none"/>
          </a:ln>
        </p:spPr>
      </p:cxnSp>
      <p:sp>
        <p:nvSpPr>
          <p:cNvPr id="213" name="Google Shape;213;g3f692268942_0_7"/>
          <p:cNvSpPr/>
          <p:nvPr/>
        </p:nvSpPr>
        <p:spPr>
          <a:xfrm>
            <a:off x="6549000" y="4405000"/>
            <a:ext cx="230100" cy="230100"/>
          </a:xfrm>
          <a:prstGeom prst="ellipse">
            <a:avLst/>
          </a:prstGeom>
          <a:solidFill>
            <a:srgbClr val="B3261E"/>
          </a:solidFill>
          <a:ln>
            <a:noFill/>
          </a:ln>
          <a:effectLst>
            <a:outerShdw blurRad="30000" rotWithShape="0" dir="5400000" dist="15000">
              <a:srgbClr val="000000">
                <a:alpha val="27840"/>
              </a:srgbClr>
            </a:outerShdw>
          </a:effectLst>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Calibri"/>
                <a:ea typeface="Calibri"/>
                <a:cs typeface="Calibri"/>
                <a:sym typeface="Calibri"/>
              </a:rPr>
              <a:t>✗</a:t>
            </a:r>
            <a:endParaRPr/>
          </a:p>
        </p:txBody>
      </p:sp>
      <p:sp>
        <p:nvSpPr>
          <p:cNvPr id="214" name="Google Shape;214;g3f692268942_0_7"/>
          <p:cNvSpPr txBox="1"/>
          <p:nvPr/>
        </p:nvSpPr>
        <p:spPr>
          <a:xfrm>
            <a:off x="5964000" y="4670000"/>
            <a:ext cx="1400100" cy="26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1" lang="en-US" sz="1000" u="none" cap="none" strike="noStrike">
                <a:solidFill>
                  <a:srgbClr val="B3261E"/>
                </a:solidFill>
                <a:latin typeface="Calibri"/>
                <a:ea typeface="Calibri"/>
                <a:cs typeface="Calibri"/>
                <a:sym typeface="Calibri"/>
              </a:rPr>
              <a:t>Not deployed</a:t>
            </a:r>
            <a:endParaRPr b="0" i="0" sz="1400" u="none" cap="none" strike="noStrike">
              <a:solidFill>
                <a:srgbClr val="000000"/>
              </a:solidFill>
              <a:latin typeface="Arial"/>
              <a:ea typeface="Arial"/>
              <a:cs typeface="Arial"/>
              <a:sym typeface="Arial"/>
            </a:endParaRPr>
          </a:p>
        </p:txBody>
      </p:sp>
      <p:sp>
        <p:nvSpPr>
          <p:cNvPr id="215" name="Google Shape;215;g3f692268942_0_7"/>
          <p:cNvSpPr/>
          <p:nvPr/>
        </p:nvSpPr>
        <p:spPr>
          <a:xfrm>
            <a:off x="1050000" y="4740000"/>
            <a:ext cx="7044000" cy="819900"/>
          </a:xfrm>
          <a:prstGeom prst="roundRect">
            <a:avLst>
              <a:gd fmla="val 6000" name="adj"/>
            </a:avLst>
          </a:prstGeom>
          <a:solidFill>
            <a:srgbClr val="1F3864"/>
          </a:solidFill>
          <a:ln cap="flat" cmpd="sng" w="12700">
            <a:solidFill>
              <a:srgbClr val="1F3864"/>
            </a:solidFill>
            <a:prstDash val="solid"/>
            <a:round/>
            <a:headEnd len="sm" w="sm" type="none"/>
            <a:tailEnd len="sm" w="sm" type="none"/>
          </a:ln>
          <a:effectLst>
            <a:outerShdw blurRad="40000" rotWithShape="0" dir="5400000" dist="18000">
              <a:srgbClr val="000000">
                <a:alpha val="2196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6" name="Google Shape;216;g3f692268942_0_7"/>
          <p:cNvSpPr txBox="1"/>
          <p:nvPr/>
        </p:nvSpPr>
        <p:spPr>
          <a:xfrm>
            <a:off x="1200000" y="4830000"/>
            <a:ext cx="6744000" cy="639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FFFFFF"/>
                </a:solidFill>
                <a:latin typeface="Calibri"/>
                <a:ea typeface="Calibri"/>
                <a:cs typeface="Calibri"/>
                <a:sym typeface="Calibri"/>
              </a:rPr>
              <a:t>Final System Deployed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250"/>
              </a:spcBef>
              <a:spcAft>
                <a:spcPts val="0"/>
              </a:spcAft>
              <a:buClr>
                <a:srgbClr val="000000"/>
              </a:buClr>
              <a:buSzPts val="1150"/>
              <a:buFont typeface="Arial"/>
              <a:buNone/>
            </a:pPr>
            <a:r>
              <a:rPr b="1" i="0" lang="en-US" sz="1150" u="none" cap="none" strike="noStrike">
                <a:solidFill>
                  <a:srgbClr val="CADCFC"/>
                </a:solidFill>
                <a:latin typeface="Calibri"/>
                <a:ea typeface="Calibri"/>
                <a:cs typeface="Calibri"/>
                <a:sym typeface="Calibri"/>
              </a:rPr>
              <a:t>QLoRA Fine-Tuned Qwen2.5-Coder-1.5B-Instruct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150"/>
              </a:spcBef>
              <a:spcAft>
                <a:spcPts val="0"/>
              </a:spcAft>
              <a:buClr>
                <a:srgbClr val="000000"/>
              </a:buClr>
              <a:buSzPts val="1050"/>
              <a:buFont typeface="Arial"/>
              <a:buNone/>
            </a:pPr>
            <a:r>
              <a:rPr b="0" i="0" lang="en-US" sz="1050" u="none" cap="none" strike="noStrike">
                <a:solidFill>
                  <a:srgbClr val="CADCFC"/>
                </a:solidFill>
                <a:latin typeface="Calibri"/>
                <a:ea typeface="Calibri"/>
                <a:cs typeface="Calibri"/>
                <a:sym typeface="Calibri"/>
              </a:rPr>
              <a:t>NL→Python  •  NL→Java  •  Python→Java  •  Code→NL   —   interactive Gradio app</a:t>
            </a:r>
            <a:endParaRPr b="0" i="0" sz="1400" u="none" cap="none" strike="noStrike">
              <a:solidFill>
                <a:srgbClr val="000000"/>
              </a:solidFill>
              <a:latin typeface="Arial"/>
              <a:ea typeface="Arial"/>
              <a:cs typeface="Arial"/>
              <a:sym typeface="Arial"/>
            </a:endParaRPr>
          </a:p>
        </p:txBody>
      </p:sp>
      <p:sp>
        <p:nvSpPr>
          <p:cNvPr id="217" name="Google Shape;217;g3f692268942_0_7"/>
          <p:cNvSpPr txBox="1"/>
          <p:nvPr/>
        </p:nvSpPr>
        <p:spPr>
          <a:xfrm>
            <a:off x="850000" y="5780000"/>
            <a:ext cx="74439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1E7B34"/>
                </a:solidFill>
                <a:latin typeface="Calibri"/>
                <a:ea typeface="Calibri"/>
                <a:cs typeface="Calibri"/>
                <a:sym typeface="Calibri"/>
              </a:rPr>
              <a:t>● </a:t>
            </a:r>
            <a:r>
              <a:rPr b="0" i="0" lang="en-US" sz="1100" u="none" cap="none" strike="noStrike">
                <a:solidFill>
                  <a:srgbClr val="2B2B2B"/>
                </a:solidFill>
                <a:latin typeface="Calibri"/>
                <a:ea typeface="Calibri"/>
                <a:cs typeface="Calibri"/>
                <a:sym typeface="Calibri"/>
              </a:rPr>
              <a:t>Adopted for the final system</a:t>
            </a:r>
            <a:r>
              <a:rPr b="1" i="0" lang="en-US" sz="1100" u="none" cap="none" strike="noStrike">
                <a:solidFill>
                  <a:srgbClr val="B3261E"/>
                </a:solidFill>
                <a:latin typeface="Calibri"/>
                <a:ea typeface="Calibri"/>
                <a:cs typeface="Calibri"/>
                <a:sym typeface="Calibri"/>
              </a:rPr>
              <a:t>        ✗ </a:t>
            </a:r>
            <a:r>
              <a:rPr b="0" i="0" lang="en-US" sz="1100" u="none" cap="none" strike="noStrike">
                <a:solidFill>
                  <a:srgbClr val="2B2B2B"/>
                </a:solidFill>
                <a:latin typeface="Calibri"/>
                <a:ea typeface="Calibri"/>
                <a:cs typeface="Calibri"/>
                <a:sym typeface="Calibri"/>
              </a:rPr>
              <a:t>Explored, not used in the final system</a:t>
            </a:r>
            <a:endParaRPr b="0" i="0" sz="1400" u="none" cap="none" strike="noStrike">
              <a:solidFill>
                <a:srgbClr val="000000"/>
              </a:solidFill>
              <a:latin typeface="Arial"/>
              <a:ea typeface="Arial"/>
              <a:cs typeface="Arial"/>
              <a:sym typeface="Arial"/>
            </a:endParaRPr>
          </a:p>
        </p:txBody>
      </p:sp>
      <p:cxnSp>
        <p:nvCxnSpPr>
          <p:cNvPr id="218" name="Google Shape;218;g3f692268942_0_7"/>
          <p:cNvCxnSpPr/>
          <p:nvPr/>
        </p:nvCxnSpPr>
        <p:spPr>
          <a:xfrm>
            <a:off x="4244200" y="3040805"/>
            <a:ext cx="634200" cy="0"/>
          </a:xfrm>
          <a:prstGeom prst="straightConnector1">
            <a:avLst/>
          </a:prstGeom>
          <a:noFill/>
          <a:ln cap="flat" cmpd="sng" w="25400">
            <a:solidFill>
              <a:srgbClr val="B3261E"/>
            </a:solidFill>
            <a:prstDash val="solid"/>
            <a:round/>
            <a:headEnd len="sm" w="sm" type="none"/>
            <a:tailEnd len="med" w="med" type="triangl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pic>
        <p:nvPicPr>
          <p:cNvPr id="223" name="Google Shape;223;g3f675f124a4_0_2"/>
          <p:cNvPicPr preferRelativeResize="0"/>
          <p:nvPr/>
        </p:nvPicPr>
        <p:blipFill>
          <a:blip r:embed="rId3">
            <a:alphaModFix/>
          </a:blip>
          <a:stretch>
            <a:fillRect/>
          </a:stretch>
        </p:blipFill>
        <p:spPr>
          <a:xfrm>
            <a:off x="152392" y="1187892"/>
            <a:ext cx="8839200" cy="4694525"/>
          </a:xfrm>
          <a:prstGeom prst="rect">
            <a:avLst/>
          </a:prstGeom>
          <a:noFill/>
          <a:ln>
            <a:noFill/>
          </a:ln>
        </p:spPr>
      </p:pic>
      <p:sp>
        <p:nvSpPr>
          <p:cNvPr id="224" name="Google Shape;224;g3f675f124a4_0_2"/>
          <p:cNvSpPr/>
          <p:nvPr/>
        </p:nvSpPr>
        <p:spPr>
          <a:xfrm>
            <a:off x="0" y="274320"/>
            <a:ext cx="9144000" cy="731400"/>
          </a:xfrm>
          <a:prstGeom prst="rect">
            <a:avLst/>
          </a:prstGeom>
          <a:solidFill>
            <a:srgbClr val="1F3864"/>
          </a:solidFill>
          <a:ln cap="flat" cmpd="sng" w="9525">
            <a:solidFill>
              <a:srgbClr val="1F386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800">
                <a:solidFill>
                  <a:srgbClr val="FFFFFF"/>
                </a:solidFill>
                <a:latin typeface="Calibri"/>
                <a:ea typeface="Calibri"/>
                <a:cs typeface="Calibri"/>
                <a:sym typeface="Calibri"/>
              </a:rPr>
              <a:t>Demo:</a:t>
            </a:r>
            <a:r>
              <a:rPr b="1" lang="en-US" sz="2800">
                <a:solidFill>
                  <a:srgbClr val="FFFFFF"/>
                </a:solidFill>
                <a:latin typeface="Calibri"/>
                <a:ea typeface="Calibri"/>
                <a:cs typeface="Calibri"/>
                <a:sym typeface="Calibri"/>
              </a:rPr>
              <a:t>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pic>
        <p:nvPicPr>
          <p:cNvPr id="229" name="Google Shape;229;g3f675f124a4_0_9"/>
          <p:cNvPicPr preferRelativeResize="0"/>
          <p:nvPr/>
        </p:nvPicPr>
        <p:blipFill>
          <a:blip r:embed="rId3">
            <a:alphaModFix/>
          </a:blip>
          <a:stretch>
            <a:fillRect/>
          </a:stretch>
        </p:blipFill>
        <p:spPr>
          <a:xfrm>
            <a:off x="152400" y="726325"/>
            <a:ext cx="8839200" cy="48035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g3f3d7bbd08a_0_19"/>
          <p:cNvSpPr/>
          <p:nvPr/>
        </p:nvSpPr>
        <p:spPr>
          <a:xfrm>
            <a:off x="0" y="3276170"/>
            <a:ext cx="9144000" cy="731400"/>
          </a:xfrm>
          <a:prstGeom prst="rect">
            <a:avLst/>
          </a:prstGeom>
          <a:solidFill>
            <a:srgbClr val="1F3864"/>
          </a:solidFill>
          <a:ln cap="flat" cmpd="sng" w="9525">
            <a:solidFill>
              <a:srgbClr val="1F386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457200" lvl="0" marL="3200400" marR="0" rtl="0" algn="l">
              <a:spcBef>
                <a:spcPts val="0"/>
              </a:spcBef>
              <a:spcAft>
                <a:spcPts val="0"/>
              </a:spcAft>
              <a:buNone/>
            </a:pPr>
            <a:r>
              <a:rPr b="1" lang="en-US" sz="2800">
                <a:solidFill>
                  <a:srgbClr val="FFFFFF"/>
                </a:solidFill>
                <a:latin typeface="Calibri"/>
                <a:ea typeface="Calibri"/>
                <a:cs typeface="Calibri"/>
                <a:sym typeface="Calibri"/>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