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57" r:id="rId13"/>
    <p:sldId id="267" r:id="rId14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2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8F5CFF"/>
            </a:solidFill>
            <a:ln w="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BLEU</c:v>
                </c:pt>
                <c:pt idx="1">
                  <c:v>CodeBLEU</c:v>
                </c:pt>
                <c:pt idx="2">
                  <c:v>Exact</c:v>
                </c:pt>
                <c:pt idx="3">
                  <c:v>Syntax</c:v>
                </c:pt>
                <c:pt idx="4">
                  <c:v>AST</c:v>
                </c:pt>
                <c:pt idx="5">
                  <c:v>Compile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27.51</c:v>
                </c:pt>
                <c:pt idx="1">
                  <c:v>36.270000000000003</c:v>
                </c:pt>
                <c:pt idx="2">
                  <c:v>0</c:v>
                </c:pt>
                <c:pt idx="3">
                  <c:v>0</c:v>
                </c:pt>
                <c:pt idx="4">
                  <c:v>84.03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Fine-tuned</c:v>
                </c:pt>
              </c:strCache>
            </c:strRef>
          </c:tx>
          <c:spPr>
            <a:solidFill>
              <a:srgbClr val="00E38C"/>
            </a:solidFill>
            <a:ln w="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BLEU</c:v>
                </c:pt>
                <c:pt idx="1">
                  <c:v>CodeBLEU</c:v>
                </c:pt>
                <c:pt idx="2">
                  <c:v>Exact</c:v>
                </c:pt>
                <c:pt idx="3">
                  <c:v>Syntax</c:v>
                </c:pt>
                <c:pt idx="4">
                  <c:v>AST</c:v>
                </c:pt>
                <c:pt idx="5">
                  <c:v>Compile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6"/>
                <c:pt idx="0">
                  <c:v>83.28</c:v>
                </c:pt>
                <c:pt idx="1">
                  <c:v>73.760000000000005</c:v>
                </c:pt>
                <c:pt idx="2">
                  <c:v>40</c:v>
                </c:pt>
                <c:pt idx="3">
                  <c:v>92</c:v>
                </c:pt>
                <c:pt idx="4">
                  <c:v>98.17</c:v>
                </c:pt>
                <c:pt idx="5">
                  <c:v>92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57100352"/>
        <c:axId val="1157097088"/>
      </c:barChart>
      <c:catAx>
        <c:axId val="11571003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800" b="0" u="none" strike="noStrike">
                <a:solidFill>
                  <a:srgbClr val="B6C6E3"/>
                </a:solidFill>
                <a:uFillTx/>
                <a:latin typeface="Aptos"/>
              </a:defRPr>
            </a:pPr>
            <a:endParaRPr lang="en-US"/>
          </a:p>
        </c:txPr>
        <c:crossAx val="1157097088"/>
        <c:crosses val="autoZero"/>
        <c:auto val="1"/>
        <c:lblAlgn val="ctr"/>
        <c:lblOffset val="100"/>
        <c:noMultiLvlLbl val="0"/>
      </c:catAx>
      <c:valAx>
        <c:axId val="1157097088"/>
        <c:scaling>
          <c:orientation val="minMax"/>
          <c:max val="100"/>
          <c:min val="0"/>
        </c:scaling>
        <c:delete val="0"/>
        <c:axPos val="l"/>
        <c:majorGridlines>
          <c:spPr>
            <a:ln w="12600">
              <a:solidFill>
                <a:srgbClr val="29374D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800" b="0" u="none" strike="noStrike">
                <a:solidFill>
                  <a:srgbClr val="B6C6E3"/>
                </a:solidFill>
                <a:uFillTx/>
                <a:latin typeface="Aptos"/>
              </a:defRPr>
            </a:pPr>
            <a:endParaRPr lang="en-US"/>
          </a:p>
        </c:txPr>
        <c:crossAx val="1157100352"/>
        <c:crosses val="autoZero"/>
        <c:crossBetween val="between"/>
        <c:majorUnit val="25"/>
      </c:valAx>
      <c:spPr>
        <a:noFill/>
        <a:ln w="0">
          <a:noFill/>
        </a:ln>
      </c:spPr>
    </c:plotArea>
    <c:legend>
      <c:legendPos val="b"/>
      <c:layout/>
      <c:overlay val="0"/>
      <c:spPr>
        <a:noFill/>
        <a:ln w="0">
          <a:noFill/>
        </a:ln>
      </c:spPr>
      <c:txPr>
        <a:bodyPr/>
        <a:lstStyle/>
        <a:p>
          <a:pPr>
            <a:defRPr sz="800" b="0" u="none" strike="noStrike">
              <a:solidFill>
                <a:srgbClr val="B6C6E3"/>
              </a:solidFill>
              <a:uFillTx/>
              <a:latin typeface="Aptos"/>
            </a:defRPr>
          </a:pPr>
          <a:endParaRPr lang="en-US"/>
        </a:p>
      </c:txPr>
    </c:legend>
    <c:plotVisOnly val="1"/>
    <c:dispBlanksAs val="span"/>
    <c:showDLblsOverMax val="1"/>
  </c:chart>
  <c:spPr>
    <a:noFill/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9C51704-D221-421A-BD9D-11303DD688C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44258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F6BD09-F533-4580-B406-D9FB3B0C06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11167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8162A8-F77C-4664-9387-A35270718C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33824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1A5D9B-2580-4FC8-A7AF-BFC690FBA5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39150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6E6837-F4C9-47A2-A395-AD725F51A9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130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ABA0F6-0F78-4149-8001-78BF33459F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49612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5F68C3-8C97-4A91-BBC8-D967971CBD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75683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173963-4764-451E-9398-57EE6B36A1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4241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88179B-3228-46BD-A29C-10F6B82EF0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13869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9194B9-421B-4906-9158-D8F1DF0244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02977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ECB7A1-6462-4A65-8036-55088B87F8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77372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ECB7A1-6462-4A65-8036-55088B87F8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324356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80230F-6831-4DE4-A0C6-8EE750D662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781211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EAB091-3A17-4DA7-A3A7-949909BE1E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61519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/mnt/data/a_wide_cinematic_futuristic_tech_background_scen.png"/>
          <p:cNvPicPr/>
          <p:nvPr/>
        </p:nvPicPr>
        <p:blipFill>
          <a:blip r:embed="rId3"/>
          <a:srcRect t="24" b="2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Shape 0"/>
          <p:cNvSpPr/>
          <p:nvPr/>
        </p:nvSpPr>
        <p:spPr>
          <a:xfrm>
            <a:off x="0" y="360"/>
            <a:ext cx="12191400" cy="6857640"/>
          </a:xfrm>
          <a:prstGeom prst="rect">
            <a:avLst/>
          </a:prstGeom>
          <a:solidFill>
            <a:srgbClr val="0A0F1F">
              <a:alpha val="78000"/>
            </a:srgbClr>
          </a:solidFill>
          <a:ln w="12600">
            <a:solidFill>
              <a:srgbClr val="0A0F1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749880" y="65844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dirty="0">
                <a:solidFill>
                  <a:srgbClr val="74FBD1"/>
                </a:solidFill>
                <a:latin typeface="Aptos"/>
              </a:rPr>
              <a:t>CODEGEN</a:t>
            </a:r>
          </a:p>
        </p:txBody>
      </p:sp>
      <p:sp>
        <p:nvSpPr>
          <p:cNvPr id="13" name="Text 2"/>
          <p:cNvSpPr/>
          <p:nvPr/>
        </p:nvSpPr>
        <p:spPr>
          <a:xfrm>
            <a:off x="749880" y="1051560"/>
            <a:ext cx="5961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b="1" dirty="0">
                <a:solidFill>
                  <a:srgbClr val="74FBD1"/>
                </a:solidFill>
                <a:latin typeface="Aptos"/>
              </a:rPr>
              <a:t>Group</a:t>
            </a:r>
            <a:r>
              <a:rPr lang="en-US" b="1" u="none" strike="noStrike" dirty="0" smtClean="0">
                <a:solidFill>
                  <a:srgbClr val="F8FBFF"/>
                </a:solidFill>
                <a:effectLst/>
                <a:uFillTx/>
                <a:latin typeface="Aptos"/>
              </a:rPr>
              <a:t> </a:t>
            </a:r>
            <a:r>
              <a:rPr lang="en-US" b="1" dirty="0">
                <a:solidFill>
                  <a:srgbClr val="74FBD1"/>
                </a:solidFill>
                <a:latin typeface="Aptos"/>
              </a:rPr>
              <a:t>2</a:t>
            </a:r>
          </a:p>
        </p:txBody>
      </p:sp>
      <p:sp>
        <p:nvSpPr>
          <p:cNvPr id="14" name="Text 3"/>
          <p:cNvSpPr/>
          <p:nvPr/>
        </p:nvSpPr>
        <p:spPr>
          <a:xfrm>
            <a:off x="749880" y="1600200"/>
            <a:ext cx="5211720" cy="129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NL → Java → C#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Two‑Stage Code Generation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4"/>
          <p:cNvSpPr/>
          <p:nvPr/>
        </p:nvSpPr>
        <p:spPr>
          <a:xfrm>
            <a:off x="767880" y="3163680"/>
            <a:ext cx="1097280" cy="360"/>
          </a:xfrm>
          <a:prstGeom prst="line">
            <a:avLst/>
          </a:prstGeom>
          <a:ln w="30600">
            <a:solidFill>
              <a:srgbClr val="25D7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768240" y="3429000"/>
            <a:ext cx="47545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 dirty="0" smtClean="0">
                <a:solidFill>
                  <a:srgbClr val="B6C6E3"/>
                </a:solidFill>
                <a:effectLst/>
                <a:uFillTx/>
                <a:latin typeface="Aptos"/>
                <a:ea typeface="Aptos"/>
              </a:rPr>
              <a:t>An experiment </a:t>
            </a:r>
            <a:r>
              <a:rPr lang="en-US" sz="1250" b="0" u="none" strike="noStrike" dirty="0">
                <a:solidFill>
                  <a:srgbClr val="B6C6E3"/>
                </a:solidFill>
                <a:effectLst/>
                <a:uFillTx/>
                <a:latin typeface="Aptos"/>
                <a:ea typeface="Aptos"/>
              </a:rPr>
              <a:t>deck focused on model design, fine‑tuning strategy, evaluation metrics, and </a:t>
            </a:r>
            <a:r>
              <a:rPr lang="en-US" sz="1250" b="0" u="none" strike="noStrike" dirty="0" smtClean="0">
                <a:solidFill>
                  <a:srgbClr val="B6C6E3"/>
                </a:solidFill>
                <a:effectLst/>
                <a:uFillTx/>
                <a:latin typeface="Aptos"/>
                <a:ea typeface="Aptos"/>
              </a:rPr>
              <a:t>results.</a:t>
            </a:r>
            <a:endParaRPr lang="en-US" sz="12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768240" y="5897880"/>
            <a:ext cx="46630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 err="1">
                <a:solidFill>
                  <a:srgbClr val="74FBD1"/>
                </a:solidFill>
                <a:effectLst/>
                <a:uFillTx/>
                <a:latin typeface="Aptos"/>
              </a:rPr>
              <a:t>Swathi</a:t>
            </a:r>
            <a:r>
              <a:rPr lang="en-US" sz="1200" b="1" u="none" strike="noStrike" dirty="0">
                <a:solidFill>
                  <a:srgbClr val="74FBD1"/>
                </a:solidFill>
                <a:effectLst/>
                <a:uFillTx/>
                <a:latin typeface="Aptos"/>
              </a:rPr>
              <a:t>  •  </a:t>
            </a:r>
            <a:r>
              <a:rPr lang="en-US" sz="1200" b="1" u="none" strike="noStrike" dirty="0" err="1">
                <a:solidFill>
                  <a:srgbClr val="74FBD1"/>
                </a:solidFill>
                <a:effectLst/>
                <a:uFillTx/>
                <a:latin typeface="Aptos"/>
              </a:rPr>
              <a:t>Sattwik</a:t>
            </a:r>
            <a:r>
              <a:rPr lang="en-US" sz="1200" b="1" u="none" strike="noStrike" dirty="0">
                <a:solidFill>
                  <a:srgbClr val="74FBD1"/>
                </a:solidFill>
                <a:effectLst/>
                <a:uFillTx/>
                <a:latin typeface="Aptos"/>
              </a:rPr>
              <a:t>  •  </a:t>
            </a:r>
            <a:r>
              <a:rPr lang="en-US" sz="1200" b="1" u="none" strike="noStrike" dirty="0" err="1">
                <a:solidFill>
                  <a:srgbClr val="74FBD1"/>
                </a:solidFill>
                <a:effectLst/>
                <a:uFillTx/>
                <a:latin typeface="Aptos"/>
              </a:rPr>
              <a:t>Shib</a:t>
            </a:r>
            <a:r>
              <a:rPr lang="en-US" sz="1200" b="1" u="none" strike="noStrike" dirty="0">
                <a:solidFill>
                  <a:srgbClr val="74FBD1"/>
                </a:solidFill>
                <a:effectLst/>
                <a:uFillTx/>
                <a:latin typeface="Aptos"/>
              </a:rPr>
              <a:t>  •  </a:t>
            </a:r>
            <a:r>
              <a:rPr lang="en-US" sz="1200" b="1" u="none" strike="noStrike" dirty="0" err="1">
                <a:solidFill>
                  <a:srgbClr val="74FBD1"/>
                </a:solidFill>
                <a:effectLst/>
                <a:uFillTx/>
                <a:latin typeface="Aptos"/>
              </a:rPr>
              <a:t>Dhrub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768240" y="623628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 dirty="0">
                <a:solidFill>
                  <a:srgbClr val="7E8CA6"/>
                </a:solidFill>
                <a:effectLst/>
                <a:uFillTx/>
                <a:latin typeface="Aptos"/>
              </a:rPr>
              <a:t>Base model: Qwen2.5‑Coder‑1.5B Instruct 4‑bit  •  </a:t>
            </a:r>
            <a:r>
              <a:rPr lang="en-US" sz="850" b="0" u="none" strike="noStrike" dirty="0" err="1">
                <a:solidFill>
                  <a:srgbClr val="7E8CA6"/>
                </a:solidFill>
                <a:effectLst/>
                <a:uFillTx/>
                <a:latin typeface="Aptos"/>
              </a:rPr>
              <a:t>LoRA</a:t>
            </a:r>
            <a:r>
              <a:rPr lang="en-US" sz="850" b="0" u="none" strike="noStrike" dirty="0">
                <a:solidFill>
                  <a:srgbClr val="7E8CA6"/>
                </a:solidFill>
                <a:effectLst/>
                <a:uFillTx/>
                <a:latin typeface="Aptos"/>
              </a:rPr>
              <a:t> fine‑tuning  </a:t>
            </a:r>
            <a:endParaRPr lang="en-US" sz="8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0"/>
          <p:cNvSpPr/>
          <p:nvPr/>
        </p:nvSpPr>
        <p:spPr>
          <a:xfrm>
            <a:off x="-134172" y="-360"/>
            <a:ext cx="12191400" cy="6857640"/>
          </a:xfrm>
          <a:prstGeom prst="rect">
            <a:avLst/>
          </a:prstGeom>
          <a:solidFill>
            <a:srgbClr val="0A0F1F"/>
          </a:solidFill>
          <a:ln w="12600">
            <a:solidFill>
              <a:srgbClr val="0A0F1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"/>
          <p:cNvSpPr/>
          <p:nvPr/>
        </p:nvSpPr>
        <p:spPr>
          <a:xfrm>
            <a:off x="-594360" y="5285160"/>
            <a:ext cx="329148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25560">
            <a:solidFill>
              <a:srgbClr val="8F5CFF">
                <a:alpha val="5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"/>
          <p:cNvSpPr/>
          <p:nvPr/>
        </p:nvSpPr>
        <p:spPr>
          <a:xfrm>
            <a:off x="8942760" y="-292680"/>
            <a:ext cx="3748680" cy="2285640"/>
          </a:xfrm>
          <a:prstGeom prst="arc">
            <a:avLst>
              <a:gd name="adj1" fmla="val 16200000"/>
              <a:gd name="adj2" fmla="val 0"/>
            </a:avLst>
          </a:prstGeom>
          <a:noFill/>
          <a:ln w="25560">
            <a:solidFill>
              <a:srgbClr val="25D7FF">
                <a:alpha val="46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"/>
          <p:cNvSpPr/>
          <p:nvPr/>
        </p:nvSpPr>
        <p:spPr>
          <a:xfrm>
            <a:off x="502920" y="647388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750" b="0" u="none" strike="noStrike" dirty="0" err="1" smtClean="0">
                <a:solidFill>
                  <a:srgbClr val="7E8CA6"/>
                </a:solidFill>
                <a:effectLst/>
                <a:uFillTx/>
                <a:latin typeface="Aptos"/>
                <a:ea typeface="Aptos"/>
              </a:rPr>
              <a:t>CodeGen</a:t>
            </a:r>
            <a:r>
              <a:rPr lang="en-US" sz="750" b="0" u="none" strike="noStrike" dirty="0" smtClean="0">
                <a:solidFill>
                  <a:srgbClr val="7E8CA6"/>
                </a:solidFill>
                <a:effectLst/>
                <a:uFillTx/>
                <a:latin typeface="Aptos"/>
                <a:ea typeface="Aptos"/>
              </a:rPr>
              <a:t> Group 2  • Capstone Project Group 6</a:t>
            </a:r>
            <a:endParaRPr lang="en-US" sz="750" dirty="0">
              <a:solidFill>
                <a:srgbClr val="FFFFFF"/>
              </a:solidFill>
            </a:endParaRPr>
          </a:p>
        </p:txBody>
      </p:sp>
      <p:sp>
        <p:nvSpPr>
          <p:cNvPr id="53" name="Shape 4"/>
          <p:cNvSpPr/>
          <p:nvPr/>
        </p:nvSpPr>
        <p:spPr>
          <a:xfrm>
            <a:off x="10744200" y="6565320"/>
            <a:ext cx="914400" cy="360"/>
          </a:xfrm>
          <a:prstGeom prst="line">
            <a:avLst/>
          </a:prstGeom>
          <a:ln w="15120">
            <a:solidFill>
              <a:srgbClr val="25D7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640080" y="39312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74FBD1"/>
                </a:solidFill>
                <a:effectLst/>
                <a:uFillTx/>
                <a:latin typeface="Aptos"/>
              </a:rPr>
              <a:t>PROJECT DESIGN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6"/>
          <p:cNvSpPr/>
          <p:nvPr/>
        </p:nvSpPr>
        <p:spPr>
          <a:xfrm>
            <a:off x="640080" y="713160"/>
            <a:ext cx="7040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The two‑stage architecture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7"/>
          <p:cNvSpPr/>
          <p:nvPr/>
        </p:nvSpPr>
        <p:spPr>
          <a:xfrm>
            <a:off x="640080" y="1334880"/>
            <a:ext cx="822960" cy="360"/>
          </a:xfrm>
          <a:prstGeom prst="line">
            <a:avLst/>
          </a:prstGeom>
          <a:ln w="28080">
            <a:solidFill>
              <a:srgbClr val="25D7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8"/>
          <p:cNvSpPr/>
          <p:nvPr/>
        </p:nvSpPr>
        <p:spPr>
          <a:xfrm>
            <a:off x="3840480" y="420480"/>
            <a:ext cx="529920" cy="72720"/>
          </a:xfrm>
          <a:prstGeom prst="rect">
            <a:avLst/>
          </a:prstGeom>
          <a:solidFill>
            <a:srgbClr val="25D7FF"/>
          </a:solidFill>
          <a:ln w="12600">
            <a:solidFill>
              <a:srgbClr val="24324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9"/>
          <p:cNvSpPr/>
          <p:nvPr/>
        </p:nvSpPr>
        <p:spPr>
          <a:xfrm>
            <a:off x="4480560" y="420480"/>
            <a:ext cx="529920" cy="72720"/>
          </a:xfrm>
          <a:prstGeom prst="rect">
            <a:avLst/>
          </a:prstGeom>
          <a:solidFill>
            <a:srgbClr val="24324C">
              <a:alpha val="90000"/>
            </a:srgbClr>
          </a:solidFill>
          <a:ln w="12600">
            <a:solidFill>
              <a:srgbClr val="24324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0"/>
          <p:cNvSpPr/>
          <p:nvPr/>
        </p:nvSpPr>
        <p:spPr>
          <a:xfrm>
            <a:off x="5120640" y="420480"/>
            <a:ext cx="529920" cy="72720"/>
          </a:xfrm>
          <a:prstGeom prst="rect">
            <a:avLst/>
          </a:prstGeom>
          <a:solidFill>
            <a:srgbClr val="24324C">
              <a:alpha val="90000"/>
            </a:srgbClr>
          </a:solidFill>
          <a:ln w="12600">
            <a:solidFill>
              <a:srgbClr val="24324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1"/>
          <p:cNvSpPr/>
          <p:nvPr/>
        </p:nvSpPr>
        <p:spPr>
          <a:xfrm>
            <a:off x="658440" y="1481400"/>
            <a:ext cx="109540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1230" b="0" u="none" strike="noStrike" dirty="0" smtClean="0">
                <a:solidFill>
                  <a:srgbClr val="B6C6E3"/>
                </a:solidFill>
                <a:effectLst/>
                <a:uFillTx/>
                <a:latin typeface="Aptos"/>
                <a:ea typeface="Aptos"/>
              </a:rPr>
              <a:t>The model was trained to support the complete pipeline: Natural Language → Java → C#, generating Java code from a user prompt and also translating </a:t>
            </a:r>
            <a:r>
              <a:rPr lang="en-US" sz="1230" dirty="0">
                <a:solidFill>
                  <a:srgbClr val="B6C6E3"/>
                </a:solidFill>
                <a:latin typeface="Aptos"/>
                <a:ea typeface="Aptos"/>
              </a:rPr>
              <a:t>J</a:t>
            </a:r>
            <a:r>
              <a:rPr lang="en-US" sz="1230" b="0" u="none" strike="noStrike" dirty="0" smtClean="0">
                <a:solidFill>
                  <a:srgbClr val="B6C6E3"/>
                </a:solidFill>
                <a:effectLst/>
                <a:uFillTx/>
                <a:latin typeface="Aptos"/>
                <a:ea typeface="Aptos"/>
              </a:rPr>
              <a:t>ava code into C# code.</a:t>
            </a:r>
            <a:endParaRPr lang="en-US" sz="12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2"/>
          <p:cNvSpPr/>
          <p:nvPr/>
        </p:nvSpPr>
        <p:spPr>
          <a:xfrm>
            <a:off x="2697480" y="3200400"/>
            <a:ext cx="960120" cy="360"/>
          </a:xfrm>
          <a:prstGeom prst="line">
            <a:avLst/>
          </a:prstGeom>
          <a:ln w="23040">
            <a:solidFill>
              <a:srgbClr val="25D7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3"/>
          <p:cNvSpPr/>
          <p:nvPr/>
        </p:nvSpPr>
        <p:spPr>
          <a:xfrm>
            <a:off x="5687280" y="3200400"/>
            <a:ext cx="960120" cy="360"/>
          </a:xfrm>
          <a:prstGeom prst="line">
            <a:avLst/>
          </a:prstGeom>
          <a:ln w="23040">
            <a:solidFill>
              <a:srgbClr val="00E38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4"/>
          <p:cNvSpPr/>
          <p:nvPr/>
        </p:nvSpPr>
        <p:spPr>
          <a:xfrm>
            <a:off x="8686800" y="3200400"/>
            <a:ext cx="960120" cy="360"/>
          </a:xfrm>
          <a:prstGeom prst="line">
            <a:avLst/>
          </a:prstGeom>
          <a:ln w="23040">
            <a:solidFill>
              <a:srgbClr val="8F5C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5"/>
          <p:cNvSpPr/>
          <p:nvPr/>
        </p:nvSpPr>
        <p:spPr>
          <a:xfrm>
            <a:off x="685800" y="2743200"/>
            <a:ext cx="1965600" cy="914040"/>
          </a:xfrm>
          <a:prstGeom prst="roundRect">
            <a:avLst>
              <a:gd name="adj" fmla="val 8000"/>
            </a:avLst>
          </a:prstGeom>
          <a:solidFill>
            <a:srgbClr val="111B34">
              <a:alpha val="98000"/>
            </a:srgbClr>
          </a:solidFill>
          <a:ln w="14040">
            <a:solidFill>
              <a:srgbClr val="8F5CFF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6"/>
          <p:cNvSpPr/>
          <p:nvPr/>
        </p:nvSpPr>
        <p:spPr>
          <a:xfrm>
            <a:off x="850320" y="2907720"/>
            <a:ext cx="1636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Natural Language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7"/>
          <p:cNvSpPr/>
          <p:nvPr/>
        </p:nvSpPr>
        <p:spPr>
          <a:xfrm>
            <a:off x="850320" y="3264480"/>
            <a:ext cx="16365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Human intent / task prompt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8"/>
          <p:cNvSpPr/>
          <p:nvPr/>
        </p:nvSpPr>
        <p:spPr>
          <a:xfrm>
            <a:off x="3657600" y="2743200"/>
            <a:ext cx="1965600" cy="914040"/>
          </a:xfrm>
          <a:prstGeom prst="roundRect">
            <a:avLst>
              <a:gd name="adj" fmla="val 8000"/>
            </a:avLst>
          </a:prstGeom>
          <a:solidFill>
            <a:srgbClr val="111B34">
              <a:alpha val="98000"/>
            </a:srgbClr>
          </a:solidFill>
          <a:ln w="14040">
            <a:solidFill>
              <a:srgbClr val="25D7FF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9"/>
          <p:cNvSpPr/>
          <p:nvPr/>
        </p:nvSpPr>
        <p:spPr>
          <a:xfrm>
            <a:off x="3822120" y="2907720"/>
            <a:ext cx="1636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Stage 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0"/>
          <p:cNvSpPr/>
          <p:nvPr/>
        </p:nvSpPr>
        <p:spPr>
          <a:xfrm>
            <a:off x="3822120" y="3264480"/>
            <a:ext cx="16365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 dirty="0">
                <a:solidFill>
                  <a:srgbClr val="B6C6E3"/>
                </a:solidFill>
                <a:effectLst/>
                <a:uFillTx/>
                <a:latin typeface="Aptos"/>
              </a:rPr>
              <a:t>NL → </a:t>
            </a:r>
            <a:r>
              <a:rPr lang="en-US" sz="850" b="0" u="none" strike="noStrike" dirty="0" smtClean="0">
                <a:solidFill>
                  <a:srgbClr val="B6C6E3"/>
                </a:solidFill>
                <a:effectLst/>
                <a:uFillTx/>
                <a:latin typeface="Aptos"/>
              </a:rPr>
              <a:t>Java</a:t>
            </a:r>
            <a:endParaRPr lang="en-US" sz="8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1"/>
          <p:cNvSpPr/>
          <p:nvPr/>
        </p:nvSpPr>
        <p:spPr>
          <a:xfrm>
            <a:off x="6647760" y="2743200"/>
            <a:ext cx="1965600" cy="914040"/>
          </a:xfrm>
          <a:prstGeom prst="roundRect">
            <a:avLst>
              <a:gd name="adj" fmla="val 8000"/>
            </a:avLst>
          </a:prstGeom>
          <a:solidFill>
            <a:srgbClr val="111B34">
              <a:alpha val="98000"/>
            </a:srgbClr>
          </a:solidFill>
          <a:ln w="14040">
            <a:solidFill>
              <a:srgbClr val="00E38C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2"/>
          <p:cNvSpPr/>
          <p:nvPr/>
        </p:nvSpPr>
        <p:spPr>
          <a:xfrm>
            <a:off x="6812280" y="2907720"/>
            <a:ext cx="1636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Stage 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3"/>
          <p:cNvSpPr/>
          <p:nvPr/>
        </p:nvSpPr>
        <p:spPr>
          <a:xfrm>
            <a:off x="6812280" y="3264480"/>
            <a:ext cx="16365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 dirty="0">
                <a:solidFill>
                  <a:srgbClr val="B6C6E3"/>
                </a:solidFill>
                <a:effectLst/>
                <a:uFillTx/>
                <a:latin typeface="Aptos"/>
              </a:rPr>
              <a:t>Java → C</a:t>
            </a:r>
            <a:r>
              <a:rPr lang="en-US" sz="850" b="0" u="none" strike="noStrike" dirty="0" smtClean="0">
                <a:solidFill>
                  <a:srgbClr val="B6C6E3"/>
                </a:solidFill>
                <a:effectLst/>
                <a:uFillTx/>
                <a:latin typeface="Aptos"/>
              </a:rPr>
              <a:t>#</a:t>
            </a:r>
            <a:endParaRPr lang="en-US" sz="8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4"/>
          <p:cNvSpPr/>
          <p:nvPr/>
        </p:nvSpPr>
        <p:spPr>
          <a:xfrm>
            <a:off x="9646920" y="2743200"/>
            <a:ext cx="1965600" cy="914040"/>
          </a:xfrm>
          <a:prstGeom prst="roundRect">
            <a:avLst>
              <a:gd name="adj" fmla="val 8000"/>
            </a:avLst>
          </a:prstGeom>
          <a:solidFill>
            <a:srgbClr val="111B34">
              <a:alpha val="98000"/>
            </a:srgbClr>
          </a:solidFill>
          <a:ln w="14040">
            <a:solidFill>
              <a:srgbClr val="FFE26E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5"/>
          <p:cNvSpPr/>
          <p:nvPr/>
        </p:nvSpPr>
        <p:spPr>
          <a:xfrm>
            <a:off x="9811440" y="2907720"/>
            <a:ext cx="1636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Final Output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6"/>
          <p:cNvSpPr/>
          <p:nvPr/>
        </p:nvSpPr>
        <p:spPr>
          <a:xfrm>
            <a:off x="9811440" y="3264480"/>
            <a:ext cx="16365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 dirty="0" smtClean="0">
                <a:solidFill>
                  <a:srgbClr val="B6C6E3"/>
                </a:solidFill>
                <a:effectLst/>
                <a:uFillTx/>
                <a:latin typeface="Aptos"/>
              </a:rPr>
              <a:t>Runnable Code</a:t>
            </a:r>
            <a:endParaRPr lang="en-US" sz="8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7"/>
          <p:cNvSpPr/>
          <p:nvPr/>
        </p:nvSpPr>
        <p:spPr>
          <a:xfrm>
            <a:off x="749880" y="4370760"/>
            <a:ext cx="5211720" cy="1051200"/>
          </a:xfrm>
          <a:prstGeom prst="roundRect">
            <a:avLst>
              <a:gd name="adj" fmla="val 6957"/>
            </a:avLst>
          </a:prstGeom>
          <a:solidFill>
            <a:srgbClr val="0D1B2F">
              <a:alpha val="98000"/>
            </a:srgbClr>
          </a:solidFill>
          <a:ln w="10080">
            <a:solidFill>
              <a:srgbClr val="25D7FF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8"/>
          <p:cNvSpPr/>
          <p:nvPr/>
        </p:nvSpPr>
        <p:spPr>
          <a:xfrm>
            <a:off x="978480" y="453528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100" b="1" u="none" strike="noStrike" dirty="0" smtClean="0">
                <a:solidFill>
                  <a:srgbClr val="25D7FF"/>
                </a:solidFill>
                <a:effectLst/>
                <a:uFillTx/>
                <a:latin typeface="Aptos"/>
              </a:rPr>
              <a:t>Project Overview</a:t>
            </a:r>
            <a:endParaRPr lang="en-US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9"/>
          <p:cNvSpPr/>
          <p:nvPr/>
        </p:nvSpPr>
        <p:spPr>
          <a:xfrm>
            <a:off x="978480" y="485532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9999"/>
          </a:bodyPr>
          <a:lstStyle/>
          <a:p>
            <a:pPr>
              <a:tabLst>
                <a:tab pos="0" algn="l"/>
              </a:tabLst>
            </a:pPr>
            <a:r>
              <a:rPr lang="en-US" sz="1030" b="0" u="none" strike="noStrike" dirty="0" smtClean="0">
                <a:solidFill>
                  <a:srgbClr val="B6C6E3"/>
                </a:solidFill>
                <a:effectLst/>
                <a:uFillTx/>
                <a:latin typeface="Aptos"/>
              </a:rPr>
              <a:t>The project focuses on two distinct tasks: Natural Language → Java code generation and Java → C# code translation. The model was trained and evaluated separately for each task.</a:t>
            </a:r>
            <a:endParaRPr lang="en-US" sz="10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30"/>
          <p:cNvSpPr/>
          <p:nvPr/>
        </p:nvSpPr>
        <p:spPr>
          <a:xfrm>
            <a:off x="6263640" y="4370760"/>
            <a:ext cx="5211720" cy="1051200"/>
          </a:xfrm>
          <a:prstGeom prst="roundRect">
            <a:avLst>
              <a:gd name="adj" fmla="val 6957"/>
            </a:avLst>
          </a:prstGeom>
          <a:solidFill>
            <a:srgbClr val="0D1B2F">
              <a:alpha val="98000"/>
            </a:srgbClr>
          </a:solidFill>
          <a:ln w="10080">
            <a:solidFill>
              <a:srgbClr val="00E38C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31"/>
          <p:cNvSpPr/>
          <p:nvPr/>
        </p:nvSpPr>
        <p:spPr>
          <a:xfrm>
            <a:off x="6492240" y="453528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E38C"/>
                </a:solidFill>
                <a:effectLst/>
                <a:uFillTx/>
                <a:latin typeface="Aptos"/>
              </a:rPr>
              <a:t>Experiment backbone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2"/>
          <p:cNvSpPr/>
          <p:nvPr/>
        </p:nvSpPr>
        <p:spPr>
          <a:xfrm>
            <a:off x="6492240" y="485532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1030" b="0" u="none" strike="noStrike" dirty="0" smtClean="0">
                <a:solidFill>
                  <a:srgbClr val="B6C6E3"/>
                </a:solidFill>
                <a:effectLst/>
                <a:uFillTx/>
                <a:latin typeface="Aptos"/>
              </a:rPr>
              <a:t>The 1.5B base model was first trained for Natural Language → Java using </a:t>
            </a:r>
            <a:r>
              <a:rPr lang="en-US" sz="1030" b="0" u="none" strike="noStrike" dirty="0" err="1" smtClean="0">
                <a:solidFill>
                  <a:srgbClr val="B6C6E3"/>
                </a:solidFill>
                <a:effectLst/>
                <a:uFillTx/>
                <a:latin typeface="Aptos"/>
              </a:rPr>
              <a:t>LoRa</a:t>
            </a:r>
            <a:r>
              <a:rPr lang="en-US" sz="1030" b="0" u="none" strike="noStrike" dirty="0" smtClean="0">
                <a:solidFill>
                  <a:srgbClr val="B6C6E3"/>
                </a:solidFill>
                <a:effectLst/>
                <a:uFillTx/>
                <a:latin typeface="Aptos"/>
              </a:rPr>
              <a:t>, and the resulting trained model was then further trained for Java → C# using </a:t>
            </a:r>
            <a:r>
              <a:rPr lang="en-US" sz="1030" b="0" u="none" strike="noStrike" dirty="0" err="1" smtClean="0">
                <a:solidFill>
                  <a:srgbClr val="B6C6E3"/>
                </a:solidFill>
                <a:effectLst/>
                <a:uFillTx/>
                <a:latin typeface="Aptos"/>
              </a:rPr>
              <a:t>LoRa</a:t>
            </a:r>
            <a:r>
              <a:rPr lang="en-US" sz="1030" b="0" u="none" strike="noStrike" dirty="0" smtClean="0">
                <a:solidFill>
                  <a:srgbClr val="B6C6E3"/>
                </a:solidFill>
                <a:effectLst/>
                <a:uFillTx/>
                <a:latin typeface="Aptos"/>
              </a:rPr>
              <a:t>.</a:t>
            </a:r>
            <a:endParaRPr lang="en-US" sz="10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9144" y="-55224"/>
            <a:ext cx="12191400" cy="6857640"/>
          </a:xfrm>
          <a:prstGeom prst="rect">
            <a:avLst/>
          </a:prstGeom>
          <a:solidFill>
            <a:srgbClr val="0A0F1F"/>
          </a:solidFill>
          <a:ln w="12600">
            <a:solidFill>
              <a:srgbClr val="0A0F1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"/>
          <p:cNvSpPr/>
          <p:nvPr/>
        </p:nvSpPr>
        <p:spPr>
          <a:xfrm>
            <a:off x="-594360" y="5285160"/>
            <a:ext cx="329148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25560">
            <a:solidFill>
              <a:srgbClr val="8F5CFF">
                <a:alpha val="5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"/>
          <p:cNvSpPr/>
          <p:nvPr/>
        </p:nvSpPr>
        <p:spPr>
          <a:xfrm>
            <a:off x="8942760" y="-292680"/>
            <a:ext cx="3748680" cy="2285640"/>
          </a:xfrm>
          <a:prstGeom prst="arc">
            <a:avLst>
              <a:gd name="adj1" fmla="val 16200000"/>
              <a:gd name="adj2" fmla="val 0"/>
            </a:avLst>
          </a:prstGeom>
          <a:noFill/>
          <a:ln w="25560">
            <a:solidFill>
              <a:srgbClr val="25D7FF">
                <a:alpha val="46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502920" y="647388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750" b="0" u="none" strike="noStrike" dirty="0" err="1" smtClean="0">
                <a:solidFill>
                  <a:srgbClr val="7E8CA6"/>
                </a:solidFill>
                <a:effectLst/>
                <a:uFillTx/>
                <a:latin typeface="Aptos"/>
                <a:ea typeface="Aptos"/>
              </a:rPr>
              <a:t>CodeGen</a:t>
            </a:r>
            <a:r>
              <a:rPr lang="en-US" sz="750" b="0" u="none" strike="noStrike" dirty="0" smtClean="0">
                <a:solidFill>
                  <a:srgbClr val="7E8CA6"/>
                </a:solidFill>
                <a:effectLst/>
                <a:uFillTx/>
                <a:latin typeface="Aptos"/>
                <a:ea typeface="Aptos"/>
              </a:rPr>
              <a:t> Group 2  • Capstone Project Group 6</a:t>
            </a:r>
            <a:endParaRPr lang="en-US" sz="750" dirty="0">
              <a:solidFill>
                <a:srgbClr val="FFFFFF"/>
              </a:solidFill>
            </a:endParaRPr>
          </a:p>
        </p:txBody>
      </p:sp>
      <p:sp>
        <p:nvSpPr>
          <p:cNvPr id="86" name="Shape 4"/>
          <p:cNvSpPr/>
          <p:nvPr/>
        </p:nvSpPr>
        <p:spPr>
          <a:xfrm>
            <a:off x="10744200" y="6565320"/>
            <a:ext cx="914400" cy="360"/>
          </a:xfrm>
          <a:prstGeom prst="line">
            <a:avLst/>
          </a:prstGeom>
          <a:ln w="15120">
            <a:solidFill>
              <a:srgbClr val="25D7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5"/>
          <p:cNvSpPr/>
          <p:nvPr/>
        </p:nvSpPr>
        <p:spPr>
          <a:xfrm>
            <a:off x="640080" y="39312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74FBD1"/>
                </a:solidFill>
                <a:effectLst/>
                <a:uFillTx/>
                <a:latin typeface="Aptos"/>
              </a:rPr>
              <a:t>MODEL &amp; ENVIRONMENT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640080" y="713160"/>
            <a:ext cx="7040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Experimental setup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7"/>
          <p:cNvSpPr/>
          <p:nvPr/>
        </p:nvSpPr>
        <p:spPr>
          <a:xfrm>
            <a:off x="640080" y="1334880"/>
            <a:ext cx="822960" cy="360"/>
          </a:xfrm>
          <a:prstGeom prst="line">
            <a:avLst/>
          </a:prstGeom>
          <a:ln w="28080">
            <a:solidFill>
              <a:srgbClr val="25D7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8"/>
          <p:cNvSpPr/>
          <p:nvPr/>
        </p:nvSpPr>
        <p:spPr>
          <a:xfrm>
            <a:off x="3840480" y="420480"/>
            <a:ext cx="529920" cy="72720"/>
          </a:xfrm>
          <a:prstGeom prst="rect">
            <a:avLst/>
          </a:prstGeom>
          <a:solidFill>
            <a:srgbClr val="25D7FF"/>
          </a:solidFill>
          <a:ln w="12600">
            <a:solidFill>
              <a:srgbClr val="24324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9"/>
          <p:cNvSpPr/>
          <p:nvPr/>
        </p:nvSpPr>
        <p:spPr>
          <a:xfrm>
            <a:off x="4480560" y="420480"/>
            <a:ext cx="529920" cy="72720"/>
          </a:xfrm>
          <a:prstGeom prst="rect">
            <a:avLst/>
          </a:prstGeom>
          <a:solidFill>
            <a:srgbClr val="25D7FF"/>
          </a:solidFill>
          <a:ln w="12600">
            <a:solidFill>
              <a:srgbClr val="24324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0"/>
          <p:cNvSpPr/>
          <p:nvPr/>
        </p:nvSpPr>
        <p:spPr>
          <a:xfrm>
            <a:off x="5120640" y="420480"/>
            <a:ext cx="529920" cy="72720"/>
          </a:xfrm>
          <a:prstGeom prst="rect">
            <a:avLst/>
          </a:prstGeom>
          <a:solidFill>
            <a:srgbClr val="24324C">
              <a:alpha val="90000"/>
            </a:srgbClr>
          </a:solidFill>
          <a:ln w="12600">
            <a:solidFill>
              <a:srgbClr val="24324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1"/>
          <p:cNvSpPr/>
          <p:nvPr/>
        </p:nvSpPr>
        <p:spPr>
          <a:xfrm>
            <a:off x="640080" y="1508760"/>
            <a:ext cx="3474360" cy="959760"/>
          </a:xfrm>
          <a:prstGeom prst="roundRect">
            <a:avLst>
              <a:gd name="adj" fmla="val 7619"/>
            </a:avLst>
          </a:prstGeom>
          <a:solidFill>
            <a:srgbClr val="0D1B2F">
              <a:alpha val="98000"/>
            </a:srgbClr>
          </a:solidFill>
          <a:ln w="10080">
            <a:solidFill>
              <a:srgbClr val="25D7FF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2"/>
          <p:cNvSpPr/>
          <p:nvPr/>
        </p:nvSpPr>
        <p:spPr>
          <a:xfrm>
            <a:off x="868680" y="1673280"/>
            <a:ext cx="30171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5D7FF"/>
                </a:solidFill>
                <a:effectLst/>
                <a:uFillTx/>
                <a:latin typeface="Aptos"/>
              </a:rPr>
              <a:t>Base model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3"/>
          <p:cNvSpPr/>
          <p:nvPr/>
        </p:nvSpPr>
        <p:spPr>
          <a:xfrm>
            <a:off x="868680" y="199332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unsloth/Qwen2.5‑Coder‑1.5B‑Instruct‑bnb‑4bit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Loaded with 4‑bit quantization for GPU‑efficient fine‑tuning.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4"/>
          <p:cNvSpPr/>
          <p:nvPr/>
        </p:nvSpPr>
        <p:spPr>
          <a:xfrm>
            <a:off x="4343400" y="1508760"/>
            <a:ext cx="3474360" cy="959760"/>
          </a:xfrm>
          <a:prstGeom prst="roundRect">
            <a:avLst>
              <a:gd name="adj" fmla="val 7619"/>
            </a:avLst>
          </a:prstGeom>
          <a:solidFill>
            <a:srgbClr val="0D1B2F">
              <a:alpha val="98000"/>
            </a:srgbClr>
          </a:solidFill>
          <a:ln w="10080">
            <a:solidFill>
              <a:srgbClr val="00E38C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5"/>
          <p:cNvSpPr/>
          <p:nvPr/>
        </p:nvSpPr>
        <p:spPr>
          <a:xfrm>
            <a:off x="4572000" y="1673280"/>
            <a:ext cx="30171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E38C"/>
                </a:solidFill>
                <a:effectLst/>
                <a:uFillTx/>
                <a:latin typeface="Aptos"/>
              </a:rPr>
              <a:t>LoRA configuration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6"/>
          <p:cNvSpPr/>
          <p:nvPr/>
        </p:nvSpPr>
        <p:spPr>
          <a:xfrm>
            <a:off x="4572000" y="199332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r=16, alpha=32, dropout=0.0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18,464,768 trainable parameters out of 1,562,179,072 total.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7"/>
          <p:cNvSpPr/>
          <p:nvPr/>
        </p:nvSpPr>
        <p:spPr>
          <a:xfrm>
            <a:off x="8046720" y="1508760"/>
            <a:ext cx="3474360" cy="959760"/>
          </a:xfrm>
          <a:prstGeom prst="roundRect">
            <a:avLst>
              <a:gd name="adj" fmla="val 7619"/>
            </a:avLst>
          </a:prstGeom>
          <a:solidFill>
            <a:srgbClr val="0D1B2F">
              <a:alpha val="98000"/>
            </a:srgbClr>
          </a:solidFill>
          <a:ln w="10080">
            <a:solidFill>
              <a:srgbClr val="8F5CFF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8"/>
          <p:cNvSpPr/>
          <p:nvPr/>
        </p:nvSpPr>
        <p:spPr>
          <a:xfrm>
            <a:off x="8275320" y="1673280"/>
            <a:ext cx="30171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F5CFF"/>
                </a:solidFill>
                <a:effectLst/>
                <a:uFillTx/>
                <a:latin typeface="Aptos"/>
              </a:rPr>
              <a:t>Training runtime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9"/>
          <p:cNvSpPr/>
          <p:nvPr/>
        </p:nvSpPr>
        <p:spPr>
          <a:xfrm>
            <a:off x="8275320" y="199332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 dirty="0">
                <a:solidFill>
                  <a:srgbClr val="B6C6E3"/>
                </a:solidFill>
                <a:effectLst/>
                <a:uFillTx/>
                <a:latin typeface="Aptos"/>
              </a:rPr>
              <a:t>Single Tesla T4 GPU, fp16 training, </a:t>
            </a:r>
            <a:r>
              <a:rPr lang="en-US" sz="1030" b="0" u="none" strike="noStrike" dirty="0" err="1">
                <a:solidFill>
                  <a:srgbClr val="B6C6E3"/>
                </a:solidFill>
                <a:effectLst/>
                <a:uFillTx/>
                <a:latin typeface="Aptos"/>
              </a:rPr>
              <a:t>Unsloth</a:t>
            </a:r>
            <a:r>
              <a:rPr lang="en-US" sz="1030" b="0" u="none" strike="noStrike" dirty="0">
                <a:solidFill>
                  <a:srgbClr val="B6C6E3"/>
                </a:solidFill>
                <a:effectLst/>
                <a:uFillTx/>
                <a:latin typeface="Aptos"/>
              </a:rPr>
              <a:t> optimization, paged </a:t>
            </a:r>
            <a:r>
              <a:rPr lang="en-US" sz="1030" b="0" u="none" strike="noStrike" dirty="0" err="1">
                <a:solidFill>
                  <a:srgbClr val="B6C6E3"/>
                </a:solidFill>
                <a:effectLst/>
                <a:uFillTx/>
                <a:latin typeface="Aptos"/>
              </a:rPr>
              <a:t>AdamW</a:t>
            </a:r>
            <a:r>
              <a:rPr lang="en-US" sz="1030" b="0" u="none" strike="noStrike" dirty="0">
                <a:solidFill>
                  <a:srgbClr val="B6C6E3"/>
                </a:solidFill>
                <a:effectLst/>
                <a:uFillTx/>
                <a:latin typeface="Aptos"/>
              </a:rPr>
              <a:t> 8‑bit where available.</a:t>
            </a:r>
            <a:endParaRPr lang="en-US" sz="10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0"/>
          <p:cNvSpPr/>
          <p:nvPr/>
        </p:nvSpPr>
        <p:spPr>
          <a:xfrm>
            <a:off x="841320" y="3072384"/>
            <a:ext cx="10469520" cy="1416960"/>
          </a:xfrm>
          <a:prstGeom prst="roundRect">
            <a:avLst>
              <a:gd name="adj" fmla="val 5161"/>
            </a:avLst>
          </a:prstGeom>
          <a:solidFill>
            <a:srgbClr val="081A2F">
              <a:alpha val="96000"/>
            </a:srgbClr>
          </a:solidFill>
          <a:ln w="10080">
            <a:solidFill>
              <a:srgbClr val="26476F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1"/>
          <p:cNvSpPr/>
          <p:nvPr/>
        </p:nvSpPr>
        <p:spPr>
          <a:xfrm>
            <a:off x="1097280" y="3273480"/>
            <a:ext cx="2834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Single source of truth configuration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2"/>
          <p:cNvSpPr/>
          <p:nvPr/>
        </p:nvSpPr>
        <p:spPr>
          <a:xfrm>
            <a:off x="1097280" y="3675960"/>
            <a:ext cx="96922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B6C6E3"/>
                </a:solidFill>
                <a:effectLst/>
                <a:uFillTx/>
                <a:latin typeface="Aptos"/>
              </a:rPr>
              <a:t>CFG fixed seed=3407, max length=2048 for Stage 1, Stage 2 max sequence length=1024, training datasets, sample sizes, output paths, and hub export targets.</a:t>
            </a:r>
            <a:endParaRPr lang="en-US" sz="11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3"/>
          <p:cNvSpPr/>
          <p:nvPr/>
        </p:nvSpPr>
        <p:spPr>
          <a:xfrm>
            <a:off x="960120" y="4983480"/>
            <a:ext cx="2102760" cy="959760"/>
          </a:xfrm>
          <a:prstGeom prst="roundRect">
            <a:avLst>
              <a:gd name="adj" fmla="val 7619"/>
            </a:avLst>
          </a:prstGeom>
          <a:solidFill>
            <a:srgbClr val="111B34">
              <a:alpha val="96000"/>
            </a:srgbClr>
          </a:solidFill>
          <a:ln w="11520">
            <a:solidFill>
              <a:srgbClr val="25D7FF">
                <a:alpha val="6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4"/>
          <p:cNvSpPr/>
          <p:nvPr/>
        </p:nvSpPr>
        <p:spPr>
          <a:xfrm>
            <a:off x="960120" y="4983480"/>
            <a:ext cx="40680" cy="959760"/>
          </a:xfrm>
          <a:prstGeom prst="rect">
            <a:avLst/>
          </a:prstGeom>
          <a:solidFill>
            <a:srgbClr val="25D7FF"/>
          </a:solidFill>
          <a:ln w="12600">
            <a:solidFill>
              <a:srgbClr val="25D7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5"/>
          <p:cNvSpPr/>
          <p:nvPr/>
        </p:nvSpPr>
        <p:spPr>
          <a:xfrm>
            <a:off x="1143000" y="5139000"/>
            <a:ext cx="17827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1.18%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6"/>
          <p:cNvSpPr/>
          <p:nvPr/>
        </p:nvSpPr>
        <p:spPr>
          <a:xfrm>
            <a:off x="1161360" y="5641920"/>
            <a:ext cx="17827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of the model trained by LoRA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7"/>
          <p:cNvSpPr/>
          <p:nvPr/>
        </p:nvSpPr>
        <p:spPr>
          <a:xfrm>
            <a:off x="3319200" y="4983480"/>
            <a:ext cx="2102760" cy="959760"/>
          </a:xfrm>
          <a:prstGeom prst="roundRect">
            <a:avLst>
              <a:gd name="adj" fmla="val 7619"/>
            </a:avLst>
          </a:prstGeom>
          <a:solidFill>
            <a:srgbClr val="111B34">
              <a:alpha val="96000"/>
            </a:srgbClr>
          </a:solidFill>
          <a:ln w="11520">
            <a:solidFill>
              <a:srgbClr val="00E38C">
                <a:alpha val="6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8"/>
          <p:cNvSpPr/>
          <p:nvPr/>
        </p:nvSpPr>
        <p:spPr>
          <a:xfrm>
            <a:off x="3319200" y="4983480"/>
            <a:ext cx="40680" cy="959760"/>
          </a:xfrm>
          <a:prstGeom prst="rect">
            <a:avLst/>
          </a:prstGeom>
          <a:solidFill>
            <a:srgbClr val="00E38C"/>
          </a:solidFill>
          <a:ln w="12600">
            <a:solidFill>
              <a:srgbClr val="00E38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9"/>
          <p:cNvSpPr/>
          <p:nvPr/>
        </p:nvSpPr>
        <p:spPr>
          <a:xfrm>
            <a:off x="3502080" y="5139000"/>
            <a:ext cx="17827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T4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0"/>
          <p:cNvSpPr/>
          <p:nvPr/>
        </p:nvSpPr>
        <p:spPr>
          <a:xfrm>
            <a:off x="3520440" y="5641920"/>
            <a:ext cx="17827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15.6 GB GPU used for training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31"/>
          <p:cNvSpPr/>
          <p:nvPr/>
        </p:nvSpPr>
        <p:spPr>
          <a:xfrm>
            <a:off x="5678280" y="4983480"/>
            <a:ext cx="2102760" cy="959760"/>
          </a:xfrm>
          <a:prstGeom prst="roundRect">
            <a:avLst>
              <a:gd name="adj" fmla="val 7619"/>
            </a:avLst>
          </a:prstGeom>
          <a:solidFill>
            <a:srgbClr val="111B34">
              <a:alpha val="96000"/>
            </a:srgbClr>
          </a:solidFill>
          <a:ln w="11520">
            <a:solidFill>
              <a:srgbClr val="8F5CFF">
                <a:alpha val="6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2"/>
          <p:cNvSpPr/>
          <p:nvPr/>
        </p:nvSpPr>
        <p:spPr>
          <a:xfrm>
            <a:off x="5678280" y="4983480"/>
            <a:ext cx="40680" cy="959760"/>
          </a:xfrm>
          <a:prstGeom prst="rect">
            <a:avLst/>
          </a:prstGeom>
          <a:solidFill>
            <a:srgbClr val="8F5CFF"/>
          </a:solidFill>
          <a:ln w="12600">
            <a:solidFill>
              <a:srgbClr val="8F5C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33"/>
          <p:cNvSpPr/>
          <p:nvPr/>
        </p:nvSpPr>
        <p:spPr>
          <a:xfrm>
            <a:off x="5861160" y="5139000"/>
            <a:ext cx="17827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 smtClean="0">
                <a:solidFill>
                  <a:srgbClr val="F8FBFF"/>
                </a:solidFill>
                <a:effectLst/>
                <a:uFillTx/>
                <a:latin typeface="Aptos"/>
              </a:rPr>
              <a:t>V5</a:t>
            </a:r>
            <a:endParaRPr lang="en-US" sz="2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4"/>
          <p:cNvSpPr/>
          <p:nvPr/>
        </p:nvSpPr>
        <p:spPr>
          <a:xfrm>
            <a:off x="5879520" y="5641920"/>
            <a:ext cx="17827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 dirty="0">
                <a:solidFill>
                  <a:srgbClr val="B6C6E3"/>
                </a:solidFill>
                <a:effectLst/>
                <a:uFillTx/>
                <a:latin typeface="Aptos"/>
              </a:rPr>
              <a:t>final notebook version exported</a:t>
            </a:r>
            <a:endParaRPr lang="en-US" sz="88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35"/>
          <p:cNvSpPr/>
          <p:nvPr/>
        </p:nvSpPr>
        <p:spPr>
          <a:xfrm>
            <a:off x="8037720" y="4983480"/>
            <a:ext cx="2651400" cy="959760"/>
          </a:xfrm>
          <a:prstGeom prst="roundRect">
            <a:avLst>
              <a:gd name="adj" fmla="val 7619"/>
            </a:avLst>
          </a:prstGeom>
          <a:solidFill>
            <a:srgbClr val="111B34">
              <a:alpha val="96000"/>
            </a:srgbClr>
          </a:solidFill>
          <a:ln w="11520">
            <a:solidFill>
              <a:srgbClr val="FFE26E">
                <a:alpha val="6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36"/>
          <p:cNvSpPr/>
          <p:nvPr/>
        </p:nvSpPr>
        <p:spPr>
          <a:xfrm>
            <a:off x="8037720" y="4983480"/>
            <a:ext cx="40680" cy="959760"/>
          </a:xfrm>
          <a:prstGeom prst="rect">
            <a:avLst/>
          </a:prstGeom>
          <a:solidFill>
            <a:srgbClr val="FFE26E"/>
          </a:solidFill>
          <a:ln w="12600">
            <a:solidFill>
              <a:srgbClr val="FFE26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37"/>
          <p:cNvSpPr/>
          <p:nvPr/>
        </p:nvSpPr>
        <p:spPr>
          <a:xfrm>
            <a:off x="8220600" y="5139000"/>
            <a:ext cx="2331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b="1" dirty="0">
                <a:solidFill>
                  <a:srgbClr val="F8FBFF"/>
                </a:solidFill>
                <a:latin typeface="Aptos"/>
              </a:rPr>
              <a:t>Sequential Training</a:t>
            </a:r>
            <a:endParaRPr lang="en-US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8"/>
          <p:cNvSpPr/>
          <p:nvPr/>
        </p:nvSpPr>
        <p:spPr>
          <a:xfrm>
            <a:off x="8238600" y="5641920"/>
            <a:ext cx="24505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880" dirty="0">
                <a:solidFill>
                  <a:srgbClr val="B6C6E3"/>
                </a:solidFill>
                <a:latin typeface="Aptos"/>
              </a:rPr>
              <a:t>NL → Java model further trained for Java → C#</a:t>
            </a:r>
            <a:endParaRPr lang="en-US" sz="88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"/>
          <p:cNvSpPr/>
          <p:nvPr/>
        </p:nvSpPr>
        <p:spPr>
          <a:xfrm>
            <a:off x="-594360" y="5285160"/>
            <a:ext cx="329148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25560">
            <a:solidFill>
              <a:srgbClr val="8F5CFF">
                <a:alpha val="5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"/>
          <p:cNvSpPr/>
          <p:nvPr/>
        </p:nvSpPr>
        <p:spPr>
          <a:xfrm>
            <a:off x="8942760" y="-292680"/>
            <a:ext cx="3748680" cy="2285640"/>
          </a:xfrm>
          <a:prstGeom prst="arc">
            <a:avLst>
              <a:gd name="adj1" fmla="val 16200000"/>
              <a:gd name="adj2" fmla="val 0"/>
            </a:avLst>
          </a:prstGeom>
          <a:noFill/>
          <a:ln w="25560">
            <a:solidFill>
              <a:srgbClr val="25D7FF">
                <a:alpha val="46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"/>
          <p:cNvSpPr/>
          <p:nvPr/>
        </p:nvSpPr>
        <p:spPr>
          <a:xfrm>
            <a:off x="502920" y="647388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750" b="0" u="none" strike="noStrike" dirty="0" err="1" smtClean="0">
                <a:solidFill>
                  <a:srgbClr val="7E8CA6"/>
                </a:solidFill>
                <a:effectLst/>
                <a:uFillTx/>
                <a:latin typeface="Aptos"/>
                <a:ea typeface="Aptos"/>
              </a:rPr>
              <a:t>CodeGen</a:t>
            </a:r>
            <a:r>
              <a:rPr lang="en-US" sz="750" b="0" u="none" strike="noStrike" dirty="0" smtClean="0">
                <a:solidFill>
                  <a:srgbClr val="7E8CA6"/>
                </a:solidFill>
                <a:effectLst/>
                <a:uFillTx/>
                <a:latin typeface="Aptos"/>
                <a:ea typeface="Aptos"/>
              </a:rPr>
              <a:t> Group 2  • Capstone Project Group 6</a:t>
            </a:r>
            <a:endParaRPr lang="en-US" sz="750" dirty="0">
              <a:solidFill>
                <a:srgbClr val="FFFFFF"/>
              </a:solidFill>
            </a:endParaRPr>
          </a:p>
        </p:txBody>
      </p:sp>
      <p:sp>
        <p:nvSpPr>
          <p:cNvPr id="125" name="Shape 4"/>
          <p:cNvSpPr/>
          <p:nvPr/>
        </p:nvSpPr>
        <p:spPr>
          <a:xfrm>
            <a:off x="10744200" y="6565320"/>
            <a:ext cx="914400" cy="360"/>
          </a:xfrm>
          <a:prstGeom prst="line">
            <a:avLst/>
          </a:prstGeom>
          <a:ln w="15120">
            <a:solidFill>
              <a:srgbClr val="25D7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5"/>
          <p:cNvSpPr/>
          <p:nvPr/>
        </p:nvSpPr>
        <p:spPr>
          <a:xfrm>
            <a:off x="640080" y="39312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74FBD1"/>
                </a:solidFill>
                <a:effectLst/>
                <a:uFillTx/>
                <a:latin typeface="Aptos"/>
              </a:rPr>
              <a:t>EXPERIMENT 1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6"/>
          <p:cNvSpPr/>
          <p:nvPr/>
        </p:nvSpPr>
        <p:spPr>
          <a:xfrm>
            <a:off x="640080" y="713160"/>
            <a:ext cx="7040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dirty="0">
                <a:solidFill>
                  <a:srgbClr val="F8FBFF"/>
                </a:solidFill>
                <a:effectLst/>
                <a:uFillTx/>
                <a:latin typeface="Aptos"/>
              </a:rPr>
              <a:t>Stage 1: </a:t>
            </a:r>
            <a:r>
              <a:rPr lang="en-US" sz="2500" b="1" u="none" strike="noStrike" dirty="0" smtClean="0">
                <a:solidFill>
                  <a:srgbClr val="F8FBFF"/>
                </a:solidFill>
                <a:effectLst/>
                <a:uFillTx/>
                <a:latin typeface="Aptos"/>
              </a:rPr>
              <a:t>User intent </a:t>
            </a:r>
            <a:r>
              <a:rPr lang="en-US" sz="2500" b="1" u="none" strike="noStrike" dirty="0">
                <a:solidFill>
                  <a:srgbClr val="F8FBFF"/>
                </a:solidFill>
                <a:effectLst/>
                <a:uFillTx/>
                <a:latin typeface="Aptos"/>
              </a:rPr>
              <a:t>→ Java</a:t>
            </a:r>
            <a:endParaRPr lang="en-US" sz="2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7"/>
          <p:cNvSpPr/>
          <p:nvPr/>
        </p:nvSpPr>
        <p:spPr>
          <a:xfrm>
            <a:off x="640080" y="1334880"/>
            <a:ext cx="822960" cy="360"/>
          </a:xfrm>
          <a:prstGeom prst="line">
            <a:avLst/>
          </a:prstGeom>
          <a:ln w="28080">
            <a:solidFill>
              <a:srgbClr val="25D7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8"/>
          <p:cNvSpPr/>
          <p:nvPr/>
        </p:nvSpPr>
        <p:spPr>
          <a:xfrm>
            <a:off x="3840480" y="420480"/>
            <a:ext cx="529920" cy="72720"/>
          </a:xfrm>
          <a:prstGeom prst="rect">
            <a:avLst/>
          </a:prstGeom>
          <a:solidFill>
            <a:srgbClr val="25D7FF"/>
          </a:solidFill>
          <a:ln w="12600">
            <a:solidFill>
              <a:srgbClr val="24324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9"/>
          <p:cNvSpPr/>
          <p:nvPr/>
        </p:nvSpPr>
        <p:spPr>
          <a:xfrm>
            <a:off x="4480560" y="420480"/>
            <a:ext cx="529920" cy="72720"/>
          </a:xfrm>
          <a:prstGeom prst="rect">
            <a:avLst/>
          </a:prstGeom>
          <a:solidFill>
            <a:srgbClr val="25D7FF"/>
          </a:solidFill>
          <a:ln w="12600">
            <a:solidFill>
              <a:srgbClr val="24324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0"/>
          <p:cNvSpPr/>
          <p:nvPr/>
        </p:nvSpPr>
        <p:spPr>
          <a:xfrm>
            <a:off x="5120640" y="420480"/>
            <a:ext cx="529920" cy="72720"/>
          </a:xfrm>
          <a:prstGeom prst="rect">
            <a:avLst/>
          </a:prstGeom>
          <a:solidFill>
            <a:srgbClr val="24324C">
              <a:alpha val="90000"/>
            </a:srgbClr>
          </a:solidFill>
          <a:ln w="12600">
            <a:solidFill>
              <a:srgbClr val="24324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1"/>
          <p:cNvSpPr/>
          <p:nvPr/>
        </p:nvSpPr>
        <p:spPr>
          <a:xfrm>
            <a:off x="658440" y="1444680"/>
            <a:ext cx="60346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 dirty="0">
                <a:solidFill>
                  <a:srgbClr val="B6C6E3"/>
                </a:solidFill>
                <a:effectLst/>
                <a:uFillTx/>
                <a:latin typeface="Aptos"/>
                <a:ea typeface="Aptos"/>
              </a:rPr>
              <a:t>Stage 1 fine‑tunes the model to turn natural </a:t>
            </a:r>
            <a:r>
              <a:rPr lang="en-US" sz="1220" b="0" u="none" strike="noStrike" dirty="0" smtClean="0">
                <a:solidFill>
                  <a:srgbClr val="B6C6E3"/>
                </a:solidFill>
                <a:effectLst/>
                <a:uFillTx/>
                <a:latin typeface="Aptos"/>
                <a:ea typeface="Aptos"/>
              </a:rPr>
              <a:t>language </a:t>
            </a:r>
            <a:r>
              <a:rPr lang="en-US" sz="1220" b="0" u="none" strike="noStrike" dirty="0">
                <a:solidFill>
                  <a:srgbClr val="B6C6E3"/>
                </a:solidFill>
                <a:effectLst/>
                <a:uFillTx/>
                <a:latin typeface="Aptos"/>
                <a:ea typeface="Aptos"/>
              </a:rPr>
              <a:t>prompts into Java implementations using </a:t>
            </a:r>
            <a:r>
              <a:rPr lang="en-US" sz="1220" b="0" u="none" strike="noStrike" dirty="0" err="1">
                <a:solidFill>
                  <a:srgbClr val="B6C6E3"/>
                </a:solidFill>
                <a:effectLst/>
                <a:uFillTx/>
                <a:latin typeface="Aptos"/>
                <a:ea typeface="Aptos"/>
              </a:rPr>
              <a:t>CodeSearchNet</a:t>
            </a:r>
            <a:r>
              <a:rPr lang="en-US" sz="1220" b="0" u="none" strike="noStrike" dirty="0">
                <a:solidFill>
                  <a:srgbClr val="B6C6E3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220" b="0" u="none" strike="noStrike" dirty="0" err="1" smtClean="0">
                <a:solidFill>
                  <a:srgbClr val="B6C6E3"/>
                </a:solidFill>
                <a:effectLst/>
                <a:uFillTx/>
                <a:latin typeface="Aptos"/>
                <a:ea typeface="Aptos"/>
              </a:rPr>
              <a:t>DataSet</a:t>
            </a:r>
            <a:r>
              <a:rPr lang="en-US" sz="1220" b="0" u="none" strike="noStrike" dirty="0" smtClean="0">
                <a:solidFill>
                  <a:srgbClr val="B6C6E3"/>
                </a:solidFill>
                <a:effectLst/>
                <a:uFillTx/>
                <a:latin typeface="Aptos"/>
                <a:ea typeface="Aptos"/>
              </a:rPr>
              <a:t>.</a:t>
            </a:r>
            <a:endParaRPr lang="en-US" sz="12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2"/>
          <p:cNvSpPr/>
          <p:nvPr/>
        </p:nvSpPr>
        <p:spPr>
          <a:xfrm>
            <a:off x="2331720" y="3126960"/>
            <a:ext cx="731520" cy="360"/>
          </a:xfrm>
          <a:prstGeom prst="line">
            <a:avLst/>
          </a:prstGeom>
          <a:ln w="17640">
            <a:solidFill>
              <a:srgbClr val="25D7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3"/>
          <p:cNvSpPr/>
          <p:nvPr/>
        </p:nvSpPr>
        <p:spPr>
          <a:xfrm>
            <a:off x="4617720" y="3126960"/>
            <a:ext cx="731520" cy="360"/>
          </a:xfrm>
          <a:prstGeom prst="line">
            <a:avLst/>
          </a:prstGeom>
          <a:ln w="17640">
            <a:solidFill>
              <a:srgbClr val="25D7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4"/>
          <p:cNvSpPr/>
          <p:nvPr/>
        </p:nvSpPr>
        <p:spPr>
          <a:xfrm>
            <a:off x="6903720" y="3126960"/>
            <a:ext cx="731520" cy="360"/>
          </a:xfrm>
          <a:prstGeom prst="line">
            <a:avLst/>
          </a:prstGeom>
          <a:ln w="17640">
            <a:solidFill>
              <a:srgbClr val="00E38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5"/>
          <p:cNvSpPr/>
          <p:nvPr/>
        </p:nvSpPr>
        <p:spPr>
          <a:xfrm>
            <a:off x="9189720" y="3126960"/>
            <a:ext cx="731520" cy="360"/>
          </a:xfrm>
          <a:prstGeom prst="line">
            <a:avLst/>
          </a:prstGeom>
          <a:ln w="17640">
            <a:solidFill>
              <a:srgbClr val="00E38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6"/>
          <p:cNvSpPr/>
          <p:nvPr/>
        </p:nvSpPr>
        <p:spPr>
          <a:xfrm>
            <a:off x="777240" y="2743200"/>
            <a:ext cx="1572480" cy="767880"/>
          </a:xfrm>
          <a:prstGeom prst="roundRect">
            <a:avLst>
              <a:gd name="adj" fmla="val 7143"/>
            </a:avLst>
          </a:prstGeom>
          <a:solidFill>
            <a:srgbClr val="0D1B2F">
              <a:alpha val="98000"/>
            </a:srgbClr>
          </a:solidFill>
          <a:ln w="10080">
            <a:solidFill>
              <a:srgbClr val="8F5CFF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7"/>
          <p:cNvSpPr/>
          <p:nvPr/>
        </p:nvSpPr>
        <p:spPr>
          <a:xfrm>
            <a:off x="887040" y="2871360"/>
            <a:ext cx="13528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CodeSearchNet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Java split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8"/>
          <p:cNvSpPr/>
          <p:nvPr/>
        </p:nvSpPr>
        <p:spPr>
          <a:xfrm>
            <a:off x="3063240" y="2743200"/>
            <a:ext cx="1572480" cy="767880"/>
          </a:xfrm>
          <a:prstGeom prst="roundRect">
            <a:avLst>
              <a:gd name="adj" fmla="val 7143"/>
            </a:avLst>
          </a:prstGeom>
          <a:solidFill>
            <a:srgbClr val="0D1B2F">
              <a:alpha val="98000"/>
            </a:srgbClr>
          </a:solidFill>
          <a:ln w="10080">
            <a:solidFill>
              <a:srgbClr val="25D7FF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9"/>
          <p:cNvSpPr/>
          <p:nvPr/>
        </p:nvSpPr>
        <p:spPr>
          <a:xfrm>
            <a:off x="3173040" y="2871360"/>
            <a:ext cx="13528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Prompt builder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+ Java hint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20"/>
          <p:cNvSpPr/>
          <p:nvPr/>
        </p:nvSpPr>
        <p:spPr>
          <a:xfrm>
            <a:off x="5349240" y="2743200"/>
            <a:ext cx="1572480" cy="767880"/>
          </a:xfrm>
          <a:prstGeom prst="roundRect">
            <a:avLst>
              <a:gd name="adj" fmla="val 7143"/>
            </a:avLst>
          </a:prstGeom>
          <a:solidFill>
            <a:srgbClr val="0D1B2F">
              <a:alpha val="98000"/>
            </a:srgbClr>
          </a:solidFill>
          <a:ln w="10080">
            <a:solidFill>
              <a:srgbClr val="58E6FF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1"/>
          <p:cNvSpPr/>
          <p:nvPr/>
        </p:nvSpPr>
        <p:spPr>
          <a:xfrm>
            <a:off x="5459040" y="2871360"/>
            <a:ext cx="13528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5,000 train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samples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22"/>
          <p:cNvSpPr/>
          <p:nvPr/>
        </p:nvSpPr>
        <p:spPr>
          <a:xfrm>
            <a:off x="7635240" y="2743200"/>
            <a:ext cx="1572480" cy="767880"/>
          </a:xfrm>
          <a:prstGeom prst="roundRect">
            <a:avLst>
              <a:gd name="adj" fmla="val 7143"/>
            </a:avLst>
          </a:prstGeom>
          <a:solidFill>
            <a:srgbClr val="0D1B2F">
              <a:alpha val="98000"/>
            </a:srgbClr>
          </a:solidFill>
          <a:ln w="10080">
            <a:solidFill>
              <a:srgbClr val="00E38C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3"/>
          <p:cNvSpPr/>
          <p:nvPr/>
        </p:nvSpPr>
        <p:spPr>
          <a:xfrm>
            <a:off x="7745040" y="2871360"/>
            <a:ext cx="13528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3 epochs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939 steps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24"/>
          <p:cNvSpPr/>
          <p:nvPr/>
        </p:nvSpPr>
        <p:spPr>
          <a:xfrm>
            <a:off x="9921240" y="2743200"/>
            <a:ext cx="1572480" cy="767880"/>
          </a:xfrm>
          <a:prstGeom prst="roundRect">
            <a:avLst>
              <a:gd name="adj" fmla="val 7143"/>
            </a:avLst>
          </a:prstGeom>
          <a:solidFill>
            <a:srgbClr val="0D1B2F">
              <a:alpha val="98000"/>
            </a:srgbClr>
          </a:solidFill>
          <a:ln w="10080">
            <a:solidFill>
              <a:srgbClr val="FFE26E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5"/>
          <p:cNvSpPr/>
          <p:nvPr/>
        </p:nvSpPr>
        <p:spPr>
          <a:xfrm>
            <a:off x="10031040" y="2871360"/>
            <a:ext cx="13528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Stage 1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LoRA adapter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6"/>
          <p:cNvSpPr/>
          <p:nvPr/>
        </p:nvSpPr>
        <p:spPr>
          <a:xfrm>
            <a:off x="804600" y="4526280"/>
            <a:ext cx="2331360" cy="1051200"/>
          </a:xfrm>
          <a:prstGeom prst="roundRect">
            <a:avLst>
              <a:gd name="adj" fmla="val 6957"/>
            </a:avLst>
          </a:prstGeom>
          <a:solidFill>
            <a:srgbClr val="111B34">
              <a:alpha val="96000"/>
            </a:srgbClr>
          </a:solidFill>
          <a:ln w="11520">
            <a:solidFill>
              <a:srgbClr val="8F5CFF">
                <a:alpha val="6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7"/>
          <p:cNvSpPr/>
          <p:nvPr/>
        </p:nvSpPr>
        <p:spPr>
          <a:xfrm>
            <a:off x="804600" y="4526280"/>
            <a:ext cx="40680" cy="1051200"/>
          </a:xfrm>
          <a:prstGeom prst="rect">
            <a:avLst/>
          </a:prstGeom>
          <a:solidFill>
            <a:srgbClr val="8F5CFF"/>
          </a:solidFill>
          <a:ln w="12600">
            <a:solidFill>
              <a:srgbClr val="8F5C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8"/>
          <p:cNvSpPr/>
          <p:nvPr/>
        </p:nvSpPr>
        <p:spPr>
          <a:xfrm>
            <a:off x="987480" y="468180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454,451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9"/>
          <p:cNvSpPr/>
          <p:nvPr/>
        </p:nvSpPr>
        <p:spPr>
          <a:xfrm>
            <a:off x="1005840" y="5184720"/>
            <a:ext cx="20113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raw CodeSearchNet Java examples loaded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30"/>
          <p:cNvSpPr/>
          <p:nvPr/>
        </p:nvSpPr>
        <p:spPr>
          <a:xfrm>
            <a:off x="3401640" y="4526280"/>
            <a:ext cx="2331360" cy="1051200"/>
          </a:xfrm>
          <a:prstGeom prst="roundRect">
            <a:avLst>
              <a:gd name="adj" fmla="val 6957"/>
            </a:avLst>
          </a:prstGeom>
          <a:solidFill>
            <a:srgbClr val="111B34">
              <a:alpha val="96000"/>
            </a:srgbClr>
          </a:solidFill>
          <a:ln w="11520">
            <a:solidFill>
              <a:srgbClr val="25D7FF">
                <a:alpha val="6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31"/>
          <p:cNvSpPr/>
          <p:nvPr/>
        </p:nvSpPr>
        <p:spPr>
          <a:xfrm>
            <a:off x="3401640" y="4526280"/>
            <a:ext cx="40680" cy="1051200"/>
          </a:xfrm>
          <a:prstGeom prst="rect">
            <a:avLst/>
          </a:prstGeom>
          <a:solidFill>
            <a:srgbClr val="25D7FF"/>
          </a:solidFill>
          <a:ln w="12600">
            <a:solidFill>
              <a:srgbClr val="25D7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2"/>
          <p:cNvSpPr/>
          <p:nvPr/>
        </p:nvSpPr>
        <p:spPr>
          <a:xfrm>
            <a:off x="3584520" y="468180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5,000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3"/>
          <p:cNvSpPr/>
          <p:nvPr/>
        </p:nvSpPr>
        <p:spPr>
          <a:xfrm>
            <a:off x="3602880" y="5184720"/>
            <a:ext cx="20113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examples actually used for Stage 1 training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34"/>
          <p:cNvSpPr/>
          <p:nvPr/>
        </p:nvSpPr>
        <p:spPr>
          <a:xfrm>
            <a:off x="5998320" y="4526280"/>
            <a:ext cx="2331360" cy="1051200"/>
          </a:xfrm>
          <a:prstGeom prst="roundRect">
            <a:avLst>
              <a:gd name="adj" fmla="val 6957"/>
            </a:avLst>
          </a:prstGeom>
          <a:solidFill>
            <a:srgbClr val="111B34">
              <a:alpha val="96000"/>
            </a:srgbClr>
          </a:solidFill>
          <a:ln w="11520">
            <a:solidFill>
              <a:srgbClr val="00E38C">
                <a:alpha val="6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35"/>
          <p:cNvSpPr/>
          <p:nvPr/>
        </p:nvSpPr>
        <p:spPr>
          <a:xfrm>
            <a:off x="5998320" y="4526280"/>
            <a:ext cx="40680" cy="1051200"/>
          </a:xfrm>
          <a:prstGeom prst="rect">
            <a:avLst/>
          </a:prstGeom>
          <a:solidFill>
            <a:srgbClr val="00E38C"/>
          </a:solidFill>
          <a:ln w="12600">
            <a:solidFill>
              <a:srgbClr val="00E38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6"/>
          <p:cNvSpPr/>
          <p:nvPr/>
        </p:nvSpPr>
        <p:spPr>
          <a:xfrm>
            <a:off x="6181200" y="468180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1.1421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7"/>
          <p:cNvSpPr/>
          <p:nvPr/>
        </p:nvSpPr>
        <p:spPr>
          <a:xfrm>
            <a:off x="6199560" y="5184720"/>
            <a:ext cx="20113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final Stage 1 training loss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38"/>
          <p:cNvSpPr/>
          <p:nvPr/>
        </p:nvSpPr>
        <p:spPr>
          <a:xfrm>
            <a:off x="8595360" y="4526280"/>
            <a:ext cx="2331360" cy="1051200"/>
          </a:xfrm>
          <a:prstGeom prst="roundRect">
            <a:avLst>
              <a:gd name="adj" fmla="val 6957"/>
            </a:avLst>
          </a:prstGeom>
          <a:solidFill>
            <a:srgbClr val="111B34">
              <a:alpha val="96000"/>
            </a:srgbClr>
          </a:solidFill>
          <a:ln w="11520">
            <a:solidFill>
              <a:srgbClr val="FFE26E">
                <a:alpha val="6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39"/>
          <p:cNvSpPr/>
          <p:nvPr/>
        </p:nvSpPr>
        <p:spPr>
          <a:xfrm>
            <a:off x="8595360" y="4526280"/>
            <a:ext cx="40680" cy="1051200"/>
          </a:xfrm>
          <a:prstGeom prst="rect">
            <a:avLst/>
          </a:prstGeom>
          <a:solidFill>
            <a:srgbClr val="FFE26E"/>
          </a:solidFill>
          <a:ln w="12600">
            <a:solidFill>
              <a:srgbClr val="FFE26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40"/>
          <p:cNvSpPr/>
          <p:nvPr/>
        </p:nvSpPr>
        <p:spPr>
          <a:xfrm>
            <a:off x="8778240" y="468180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39.2 min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41"/>
          <p:cNvSpPr/>
          <p:nvPr/>
        </p:nvSpPr>
        <p:spPr>
          <a:xfrm>
            <a:off x="8796600" y="5184720"/>
            <a:ext cx="20113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Stage 1 train runtime: 2,352.83 seconds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F"/>
          </a:solidFill>
          <a:ln w="12600">
            <a:solidFill>
              <a:srgbClr val="0A0F1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"/>
          <p:cNvSpPr/>
          <p:nvPr/>
        </p:nvSpPr>
        <p:spPr>
          <a:xfrm>
            <a:off x="-594360" y="5285160"/>
            <a:ext cx="329148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25560">
            <a:solidFill>
              <a:srgbClr val="8F5CFF">
                <a:alpha val="5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"/>
          <p:cNvSpPr/>
          <p:nvPr/>
        </p:nvSpPr>
        <p:spPr>
          <a:xfrm>
            <a:off x="8942760" y="-292680"/>
            <a:ext cx="3748680" cy="2285640"/>
          </a:xfrm>
          <a:prstGeom prst="arc">
            <a:avLst>
              <a:gd name="adj1" fmla="val 16200000"/>
              <a:gd name="adj2" fmla="val 0"/>
            </a:avLst>
          </a:prstGeom>
          <a:noFill/>
          <a:ln w="25560">
            <a:solidFill>
              <a:srgbClr val="25D7FF">
                <a:alpha val="46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"/>
          <p:cNvSpPr/>
          <p:nvPr/>
        </p:nvSpPr>
        <p:spPr>
          <a:xfrm>
            <a:off x="502920" y="647388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750" b="0" u="none" strike="noStrike" dirty="0" err="1" smtClean="0">
                <a:solidFill>
                  <a:srgbClr val="7E8CA6"/>
                </a:solidFill>
                <a:effectLst/>
                <a:uFillTx/>
                <a:latin typeface="Aptos"/>
                <a:ea typeface="Aptos"/>
              </a:rPr>
              <a:t>CodeGen</a:t>
            </a:r>
            <a:r>
              <a:rPr lang="en-US" sz="750" b="0" u="none" strike="noStrike" dirty="0" smtClean="0">
                <a:solidFill>
                  <a:srgbClr val="7E8CA6"/>
                </a:solidFill>
                <a:effectLst/>
                <a:uFillTx/>
                <a:latin typeface="Aptos"/>
                <a:ea typeface="Aptos"/>
              </a:rPr>
              <a:t> Group 2  • Capstone Project Group 6</a:t>
            </a:r>
            <a:endParaRPr lang="en-US" sz="750" dirty="0">
              <a:solidFill>
                <a:srgbClr val="FFFFFF"/>
              </a:solidFill>
            </a:endParaRPr>
          </a:p>
        </p:txBody>
      </p:sp>
      <p:sp>
        <p:nvSpPr>
          <p:cNvPr id="167" name="Shape 4"/>
          <p:cNvSpPr/>
          <p:nvPr/>
        </p:nvSpPr>
        <p:spPr>
          <a:xfrm>
            <a:off x="10744200" y="6565320"/>
            <a:ext cx="914400" cy="360"/>
          </a:xfrm>
          <a:prstGeom prst="line">
            <a:avLst/>
          </a:prstGeom>
          <a:ln w="15120">
            <a:solidFill>
              <a:srgbClr val="25D7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5"/>
          <p:cNvSpPr/>
          <p:nvPr/>
        </p:nvSpPr>
        <p:spPr>
          <a:xfrm>
            <a:off x="640080" y="39312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6"/>
          <p:cNvSpPr/>
          <p:nvPr/>
        </p:nvSpPr>
        <p:spPr>
          <a:xfrm>
            <a:off x="640080" y="713160"/>
            <a:ext cx="7040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dirty="0">
                <a:solidFill>
                  <a:srgbClr val="F8FBFF"/>
                </a:solidFill>
                <a:effectLst/>
                <a:uFillTx/>
                <a:latin typeface="Aptos"/>
              </a:rPr>
              <a:t>Stage </a:t>
            </a:r>
            <a:r>
              <a:rPr lang="en-US" sz="2500" b="1" u="none" strike="noStrike" dirty="0" smtClean="0">
                <a:solidFill>
                  <a:srgbClr val="F8FBFF"/>
                </a:solidFill>
                <a:effectLst/>
                <a:uFillTx/>
                <a:latin typeface="Aptos"/>
              </a:rPr>
              <a:t>1 – Output format</a:t>
            </a:r>
            <a:endParaRPr lang="en-US" sz="2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7"/>
          <p:cNvSpPr/>
          <p:nvPr/>
        </p:nvSpPr>
        <p:spPr>
          <a:xfrm>
            <a:off x="640080" y="1334880"/>
            <a:ext cx="822960" cy="360"/>
          </a:xfrm>
          <a:prstGeom prst="line">
            <a:avLst/>
          </a:prstGeom>
          <a:ln w="28080">
            <a:solidFill>
              <a:srgbClr val="25D7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8"/>
          <p:cNvSpPr/>
          <p:nvPr/>
        </p:nvSpPr>
        <p:spPr>
          <a:xfrm>
            <a:off x="713160" y="1371600"/>
            <a:ext cx="10442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9999"/>
          </a:bodyPr>
          <a:lstStyle/>
          <a:p>
            <a:pPr>
              <a:tabLst>
                <a:tab pos="0" algn="l"/>
              </a:tabLst>
            </a:pPr>
            <a:endParaRPr lang="en-US" sz="1220" b="0" u="none" strike="noStrike" dirty="0" smtClean="0">
              <a:solidFill>
                <a:srgbClr val="B6C6E3"/>
              </a:solidFill>
              <a:effectLst/>
              <a:uFillTx/>
              <a:latin typeface="Aptos"/>
              <a:ea typeface="Aptos"/>
            </a:endParaRPr>
          </a:p>
          <a:p>
            <a:pPr>
              <a:tabLst>
                <a:tab pos="0" algn="l"/>
              </a:tabLst>
            </a:pPr>
            <a:r>
              <a:rPr lang="en-US" sz="1220" dirty="0">
                <a:solidFill>
                  <a:srgbClr val="B6C6E3"/>
                </a:solidFill>
                <a:latin typeface="Aptos"/>
                <a:ea typeface="Aptos"/>
              </a:rPr>
              <a:t>T</a:t>
            </a:r>
            <a:r>
              <a:rPr lang="en-US" sz="1220" b="0" u="none" strike="noStrike" dirty="0" smtClean="0">
                <a:solidFill>
                  <a:srgbClr val="B6C6E3"/>
                </a:solidFill>
                <a:effectLst/>
                <a:uFillTx/>
                <a:latin typeface="Aptos"/>
                <a:ea typeface="Aptos"/>
              </a:rPr>
              <a:t>he Stage 1 fine-tuned model produces concise and relevant Java Code, with outputs focused on the required logic and minimal unnecessary content.</a:t>
            </a:r>
            <a:endParaRPr lang="en-US" sz="12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9"/>
          <p:cNvSpPr/>
          <p:nvPr/>
        </p:nvSpPr>
        <p:spPr>
          <a:xfrm>
            <a:off x="713160" y="2148840"/>
            <a:ext cx="5257440" cy="2057040"/>
          </a:xfrm>
          <a:prstGeom prst="roundRect">
            <a:avLst>
              <a:gd name="adj" fmla="val 3111"/>
            </a:avLst>
          </a:prstGeom>
          <a:solidFill>
            <a:srgbClr val="06111F">
              <a:alpha val="98000"/>
            </a:srgbClr>
          </a:solidFill>
          <a:ln w="10080">
            <a:solidFill>
              <a:srgbClr val="00E38C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0"/>
          <p:cNvSpPr/>
          <p:nvPr/>
        </p:nvSpPr>
        <p:spPr>
          <a:xfrm>
            <a:off x="914400" y="2267640"/>
            <a:ext cx="4854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dirty="0" smtClean="0">
                <a:solidFill>
                  <a:srgbClr val="00E38C"/>
                </a:solidFill>
                <a:effectLst/>
                <a:uFillTx/>
                <a:latin typeface="Aptos"/>
              </a:rPr>
              <a:t>Clean method </a:t>
            </a:r>
            <a:r>
              <a:rPr lang="en-US" sz="850" b="1" dirty="0" smtClean="0">
                <a:solidFill>
                  <a:srgbClr val="00E38C"/>
                </a:solidFill>
                <a:latin typeface="Aptos"/>
              </a:rPr>
              <a:t>output</a:t>
            </a:r>
            <a:endParaRPr lang="en-US" sz="8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1"/>
          <p:cNvSpPr/>
          <p:nvPr/>
        </p:nvSpPr>
        <p:spPr>
          <a:xfrm>
            <a:off x="914400" y="2560320"/>
            <a:ext cx="4854960" cy="152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Prompt: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write a function to check if a number is even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Fine-tuned output: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public static </a:t>
            </a:r>
            <a:r>
              <a:rPr lang="en-US" sz="820" b="0" u="none" strike="noStrike" dirty="0" err="1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boolean</a:t>
            </a: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 </a:t>
            </a:r>
            <a:r>
              <a:rPr lang="en-US" sz="820" b="0" u="none" strike="noStrike" dirty="0" err="1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isEven</a:t>
            </a: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(</a:t>
            </a:r>
            <a:r>
              <a:rPr lang="en-US" sz="820" b="0" u="none" strike="noStrike" dirty="0" err="1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int</a:t>
            </a: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 n) {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    return (n &amp; 1) == 0;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}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3"/>
          <p:cNvSpPr/>
          <p:nvPr/>
        </p:nvSpPr>
        <p:spPr>
          <a:xfrm>
            <a:off x="6419160" y="2267640"/>
            <a:ext cx="4854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4"/>
          <p:cNvSpPr/>
          <p:nvPr/>
        </p:nvSpPr>
        <p:spPr>
          <a:xfrm>
            <a:off x="6419160" y="2560320"/>
            <a:ext cx="4854960" cy="152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5"/>
          <p:cNvSpPr/>
          <p:nvPr/>
        </p:nvSpPr>
        <p:spPr>
          <a:xfrm>
            <a:off x="914400" y="4846320"/>
            <a:ext cx="10240920" cy="840960"/>
          </a:xfrm>
          <a:prstGeom prst="roundRect">
            <a:avLst>
              <a:gd name="adj" fmla="val 8696"/>
            </a:avLst>
          </a:prstGeom>
          <a:solidFill>
            <a:srgbClr val="0D1B2F">
              <a:alpha val="98000"/>
            </a:srgbClr>
          </a:solidFill>
          <a:ln w="10080">
            <a:solidFill>
              <a:srgbClr val="00E38C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6"/>
          <p:cNvSpPr/>
          <p:nvPr/>
        </p:nvSpPr>
        <p:spPr>
          <a:xfrm>
            <a:off x="1143000" y="5010840"/>
            <a:ext cx="9783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E38C"/>
                </a:solidFill>
                <a:effectLst/>
                <a:uFillTx/>
                <a:latin typeface="Aptos"/>
              </a:rPr>
              <a:t>Takeaway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7"/>
          <p:cNvSpPr/>
          <p:nvPr/>
        </p:nvSpPr>
        <p:spPr>
          <a:xfrm>
            <a:off x="1143000" y="5330880"/>
            <a:ext cx="97837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 dirty="0">
                <a:solidFill>
                  <a:srgbClr val="B6C6E3"/>
                </a:solidFill>
                <a:effectLst/>
                <a:uFillTx/>
                <a:latin typeface="Aptos"/>
              </a:rPr>
              <a:t>For NL → Java, the improvement is not only metric-based: the output format becomes more aligned with the expected method-level answer.</a:t>
            </a:r>
            <a:endParaRPr lang="en-US" sz="10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F"/>
          </a:solidFill>
          <a:ln w="12600">
            <a:solidFill>
              <a:srgbClr val="0A0F1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"/>
          <p:cNvSpPr/>
          <p:nvPr/>
        </p:nvSpPr>
        <p:spPr>
          <a:xfrm>
            <a:off x="-594360" y="5285160"/>
            <a:ext cx="329148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25560">
            <a:solidFill>
              <a:srgbClr val="8F5CFF">
                <a:alpha val="5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"/>
          <p:cNvSpPr/>
          <p:nvPr/>
        </p:nvSpPr>
        <p:spPr>
          <a:xfrm>
            <a:off x="8942760" y="-292680"/>
            <a:ext cx="3748680" cy="2285640"/>
          </a:xfrm>
          <a:prstGeom prst="arc">
            <a:avLst>
              <a:gd name="adj1" fmla="val 16200000"/>
              <a:gd name="adj2" fmla="val 0"/>
            </a:avLst>
          </a:prstGeom>
          <a:noFill/>
          <a:ln w="25560">
            <a:solidFill>
              <a:srgbClr val="25D7FF">
                <a:alpha val="46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3"/>
          <p:cNvSpPr/>
          <p:nvPr/>
        </p:nvSpPr>
        <p:spPr>
          <a:xfrm>
            <a:off x="0" y="9144"/>
            <a:ext cx="12191400" cy="6857640"/>
          </a:xfrm>
          <a:prstGeom prst="rect">
            <a:avLst/>
          </a:prstGeom>
          <a:solidFill>
            <a:srgbClr val="061A31"/>
          </a:solidFill>
          <a:ln w="12600">
            <a:solidFill>
              <a:srgbClr val="061A31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5"/>
          <p:cNvSpPr/>
          <p:nvPr/>
        </p:nvSpPr>
        <p:spPr>
          <a:xfrm>
            <a:off x="502920" y="647388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750" b="0" u="none" strike="noStrike" dirty="0" err="1" smtClean="0">
                <a:solidFill>
                  <a:srgbClr val="7E8CA6"/>
                </a:solidFill>
                <a:effectLst/>
                <a:uFillTx/>
                <a:latin typeface="Aptos"/>
                <a:ea typeface="Aptos"/>
              </a:rPr>
              <a:t>CodeGen</a:t>
            </a:r>
            <a:r>
              <a:rPr lang="en-US" sz="750" b="0" u="none" strike="noStrike" dirty="0" smtClean="0">
                <a:solidFill>
                  <a:srgbClr val="7E8CA6"/>
                </a:solidFill>
                <a:effectLst/>
                <a:uFillTx/>
                <a:latin typeface="Aptos"/>
                <a:ea typeface="Aptos"/>
              </a:rPr>
              <a:t> Group 2  • Capstone Project Group 6</a:t>
            </a:r>
            <a:endParaRPr lang="en-US" sz="750" dirty="0">
              <a:solidFill>
                <a:srgbClr val="FFFFFF"/>
              </a:solidFill>
            </a:endParaRPr>
          </a:p>
        </p:txBody>
      </p:sp>
      <p:sp>
        <p:nvSpPr>
          <p:cNvPr id="187" name="Shape 6"/>
          <p:cNvSpPr/>
          <p:nvPr/>
        </p:nvSpPr>
        <p:spPr>
          <a:xfrm>
            <a:off x="10744200" y="6565320"/>
            <a:ext cx="914400" cy="360"/>
          </a:xfrm>
          <a:prstGeom prst="line">
            <a:avLst/>
          </a:prstGeom>
          <a:ln w="15120">
            <a:solidFill>
              <a:srgbClr val="25D7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7"/>
          <p:cNvSpPr/>
          <p:nvPr/>
        </p:nvSpPr>
        <p:spPr>
          <a:xfrm>
            <a:off x="640080" y="39312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74FBD1"/>
                </a:solidFill>
                <a:effectLst/>
                <a:uFillTx/>
                <a:latin typeface="Aptos"/>
              </a:rPr>
              <a:t>EVALUATION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8"/>
          <p:cNvSpPr/>
          <p:nvPr/>
        </p:nvSpPr>
        <p:spPr>
          <a:xfrm>
            <a:off x="640080" y="713160"/>
            <a:ext cx="7040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Stage 1 results: NL → Java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9"/>
          <p:cNvSpPr/>
          <p:nvPr/>
        </p:nvSpPr>
        <p:spPr>
          <a:xfrm>
            <a:off x="640080" y="1334880"/>
            <a:ext cx="822960" cy="360"/>
          </a:xfrm>
          <a:prstGeom prst="line">
            <a:avLst/>
          </a:prstGeom>
          <a:ln w="28080">
            <a:solidFill>
              <a:srgbClr val="25D7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0"/>
          <p:cNvSpPr/>
          <p:nvPr/>
        </p:nvSpPr>
        <p:spPr>
          <a:xfrm>
            <a:off x="658440" y="1389960"/>
            <a:ext cx="10606968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 sz="1200">
                <a:solidFill>
                  <a:srgbClr val="D3E2FF"/>
                </a:solidFill>
                <a:latin typeface="Aptos"/>
              </a:defRPr>
            </a:pPr>
            <a:r>
              <a:rPr dirty="0"/>
              <a:t>Evaluation used 100 predictions to compare the base model and the fine-tuned Stage 1 model using </a:t>
            </a:r>
            <a:r>
              <a:rPr dirty="0" err="1"/>
              <a:t>CodeBLEU</a:t>
            </a:r>
            <a:r>
              <a:rPr dirty="0"/>
              <a:t> component scores, overall </a:t>
            </a:r>
            <a:r>
              <a:rPr dirty="0" err="1"/>
              <a:t>CodeBLEU</a:t>
            </a:r>
            <a:r>
              <a:rPr dirty="0"/>
              <a:t>, and </a:t>
            </a:r>
            <a:r>
              <a:rPr dirty="0" err="1" smtClean="0"/>
              <a:t>CodeBERTScore</a:t>
            </a:r>
            <a:r>
              <a:rPr dirty="0" smtClean="0"/>
              <a:t>.</a:t>
            </a:r>
            <a:endParaRPr lang="en-US" sz="12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Rounded Rectangle 191"/>
          <p:cNvSpPr/>
          <p:nvPr/>
        </p:nvSpPr>
        <p:spPr>
          <a:xfrm>
            <a:off x="640080" y="1810512"/>
            <a:ext cx="5806440" cy="3931920"/>
          </a:xfrm>
          <a:prstGeom prst="roundRect">
            <a:avLst/>
          </a:prstGeom>
          <a:solidFill>
            <a:srgbClr val="0A1B39"/>
          </a:solidFill>
          <a:ln w="12700">
            <a:solidFill>
              <a:srgbClr val="146B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850392" y="1975104"/>
            <a:ext cx="2560320" cy="228600"/>
          </a:xfrm>
          <a:prstGeom prst="rect">
            <a:avLst/>
          </a:prstGeom>
          <a:noFill/>
        </p:spPr>
        <p:txBody>
          <a:bodyPr wrap="square" lIns="27432" tIns="9144" rIns="27432" bIns="9144">
            <a:normAutofit lnSpcReduction="10000"/>
          </a:bodyPr>
          <a:lstStyle/>
          <a:p>
            <a:pPr>
              <a:defRPr sz="1400" b="1">
                <a:solidFill>
                  <a:srgbClr val="F5F8FF"/>
                </a:solidFill>
                <a:latin typeface="Aptos"/>
              </a:defRPr>
            </a:pPr>
            <a:r>
              <a:t>Metric comparison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4041648" y="2029968"/>
            <a:ext cx="164592" cy="73152"/>
          </a:xfrm>
          <a:prstGeom prst="rect">
            <a:avLst/>
          </a:prstGeom>
          <a:solidFill>
            <a:srgbClr val="996CFF"/>
          </a:solidFill>
          <a:ln>
            <a:solidFill>
              <a:srgbClr val="99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4251960" y="1965960"/>
            <a:ext cx="502920" cy="210312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defRPr sz="900" b="0">
                <a:solidFill>
                  <a:srgbClr val="BFCDE8"/>
                </a:solidFill>
                <a:latin typeface="Aptos"/>
              </a:defRPr>
            </a:pPr>
            <a:r>
              <a:t>Base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4782312" y="2029968"/>
            <a:ext cx="164592" cy="73152"/>
          </a:xfrm>
          <a:prstGeom prst="rect">
            <a:avLst/>
          </a:prstGeom>
          <a:solidFill>
            <a:srgbClr val="00D6A4"/>
          </a:solidFill>
          <a:ln>
            <a:solidFill>
              <a:srgbClr val="00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4992624" y="1965960"/>
            <a:ext cx="1005840" cy="210312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defRPr sz="900" b="0">
                <a:solidFill>
                  <a:srgbClr val="BFCDE8"/>
                </a:solidFill>
                <a:latin typeface="Aptos"/>
              </a:defRPr>
            </a:pPr>
            <a:r>
              <a:t>Fine-tuned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868680" y="2331720"/>
            <a:ext cx="1417320" cy="256032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defRPr sz="950" b="0">
                <a:solidFill>
                  <a:srgbClr val="BFCDE8"/>
                </a:solidFill>
                <a:latin typeface="Aptos"/>
              </a:defRPr>
            </a:pPr>
            <a:r>
              <a:t>n-gram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487168" y="2368296"/>
            <a:ext cx="2542032" cy="68580"/>
          </a:xfrm>
          <a:prstGeom prst="rect">
            <a:avLst/>
          </a:prstGeom>
          <a:solidFill>
            <a:srgbClr val="405482"/>
          </a:solidFill>
          <a:ln>
            <a:solidFill>
              <a:srgbClr val="405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2487168" y="2368296"/>
            <a:ext cx="9144" cy="68580"/>
          </a:xfrm>
          <a:prstGeom prst="rect">
            <a:avLst/>
          </a:prstGeom>
          <a:solidFill>
            <a:srgbClr val="996CFF"/>
          </a:solidFill>
          <a:ln>
            <a:solidFill>
              <a:srgbClr val="99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5102352" y="2322576"/>
            <a:ext cx="786384" cy="182880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defRPr sz="840" b="0">
                <a:solidFill>
                  <a:srgbClr val="BFCDE8"/>
                </a:solidFill>
                <a:latin typeface="Aptos"/>
              </a:defRPr>
            </a:pPr>
            <a:r>
              <a:t>B 0.0023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2487168" y="2532888"/>
            <a:ext cx="2542032" cy="68580"/>
          </a:xfrm>
          <a:prstGeom prst="rect">
            <a:avLst/>
          </a:prstGeom>
          <a:solidFill>
            <a:srgbClr val="405482"/>
          </a:solidFill>
          <a:ln>
            <a:solidFill>
              <a:srgbClr val="405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/>
          <p:cNvSpPr/>
          <p:nvPr/>
        </p:nvSpPr>
        <p:spPr>
          <a:xfrm>
            <a:off x="2487168" y="2532888"/>
            <a:ext cx="432992" cy="68580"/>
          </a:xfrm>
          <a:prstGeom prst="rect">
            <a:avLst/>
          </a:prstGeom>
          <a:solidFill>
            <a:srgbClr val="00D6A4"/>
          </a:solidFill>
          <a:ln>
            <a:solidFill>
              <a:srgbClr val="00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5102352" y="2487168"/>
            <a:ext cx="877824" cy="182880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defRPr sz="840" b="0">
                <a:solidFill>
                  <a:srgbClr val="F5F8FF"/>
                </a:solidFill>
                <a:latin typeface="Aptos"/>
              </a:defRPr>
            </a:pPr>
            <a:r>
              <a:t>F 0.1533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868680" y="2816352"/>
            <a:ext cx="1417320" cy="256032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defRPr sz="950" b="0">
                <a:solidFill>
                  <a:srgbClr val="BFCDE8"/>
                </a:solidFill>
                <a:latin typeface="Aptos"/>
              </a:defRPr>
            </a:pPr>
            <a:r>
              <a:t>weighted n-gram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2487168" y="2852928"/>
            <a:ext cx="2542032" cy="68580"/>
          </a:xfrm>
          <a:prstGeom prst="rect">
            <a:avLst/>
          </a:prstGeom>
          <a:solidFill>
            <a:srgbClr val="405482"/>
          </a:solidFill>
          <a:ln>
            <a:solidFill>
              <a:srgbClr val="405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/>
          <p:cNvSpPr/>
          <p:nvPr/>
        </p:nvSpPr>
        <p:spPr>
          <a:xfrm>
            <a:off x="2487168" y="2852928"/>
            <a:ext cx="47168" cy="68580"/>
          </a:xfrm>
          <a:prstGeom prst="rect">
            <a:avLst/>
          </a:prstGeom>
          <a:solidFill>
            <a:srgbClr val="996CFF"/>
          </a:solidFill>
          <a:ln>
            <a:solidFill>
              <a:srgbClr val="99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5102352" y="2807208"/>
            <a:ext cx="786384" cy="182880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defRPr sz="840" b="0">
                <a:solidFill>
                  <a:srgbClr val="BFCDE8"/>
                </a:solidFill>
                <a:latin typeface="Aptos"/>
              </a:defRPr>
            </a:pPr>
            <a:r>
              <a:t>B 0.0167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487168" y="3017520"/>
            <a:ext cx="2542032" cy="68580"/>
          </a:xfrm>
          <a:prstGeom prst="rect">
            <a:avLst/>
          </a:prstGeom>
          <a:solidFill>
            <a:srgbClr val="405482"/>
          </a:solidFill>
          <a:ln>
            <a:solidFill>
              <a:srgbClr val="405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2487168" y="3017520"/>
            <a:ext cx="471405" cy="68580"/>
          </a:xfrm>
          <a:prstGeom prst="rect">
            <a:avLst/>
          </a:prstGeom>
          <a:solidFill>
            <a:srgbClr val="00D6A4"/>
          </a:solidFill>
          <a:ln>
            <a:solidFill>
              <a:srgbClr val="00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5102352" y="2971800"/>
            <a:ext cx="877824" cy="182880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defRPr sz="840" b="0">
                <a:solidFill>
                  <a:srgbClr val="F5F8FF"/>
                </a:solidFill>
                <a:latin typeface="Aptos"/>
              </a:defRPr>
            </a:pPr>
            <a:r>
              <a:t>F 0.1669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868680" y="3300984"/>
            <a:ext cx="1417320" cy="256032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defRPr sz="950" b="0">
                <a:solidFill>
                  <a:srgbClr val="BFCDE8"/>
                </a:solidFill>
                <a:latin typeface="Aptos"/>
              </a:defRPr>
            </a:pPr>
            <a:r>
              <a:t>syntax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2487168" y="3337560"/>
            <a:ext cx="2542032" cy="68580"/>
          </a:xfrm>
          <a:prstGeom prst="rect">
            <a:avLst/>
          </a:prstGeom>
          <a:solidFill>
            <a:srgbClr val="405482"/>
          </a:solidFill>
          <a:ln>
            <a:solidFill>
              <a:srgbClr val="405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Rectangle 213"/>
          <p:cNvSpPr/>
          <p:nvPr/>
        </p:nvSpPr>
        <p:spPr>
          <a:xfrm>
            <a:off x="2487168" y="3337560"/>
            <a:ext cx="550773" cy="68580"/>
          </a:xfrm>
          <a:prstGeom prst="rect">
            <a:avLst/>
          </a:prstGeom>
          <a:solidFill>
            <a:srgbClr val="996CFF"/>
          </a:solidFill>
          <a:ln>
            <a:solidFill>
              <a:srgbClr val="99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5102352" y="3291840"/>
            <a:ext cx="786384" cy="182880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defRPr sz="840" b="0">
                <a:solidFill>
                  <a:srgbClr val="BFCDE8"/>
                </a:solidFill>
                <a:latin typeface="Aptos"/>
              </a:defRPr>
            </a:pPr>
            <a:r>
              <a:t>B 0.1950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2487168" y="3502152"/>
            <a:ext cx="2542032" cy="68580"/>
          </a:xfrm>
          <a:prstGeom prst="rect">
            <a:avLst/>
          </a:prstGeom>
          <a:solidFill>
            <a:srgbClr val="405482"/>
          </a:solidFill>
          <a:ln>
            <a:solidFill>
              <a:srgbClr val="405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ectangle 216"/>
          <p:cNvSpPr/>
          <p:nvPr/>
        </p:nvSpPr>
        <p:spPr>
          <a:xfrm>
            <a:off x="2487168" y="3502152"/>
            <a:ext cx="749334" cy="68580"/>
          </a:xfrm>
          <a:prstGeom prst="rect">
            <a:avLst/>
          </a:prstGeom>
          <a:solidFill>
            <a:srgbClr val="00D6A4"/>
          </a:solidFill>
          <a:ln>
            <a:solidFill>
              <a:srgbClr val="00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5102352" y="3456432"/>
            <a:ext cx="877824" cy="182880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defRPr sz="840" b="0">
                <a:solidFill>
                  <a:srgbClr val="F5F8FF"/>
                </a:solidFill>
                <a:latin typeface="Aptos"/>
              </a:defRPr>
            </a:pPr>
            <a:r>
              <a:t>F 0.2653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868680" y="3785615"/>
            <a:ext cx="1417320" cy="256032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defRPr sz="950" b="0">
                <a:solidFill>
                  <a:srgbClr val="BFCDE8"/>
                </a:solidFill>
                <a:latin typeface="Aptos"/>
              </a:defRPr>
            </a:pPr>
            <a:r>
              <a:t>dataflow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2487168" y="3822191"/>
            <a:ext cx="2542032" cy="68580"/>
          </a:xfrm>
          <a:prstGeom prst="rect">
            <a:avLst/>
          </a:prstGeom>
          <a:solidFill>
            <a:srgbClr val="405482"/>
          </a:solidFill>
          <a:ln>
            <a:solidFill>
              <a:srgbClr val="405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Rectangle 220"/>
          <p:cNvSpPr/>
          <p:nvPr/>
        </p:nvSpPr>
        <p:spPr>
          <a:xfrm>
            <a:off x="2487168" y="3822191"/>
            <a:ext cx="2334432" cy="68580"/>
          </a:xfrm>
          <a:prstGeom prst="rect">
            <a:avLst/>
          </a:prstGeom>
          <a:solidFill>
            <a:srgbClr val="996CFF"/>
          </a:solidFill>
          <a:ln>
            <a:solidFill>
              <a:srgbClr val="99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TextBox 221"/>
          <p:cNvSpPr txBox="1"/>
          <p:nvPr/>
        </p:nvSpPr>
        <p:spPr>
          <a:xfrm>
            <a:off x="5102352" y="3776472"/>
            <a:ext cx="786384" cy="182880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defRPr sz="840" b="0">
                <a:solidFill>
                  <a:srgbClr val="BFCDE8"/>
                </a:solidFill>
                <a:latin typeface="Aptos"/>
              </a:defRPr>
            </a:pPr>
            <a:r>
              <a:t>B 0.8265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2487168" y="3986784"/>
            <a:ext cx="2542032" cy="68580"/>
          </a:xfrm>
          <a:prstGeom prst="rect">
            <a:avLst/>
          </a:prstGeom>
          <a:solidFill>
            <a:srgbClr val="405482"/>
          </a:solidFill>
          <a:ln>
            <a:solidFill>
              <a:srgbClr val="405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/>
          <p:cNvSpPr/>
          <p:nvPr/>
        </p:nvSpPr>
        <p:spPr>
          <a:xfrm>
            <a:off x="2487168" y="3986784"/>
            <a:ext cx="1542730" cy="68580"/>
          </a:xfrm>
          <a:prstGeom prst="rect">
            <a:avLst/>
          </a:prstGeom>
          <a:solidFill>
            <a:srgbClr val="00D6A4"/>
          </a:solidFill>
          <a:ln>
            <a:solidFill>
              <a:srgbClr val="00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5102352" y="3941063"/>
            <a:ext cx="877824" cy="182880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defRPr sz="840" b="0">
                <a:solidFill>
                  <a:srgbClr val="F5F8FF"/>
                </a:solidFill>
                <a:latin typeface="Aptos"/>
              </a:defRPr>
            </a:pPr>
            <a:r>
              <a:t>F 0.5462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868680" y="4270248"/>
            <a:ext cx="1417320" cy="256032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defRPr sz="950" b="0">
                <a:solidFill>
                  <a:srgbClr val="BFCDE8"/>
                </a:solidFill>
                <a:latin typeface="Aptos"/>
              </a:defRPr>
            </a:pPr>
            <a:r>
              <a:t>CodeBLEU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2487168" y="4306824"/>
            <a:ext cx="2542032" cy="68580"/>
          </a:xfrm>
          <a:prstGeom prst="rect">
            <a:avLst/>
          </a:prstGeom>
          <a:solidFill>
            <a:srgbClr val="405482"/>
          </a:solidFill>
          <a:ln>
            <a:solidFill>
              <a:srgbClr val="405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/>
          <p:cNvSpPr/>
          <p:nvPr/>
        </p:nvSpPr>
        <p:spPr>
          <a:xfrm>
            <a:off x="2487168" y="4306824"/>
            <a:ext cx="734647" cy="68580"/>
          </a:xfrm>
          <a:prstGeom prst="rect">
            <a:avLst/>
          </a:prstGeom>
          <a:solidFill>
            <a:srgbClr val="996CFF"/>
          </a:solidFill>
          <a:ln>
            <a:solidFill>
              <a:srgbClr val="99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5102352" y="4261104"/>
            <a:ext cx="786384" cy="182880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defRPr sz="840" b="0">
                <a:solidFill>
                  <a:srgbClr val="BFCDE8"/>
                </a:solidFill>
                <a:latin typeface="Aptos"/>
              </a:defRPr>
            </a:pPr>
            <a:r>
              <a:t>B 0.2601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2487168" y="4471416"/>
            <a:ext cx="2542032" cy="68580"/>
          </a:xfrm>
          <a:prstGeom prst="rect">
            <a:avLst/>
          </a:prstGeom>
          <a:solidFill>
            <a:srgbClr val="405482"/>
          </a:solidFill>
          <a:ln>
            <a:solidFill>
              <a:srgbClr val="405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/>
          <p:cNvSpPr/>
          <p:nvPr/>
        </p:nvSpPr>
        <p:spPr>
          <a:xfrm>
            <a:off x="2487168" y="4471416"/>
            <a:ext cx="799045" cy="68580"/>
          </a:xfrm>
          <a:prstGeom prst="rect">
            <a:avLst/>
          </a:prstGeom>
          <a:solidFill>
            <a:srgbClr val="00D6A4"/>
          </a:solidFill>
          <a:ln>
            <a:solidFill>
              <a:srgbClr val="00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5102352" y="4425696"/>
            <a:ext cx="877824" cy="182880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defRPr sz="840" b="0">
                <a:solidFill>
                  <a:srgbClr val="F5F8FF"/>
                </a:solidFill>
                <a:latin typeface="Aptos"/>
              </a:defRPr>
            </a:pPr>
            <a:r>
              <a:t>F 0.2829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868680" y="4754880"/>
            <a:ext cx="1417320" cy="256032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defRPr sz="950" b="1">
                <a:solidFill>
                  <a:srgbClr val="BFCDE8"/>
                </a:solidFill>
                <a:latin typeface="Aptos"/>
              </a:defRPr>
            </a:pPr>
            <a:r>
              <a:rPr dirty="0" err="1" smtClean="0"/>
              <a:t>CodeBERT</a:t>
            </a:r>
            <a:endParaRPr dirty="0"/>
          </a:p>
        </p:txBody>
      </p:sp>
      <p:sp>
        <p:nvSpPr>
          <p:cNvPr id="234" name="Rectangle 233"/>
          <p:cNvSpPr/>
          <p:nvPr/>
        </p:nvSpPr>
        <p:spPr>
          <a:xfrm>
            <a:off x="2487168" y="4791456"/>
            <a:ext cx="2542032" cy="68580"/>
          </a:xfrm>
          <a:prstGeom prst="rect">
            <a:avLst/>
          </a:prstGeom>
          <a:solidFill>
            <a:srgbClr val="405482"/>
          </a:solidFill>
          <a:ln>
            <a:solidFill>
              <a:srgbClr val="405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/>
          <p:cNvSpPr/>
          <p:nvPr/>
        </p:nvSpPr>
        <p:spPr>
          <a:xfrm>
            <a:off x="2487168" y="4791456"/>
            <a:ext cx="1832805" cy="68580"/>
          </a:xfrm>
          <a:prstGeom prst="rect">
            <a:avLst/>
          </a:prstGeom>
          <a:solidFill>
            <a:srgbClr val="996CFF"/>
          </a:solidFill>
          <a:ln>
            <a:solidFill>
              <a:srgbClr val="99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TextBox 235"/>
          <p:cNvSpPr txBox="1"/>
          <p:nvPr/>
        </p:nvSpPr>
        <p:spPr>
          <a:xfrm>
            <a:off x="5102352" y="4745736"/>
            <a:ext cx="786384" cy="182880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defRPr sz="840" b="0">
                <a:solidFill>
                  <a:srgbClr val="BFCDE8"/>
                </a:solidFill>
                <a:latin typeface="Aptos"/>
              </a:defRPr>
            </a:pPr>
            <a:r>
              <a:t>B 0.6489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2487168" y="4956048"/>
            <a:ext cx="2542032" cy="68580"/>
          </a:xfrm>
          <a:prstGeom prst="rect">
            <a:avLst/>
          </a:prstGeom>
          <a:solidFill>
            <a:srgbClr val="405482"/>
          </a:solidFill>
          <a:ln>
            <a:solidFill>
              <a:srgbClr val="405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Rectangle 237"/>
          <p:cNvSpPr/>
          <p:nvPr/>
        </p:nvSpPr>
        <p:spPr>
          <a:xfrm>
            <a:off x="2487168" y="4956048"/>
            <a:ext cx="2219193" cy="68580"/>
          </a:xfrm>
          <a:prstGeom prst="rect">
            <a:avLst/>
          </a:prstGeom>
          <a:solidFill>
            <a:srgbClr val="00D6A4"/>
          </a:solidFill>
          <a:ln>
            <a:solidFill>
              <a:srgbClr val="00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5102352" y="4910328"/>
            <a:ext cx="877824" cy="182880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defRPr sz="840" b="1">
                <a:solidFill>
                  <a:srgbClr val="F5F8FF"/>
                </a:solidFill>
                <a:latin typeface="Aptos"/>
              </a:defRPr>
            </a:pPr>
            <a:r>
              <a:t>F 0.7857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868680" y="5340096"/>
            <a:ext cx="5120640" cy="228600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defRPr sz="900" b="0">
                <a:solidFill>
                  <a:srgbClr val="BFCDE8"/>
                </a:solidFill>
                <a:latin typeface="Aptos"/>
              </a:defRPr>
            </a:pPr>
            <a:r>
              <a:t>B = Base model   •   F = Fine-tuned model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6922008" y="1965960"/>
            <a:ext cx="3291840" cy="256032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defRPr sz="1400" b="1">
                <a:solidFill>
                  <a:srgbClr val="F5F8FF"/>
                </a:solidFill>
                <a:latin typeface="Aptos"/>
              </a:defRPr>
            </a:pPr>
            <a:r>
              <a:t>Stage 1 score output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922008" y="2258568"/>
            <a:ext cx="3108960" cy="219456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defRPr sz="1000" b="0">
                <a:solidFill>
                  <a:srgbClr val="BFCDE8"/>
                </a:solidFill>
                <a:latin typeface="Aptos"/>
              </a:defRPr>
            </a:pPr>
            <a:r>
              <a:t>NL → Java: base vs fine-tuned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6931152" y="2606040"/>
            <a:ext cx="1975104" cy="987552"/>
          </a:xfrm>
          <a:prstGeom prst="roundRect">
            <a:avLst/>
          </a:prstGeom>
          <a:solidFill>
            <a:srgbClr val="0C1E40"/>
          </a:solidFill>
          <a:ln w="16510">
            <a:solidFill>
              <a:srgbClr val="99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7095744" y="2743200"/>
            <a:ext cx="1371600" cy="192024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defRPr sz="819" b="1">
                <a:solidFill>
                  <a:srgbClr val="BFCDE8"/>
                </a:solidFill>
                <a:latin typeface="Aptos"/>
              </a:defRPr>
            </a:pPr>
            <a:r>
              <a:t>BASE MODEL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095744" y="2971800"/>
            <a:ext cx="1325880" cy="329184"/>
          </a:xfrm>
          <a:prstGeom prst="rect">
            <a:avLst/>
          </a:prstGeom>
          <a:noFill/>
        </p:spPr>
        <p:txBody>
          <a:bodyPr wrap="square" lIns="27432" tIns="9144" rIns="27432" bIns="9144">
            <a:normAutofit fontScale="92500" lnSpcReduction="10000"/>
          </a:bodyPr>
          <a:lstStyle/>
          <a:p>
            <a:pPr>
              <a:defRPr sz="2300" b="1">
                <a:solidFill>
                  <a:srgbClr val="F5F8FF"/>
                </a:solidFill>
                <a:latin typeface="Aptos"/>
              </a:defRPr>
            </a:pPr>
            <a:r>
              <a:t>0.6489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7095744" y="3337560"/>
            <a:ext cx="1508760" cy="182880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defRPr sz="800" b="0">
                <a:solidFill>
                  <a:srgbClr val="BFCDE8"/>
                </a:solidFill>
                <a:latin typeface="Aptos"/>
              </a:defRPr>
            </a:pPr>
            <a:r>
              <a:rPr dirty="0" err="1" smtClean="0"/>
              <a:t>CodeBERTScore</a:t>
            </a:r>
            <a:endParaRPr dirty="0"/>
          </a:p>
        </p:txBody>
      </p:sp>
      <p:sp>
        <p:nvSpPr>
          <p:cNvPr id="248" name="Rounded Rectangle 247"/>
          <p:cNvSpPr/>
          <p:nvPr/>
        </p:nvSpPr>
        <p:spPr>
          <a:xfrm>
            <a:off x="9162288" y="2606040"/>
            <a:ext cx="1975104" cy="987552"/>
          </a:xfrm>
          <a:prstGeom prst="roundRect">
            <a:avLst/>
          </a:prstGeom>
          <a:solidFill>
            <a:srgbClr val="0C1E40"/>
          </a:solidFill>
          <a:ln w="16510">
            <a:solidFill>
              <a:srgbClr val="00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9326880" y="2743200"/>
            <a:ext cx="1371600" cy="192024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defRPr sz="819" b="1">
                <a:solidFill>
                  <a:srgbClr val="BFCDE8"/>
                </a:solidFill>
                <a:latin typeface="Aptos"/>
              </a:defRPr>
            </a:pPr>
            <a:r>
              <a:t>FINE-TUNED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9326880" y="2971800"/>
            <a:ext cx="1325880" cy="329184"/>
          </a:xfrm>
          <a:prstGeom prst="rect">
            <a:avLst/>
          </a:prstGeom>
          <a:noFill/>
        </p:spPr>
        <p:txBody>
          <a:bodyPr wrap="square" lIns="27432" tIns="9144" rIns="27432" bIns="9144">
            <a:normAutofit fontScale="92500" lnSpcReduction="10000"/>
          </a:bodyPr>
          <a:lstStyle/>
          <a:p>
            <a:pPr>
              <a:defRPr sz="2300" b="1">
                <a:solidFill>
                  <a:srgbClr val="F5F8FF"/>
                </a:solidFill>
                <a:latin typeface="Aptos"/>
              </a:defRPr>
            </a:pPr>
            <a:r>
              <a:t>0.7857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9326880" y="3337560"/>
            <a:ext cx="1508760" cy="182880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defRPr sz="800" b="0">
                <a:solidFill>
                  <a:srgbClr val="BFCDE8"/>
                </a:solidFill>
                <a:latin typeface="Aptos"/>
              </a:defRPr>
            </a:pPr>
            <a:r>
              <a:rPr dirty="0" err="1" smtClean="0"/>
              <a:t>CodeBERTScore</a:t>
            </a:r>
            <a:endParaRPr dirty="0"/>
          </a:p>
        </p:txBody>
      </p:sp>
      <p:sp>
        <p:nvSpPr>
          <p:cNvPr id="252" name="TextBox 251"/>
          <p:cNvSpPr txBox="1"/>
          <p:nvPr/>
        </p:nvSpPr>
        <p:spPr>
          <a:xfrm>
            <a:off x="7022592" y="3730752"/>
            <a:ext cx="3931920" cy="246888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 algn="ctr">
              <a:defRPr sz="1050" b="1">
                <a:solidFill>
                  <a:srgbClr val="00D6A4"/>
                </a:solidFill>
                <a:latin typeface="Aptos"/>
              </a:defRPr>
            </a:pPr>
            <a:r>
              <a:rPr dirty="0"/>
              <a:t>+0.1368 improvement in </a:t>
            </a:r>
            <a:r>
              <a:rPr dirty="0" err="1" smtClean="0"/>
              <a:t>CodeBERTScore</a:t>
            </a:r>
            <a:endParaRPr dirty="0"/>
          </a:p>
        </p:txBody>
      </p:sp>
      <p:sp>
        <p:nvSpPr>
          <p:cNvPr id="276" name="TextBox 275"/>
          <p:cNvSpPr txBox="1"/>
          <p:nvPr/>
        </p:nvSpPr>
        <p:spPr>
          <a:xfrm>
            <a:off x="10040112" y="5436108"/>
            <a:ext cx="822960" cy="182880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 algn="ctr">
              <a:defRPr sz="790" b="1">
                <a:solidFill>
                  <a:srgbClr val="F5F8FF"/>
                </a:solidFill>
                <a:latin typeface="Aptos"/>
              </a:defRPr>
            </a:pPr>
            <a:endParaRPr dirty="0"/>
          </a:p>
        </p:txBody>
      </p:sp>
      <p:sp>
        <p:nvSpPr>
          <p:cNvPr id="277" name="Rounded Rectangle 276"/>
          <p:cNvSpPr/>
          <p:nvPr/>
        </p:nvSpPr>
        <p:spPr>
          <a:xfrm>
            <a:off x="640080" y="5843016"/>
            <a:ext cx="10771632" cy="502920"/>
          </a:xfrm>
          <a:prstGeom prst="roundRect">
            <a:avLst/>
          </a:prstGeom>
          <a:solidFill>
            <a:srgbClr val="081630"/>
          </a:solidFill>
          <a:ln w="12700">
            <a:solidFill>
              <a:srgbClr val="35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TextBox 277"/>
          <p:cNvSpPr txBox="1"/>
          <p:nvPr/>
        </p:nvSpPr>
        <p:spPr>
          <a:xfrm>
            <a:off x="859536" y="5961888"/>
            <a:ext cx="10332720" cy="219456"/>
          </a:xfrm>
          <a:prstGeom prst="rect">
            <a:avLst/>
          </a:prstGeom>
          <a:noFill/>
        </p:spPr>
        <p:txBody>
          <a:bodyPr wrap="square" lIns="27432" tIns="9144" rIns="27432" bIns="9144">
            <a:normAutofit fontScale="85000" lnSpcReduction="10000"/>
          </a:bodyPr>
          <a:lstStyle/>
          <a:p>
            <a:pPr>
              <a:defRPr sz="1150" b="0">
                <a:solidFill>
                  <a:srgbClr val="F5F8FF"/>
                </a:solidFill>
                <a:latin typeface="Aptos"/>
              </a:defRPr>
            </a:pPr>
            <a:r>
              <a:t>Key takeaway: The fine-tuned Stage 1 model produced clearer Java outputs and improved the main comparison score, with CodeBERTScore F1 rising from 0.6489 to 0.7857.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0"/>
          <p:cNvSpPr/>
          <p:nvPr/>
        </p:nvSpPr>
        <p:spPr>
          <a:xfrm>
            <a:off x="9144" y="0"/>
            <a:ext cx="12191400" cy="6857640"/>
          </a:xfrm>
          <a:prstGeom prst="rect">
            <a:avLst/>
          </a:prstGeom>
          <a:solidFill>
            <a:srgbClr val="0A0F1F"/>
          </a:solidFill>
          <a:ln w="12600">
            <a:solidFill>
              <a:srgbClr val="0A0F1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"/>
          <p:cNvSpPr/>
          <p:nvPr/>
        </p:nvSpPr>
        <p:spPr>
          <a:xfrm>
            <a:off x="-594360" y="5285160"/>
            <a:ext cx="329148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25560">
            <a:solidFill>
              <a:srgbClr val="8F5CFF">
                <a:alpha val="5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"/>
          <p:cNvSpPr/>
          <p:nvPr/>
        </p:nvSpPr>
        <p:spPr>
          <a:xfrm>
            <a:off x="8942760" y="-292680"/>
            <a:ext cx="3748680" cy="2285640"/>
          </a:xfrm>
          <a:prstGeom prst="arc">
            <a:avLst>
              <a:gd name="adj1" fmla="val 16200000"/>
              <a:gd name="adj2" fmla="val 0"/>
            </a:avLst>
          </a:prstGeom>
          <a:noFill/>
          <a:ln w="25560">
            <a:solidFill>
              <a:srgbClr val="25D7FF">
                <a:alpha val="46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3"/>
          <p:cNvSpPr/>
          <p:nvPr/>
        </p:nvSpPr>
        <p:spPr>
          <a:xfrm>
            <a:off x="502920" y="647388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750" b="0" u="none" strike="noStrike" dirty="0" err="1" smtClean="0">
                <a:solidFill>
                  <a:srgbClr val="7E8CA6"/>
                </a:solidFill>
                <a:effectLst/>
                <a:uFillTx/>
                <a:latin typeface="Aptos"/>
                <a:ea typeface="Aptos"/>
              </a:rPr>
              <a:t>CodeGen</a:t>
            </a:r>
            <a:r>
              <a:rPr lang="en-US" sz="750" b="0" u="none" strike="noStrike" dirty="0" smtClean="0">
                <a:solidFill>
                  <a:srgbClr val="7E8CA6"/>
                </a:solidFill>
                <a:effectLst/>
                <a:uFillTx/>
                <a:latin typeface="Aptos"/>
                <a:ea typeface="Aptos"/>
              </a:rPr>
              <a:t> Group 2  • Capstone Project Group 6</a:t>
            </a:r>
            <a:endParaRPr lang="en-US" sz="750" dirty="0">
              <a:solidFill>
                <a:srgbClr val="FFFFFF"/>
              </a:solidFill>
            </a:endParaRPr>
          </a:p>
        </p:txBody>
      </p:sp>
      <p:sp>
        <p:nvSpPr>
          <p:cNvPr id="240" name="Shape 4"/>
          <p:cNvSpPr/>
          <p:nvPr/>
        </p:nvSpPr>
        <p:spPr>
          <a:xfrm>
            <a:off x="10744200" y="6565320"/>
            <a:ext cx="914400" cy="360"/>
          </a:xfrm>
          <a:prstGeom prst="line">
            <a:avLst/>
          </a:prstGeom>
          <a:ln w="15120">
            <a:solidFill>
              <a:srgbClr val="25D7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5"/>
          <p:cNvSpPr/>
          <p:nvPr/>
        </p:nvSpPr>
        <p:spPr>
          <a:xfrm>
            <a:off x="640080" y="39312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74FBD1"/>
                </a:solidFill>
                <a:effectLst/>
                <a:uFillTx/>
                <a:latin typeface="Aptos"/>
              </a:rPr>
              <a:t>EXPERIMENT 2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6"/>
          <p:cNvSpPr/>
          <p:nvPr/>
        </p:nvSpPr>
        <p:spPr>
          <a:xfrm>
            <a:off x="640080" y="713160"/>
            <a:ext cx="7040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dirty="0">
                <a:solidFill>
                  <a:srgbClr val="F8FBFF"/>
                </a:solidFill>
                <a:effectLst/>
                <a:uFillTx/>
                <a:latin typeface="Aptos"/>
              </a:rPr>
              <a:t>Stage 2: </a:t>
            </a:r>
            <a:r>
              <a:rPr lang="en-US" sz="2500" b="1" u="none" strike="noStrike" dirty="0" smtClean="0">
                <a:solidFill>
                  <a:srgbClr val="F8FBFF"/>
                </a:solidFill>
                <a:effectLst/>
                <a:uFillTx/>
                <a:latin typeface="Aptos"/>
              </a:rPr>
              <a:t>Training Java </a:t>
            </a:r>
            <a:r>
              <a:rPr lang="en-US" sz="2500" b="1" u="none" strike="noStrike" dirty="0">
                <a:solidFill>
                  <a:srgbClr val="F8FBFF"/>
                </a:solidFill>
                <a:effectLst/>
                <a:uFillTx/>
                <a:latin typeface="Aptos"/>
              </a:rPr>
              <a:t>→ C#</a:t>
            </a:r>
            <a:endParaRPr lang="en-US" sz="2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7"/>
          <p:cNvSpPr/>
          <p:nvPr/>
        </p:nvSpPr>
        <p:spPr>
          <a:xfrm>
            <a:off x="640080" y="1334880"/>
            <a:ext cx="822960" cy="360"/>
          </a:xfrm>
          <a:prstGeom prst="line">
            <a:avLst/>
          </a:prstGeom>
          <a:ln w="28080">
            <a:solidFill>
              <a:srgbClr val="25D7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8"/>
          <p:cNvSpPr/>
          <p:nvPr/>
        </p:nvSpPr>
        <p:spPr>
          <a:xfrm>
            <a:off x="3840480" y="420480"/>
            <a:ext cx="529920" cy="72720"/>
          </a:xfrm>
          <a:prstGeom prst="rect">
            <a:avLst/>
          </a:prstGeom>
          <a:solidFill>
            <a:srgbClr val="25D7FF"/>
          </a:solidFill>
          <a:ln w="12600">
            <a:solidFill>
              <a:srgbClr val="24324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9"/>
          <p:cNvSpPr/>
          <p:nvPr/>
        </p:nvSpPr>
        <p:spPr>
          <a:xfrm>
            <a:off x="4480560" y="420480"/>
            <a:ext cx="529920" cy="72720"/>
          </a:xfrm>
          <a:prstGeom prst="rect">
            <a:avLst/>
          </a:prstGeom>
          <a:solidFill>
            <a:srgbClr val="25D7FF"/>
          </a:solidFill>
          <a:ln w="12600">
            <a:solidFill>
              <a:srgbClr val="24324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0"/>
          <p:cNvSpPr/>
          <p:nvPr/>
        </p:nvSpPr>
        <p:spPr>
          <a:xfrm>
            <a:off x="5120640" y="420480"/>
            <a:ext cx="529920" cy="72720"/>
          </a:xfrm>
          <a:prstGeom prst="rect">
            <a:avLst/>
          </a:prstGeom>
          <a:solidFill>
            <a:srgbClr val="25D7FF"/>
          </a:solidFill>
          <a:ln w="12600">
            <a:solidFill>
              <a:srgbClr val="24324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1"/>
          <p:cNvSpPr/>
          <p:nvPr/>
        </p:nvSpPr>
        <p:spPr>
          <a:xfrm>
            <a:off x="658440" y="1444680"/>
            <a:ext cx="6400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 dirty="0">
                <a:solidFill>
                  <a:srgbClr val="B6C6E3"/>
                </a:solidFill>
                <a:effectLst/>
                <a:uFillTx/>
                <a:latin typeface="Aptos"/>
                <a:ea typeface="Aptos"/>
              </a:rPr>
              <a:t>Stage 2 is the project’s </a:t>
            </a:r>
            <a:r>
              <a:rPr lang="en-US" sz="1220" b="0" u="none" strike="noStrike" dirty="0" smtClean="0">
                <a:solidFill>
                  <a:srgbClr val="B6C6E3"/>
                </a:solidFill>
                <a:effectLst/>
                <a:uFillTx/>
                <a:latin typeface="Aptos"/>
                <a:ea typeface="Aptos"/>
              </a:rPr>
              <a:t>second experiment</a:t>
            </a:r>
            <a:r>
              <a:rPr lang="en-US" sz="1220" b="0" u="none" strike="noStrike" dirty="0">
                <a:solidFill>
                  <a:srgbClr val="B6C6E3"/>
                </a:solidFill>
                <a:effectLst/>
                <a:uFillTx/>
                <a:latin typeface="Aptos"/>
                <a:ea typeface="Aptos"/>
              </a:rPr>
              <a:t>: a separate adapter learns code-to-code translation from Java to C# using </a:t>
            </a:r>
            <a:r>
              <a:rPr lang="en-US" sz="1220" b="0" u="none" strike="noStrike" dirty="0" err="1">
                <a:solidFill>
                  <a:srgbClr val="B6C6E3"/>
                </a:solidFill>
                <a:effectLst/>
                <a:uFillTx/>
                <a:latin typeface="Aptos"/>
                <a:ea typeface="Aptos"/>
              </a:rPr>
              <a:t>CodeXGLUE</a:t>
            </a:r>
            <a:r>
              <a:rPr lang="en-US" sz="1220" b="0" u="none" strike="noStrike" dirty="0">
                <a:solidFill>
                  <a:srgbClr val="B6C6E3"/>
                </a:solidFill>
                <a:effectLst/>
                <a:uFillTx/>
                <a:latin typeface="Aptos"/>
                <a:ea typeface="Aptos"/>
              </a:rPr>
              <a:t> pairs.</a:t>
            </a:r>
            <a:endParaRPr lang="en-US" sz="12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2"/>
          <p:cNvSpPr/>
          <p:nvPr/>
        </p:nvSpPr>
        <p:spPr>
          <a:xfrm>
            <a:off x="777240" y="2240280"/>
            <a:ext cx="2331360" cy="1060200"/>
          </a:xfrm>
          <a:prstGeom prst="roundRect">
            <a:avLst>
              <a:gd name="adj" fmla="val 6897"/>
            </a:avLst>
          </a:prstGeom>
          <a:solidFill>
            <a:srgbClr val="111B34">
              <a:alpha val="96000"/>
            </a:srgbClr>
          </a:solidFill>
          <a:ln w="11520">
            <a:solidFill>
              <a:srgbClr val="8F5CFF">
                <a:alpha val="6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3"/>
          <p:cNvSpPr/>
          <p:nvPr/>
        </p:nvSpPr>
        <p:spPr>
          <a:xfrm>
            <a:off x="777240" y="2240280"/>
            <a:ext cx="40680" cy="1060200"/>
          </a:xfrm>
          <a:prstGeom prst="rect">
            <a:avLst/>
          </a:prstGeom>
          <a:solidFill>
            <a:srgbClr val="8F5CFF"/>
          </a:solidFill>
          <a:ln w="12600">
            <a:solidFill>
              <a:srgbClr val="8F5C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4"/>
          <p:cNvSpPr/>
          <p:nvPr/>
        </p:nvSpPr>
        <p:spPr>
          <a:xfrm>
            <a:off x="960120" y="239580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11,800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5"/>
          <p:cNvSpPr/>
          <p:nvPr/>
        </p:nvSpPr>
        <p:spPr>
          <a:xfrm>
            <a:off x="978480" y="2898720"/>
            <a:ext cx="20113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 dirty="0">
                <a:solidFill>
                  <a:srgbClr val="B6C6E3"/>
                </a:solidFill>
                <a:effectLst/>
                <a:uFillTx/>
                <a:latin typeface="Aptos"/>
              </a:rPr>
              <a:t>Java/C# pairs loaded from </a:t>
            </a:r>
            <a:r>
              <a:rPr lang="en-US" sz="880" b="0" u="none" strike="noStrike" dirty="0" err="1">
                <a:solidFill>
                  <a:srgbClr val="B6C6E3"/>
                </a:solidFill>
                <a:effectLst/>
                <a:uFillTx/>
                <a:latin typeface="Aptos"/>
              </a:rPr>
              <a:t>CodeXGLUE</a:t>
            </a:r>
            <a:endParaRPr lang="en-US" sz="88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6"/>
          <p:cNvSpPr/>
          <p:nvPr/>
        </p:nvSpPr>
        <p:spPr>
          <a:xfrm>
            <a:off x="3383280" y="2240280"/>
            <a:ext cx="2331360" cy="1060200"/>
          </a:xfrm>
          <a:prstGeom prst="roundRect">
            <a:avLst>
              <a:gd name="adj" fmla="val 6897"/>
            </a:avLst>
          </a:prstGeom>
          <a:solidFill>
            <a:srgbClr val="111B34">
              <a:alpha val="96000"/>
            </a:srgbClr>
          </a:solidFill>
          <a:ln w="11520">
            <a:solidFill>
              <a:srgbClr val="25D7FF">
                <a:alpha val="6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7"/>
          <p:cNvSpPr/>
          <p:nvPr/>
        </p:nvSpPr>
        <p:spPr>
          <a:xfrm>
            <a:off x="3383280" y="2240280"/>
            <a:ext cx="40680" cy="1060200"/>
          </a:xfrm>
          <a:prstGeom prst="rect">
            <a:avLst/>
          </a:prstGeom>
          <a:solidFill>
            <a:srgbClr val="25D7FF"/>
          </a:solidFill>
          <a:ln w="12600">
            <a:solidFill>
              <a:srgbClr val="25D7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8"/>
          <p:cNvSpPr/>
          <p:nvPr/>
        </p:nvSpPr>
        <p:spPr>
          <a:xfrm>
            <a:off x="3566160" y="239580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5,700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9"/>
          <p:cNvSpPr/>
          <p:nvPr/>
        </p:nvSpPr>
        <p:spPr>
          <a:xfrm>
            <a:off x="3584520" y="2898720"/>
            <a:ext cx="20113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training pairs after clean split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20"/>
          <p:cNvSpPr/>
          <p:nvPr/>
        </p:nvSpPr>
        <p:spPr>
          <a:xfrm>
            <a:off x="5989320" y="2240280"/>
            <a:ext cx="2331360" cy="1060200"/>
          </a:xfrm>
          <a:prstGeom prst="roundRect">
            <a:avLst>
              <a:gd name="adj" fmla="val 6897"/>
            </a:avLst>
          </a:prstGeom>
          <a:solidFill>
            <a:srgbClr val="111B34">
              <a:alpha val="96000"/>
            </a:srgbClr>
          </a:solidFill>
          <a:ln w="11520">
            <a:solidFill>
              <a:srgbClr val="00E38C">
                <a:alpha val="6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21"/>
          <p:cNvSpPr/>
          <p:nvPr/>
        </p:nvSpPr>
        <p:spPr>
          <a:xfrm>
            <a:off x="5989320" y="2240280"/>
            <a:ext cx="40680" cy="1060200"/>
          </a:xfrm>
          <a:prstGeom prst="rect">
            <a:avLst/>
          </a:prstGeom>
          <a:solidFill>
            <a:srgbClr val="00E38C"/>
          </a:solidFill>
          <a:ln w="12600">
            <a:solidFill>
              <a:srgbClr val="00E38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2"/>
          <p:cNvSpPr/>
          <p:nvPr/>
        </p:nvSpPr>
        <p:spPr>
          <a:xfrm>
            <a:off x="6172200" y="239580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300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3"/>
          <p:cNvSpPr/>
          <p:nvPr/>
        </p:nvSpPr>
        <p:spPr>
          <a:xfrm>
            <a:off x="6190560" y="2898720"/>
            <a:ext cx="20113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validation pairs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24"/>
          <p:cNvSpPr/>
          <p:nvPr/>
        </p:nvSpPr>
        <p:spPr>
          <a:xfrm>
            <a:off x="8595360" y="2240280"/>
            <a:ext cx="2331360" cy="1060200"/>
          </a:xfrm>
          <a:prstGeom prst="roundRect">
            <a:avLst>
              <a:gd name="adj" fmla="val 6897"/>
            </a:avLst>
          </a:prstGeom>
          <a:solidFill>
            <a:srgbClr val="111B34">
              <a:alpha val="96000"/>
            </a:srgbClr>
          </a:solidFill>
          <a:ln w="11520">
            <a:solidFill>
              <a:srgbClr val="FFE26E">
                <a:alpha val="6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25"/>
          <p:cNvSpPr/>
          <p:nvPr/>
        </p:nvSpPr>
        <p:spPr>
          <a:xfrm>
            <a:off x="8595360" y="2240280"/>
            <a:ext cx="40680" cy="1060200"/>
          </a:xfrm>
          <a:prstGeom prst="rect">
            <a:avLst/>
          </a:prstGeom>
          <a:solidFill>
            <a:srgbClr val="FFE26E"/>
          </a:solidFill>
          <a:ln w="12600">
            <a:solidFill>
              <a:srgbClr val="FFE26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26"/>
          <p:cNvSpPr/>
          <p:nvPr/>
        </p:nvSpPr>
        <p:spPr>
          <a:xfrm>
            <a:off x="8778240" y="239580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50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27"/>
          <p:cNvSpPr/>
          <p:nvPr/>
        </p:nvSpPr>
        <p:spPr>
          <a:xfrm>
            <a:off x="8796600" y="2898720"/>
            <a:ext cx="20113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evaluation samples used for comparison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28"/>
          <p:cNvSpPr/>
          <p:nvPr/>
        </p:nvSpPr>
        <p:spPr>
          <a:xfrm>
            <a:off x="822960" y="3977640"/>
            <a:ext cx="5074560" cy="1005480"/>
          </a:xfrm>
          <a:prstGeom prst="roundRect">
            <a:avLst>
              <a:gd name="adj" fmla="val 7273"/>
            </a:avLst>
          </a:prstGeom>
          <a:solidFill>
            <a:srgbClr val="0D1B2F">
              <a:alpha val="98000"/>
            </a:srgbClr>
          </a:solidFill>
          <a:ln w="10080">
            <a:solidFill>
              <a:srgbClr val="25D7FF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9"/>
          <p:cNvSpPr/>
          <p:nvPr/>
        </p:nvSpPr>
        <p:spPr>
          <a:xfrm>
            <a:off x="1051560" y="4142160"/>
            <a:ext cx="46173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5D7FF"/>
                </a:solidFill>
                <a:effectLst/>
                <a:uFillTx/>
                <a:latin typeface="Aptos"/>
              </a:rPr>
              <a:t>Training details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30"/>
          <p:cNvSpPr/>
          <p:nvPr/>
        </p:nvSpPr>
        <p:spPr>
          <a:xfrm>
            <a:off x="1051560" y="446220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Stage 2 used a separate LoRA adapter with 18.46M trainable parameters, fp16, paged AdamW 8‑bit, max sequence length 1024, and 2 epochs.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31"/>
          <p:cNvSpPr/>
          <p:nvPr/>
        </p:nvSpPr>
        <p:spPr>
          <a:xfrm>
            <a:off x="6263640" y="3977640"/>
            <a:ext cx="5074560" cy="1005480"/>
          </a:xfrm>
          <a:prstGeom prst="roundRect">
            <a:avLst>
              <a:gd name="adj" fmla="val 7273"/>
            </a:avLst>
          </a:prstGeom>
          <a:solidFill>
            <a:srgbClr val="0D1B2F">
              <a:alpha val="98000"/>
            </a:srgbClr>
          </a:solidFill>
          <a:ln w="10080">
            <a:solidFill>
              <a:srgbClr val="00E38C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32"/>
          <p:cNvSpPr/>
          <p:nvPr/>
        </p:nvSpPr>
        <p:spPr>
          <a:xfrm>
            <a:off x="6492240" y="4142160"/>
            <a:ext cx="46173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E38C"/>
                </a:solidFill>
                <a:effectLst/>
                <a:uFillTx/>
                <a:latin typeface="Aptos"/>
              </a:rPr>
              <a:t>Training outcome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33"/>
          <p:cNvSpPr/>
          <p:nvPr/>
        </p:nvSpPr>
        <p:spPr>
          <a:xfrm>
            <a:off x="6492240" y="446220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Final Stage 2 training loss: 0.3592. Validation loss: 0.4127. Runtime: 3,004 seconds, about 50 minutes on Tesla T4.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F"/>
          </a:solidFill>
          <a:ln w="12600">
            <a:solidFill>
              <a:srgbClr val="0A0F1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"/>
          <p:cNvSpPr/>
          <p:nvPr/>
        </p:nvSpPr>
        <p:spPr>
          <a:xfrm>
            <a:off x="-594360" y="5285160"/>
            <a:ext cx="329148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25560">
            <a:solidFill>
              <a:srgbClr val="8F5CFF">
                <a:alpha val="5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2"/>
          <p:cNvSpPr/>
          <p:nvPr/>
        </p:nvSpPr>
        <p:spPr>
          <a:xfrm>
            <a:off x="8942760" y="-292680"/>
            <a:ext cx="3748680" cy="2285640"/>
          </a:xfrm>
          <a:prstGeom prst="arc">
            <a:avLst>
              <a:gd name="adj1" fmla="val 16200000"/>
              <a:gd name="adj2" fmla="val 0"/>
            </a:avLst>
          </a:prstGeom>
          <a:noFill/>
          <a:ln w="25560">
            <a:solidFill>
              <a:srgbClr val="25D7FF">
                <a:alpha val="46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3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61A31"/>
          </a:solidFill>
          <a:ln w="12600">
            <a:solidFill>
              <a:srgbClr val="061A31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4"/>
          <p:cNvSpPr/>
          <p:nvPr/>
        </p:nvSpPr>
        <p:spPr>
          <a:xfrm>
            <a:off x="9098280" y="5029200"/>
            <a:ext cx="329148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25560">
            <a:solidFill>
              <a:srgbClr val="00E38C">
                <a:alpha val="5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5"/>
          <p:cNvSpPr/>
          <p:nvPr/>
        </p:nvSpPr>
        <p:spPr>
          <a:xfrm>
            <a:off x="502920" y="647388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750" b="0" u="none" strike="noStrike" dirty="0" err="1" smtClean="0">
                <a:solidFill>
                  <a:srgbClr val="7E8CA6"/>
                </a:solidFill>
                <a:effectLst/>
                <a:uFillTx/>
                <a:latin typeface="Aptos"/>
                <a:ea typeface="Aptos"/>
              </a:rPr>
              <a:t>CodeGen</a:t>
            </a:r>
            <a:r>
              <a:rPr lang="en-US" sz="750" b="0" u="none" strike="noStrike" dirty="0" smtClean="0">
                <a:solidFill>
                  <a:srgbClr val="7E8CA6"/>
                </a:solidFill>
                <a:effectLst/>
                <a:uFillTx/>
                <a:latin typeface="Aptos"/>
                <a:ea typeface="Aptos"/>
              </a:rPr>
              <a:t> Group 2  • Capstone Project Group 6</a:t>
            </a:r>
            <a:endParaRPr lang="en-US" sz="750" dirty="0">
              <a:solidFill>
                <a:srgbClr val="FFFFFF"/>
              </a:solidFill>
            </a:endParaRPr>
          </a:p>
        </p:txBody>
      </p:sp>
      <p:sp>
        <p:nvSpPr>
          <p:cNvPr id="276" name="Shape 6"/>
          <p:cNvSpPr/>
          <p:nvPr/>
        </p:nvSpPr>
        <p:spPr>
          <a:xfrm>
            <a:off x="10744200" y="6565320"/>
            <a:ext cx="914400" cy="360"/>
          </a:xfrm>
          <a:prstGeom prst="line">
            <a:avLst/>
          </a:prstGeom>
          <a:ln w="15120">
            <a:solidFill>
              <a:srgbClr val="25D7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7"/>
          <p:cNvSpPr/>
          <p:nvPr/>
        </p:nvSpPr>
        <p:spPr>
          <a:xfrm>
            <a:off x="640080" y="39312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74FBD1"/>
                </a:solidFill>
                <a:effectLst/>
                <a:uFillTx/>
                <a:latin typeface="Aptos"/>
              </a:rPr>
              <a:t>BASE VS FINE-TUNED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8"/>
          <p:cNvSpPr/>
          <p:nvPr/>
        </p:nvSpPr>
        <p:spPr>
          <a:xfrm>
            <a:off x="640080" y="713160"/>
            <a:ext cx="7040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dirty="0">
                <a:solidFill>
                  <a:srgbClr val="F8FBFF"/>
                </a:solidFill>
                <a:effectLst/>
                <a:uFillTx/>
                <a:latin typeface="Aptos"/>
              </a:rPr>
              <a:t>Stage 2 </a:t>
            </a:r>
            <a:r>
              <a:rPr lang="en-US" sz="2500" b="1" u="none" strike="noStrike" dirty="0" smtClean="0">
                <a:solidFill>
                  <a:srgbClr val="F8FBFF"/>
                </a:solidFill>
                <a:effectLst/>
                <a:uFillTx/>
                <a:latin typeface="Aptos"/>
              </a:rPr>
              <a:t>Results</a:t>
            </a:r>
            <a:endParaRPr lang="en-US" sz="2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9"/>
          <p:cNvSpPr/>
          <p:nvPr/>
        </p:nvSpPr>
        <p:spPr>
          <a:xfrm>
            <a:off x="640080" y="1334880"/>
            <a:ext cx="822960" cy="360"/>
          </a:xfrm>
          <a:prstGeom prst="line">
            <a:avLst/>
          </a:prstGeom>
          <a:ln w="28080">
            <a:solidFill>
              <a:srgbClr val="25D7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0"/>
          <p:cNvSpPr/>
          <p:nvPr/>
        </p:nvSpPr>
        <p:spPr>
          <a:xfrm>
            <a:off x="658440" y="1389960"/>
            <a:ext cx="69490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B6C6E3"/>
                </a:solidFill>
                <a:effectLst/>
                <a:uFillTx/>
                <a:latin typeface="Aptos"/>
                <a:ea typeface="Aptos"/>
              </a:rPr>
              <a:t>The fine‑tuned Stage 2 adapter strongly outperformed the base model across every practical translation metric.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81" name="Chart 0"/>
          <p:cNvGraphicFramePr/>
          <p:nvPr/>
        </p:nvGraphicFramePr>
        <p:xfrm>
          <a:off x="640080" y="1874520"/>
          <a:ext cx="6629040" cy="3520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2" name="Shape 11"/>
          <p:cNvSpPr/>
          <p:nvPr/>
        </p:nvSpPr>
        <p:spPr>
          <a:xfrm>
            <a:off x="7699320" y="1920240"/>
            <a:ext cx="1828440" cy="959760"/>
          </a:xfrm>
          <a:prstGeom prst="roundRect">
            <a:avLst>
              <a:gd name="adj" fmla="val 7619"/>
            </a:avLst>
          </a:prstGeom>
          <a:solidFill>
            <a:srgbClr val="111B34">
              <a:alpha val="96000"/>
            </a:srgbClr>
          </a:solidFill>
          <a:ln w="11520">
            <a:solidFill>
              <a:srgbClr val="00E38C">
                <a:alpha val="6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2"/>
          <p:cNvSpPr/>
          <p:nvPr/>
        </p:nvSpPr>
        <p:spPr>
          <a:xfrm>
            <a:off x="7699320" y="1920240"/>
            <a:ext cx="40680" cy="959760"/>
          </a:xfrm>
          <a:prstGeom prst="rect">
            <a:avLst/>
          </a:prstGeom>
          <a:solidFill>
            <a:srgbClr val="00E38C"/>
          </a:solidFill>
          <a:ln w="12600">
            <a:solidFill>
              <a:srgbClr val="00E38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3"/>
          <p:cNvSpPr/>
          <p:nvPr/>
        </p:nvSpPr>
        <p:spPr>
          <a:xfrm>
            <a:off x="7882200" y="2075760"/>
            <a:ext cx="1508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+55.77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4"/>
          <p:cNvSpPr/>
          <p:nvPr/>
        </p:nvSpPr>
        <p:spPr>
          <a:xfrm>
            <a:off x="7900560" y="2578680"/>
            <a:ext cx="1508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BLEU improvement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15"/>
          <p:cNvSpPr/>
          <p:nvPr/>
        </p:nvSpPr>
        <p:spPr>
          <a:xfrm>
            <a:off x="9729360" y="1920240"/>
            <a:ext cx="1828440" cy="959760"/>
          </a:xfrm>
          <a:prstGeom prst="roundRect">
            <a:avLst>
              <a:gd name="adj" fmla="val 7619"/>
            </a:avLst>
          </a:prstGeom>
          <a:solidFill>
            <a:srgbClr val="111B34">
              <a:alpha val="96000"/>
            </a:srgbClr>
          </a:solidFill>
          <a:ln w="11520">
            <a:solidFill>
              <a:srgbClr val="25D7FF">
                <a:alpha val="6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16"/>
          <p:cNvSpPr/>
          <p:nvPr/>
        </p:nvSpPr>
        <p:spPr>
          <a:xfrm>
            <a:off x="9729360" y="1920240"/>
            <a:ext cx="40680" cy="959760"/>
          </a:xfrm>
          <a:prstGeom prst="rect">
            <a:avLst/>
          </a:prstGeom>
          <a:solidFill>
            <a:srgbClr val="25D7FF"/>
          </a:solidFill>
          <a:ln w="12600">
            <a:solidFill>
              <a:srgbClr val="25D7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7"/>
          <p:cNvSpPr/>
          <p:nvPr/>
        </p:nvSpPr>
        <p:spPr>
          <a:xfrm>
            <a:off x="9912240" y="2075760"/>
            <a:ext cx="1508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+92 pts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8"/>
          <p:cNvSpPr/>
          <p:nvPr/>
        </p:nvSpPr>
        <p:spPr>
          <a:xfrm>
            <a:off x="9930240" y="2578680"/>
            <a:ext cx="1508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Syntax accuracy improvement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9"/>
          <p:cNvSpPr/>
          <p:nvPr/>
        </p:nvSpPr>
        <p:spPr>
          <a:xfrm>
            <a:off x="7699320" y="3154680"/>
            <a:ext cx="1828440" cy="959760"/>
          </a:xfrm>
          <a:prstGeom prst="roundRect">
            <a:avLst>
              <a:gd name="adj" fmla="val 7619"/>
            </a:avLst>
          </a:prstGeom>
          <a:solidFill>
            <a:srgbClr val="111B34">
              <a:alpha val="96000"/>
            </a:srgbClr>
          </a:solidFill>
          <a:ln w="11520">
            <a:solidFill>
              <a:srgbClr val="FFE26E">
                <a:alpha val="6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20"/>
          <p:cNvSpPr/>
          <p:nvPr/>
        </p:nvSpPr>
        <p:spPr>
          <a:xfrm>
            <a:off x="7699320" y="3154680"/>
            <a:ext cx="40680" cy="959760"/>
          </a:xfrm>
          <a:prstGeom prst="rect">
            <a:avLst/>
          </a:prstGeom>
          <a:solidFill>
            <a:srgbClr val="FFE26E"/>
          </a:solidFill>
          <a:ln w="12600">
            <a:solidFill>
              <a:srgbClr val="FFE26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21"/>
          <p:cNvSpPr/>
          <p:nvPr/>
        </p:nvSpPr>
        <p:spPr>
          <a:xfrm>
            <a:off x="7882200" y="3310200"/>
            <a:ext cx="1508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+92 pts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2"/>
          <p:cNvSpPr/>
          <p:nvPr/>
        </p:nvSpPr>
        <p:spPr>
          <a:xfrm>
            <a:off x="7900560" y="3813120"/>
            <a:ext cx="1508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Compilation proxy improvement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23"/>
          <p:cNvSpPr/>
          <p:nvPr/>
        </p:nvSpPr>
        <p:spPr>
          <a:xfrm>
            <a:off x="9729360" y="3154680"/>
            <a:ext cx="1828440" cy="959760"/>
          </a:xfrm>
          <a:prstGeom prst="roundRect">
            <a:avLst>
              <a:gd name="adj" fmla="val 7619"/>
            </a:avLst>
          </a:prstGeom>
          <a:solidFill>
            <a:srgbClr val="111B34">
              <a:alpha val="96000"/>
            </a:srgbClr>
          </a:solidFill>
          <a:ln w="11520">
            <a:solidFill>
              <a:srgbClr val="8F5CFF">
                <a:alpha val="6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24"/>
          <p:cNvSpPr/>
          <p:nvPr/>
        </p:nvSpPr>
        <p:spPr>
          <a:xfrm>
            <a:off x="9729360" y="3154680"/>
            <a:ext cx="40680" cy="959760"/>
          </a:xfrm>
          <a:prstGeom prst="rect">
            <a:avLst/>
          </a:prstGeom>
          <a:solidFill>
            <a:srgbClr val="8F5CFF"/>
          </a:solidFill>
          <a:ln w="12600">
            <a:solidFill>
              <a:srgbClr val="8F5C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5"/>
          <p:cNvSpPr/>
          <p:nvPr/>
        </p:nvSpPr>
        <p:spPr>
          <a:xfrm>
            <a:off x="9912240" y="3310200"/>
            <a:ext cx="1508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+0.3749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6"/>
          <p:cNvSpPr/>
          <p:nvPr/>
        </p:nvSpPr>
        <p:spPr>
          <a:xfrm>
            <a:off x="9930240" y="3813120"/>
            <a:ext cx="1508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CodeBLEU improvement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27"/>
          <p:cNvSpPr/>
          <p:nvPr/>
        </p:nvSpPr>
        <p:spPr>
          <a:xfrm>
            <a:off x="7699320" y="4800600"/>
            <a:ext cx="3858480" cy="795240"/>
          </a:xfrm>
          <a:prstGeom prst="roundRect">
            <a:avLst>
              <a:gd name="adj" fmla="val 9195"/>
            </a:avLst>
          </a:prstGeom>
          <a:solidFill>
            <a:srgbClr val="0D1B2F">
              <a:alpha val="98000"/>
            </a:srgbClr>
          </a:solidFill>
          <a:ln w="10080">
            <a:solidFill>
              <a:srgbClr val="00E38C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28"/>
          <p:cNvSpPr/>
          <p:nvPr/>
        </p:nvSpPr>
        <p:spPr>
          <a:xfrm>
            <a:off x="7927920" y="4965120"/>
            <a:ext cx="34012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E38C"/>
                </a:solidFill>
                <a:effectLst/>
                <a:uFillTx/>
                <a:latin typeface="Aptos"/>
              </a:rPr>
              <a:t>What this means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9"/>
          <p:cNvSpPr/>
          <p:nvPr/>
        </p:nvSpPr>
        <p:spPr>
          <a:xfrm>
            <a:off x="7927920" y="5285160"/>
            <a:ext cx="3401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62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Fine‑tuning turned Stage 2 from a base model that could not reliably satisfy syntax/compilation checks into a translator that preserves structure and produces high‑quality C#.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0"/>
          <p:cNvSpPr/>
          <p:nvPr/>
        </p:nvSpPr>
        <p:spPr>
          <a:xfrm>
            <a:off x="-37800" y="0"/>
            <a:ext cx="12191400" cy="6857640"/>
          </a:xfrm>
          <a:prstGeom prst="rect">
            <a:avLst/>
          </a:prstGeom>
          <a:solidFill>
            <a:srgbClr val="0A0F1F"/>
          </a:solidFill>
          <a:ln w="12600">
            <a:solidFill>
              <a:srgbClr val="0A0F1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1"/>
          <p:cNvSpPr/>
          <p:nvPr/>
        </p:nvSpPr>
        <p:spPr>
          <a:xfrm>
            <a:off x="-594360" y="5285160"/>
            <a:ext cx="329148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25560">
            <a:solidFill>
              <a:srgbClr val="8F5CFF">
                <a:alpha val="5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2"/>
          <p:cNvSpPr/>
          <p:nvPr/>
        </p:nvSpPr>
        <p:spPr>
          <a:xfrm>
            <a:off x="8942760" y="-292680"/>
            <a:ext cx="3748680" cy="2285640"/>
          </a:xfrm>
          <a:prstGeom prst="arc">
            <a:avLst>
              <a:gd name="adj1" fmla="val 16200000"/>
              <a:gd name="adj2" fmla="val 0"/>
            </a:avLst>
          </a:prstGeom>
          <a:noFill/>
          <a:ln w="25560">
            <a:solidFill>
              <a:srgbClr val="25D7FF">
                <a:alpha val="46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3"/>
          <p:cNvSpPr/>
          <p:nvPr/>
        </p:nvSpPr>
        <p:spPr>
          <a:xfrm>
            <a:off x="502920" y="647388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750" b="0" u="none" strike="noStrike" dirty="0" err="1" smtClean="0">
                <a:solidFill>
                  <a:srgbClr val="7E8CA6"/>
                </a:solidFill>
                <a:effectLst/>
                <a:uFillTx/>
                <a:latin typeface="Aptos"/>
                <a:ea typeface="Aptos"/>
              </a:rPr>
              <a:t>CodeGen</a:t>
            </a:r>
            <a:r>
              <a:rPr lang="en-US" sz="750" b="0" u="none" strike="noStrike" dirty="0" smtClean="0">
                <a:solidFill>
                  <a:srgbClr val="7E8CA6"/>
                </a:solidFill>
                <a:effectLst/>
                <a:uFillTx/>
                <a:latin typeface="Aptos"/>
                <a:ea typeface="Aptos"/>
              </a:rPr>
              <a:t> Group 2  • Capstone Project Group 6</a:t>
            </a:r>
            <a:endParaRPr lang="en-US" sz="750" dirty="0">
              <a:solidFill>
                <a:srgbClr val="FFFFFF"/>
              </a:solidFill>
            </a:endParaRPr>
          </a:p>
        </p:txBody>
      </p:sp>
      <p:sp>
        <p:nvSpPr>
          <p:cNvPr id="305" name="Shape 4"/>
          <p:cNvSpPr/>
          <p:nvPr/>
        </p:nvSpPr>
        <p:spPr>
          <a:xfrm>
            <a:off x="10744200" y="6565320"/>
            <a:ext cx="914400" cy="360"/>
          </a:xfrm>
          <a:prstGeom prst="line">
            <a:avLst/>
          </a:prstGeom>
          <a:ln w="15120">
            <a:solidFill>
              <a:srgbClr val="25D7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5"/>
          <p:cNvSpPr/>
          <p:nvPr/>
        </p:nvSpPr>
        <p:spPr>
          <a:xfrm>
            <a:off x="640080" y="39312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74FBD1"/>
                </a:solidFill>
                <a:effectLst/>
                <a:uFillTx/>
                <a:latin typeface="Aptos"/>
              </a:rPr>
              <a:t>RESULTS TABLE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6"/>
          <p:cNvSpPr/>
          <p:nvPr/>
        </p:nvSpPr>
        <p:spPr>
          <a:xfrm>
            <a:off x="640080" y="713160"/>
            <a:ext cx="7040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Evaluation scoreboard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7"/>
          <p:cNvSpPr/>
          <p:nvPr/>
        </p:nvSpPr>
        <p:spPr>
          <a:xfrm>
            <a:off x="640080" y="1334880"/>
            <a:ext cx="822960" cy="360"/>
          </a:xfrm>
          <a:prstGeom prst="line">
            <a:avLst/>
          </a:prstGeom>
          <a:ln w="28080">
            <a:solidFill>
              <a:srgbClr val="25D7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8"/>
          <p:cNvSpPr/>
          <p:nvPr/>
        </p:nvSpPr>
        <p:spPr>
          <a:xfrm>
            <a:off x="658440" y="1389960"/>
            <a:ext cx="6491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0" name="Table 0"/>
          <p:cNvGraphicFramePr/>
          <p:nvPr/>
        </p:nvGraphicFramePr>
        <p:xfrm>
          <a:off x="914400" y="2057400"/>
          <a:ext cx="9784080" cy="3006360"/>
        </p:xfrm>
        <a:graphic>
          <a:graphicData uri="http://schemas.openxmlformats.org/drawingml/2006/table">
            <a:tbl>
              <a:tblPr/>
              <a:tblGrid>
                <a:gridCol w="2926080"/>
                <a:gridCol w="2286000"/>
                <a:gridCol w="2286000"/>
                <a:gridCol w="2286000"/>
              </a:tblGrid>
              <a:tr h="429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 dirty="0">
                          <a:solidFill>
                            <a:srgbClr val="74FBD1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Metric</a:t>
                      </a:r>
                      <a:endParaRPr lang="en-US" sz="12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6480">
                      <a:solidFill>
                        <a:srgbClr val="26476F"/>
                      </a:solidFill>
                      <a:prstDash val="solid"/>
                    </a:lnL>
                    <a:lnR w="6480">
                      <a:solidFill>
                        <a:srgbClr val="26476F"/>
                      </a:solidFill>
                      <a:prstDash val="solid"/>
                    </a:lnR>
                    <a:lnT w="6480">
                      <a:solidFill>
                        <a:srgbClr val="26476F"/>
                      </a:solidFill>
                      <a:prstDash val="solid"/>
                    </a:lnT>
                    <a:lnB w="6480">
                      <a:solidFill>
                        <a:srgbClr val="26476F"/>
                      </a:solidFill>
                      <a:prstDash val="solid"/>
                    </a:lnB>
                    <a:solidFill>
                      <a:srgbClr val="0D1B2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74FBD1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Base Model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6480">
                      <a:solidFill>
                        <a:srgbClr val="26476F"/>
                      </a:solidFill>
                      <a:prstDash val="solid"/>
                    </a:lnL>
                    <a:lnR w="6480">
                      <a:solidFill>
                        <a:srgbClr val="26476F"/>
                      </a:solidFill>
                      <a:prstDash val="solid"/>
                    </a:lnR>
                    <a:lnT w="6480">
                      <a:solidFill>
                        <a:srgbClr val="26476F"/>
                      </a:solidFill>
                      <a:prstDash val="solid"/>
                    </a:lnT>
                    <a:lnB w="6480">
                      <a:solidFill>
                        <a:srgbClr val="26476F"/>
                      </a:solidFill>
                      <a:prstDash val="solid"/>
                    </a:lnB>
                    <a:solidFill>
                      <a:srgbClr val="0D1B2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74FBD1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Fine‑tuned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6480">
                      <a:solidFill>
                        <a:srgbClr val="26476F"/>
                      </a:solidFill>
                      <a:prstDash val="solid"/>
                    </a:lnL>
                    <a:lnR w="6480">
                      <a:solidFill>
                        <a:srgbClr val="26476F"/>
                      </a:solidFill>
                      <a:prstDash val="solid"/>
                    </a:lnR>
                    <a:lnT w="6480">
                      <a:solidFill>
                        <a:srgbClr val="26476F"/>
                      </a:solidFill>
                      <a:prstDash val="solid"/>
                    </a:lnT>
                    <a:lnB w="6480">
                      <a:solidFill>
                        <a:srgbClr val="26476F"/>
                      </a:solidFill>
                      <a:prstDash val="solid"/>
                    </a:lnB>
                    <a:solidFill>
                      <a:srgbClr val="0D1B2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74FBD1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Improvement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6480">
                      <a:solidFill>
                        <a:srgbClr val="26476F"/>
                      </a:solidFill>
                      <a:prstDash val="solid"/>
                    </a:lnL>
                    <a:lnR w="6480">
                      <a:solidFill>
                        <a:srgbClr val="26476F"/>
                      </a:solidFill>
                      <a:prstDash val="solid"/>
                    </a:lnR>
                    <a:lnT w="6480">
                      <a:solidFill>
                        <a:srgbClr val="26476F"/>
                      </a:solidFill>
                      <a:prstDash val="solid"/>
                    </a:lnT>
                    <a:lnB w="6480">
                      <a:solidFill>
                        <a:srgbClr val="26476F"/>
                      </a:solidFill>
                      <a:prstDash val="solid"/>
                    </a:lnB>
                    <a:solidFill>
                      <a:srgbClr val="0D1B2F"/>
                    </a:solidFill>
                  </a:tcPr>
                </a:tc>
              </a:tr>
              <a:tr h="429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B6C6E3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BLEU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6480">
                      <a:solidFill>
                        <a:srgbClr val="26476F"/>
                      </a:solidFill>
                      <a:prstDash val="solid"/>
                    </a:lnL>
                    <a:lnR w="6480">
                      <a:solidFill>
                        <a:srgbClr val="26476F"/>
                      </a:solidFill>
                      <a:prstDash val="solid"/>
                    </a:lnR>
                    <a:lnT w="6480">
                      <a:solidFill>
                        <a:srgbClr val="26476F"/>
                      </a:solidFill>
                      <a:prstDash val="solid"/>
                    </a:lnT>
                    <a:lnB w="6480">
                      <a:solidFill>
                        <a:srgbClr val="26476F"/>
                      </a:solidFill>
                      <a:prstDash val="solid"/>
                    </a:lnB>
                    <a:solidFill>
                      <a:srgbClr val="0D1B2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B6C6E3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27.5104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6480">
                      <a:solidFill>
                        <a:srgbClr val="26476F"/>
                      </a:solidFill>
                      <a:prstDash val="solid"/>
                    </a:lnL>
                    <a:lnR w="6480">
                      <a:solidFill>
                        <a:srgbClr val="26476F"/>
                      </a:solidFill>
                      <a:prstDash val="solid"/>
                    </a:lnR>
                    <a:lnT w="6480">
                      <a:solidFill>
                        <a:srgbClr val="26476F"/>
                      </a:solidFill>
                      <a:prstDash val="solid"/>
                    </a:lnT>
                    <a:lnB w="6480">
                      <a:solidFill>
                        <a:srgbClr val="26476F"/>
                      </a:solidFill>
                      <a:prstDash val="solid"/>
                    </a:lnB>
                    <a:solidFill>
                      <a:srgbClr val="0D1B2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B6C6E3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83.2815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6480">
                      <a:solidFill>
                        <a:srgbClr val="26476F"/>
                      </a:solidFill>
                      <a:prstDash val="solid"/>
                    </a:lnL>
                    <a:lnR w="6480">
                      <a:solidFill>
                        <a:srgbClr val="26476F"/>
                      </a:solidFill>
                      <a:prstDash val="solid"/>
                    </a:lnR>
                    <a:lnT w="6480">
                      <a:solidFill>
                        <a:srgbClr val="26476F"/>
                      </a:solidFill>
                      <a:prstDash val="solid"/>
                    </a:lnT>
                    <a:lnB w="6480">
                      <a:solidFill>
                        <a:srgbClr val="26476F"/>
                      </a:solidFill>
                      <a:prstDash val="solid"/>
                    </a:lnB>
                    <a:solidFill>
                      <a:srgbClr val="0D1B2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B6C6E3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+55.7711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6480">
                      <a:solidFill>
                        <a:srgbClr val="26476F"/>
                      </a:solidFill>
                      <a:prstDash val="solid"/>
                    </a:lnL>
                    <a:lnR w="6480">
                      <a:solidFill>
                        <a:srgbClr val="26476F"/>
                      </a:solidFill>
                      <a:prstDash val="solid"/>
                    </a:lnR>
                    <a:lnT w="6480">
                      <a:solidFill>
                        <a:srgbClr val="26476F"/>
                      </a:solidFill>
                      <a:prstDash val="solid"/>
                    </a:lnT>
                    <a:lnB w="6480">
                      <a:solidFill>
                        <a:srgbClr val="26476F"/>
                      </a:solidFill>
                      <a:prstDash val="solid"/>
                    </a:lnB>
                    <a:solidFill>
                      <a:srgbClr val="0D1B2F"/>
                    </a:solidFill>
                  </a:tcPr>
                </a:tc>
              </a:tr>
              <a:tr h="429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B6C6E3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CodeBLEU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6480">
                      <a:solidFill>
                        <a:srgbClr val="26476F"/>
                      </a:solidFill>
                      <a:prstDash val="solid"/>
                    </a:lnL>
                    <a:lnR w="6480">
                      <a:solidFill>
                        <a:srgbClr val="26476F"/>
                      </a:solidFill>
                      <a:prstDash val="solid"/>
                    </a:lnR>
                    <a:lnT w="6480">
                      <a:solidFill>
                        <a:srgbClr val="26476F"/>
                      </a:solidFill>
                      <a:prstDash val="solid"/>
                    </a:lnT>
                    <a:lnB w="6480">
                      <a:solidFill>
                        <a:srgbClr val="26476F"/>
                      </a:solidFill>
                      <a:prstDash val="solid"/>
                    </a:lnB>
                    <a:solidFill>
                      <a:srgbClr val="0D1B2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B6C6E3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0.3627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6480">
                      <a:solidFill>
                        <a:srgbClr val="26476F"/>
                      </a:solidFill>
                      <a:prstDash val="solid"/>
                    </a:lnL>
                    <a:lnR w="6480">
                      <a:solidFill>
                        <a:srgbClr val="26476F"/>
                      </a:solidFill>
                      <a:prstDash val="solid"/>
                    </a:lnR>
                    <a:lnT w="6480">
                      <a:solidFill>
                        <a:srgbClr val="26476F"/>
                      </a:solidFill>
                      <a:prstDash val="solid"/>
                    </a:lnT>
                    <a:lnB w="6480">
                      <a:solidFill>
                        <a:srgbClr val="26476F"/>
                      </a:solidFill>
                      <a:prstDash val="solid"/>
                    </a:lnB>
                    <a:solidFill>
                      <a:srgbClr val="0D1B2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B6C6E3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0.7376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6480">
                      <a:solidFill>
                        <a:srgbClr val="26476F"/>
                      </a:solidFill>
                      <a:prstDash val="solid"/>
                    </a:lnL>
                    <a:lnR w="6480">
                      <a:solidFill>
                        <a:srgbClr val="26476F"/>
                      </a:solidFill>
                      <a:prstDash val="solid"/>
                    </a:lnR>
                    <a:lnT w="6480">
                      <a:solidFill>
                        <a:srgbClr val="26476F"/>
                      </a:solidFill>
                      <a:prstDash val="solid"/>
                    </a:lnT>
                    <a:lnB w="6480">
                      <a:solidFill>
                        <a:srgbClr val="26476F"/>
                      </a:solidFill>
                      <a:prstDash val="solid"/>
                    </a:lnB>
                    <a:solidFill>
                      <a:srgbClr val="0D1B2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B6C6E3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+0.3749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6480">
                      <a:solidFill>
                        <a:srgbClr val="26476F"/>
                      </a:solidFill>
                      <a:prstDash val="solid"/>
                    </a:lnL>
                    <a:lnR w="6480">
                      <a:solidFill>
                        <a:srgbClr val="26476F"/>
                      </a:solidFill>
                      <a:prstDash val="solid"/>
                    </a:lnR>
                    <a:lnT w="6480">
                      <a:solidFill>
                        <a:srgbClr val="26476F"/>
                      </a:solidFill>
                      <a:prstDash val="solid"/>
                    </a:lnT>
                    <a:lnB w="6480">
                      <a:solidFill>
                        <a:srgbClr val="26476F"/>
                      </a:solidFill>
                      <a:prstDash val="solid"/>
                    </a:lnB>
                    <a:solidFill>
                      <a:srgbClr val="0D1B2F"/>
                    </a:solidFill>
                  </a:tcPr>
                </a:tc>
              </a:tr>
              <a:tr h="429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B6C6E3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Exact Match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6480">
                      <a:solidFill>
                        <a:srgbClr val="26476F"/>
                      </a:solidFill>
                      <a:prstDash val="solid"/>
                    </a:lnL>
                    <a:lnR w="6480">
                      <a:solidFill>
                        <a:srgbClr val="26476F"/>
                      </a:solidFill>
                      <a:prstDash val="solid"/>
                    </a:lnR>
                    <a:lnT w="6480">
                      <a:solidFill>
                        <a:srgbClr val="26476F"/>
                      </a:solidFill>
                      <a:prstDash val="solid"/>
                    </a:lnT>
                    <a:lnB w="6480">
                      <a:solidFill>
                        <a:srgbClr val="26476F"/>
                      </a:solidFill>
                      <a:prstDash val="solid"/>
                    </a:lnB>
                    <a:solidFill>
                      <a:srgbClr val="0D1B2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B6C6E3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0.0000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6480">
                      <a:solidFill>
                        <a:srgbClr val="26476F"/>
                      </a:solidFill>
                      <a:prstDash val="solid"/>
                    </a:lnL>
                    <a:lnR w="6480">
                      <a:solidFill>
                        <a:srgbClr val="26476F"/>
                      </a:solidFill>
                      <a:prstDash val="solid"/>
                    </a:lnR>
                    <a:lnT w="6480">
                      <a:solidFill>
                        <a:srgbClr val="26476F"/>
                      </a:solidFill>
                      <a:prstDash val="solid"/>
                    </a:lnT>
                    <a:lnB w="6480">
                      <a:solidFill>
                        <a:srgbClr val="26476F"/>
                      </a:solidFill>
                      <a:prstDash val="solid"/>
                    </a:lnB>
                    <a:solidFill>
                      <a:srgbClr val="0D1B2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 dirty="0">
                          <a:solidFill>
                            <a:srgbClr val="B6C6E3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0.4000</a:t>
                      </a:r>
                      <a:endParaRPr lang="en-US" sz="12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6480">
                      <a:solidFill>
                        <a:srgbClr val="26476F"/>
                      </a:solidFill>
                      <a:prstDash val="solid"/>
                    </a:lnL>
                    <a:lnR w="6480">
                      <a:solidFill>
                        <a:srgbClr val="26476F"/>
                      </a:solidFill>
                      <a:prstDash val="solid"/>
                    </a:lnR>
                    <a:lnT w="6480">
                      <a:solidFill>
                        <a:srgbClr val="26476F"/>
                      </a:solidFill>
                      <a:prstDash val="solid"/>
                    </a:lnT>
                    <a:lnB w="6480">
                      <a:solidFill>
                        <a:srgbClr val="26476F"/>
                      </a:solidFill>
                      <a:prstDash val="solid"/>
                    </a:lnB>
                    <a:solidFill>
                      <a:srgbClr val="0D1B2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B6C6E3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+0.4000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6480">
                      <a:solidFill>
                        <a:srgbClr val="26476F"/>
                      </a:solidFill>
                      <a:prstDash val="solid"/>
                    </a:lnL>
                    <a:lnR w="6480">
                      <a:solidFill>
                        <a:srgbClr val="26476F"/>
                      </a:solidFill>
                      <a:prstDash val="solid"/>
                    </a:lnR>
                    <a:lnT w="6480">
                      <a:solidFill>
                        <a:srgbClr val="26476F"/>
                      </a:solidFill>
                      <a:prstDash val="solid"/>
                    </a:lnT>
                    <a:lnB w="6480">
                      <a:solidFill>
                        <a:srgbClr val="26476F"/>
                      </a:solidFill>
                      <a:prstDash val="solid"/>
                    </a:lnB>
                    <a:solidFill>
                      <a:srgbClr val="0D1B2F"/>
                    </a:solidFill>
                  </a:tcPr>
                </a:tc>
              </a:tr>
              <a:tr h="429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B6C6E3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Syntax Accuracy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6480">
                      <a:solidFill>
                        <a:srgbClr val="26476F"/>
                      </a:solidFill>
                      <a:prstDash val="solid"/>
                    </a:lnL>
                    <a:lnR w="6480">
                      <a:solidFill>
                        <a:srgbClr val="26476F"/>
                      </a:solidFill>
                      <a:prstDash val="solid"/>
                    </a:lnR>
                    <a:lnT w="6480">
                      <a:solidFill>
                        <a:srgbClr val="26476F"/>
                      </a:solidFill>
                      <a:prstDash val="solid"/>
                    </a:lnT>
                    <a:lnB w="6480">
                      <a:solidFill>
                        <a:srgbClr val="26476F"/>
                      </a:solidFill>
                      <a:prstDash val="solid"/>
                    </a:lnB>
                    <a:solidFill>
                      <a:srgbClr val="0D1B2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B6C6E3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0.0000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6480">
                      <a:solidFill>
                        <a:srgbClr val="26476F"/>
                      </a:solidFill>
                      <a:prstDash val="solid"/>
                    </a:lnL>
                    <a:lnR w="6480">
                      <a:solidFill>
                        <a:srgbClr val="26476F"/>
                      </a:solidFill>
                      <a:prstDash val="solid"/>
                    </a:lnR>
                    <a:lnT w="6480">
                      <a:solidFill>
                        <a:srgbClr val="26476F"/>
                      </a:solidFill>
                      <a:prstDash val="solid"/>
                    </a:lnT>
                    <a:lnB w="6480">
                      <a:solidFill>
                        <a:srgbClr val="26476F"/>
                      </a:solidFill>
                      <a:prstDash val="solid"/>
                    </a:lnB>
                    <a:solidFill>
                      <a:srgbClr val="0D1B2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B6C6E3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0.9200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6480">
                      <a:solidFill>
                        <a:srgbClr val="26476F"/>
                      </a:solidFill>
                      <a:prstDash val="solid"/>
                    </a:lnL>
                    <a:lnR w="6480">
                      <a:solidFill>
                        <a:srgbClr val="26476F"/>
                      </a:solidFill>
                      <a:prstDash val="solid"/>
                    </a:lnR>
                    <a:lnT w="6480">
                      <a:solidFill>
                        <a:srgbClr val="26476F"/>
                      </a:solidFill>
                      <a:prstDash val="solid"/>
                    </a:lnT>
                    <a:lnB w="6480">
                      <a:solidFill>
                        <a:srgbClr val="26476F"/>
                      </a:solidFill>
                      <a:prstDash val="solid"/>
                    </a:lnB>
                    <a:solidFill>
                      <a:srgbClr val="0D1B2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B6C6E3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+0.9200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6480">
                      <a:solidFill>
                        <a:srgbClr val="26476F"/>
                      </a:solidFill>
                      <a:prstDash val="solid"/>
                    </a:lnL>
                    <a:lnR w="6480">
                      <a:solidFill>
                        <a:srgbClr val="26476F"/>
                      </a:solidFill>
                      <a:prstDash val="solid"/>
                    </a:lnR>
                    <a:lnT w="6480">
                      <a:solidFill>
                        <a:srgbClr val="26476F"/>
                      </a:solidFill>
                      <a:prstDash val="solid"/>
                    </a:lnT>
                    <a:lnB w="6480">
                      <a:solidFill>
                        <a:srgbClr val="26476F"/>
                      </a:solidFill>
                      <a:prstDash val="solid"/>
                    </a:lnB>
                    <a:solidFill>
                      <a:srgbClr val="0D1B2F"/>
                    </a:solidFill>
                  </a:tcPr>
                </a:tc>
              </a:tr>
              <a:tr h="429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B6C6E3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AST Similarity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6480">
                      <a:solidFill>
                        <a:srgbClr val="26476F"/>
                      </a:solidFill>
                      <a:prstDash val="solid"/>
                    </a:lnL>
                    <a:lnR w="6480">
                      <a:solidFill>
                        <a:srgbClr val="26476F"/>
                      </a:solidFill>
                      <a:prstDash val="solid"/>
                    </a:lnR>
                    <a:lnT w="6480">
                      <a:solidFill>
                        <a:srgbClr val="26476F"/>
                      </a:solidFill>
                      <a:prstDash val="solid"/>
                    </a:lnT>
                    <a:lnB w="6480">
                      <a:solidFill>
                        <a:srgbClr val="26476F"/>
                      </a:solidFill>
                      <a:prstDash val="solid"/>
                    </a:lnB>
                    <a:solidFill>
                      <a:srgbClr val="0D1B2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B6C6E3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0.8403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6480">
                      <a:solidFill>
                        <a:srgbClr val="26476F"/>
                      </a:solidFill>
                      <a:prstDash val="solid"/>
                    </a:lnL>
                    <a:lnR w="6480">
                      <a:solidFill>
                        <a:srgbClr val="26476F"/>
                      </a:solidFill>
                      <a:prstDash val="solid"/>
                    </a:lnR>
                    <a:lnT w="6480">
                      <a:solidFill>
                        <a:srgbClr val="26476F"/>
                      </a:solidFill>
                      <a:prstDash val="solid"/>
                    </a:lnT>
                    <a:lnB w="6480">
                      <a:solidFill>
                        <a:srgbClr val="26476F"/>
                      </a:solidFill>
                      <a:prstDash val="solid"/>
                    </a:lnB>
                    <a:solidFill>
                      <a:srgbClr val="0D1B2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B6C6E3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0.9817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6480">
                      <a:solidFill>
                        <a:srgbClr val="26476F"/>
                      </a:solidFill>
                      <a:prstDash val="solid"/>
                    </a:lnL>
                    <a:lnR w="6480">
                      <a:solidFill>
                        <a:srgbClr val="26476F"/>
                      </a:solidFill>
                      <a:prstDash val="solid"/>
                    </a:lnR>
                    <a:lnT w="6480">
                      <a:solidFill>
                        <a:srgbClr val="26476F"/>
                      </a:solidFill>
                      <a:prstDash val="solid"/>
                    </a:lnT>
                    <a:lnB w="6480">
                      <a:solidFill>
                        <a:srgbClr val="26476F"/>
                      </a:solidFill>
                      <a:prstDash val="solid"/>
                    </a:lnB>
                    <a:solidFill>
                      <a:srgbClr val="0D1B2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B6C6E3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+0.1414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6480">
                      <a:solidFill>
                        <a:srgbClr val="26476F"/>
                      </a:solidFill>
                      <a:prstDash val="solid"/>
                    </a:lnL>
                    <a:lnR w="6480">
                      <a:solidFill>
                        <a:srgbClr val="26476F"/>
                      </a:solidFill>
                      <a:prstDash val="solid"/>
                    </a:lnR>
                    <a:lnT w="6480">
                      <a:solidFill>
                        <a:srgbClr val="26476F"/>
                      </a:solidFill>
                      <a:prstDash val="solid"/>
                    </a:lnT>
                    <a:lnB w="6480">
                      <a:solidFill>
                        <a:srgbClr val="26476F"/>
                      </a:solidFill>
                      <a:prstDash val="solid"/>
                    </a:lnB>
                    <a:solidFill>
                      <a:srgbClr val="0D1B2F"/>
                    </a:solidFill>
                  </a:tcPr>
                </a:tc>
              </a:tr>
              <a:tr h="429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B6C6E3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Compilation Rate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6480">
                      <a:solidFill>
                        <a:srgbClr val="26476F"/>
                      </a:solidFill>
                      <a:prstDash val="solid"/>
                    </a:lnL>
                    <a:lnR w="6480">
                      <a:solidFill>
                        <a:srgbClr val="26476F"/>
                      </a:solidFill>
                      <a:prstDash val="solid"/>
                    </a:lnR>
                    <a:lnT w="6480">
                      <a:solidFill>
                        <a:srgbClr val="26476F"/>
                      </a:solidFill>
                      <a:prstDash val="solid"/>
                    </a:lnT>
                    <a:lnB w="6480">
                      <a:solidFill>
                        <a:srgbClr val="26476F"/>
                      </a:solidFill>
                      <a:prstDash val="solid"/>
                    </a:lnB>
                    <a:solidFill>
                      <a:srgbClr val="0D1B2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 dirty="0">
                          <a:solidFill>
                            <a:srgbClr val="B6C6E3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0.0000</a:t>
                      </a:r>
                      <a:endParaRPr lang="en-US" sz="12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6480">
                      <a:solidFill>
                        <a:srgbClr val="26476F"/>
                      </a:solidFill>
                      <a:prstDash val="solid"/>
                    </a:lnL>
                    <a:lnR w="6480">
                      <a:solidFill>
                        <a:srgbClr val="26476F"/>
                      </a:solidFill>
                      <a:prstDash val="solid"/>
                    </a:lnR>
                    <a:lnT w="6480">
                      <a:solidFill>
                        <a:srgbClr val="26476F"/>
                      </a:solidFill>
                      <a:prstDash val="solid"/>
                    </a:lnT>
                    <a:lnB w="6480">
                      <a:solidFill>
                        <a:srgbClr val="26476F"/>
                      </a:solidFill>
                      <a:prstDash val="solid"/>
                    </a:lnB>
                    <a:solidFill>
                      <a:srgbClr val="0D1B2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 dirty="0">
                          <a:solidFill>
                            <a:srgbClr val="B6C6E3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0.9200</a:t>
                      </a:r>
                      <a:endParaRPr lang="en-US" sz="12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6480">
                      <a:solidFill>
                        <a:srgbClr val="26476F"/>
                      </a:solidFill>
                      <a:prstDash val="solid"/>
                    </a:lnL>
                    <a:lnR w="6480">
                      <a:solidFill>
                        <a:srgbClr val="26476F"/>
                      </a:solidFill>
                      <a:prstDash val="solid"/>
                    </a:lnR>
                    <a:lnT w="6480">
                      <a:solidFill>
                        <a:srgbClr val="26476F"/>
                      </a:solidFill>
                      <a:prstDash val="solid"/>
                    </a:lnT>
                    <a:lnB w="6480">
                      <a:solidFill>
                        <a:srgbClr val="26476F"/>
                      </a:solidFill>
                      <a:prstDash val="solid"/>
                    </a:lnB>
                    <a:solidFill>
                      <a:srgbClr val="0D1B2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 dirty="0">
                          <a:solidFill>
                            <a:srgbClr val="B6C6E3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+0.9200</a:t>
                      </a:r>
                      <a:endParaRPr lang="en-US" sz="12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6480">
                      <a:solidFill>
                        <a:srgbClr val="26476F"/>
                      </a:solidFill>
                      <a:prstDash val="solid"/>
                    </a:lnL>
                    <a:lnR w="6480">
                      <a:solidFill>
                        <a:srgbClr val="26476F"/>
                      </a:solidFill>
                      <a:prstDash val="solid"/>
                    </a:lnR>
                    <a:lnT w="6480">
                      <a:solidFill>
                        <a:srgbClr val="26476F"/>
                      </a:solidFill>
                      <a:prstDash val="solid"/>
                    </a:lnT>
                    <a:lnB w="6480">
                      <a:solidFill>
                        <a:srgbClr val="26476F"/>
                      </a:solidFill>
                      <a:prstDash val="solid"/>
                    </a:lnB>
                    <a:solidFill>
                      <a:srgbClr val="0D1B2F"/>
                    </a:solidFill>
                  </a:tcPr>
                </a:tc>
              </a:tr>
            </a:tbl>
          </a:graphicData>
        </a:graphic>
      </p:graphicFrame>
      <p:sp>
        <p:nvSpPr>
          <p:cNvPr id="311" name="Shape 9"/>
          <p:cNvSpPr/>
          <p:nvPr/>
        </p:nvSpPr>
        <p:spPr>
          <a:xfrm>
            <a:off x="914400" y="2514600"/>
            <a:ext cx="10287000" cy="360"/>
          </a:xfrm>
          <a:prstGeom prst="line">
            <a:avLst/>
          </a:prstGeom>
          <a:ln w="12600">
            <a:solidFill>
              <a:srgbClr val="25D7FF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0"/>
          <p:cNvSpPr/>
          <p:nvPr/>
        </p:nvSpPr>
        <p:spPr>
          <a:xfrm>
            <a:off x="914400" y="5715000"/>
            <a:ext cx="80463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F8FBFF"/>
                </a:solidFill>
                <a:effectLst/>
                <a:uFillTx/>
                <a:latin typeface="Aptos"/>
              </a:rPr>
              <a:t>Best result: syntax accuracy and compilation proxy moved from 0% to 92%.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0"/>
          <p:cNvSpPr/>
          <p:nvPr/>
        </p:nvSpPr>
        <p:spPr>
          <a:xfrm>
            <a:off x="830520" y="360"/>
            <a:ext cx="12191400" cy="6857640"/>
          </a:xfrm>
          <a:prstGeom prst="rect">
            <a:avLst/>
          </a:prstGeom>
          <a:solidFill>
            <a:srgbClr val="0A0F1F"/>
          </a:solidFill>
          <a:ln w="12600">
            <a:solidFill>
              <a:srgbClr val="0A0F1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1"/>
          <p:cNvSpPr/>
          <p:nvPr/>
        </p:nvSpPr>
        <p:spPr>
          <a:xfrm>
            <a:off x="-594360" y="5285160"/>
            <a:ext cx="329148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25560">
            <a:solidFill>
              <a:srgbClr val="8F5CFF">
                <a:alpha val="5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2"/>
          <p:cNvSpPr/>
          <p:nvPr/>
        </p:nvSpPr>
        <p:spPr>
          <a:xfrm>
            <a:off x="8942760" y="-292680"/>
            <a:ext cx="3748680" cy="2285640"/>
          </a:xfrm>
          <a:prstGeom prst="arc">
            <a:avLst>
              <a:gd name="adj1" fmla="val 16200000"/>
              <a:gd name="adj2" fmla="val 0"/>
            </a:avLst>
          </a:prstGeom>
          <a:noFill/>
          <a:ln w="25560">
            <a:solidFill>
              <a:srgbClr val="25D7FF">
                <a:alpha val="46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3"/>
          <p:cNvSpPr/>
          <p:nvPr/>
        </p:nvSpPr>
        <p:spPr>
          <a:xfrm>
            <a:off x="502920" y="647388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750" b="0" u="none" strike="noStrike" dirty="0" err="1" smtClean="0">
                <a:solidFill>
                  <a:srgbClr val="7E8CA6"/>
                </a:solidFill>
                <a:effectLst/>
                <a:uFillTx/>
                <a:latin typeface="Aptos"/>
                <a:ea typeface="Aptos"/>
              </a:rPr>
              <a:t>CodeGen</a:t>
            </a:r>
            <a:r>
              <a:rPr lang="en-US" sz="750" b="0" u="none" strike="noStrike" dirty="0" smtClean="0">
                <a:solidFill>
                  <a:srgbClr val="7E8CA6"/>
                </a:solidFill>
                <a:effectLst/>
                <a:uFillTx/>
                <a:latin typeface="Aptos"/>
                <a:ea typeface="Aptos"/>
              </a:rPr>
              <a:t> Group 2  • Capstone Project Group 6</a:t>
            </a:r>
            <a:endParaRPr lang="en-US" sz="750" dirty="0">
              <a:solidFill>
                <a:srgbClr val="FFFFFF"/>
              </a:solidFill>
            </a:endParaRPr>
          </a:p>
        </p:txBody>
      </p:sp>
      <p:sp>
        <p:nvSpPr>
          <p:cNvPr id="317" name="Shape 4"/>
          <p:cNvSpPr/>
          <p:nvPr/>
        </p:nvSpPr>
        <p:spPr>
          <a:xfrm>
            <a:off x="10744200" y="6565320"/>
            <a:ext cx="914400" cy="360"/>
          </a:xfrm>
          <a:prstGeom prst="line">
            <a:avLst/>
          </a:prstGeom>
          <a:ln w="15120">
            <a:solidFill>
              <a:srgbClr val="25D7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5"/>
          <p:cNvSpPr/>
          <p:nvPr/>
        </p:nvSpPr>
        <p:spPr>
          <a:xfrm>
            <a:off x="640080" y="39312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 dirty="0" smtClean="0">
                <a:solidFill>
                  <a:srgbClr val="74FBD1"/>
                </a:solidFill>
                <a:effectLst/>
                <a:uFillTx/>
                <a:latin typeface="Aptos"/>
              </a:rPr>
              <a:t>Stage 2 DEMO</a:t>
            </a:r>
            <a:endParaRPr lang="en-US" sz="88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6"/>
          <p:cNvSpPr/>
          <p:nvPr/>
        </p:nvSpPr>
        <p:spPr>
          <a:xfrm>
            <a:off x="640080" y="713160"/>
            <a:ext cx="7040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2500" b="1" u="none" strike="noStrike" dirty="0" smtClean="0">
                <a:solidFill>
                  <a:srgbClr val="F8FBFF"/>
                </a:solidFill>
                <a:effectLst/>
                <a:uFillTx/>
                <a:latin typeface="Aptos"/>
              </a:rPr>
              <a:t>Stage 2 – Output format</a:t>
            </a:r>
            <a:endParaRPr lang="en-US" sz="2500" dirty="0">
              <a:solidFill>
                <a:srgbClr val="FFFFFF"/>
              </a:solidFill>
            </a:endParaRPr>
          </a:p>
        </p:txBody>
      </p:sp>
      <p:sp>
        <p:nvSpPr>
          <p:cNvPr id="320" name="Shape 7"/>
          <p:cNvSpPr/>
          <p:nvPr/>
        </p:nvSpPr>
        <p:spPr>
          <a:xfrm>
            <a:off x="640080" y="1334880"/>
            <a:ext cx="822960" cy="360"/>
          </a:xfrm>
          <a:prstGeom prst="line">
            <a:avLst/>
          </a:prstGeom>
          <a:ln w="28080">
            <a:solidFill>
              <a:srgbClr val="25D7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8"/>
          <p:cNvSpPr/>
          <p:nvPr/>
        </p:nvSpPr>
        <p:spPr>
          <a:xfrm>
            <a:off x="658440" y="1353240"/>
            <a:ext cx="1081692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>
              <a:tabLst>
                <a:tab pos="0" algn="l"/>
              </a:tabLst>
            </a:pPr>
            <a:endParaRPr lang="en-US" sz="1220" b="0" u="none" strike="noStrike" dirty="0" smtClean="0">
              <a:solidFill>
                <a:srgbClr val="B6C6E3"/>
              </a:solidFill>
              <a:effectLst/>
              <a:uFillTx/>
              <a:latin typeface="Aptos"/>
              <a:ea typeface="Aptos"/>
            </a:endParaRPr>
          </a:p>
          <a:p>
            <a:pPr>
              <a:tabLst>
                <a:tab pos="0" algn="l"/>
              </a:tabLst>
            </a:pPr>
            <a:r>
              <a:rPr lang="en-US" sz="1220" dirty="0" smtClean="0">
                <a:solidFill>
                  <a:srgbClr val="B6C6E3"/>
                </a:solidFill>
                <a:latin typeface="Aptos"/>
                <a:ea typeface="Aptos"/>
              </a:rPr>
              <a:t>T</a:t>
            </a:r>
            <a:r>
              <a:rPr lang="en-US" sz="1220" b="0" u="none" strike="noStrike" dirty="0" smtClean="0">
                <a:solidFill>
                  <a:srgbClr val="B6C6E3"/>
                </a:solidFill>
                <a:effectLst/>
                <a:uFillTx/>
                <a:latin typeface="Aptos"/>
                <a:ea typeface="Aptos"/>
              </a:rPr>
              <a:t>he Stage 2 fine-tuned model produces concise and relevant C# Code, with outputs focused on the required logic and minimal unnecessary content.</a:t>
            </a:r>
            <a:endParaRPr lang="en-US" sz="1220" dirty="0">
              <a:solidFill>
                <a:srgbClr val="FFFFFF"/>
              </a:solidFill>
            </a:endParaRPr>
          </a:p>
        </p:txBody>
      </p:sp>
      <p:sp>
        <p:nvSpPr>
          <p:cNvPr id="322" name="Shape 9"/>
          <p:cNvSpPr/>
          <p:nvPr/>
        </p:nvSpPr>
        <p:spPr>
          <a:xfrm>
            <a:off x="713160" y="2057400"/>
            <a:ext cx="5257440" cy="2834280"/>
          </a:xfrm>
          <a:prstGeom prst="roundRect">
            <a:avLst>
              <a:gd name="adj" fmla="val 2258"/>
            </a:avLst>
          </a:prstGeom>
          <a:solidFill>
            <a:srgbClr val="06111F">
              <a:alpha val="98000"/>
            </a:srgbClr>
          </a:solidFill>
          <a:ln w="10080">
            <a:solidFill>
              <a:srgbClr val="25D7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0"/>
          <p:cNvSpPr/>
          <p:nvPr/>
        </p:nvSpPr>
        <p:spPr>
          <a:xfrm>
            <a:off x="914400" y="2176200"/>
            <a:ext cx="4854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dirty="0" smtClean="0">
                <a:solidFill>
                  <a:srgbClr val="25D7FF"/>
                </a:solidFill>
                <a:effectLst/>
                <a:uFillTx/>
                <a:latin typeface="Aptos"/>
              </a:rPr>
              <a:t>Stage 2 </a:t>
            </a:r>
            <a:r>
              <a:rPr lang="en-US" sz="850" b="1" dirty="0" smtClean="0">
                <a:solidFill>
                  <a:srgbClr val="25D7FF"/>
                </a:solidFill>
                <a:latin typeface="Aptos"/>
              </a:rPr>
              <a:t>inp</a:t>
            </a:r>
            <a:r>
              <a:rPr lang="en-US" sz="850" b="1" u="none" strike="noStrike" dirty="0" smtClean="0">
                <a:solidFill>
                  <a:srgbClr val="25D7FF"/>
                </a:solidFill>
                <a:effectLst/>
                <a:uFillTx/>
                <a:latin typeface="Aptos"/>
              </a:rPr>
              <a:t>ut</a:t>
            </a:r>
            <a:endParaRPr lang="en-US" sz="8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1"/>
          <p:cNvSpPr/>
          <p:nvPr/>
        </p:nvSpPr>
        <p:spPr>
          <a:xfrm>
            <a:off x="914400" y="2468880"/>
            <a:ext cx="4854960" cy="230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dirty="0" smtClean="0">
                <a:solidFill>
                  <a:srgbClr val="E6F7FF"/>
                </a:solidFill>
                <a:latin typeface="Cascadia Mono"/>
                <a:ea typeface="Cascadia Mono"/>
              </a:rPr>
              <a:t>Java Input: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20" dirty="0" smtClean="0">
              <a:solidFill>
                <a:srgbClr val="E6F7FF"/>
              </a:solidFill>
              <a:latin typeface="Cascadia Mono"/>
              <a:ea typeface="Cascadia Mono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 smtClean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public </a:t>
            </a: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static long factorial(</a:t>
            </a:r>
            <a:r>
              <a:rPr lang="en-US" sz="820" b="0" u="none" strike="noStrike" dirty="0" err="1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int</a:t>
            </a: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 n) {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  if (n &lt; 0)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    throw new </a:t>
            </a:r>
            <a:r>
              <a:rPr lang="en-US" sz="820" b="0" u="none" strike="noStrike" dirty="0" err="1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IllegalArgumentException</a:t>
            </a: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(...);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  else if (n == 0 || n == 1) return 1;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  else return n * factorial(n - 1);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}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12"/>
          <p:cNvSpPr/>
          <p:nvPr/>
        </p:nvSpPr>
        <p:spPr>
          <a:xfrm>
            <a:off x="6217920" y="2057400"/>
            <a:ext cx="5257440" cy="2834280"/>
          </a:xfrm>
          <a:prstGeom prst="roundRect">
            <a:avLst>
              <a:gd name="adj" fmla="val 2258"/>
            </a:avLst>
          </a:prstGeom>
          <a:solidFill>
            <a:srgbClr val="06111F">
              <a:alpha val="98000"/>
            </a:srgbClr>
          </a:solidFill>
          <a:ln w="10080">
            <a:solidFill>
              <a:srgbClr val="00E38C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3"/>
          <p:cNvSpPr/>
          <p:nvPr/>
        </p:nvSpPr>
        <p:spPr>
          <a:xfrm>
            <a:off x="6419160" y="2176200"/>
            <a:ext cx="4854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dirty="0">
                <a:solidFill>
                  <a:srgbClr val="00E38C"/>
                </a:solidFill>
                <a:effectLst/>
                <a:uFillTx/>
                <a:latin typeface="Aptos"/>
              </a:rPr>
              <a:t>Stage 2 output</a:t>
            </a:r>
            <a:endParaRPr lang="en-US" sz="8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4"/>
          <p:cNvSpPr/>
          <p:nvPr/>
        </p:nvSpPr>
        <p:spPr>
          <a:xfrm>
            <a:off x="6419160" y="2468880"/>
            <a:ext cx="4854960" cy="230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Generated C</a:t>
            </a:r>
            <a:r>
              <a:rPr lang="en-US" sz="820" b="0" u="none" strike="noStrike" dirty="0" smtClean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#: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public static long Factorial(</a:t>
            </a:r>
            <a:r>
              <a:rPr lang="en-US" sz="820" b="0" u="none" strike="noStrike" dirty="0" err="1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int</a:t>
            </a: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 n){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  if (n &lt; 0){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    throw new </a:t>
            </a:r>
            <a:r>
              <a:rPr lang="en-US" sz="820" b="0" u="none" strike="noStrike" dirty="0" err="1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ArgumentException</a:t>
            </a: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(...);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  } else {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    if (n == 0 || n == 1){ return 1; }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    else { return n * Factorial(n - 1); }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  }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}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5"/>
          <p:cNvSpPr/>
          <p:nvPr/>
        </p:nvSpPr>
        <p:spPr>
          <a:xfrm>
            <a:off x="914400" y="5394960"/>
            <a:ext cx="10240920" cy="658080"/>
          </a:xfrm>
          <a:prstGeom prst="roundRect">
            <a:avLst>
              <a:gd name="adj" fmla="val 11111"/>
            </a:avLst>
          </a:prstGeom>
          <a:solidFill>
            <a:srgbClr val="0D1B2F">
              <a:alpha val="98000"/>
            </a:srgbClr>
          </a:solidFill>
          <a:ln w="10080">
            <a:solidFill>
              <a:srgbClr val="00E38C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6"/>
          <p:cNvSpPr/>
          <p:nvPr/>
        </p:nvSpPr>
        <p:spPr>
          <a:xfrm>
            <a:off x="1143000" y="5559480"/>
            <a:ext cx="9783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dirty="0" smtClean="0">
                <a:solidFill>
                  <a:srgbClr val="00E38C"/>
                </a:solidFill>
                <a:latin typeface="Aptos"/>
              </a:rPr>
              <a:t>Takeaway</a:t>
            </a:r>
            <a:endParaRPr lang="en-US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7"/>
          <p:cNvSpPr/>
          <p:nvPr/>
        </p:nvSpPr>
        <p:spPr>
          <a:xfrm>
            <a:off x="1143000" y="5879520"/>
            <a:ext cx="9783720" cy="6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47500" lnSpcReduction="20000"/>
          </a:bodyPr>
          <a:lstStyle/>
          <a:p>
            <a:pPr>
              <a:tabLst>
                <a:tab pos="0" algn="l"/>
              </a:tabLst>
            </a:pPr>
            <a:r>
              <a:rPr lang="en-US" sz="1030" b="0" u="none" strike="noStrike" dirty="0" smtClean="0">
                <a:solidFill>
                  <a:srgbClr val="B6C6E3"/>
                </a:solidFill>
                <a:effectLst/>
                <a:uFillTx/>
                <a:latin typeface="Aptos"/>
              </a:rPr>
              <a:t>For Java → C#, the improvement is not only metric-based: the output format becomes more aligned with the expected method-level answer.</a:t>
            </a:r>
            <a:endParaRPr lang="en-US" sz="103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0"/>
          <p:cNvSpPr/>
          <p:nvPr/>
        </p:nvSpPr>
        <p:spPr>
          <a:xfrm>
            <a:off x="0" y="25908"/>
            <a:ext cx="12191400" cy="6857640"/>
          </a:xfrm>
          <a:prstGeom prst="rect">
            <a:avLst/>
          </a:prstGeom>
          <a:solidFill>
            <a:srgbClr val="0A0F1F"/>
          </a:solidFill>
          <a:ln w="12600">
            <a:solidFill>
              <a:srgbClr val="0A0F1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1"/>
          <p:cNvSpPr/>
          <p:nvPr/>
        </p:nvSpPr>
        <p:spPr>
          <a:xfrm>
            <a:off x="-594360" y="5285160"/>
            <a:ext cx="329148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25560">
            <a:solidFill>
              <a:srgbClr val="8F5CFF">
                <a:alpha val="5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2"/>
          <p:cNvSpPr/>
          <p:nvPr/>
        </p:nvSpPr>
        <p:spPr>
          <a:xfrm>
            <a:off x="8942760" y="-292680"/>
            <a:ext cx="3748680" cy="2285640"/>
          </a:xfrm>
          <a:prstGeom prst="arc">
            <a:avLst>
              <a:gd name="adj1" fmla="val 16200000"/>
              <a:gd name="adj2" fmla="val 0"/>
            </a:avLst>
          </a:prstGeom>
          <a:noFill/>
          <a:ln w="25560">
            <a:solidFill>
              <a:srgbClr val="25D7FF">
                <a:alpha val="46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3"/>
          <p:cNvSpPr/>
          <p:nvPr/>
        </p:nvSpPr>
        <p:spPr>
          <a:xfrm>
            <a:off x="502920" y="647388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750" b="0" u="none" strike="noStrike" dirty="0" err="1" smtClean="0">
                <a:solidFill>
                  <a:srgbClr val="7E8CA6"/>
                </a:solidFill>
                <a:effectLst/>
                <a:uFillTx/>
                <a:latin typeface="Aptos"/>
                <a:ea typeface="Aptos"/>
              </a:rPr>
              <a:t>CodeGen</a:t>
            </a:r>
            <a:r>
              <a:rPr lang="en-US" sz="750" b="0" u="none" strike="noStrike" dirty="0" smtClean="0">
                <a:solidFill>
                  <a:srgbClr val="7E8CA6"/>
                </a:solidFill>
                <a:effectLst/>
                <a:uFillTx/>
                <a:latin typeface="Aptos"/>
                <a:ea typeface="Aptos"/>
              </a:rPr>
              <a:t> Group 2  • Capstone Project Group 6</a:t>
            </a:r>
            <a:endParaRPr lang="en-US" sz="750" dirty="0">
              <a:solidFill>
                <a:srgbClr val="FFFFFF"/>
              </a:solidFill>
            </a:endParaRPr>
          </a:p>
        </p:txBody>
      </p:sp>
      <p:sp>
        <p:nvSpPr>
          <p:cNvPr id="317" name="Shape 4"/>
          <p:cNvSpPr/>
          <p:nvPr/>
        </p:nvSpPr>
        <p:spPr>
          <a:xfrm>
            <a:off x="10744200" y="6565320"/>
            <a:ext cx="914400" cy="360"/>
          </a:xfrm>
          <a:prstGeom prst="line">
            <a:avLst/>
          </a:prstGeom>
          <a:ln w="15120">
            <a:solidFill>
              <a:srgbClr val="25D7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5"/>
          <p:cNvSpPr/>
          <p:nvPr/>
        </p:nvSpPr>
        <p:spPr>
          <a:xfrm>
            <a:off x="640080" y="39312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74FBD1"/>
                </a:solidFill>
                <a:effectLst/>
                <a:uFillTx/>
                <a:latin typeface="Aptos"/>
              </a:rPr>
              <a:t>DEMO FROM NOTEBOOK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6"/>
          <p:cNvSpPr/>
          <p:nvPr/>
        </p:nvSpPr>
        <p:spPr>
          <a:xfrm>
            <a:off x="640080" y="713160"/>
            <a:ext cx="7040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dirty="0" smtClean="0">
                <a:solidFill>
                  <a:srgbClr val="F8FBFF"/>
                </a:solidFill>
                <a:effectLst/>
                <a:uFillTx/>
                <a:latin typeface="Aptos"/>
              </a:rPr>
              <a:t>End‑to‑end chained inference</a:t>
            </a:r>
            <a:endParaRPr lang="en-US" sz="2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7"/>
          <p:cNvSpPr/>
          <p:nvPr/>
        </p:nvSpPr>
        <p:spPr>
          <a:xfrm>
            <a:off x="640080" y="1334880"/>
            <a:ext cx="822960" cy="360"/>
          </a:xfrm>
          <a:prstGeom prst="line">
            <a:avLst/>
          </a:prstGeom>
          <a:ln w="28080">
            <a:solidFill>
              <a:srgbClr val="25D7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8"/>
          <p:cNvSpPr/>
          <p:nvPr/>
        </p:nvSpPr>
        <p:spPr>
          <a:xfrm>
            <a:off x="658440" y="1353240"/>
            <a:ext cx="658332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 dirty="0">
                <a:solidFill>
                  <a:srgbClr val="B6C6E3"/>
                </a:solidFill>
                <a:effectLst/>
                <a:uFillTx/>
                <a:latin typeface="Aptos"/>
                <a:ea typeface="Aptos"/>
              </a:rPr>
              <a:t>The notebook validates all three modes: NL → Java, Java → C#, and chained NL → Java → C#.</a:t>
            </a:r>
            <a:endParaRPr lang="en-US" sz="12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9"/>
          <p:cNvSpPr/>
          <p:nvPr/>
        </p:nvSpPr>
        <p:spPr>
          <a:xfrm>
            <a:off x="713160" y="2057400"/>
            <a:ext cx="5257440" cy="2834280"/>
          </a:xfrm>
          <a:prstGeom prst="roundRect">
            <a:avLst>
              <a:gd name="adj" fmla="val 2258"/>
            </a:avLst>
          </a:prstGeom>
          <a:solidFill>
            <a:srgbClr val="06111F">
              <a:alpha val="98000"/>
            </a:srgbClr>
          </a:solidFill>
          <a:ln w="10080">
            <a:solidFill>
              <a:srgbClr val="25D7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0"/>
          <p:cNvSpPr/>
          <p:nvPr/>
        </p:nvSpPr>
        <p:spPr>
          <a:xfrm>
            <a:off x="914400" y="2176200"/>
            <a:ext cx="4854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dirty="0" smtClean="0">
                <a:solidFill>
                  <a:srgbClr val="25D7FF"/>
                </a:solidFill>
                <a:latin typeface="Aptos"/>
              </a:rPr>
              <a:t>Inp</a:t>
            </a:r>
            <a:r>
              <a:rPr lang="en-US" sz="850" b="1" u="none" strike="noStrike" dirty="0" smtClean="0">
                <a:solidFill>
                  <a:srgbClr val="25D7FF"/>
                </a:solidFill>
                <a:effectLst/>
                <a:uFillTx/>
                <a:latin typeface="Aptos"/>
              </a:rPr>
              <a:t>ut</a:t>
            </a:r>
            <a:endParaRPr lang="en-US" sz="8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1"/>
          <p:cNvSpPr/>
          <p:nvPr/>
        </p:nvSpPr>
        <p:spPr>
          <a:xfrm>
            <a:off x="914400" y="2468880"/>
            <a:ext cx="4854960" cy="230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Natural language: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calculate factorial of a </a:t>
            </a:r>
            <a:r>
              <a:rPr lang="en-US" sz="820" b="0" u="none" strike="noStrike" dirty="0" smtClean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number</a:t>
            </a:r>
          </a:p>
          <a:p>
            <a:pPr>
              <a:tabLst>
                <a:tab pos="0" algn="l"/>
              </a:tabLst>
            </a:pPr>
            <a:endParaRPr lang="en-US" sz="820" dirty="0" smtClean="0">
              <a:solidFill>
                <a:srgbClr val="E6F7FF"/>
              </a:solidFill>
              <a:latin typeface="Cascadia Mono"/>
              <a:ea typeface="Cascadia Mono"/>
            </a:endParaRPr>
          </a:p>
          <a:p>
            <a:pPr>
              <a:tabLst>
                <a:tab pos="0" algn="l"/>
              </a:tabLst>
            </a:pPr>
            <a:r>
              <a:rPr lang="en-US" sz="850" b="1" dirty="0">
                <a:solidFill>
                  <a:srgbClr val="25D7FF"/>
                </a:solidFill>
                <a:latin typeface="Aptos"/>
              </a:rPr>
              <a:t>Intermediate</a:t>
            </a:r>
            <a:r>
              <a:rPr lang="en-US" sz="850" b="1" u="none" strike="noStrike" dirty="0" smtClean="0">
                <a:solidFill>
                  <a:srgbClr val="25D7FF"/>
                </a:solidFill>
                <a:effectLst/>
                <a:uFillTx/>
                <a:latin typeface="Aptos"/>
              </a:rPr>
              <a:t> output (NOT VISIBLE FOR THE USER)</a:t>
            </a:r>
            <a:endParaRPr lang="en-US" sz="8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Generated Java: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public static long factorial(</a:t>
            </a:r>
            <a:r>
              <a:rPr lang="en-US" sz="820" b="0" u="none" strike="noStrike" dirty="0" err="1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int</a:t>
            </a: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 n) {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  if (n &lt; 0)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    throw new </a:t>
            </a:r>
            <a:r>
              <a:rPr lang="en-US" sz="820" b="0" u="none" strike="noStrike" dirty="0" err="1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IllegalArgumentException</a:t>
            </a: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(...);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  else if (n == 0 || n == 1) return 1;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  else return n * factorial(n - 1);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}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12"/>
          <p:cNvSpPr/>
          <p:nvPr/>
        </p:nvSpPr>
        <p:spPr>
          <a:xfrm>
            <a:off x="6217920" y="2057400"/>
            <a:ext cx="5257440" cy="2834280"/>
          </a:xfrm>
          <a:prstGeom prst="roundRect">
            <a:avLst>
              <a:gd name="adj" fmla="val 2258"/>
            </a:avLst>
          </a:prstGeom>
          <a:solidFill>
            <a:srgbClr val="06111F">
              <a:alpha val="98000"/>
            </a:srgbClr>
          </a:solidFill>
          <a:ln w="10080">
            <a:solidFill>
              <a:srgbClr val="00E38C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3"/>
          <p:cNvSpPr/>
          <p:nvPr/>
        </p:nvSpPr>
        <p:spPr>
          <a:xfrm>
            <a:off x="6419160" y="2176200"/>
            <a:ext cx="4854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dirty="0" smtClean="0">
                <a:solidFill>
                  <a:srgbClr val="00E38C"/>
                </a:solidFill>
                <a:effectLst/>
                <a:uFillTx/>
                <a:latin typeface="Aptos"/>
              </a:rPr>
              <a:t>Output</a:t>
            </a:r>
            <a:endParaRPr lang="en-US" sz="8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4"/>
          <p:cNvSpPr/>
          <p:nvPr/>
        </p:nvSpPr>
        <p:spPr>
          <a:xfrm>
            <a:off x="6419160" y="2468880"/>
            <a:ext cx="4854960" cy="230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Generated C#: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public static long Factorial(</a:t>
            </a:r>
            <a:r>
              <a:rPr lang="en-US" sz="820" b="0" u="none" strike="noStrike" dirty="0" err="1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int</a:t>
            </a: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 n){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  if (n &lt; 0){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    throw new </a:t>
            </a:r>
            <a:r>
              <a:rPr lang="en-US" sz="820" b="0" u="none" strike="noStrike" dirty="0" err="1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ArgumentException</a:t>
            </a: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(...);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  } else {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    if (n == 0 || n == 1){ return 1; }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    else { return n * Factorial(n - 1); }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  }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 dirty="0">
                <a:solidFill>
                  <a:srgbClr val="E6F7FF"/>
                </a:solidFill>
                <a:effectLst/>
                <a:uFillTx/>
                <a:latin typeface="Cascadia Mono"/>
                <a:ea typeface="Cascadia Mono"/>
              </a:rPr>
              <a:t>}</a:t>
            </a:r>
            <a:endParaRPr lang="en-US" sz="8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5"/>
          <p:cNvSpPr/>
          <p:nvPr/>
        </p:nvSpPr>
        <p:spPr>
          <a:xfrm>
            <a:off x="914400" y="5394960"/>
            <a:ext cx="10240920" cy="658080"/>
          </a:xfrm>
          <a:prstGeom prst="roundRect">
            <a:avLst>
              <a:gd name="adj" fmla="val 11111"/>
            </a:avLst>
          </a:prstGeom>
          <a:solidFill>
            <a:srgbClr val="0D1B2F">
              <a:alpha val="98000"/>
            </a:srgbClr>
          </a:solidFill>
          <a:ln w="10080">
            <a:solidFill>
              <a:srgbClr val="00E38C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6"/>
          <p:cNvSpPr/>
          <p:nvPr/>
        </p:nvSpPr>
        <p:spPr>
          <a:xfrm>
            <a:off x="1143000" y="5559480"/>
            <a:ext cx="9783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E38C"/>
                </a:solidFill>
                <a:effectLst/>
                <a:uFillTx/>
                <a:latin typeface="Aptos"/>
              </a:rPr>
              <a:t>Observed behavior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7"/>
          <p:cNvSpPr/>
          <p:nvPr/>
        </p:nvSpPr>
        <p:spPr>
          <a:xfrm>
            <a:off x="1143000" y="5879520"/>
            <a:ext cx="9783720" cy="6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4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The chained pipeline preserved the factorial logic, converted exception style, and adapted method naming from Java lowercase factorial to C# PascalCase Factorial.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280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F"/>
          </a:solidFill>
          <a:ln w="12600">
            <a:solidFill>
              <a:srgbClr val="0A0F1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-594360" y="5285160"/>
            <a:ext cx="329148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25560">
            <a:solidFill>
              <a:srgbClr val="8F5CFF">
                <a:alpha val="5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8942760" y="-292680"/>
            <a:ext cx="3748680" cy="2285640"/>
          </a:xfrm>
          <a:prstGeom prst="arc">
            <a:avLst>
              <a:gd name="adj1" fmla="val 16200000"/>
              <a:gd name="adj2" fmla="val 0"/>
            </a:avLst>
          </a:prstGeom>
          <a:noFill/>
          <a:ln w="25560">
            <a:solidFill>
              <a:srgbClr val="25D7FF">
                <a:alpha val="46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0" y="18288"/>
            <a:ext cx="12191400" cy="6857640"/>
          </a:xfrm>
          <a:prstGeom prst="rect">
            <a:avLst/>
          </a:prstGeom>
          <a:solidFill>
            <a:srgbClr val="061A31"/>
          </a:solidFill>
          <a:ln w="12600">
            <a:solidFill>
              <a:srgbClr val="061A31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9098280" y="5029200"/>
            <a:ext cx="329148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25560">
            <a:solidFill>
              <a:srgbClr val="00E38C">
                <a:alpha val="5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502920" y="647388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 dirty="0" err="1">
                <a:solidFill>
                  <a:srgbClr val="7E8CA6"/>
                </a:solidFill>
                <a:effectLst/>
                <a:uFillTx/>
                <a:latin typeface="Aptos"/>
                <a:ea typeface="Aptos"/>
              </a:rPr>
              <a:t>CodeGen</a:t>
            </a:r>
            <a:r>
              <a:rPr lang="en-US" sz="750" b="0" u="none" strike="noStrike" dirty="0">
                <a:solidFill>
                  <a:srgbClr val="7E8CA6"/>
                </a:solidFill>
                <a:effectLst/>
                <a:uFillTx/>
                <a:latin typeface="Aptos"/>
                <a:ea typeface="Aptos"/>
              </a:rPr>
              <a:t> Group </a:t>
            </a:r>
            <a:r>
              <a:rPr lang="en-US" sz="750" b="0" u="none" strike="noStrike" dirty="0" smtClean="0">
                <a:solidFill>
                  <a:srgbClr val="7E8CA6"/>
                </a:solidFill>
                <a:effectLst/>
                <a:uFillTx/>
                <a:latin typeface="Aptos"/>
                <a:ea typeface="Aptos"/>
              </a:rPr>
              <a:t>2  </a:t>
            </a:r>
            <a:r>
              <a:rPr lang="en-US" sz="750" b="0" u="none" strike="noStrike" dirty="0">
                <a:solidFill>
                  <a:srgbClr val="7E8CA6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lang="en-US" sz="750" b="0" u="none" strike="noStrike" dirty="0" smtClean="0">
                <a:solidFill>
                  <a:srgbClr val="7E8CA6"/>
                </a:solidFill>
                <a:effectLst/>
                <a:uFillTx/>
                <a:latin typeface="Aptos"/>
                <a:ea typeface="Aptos"/>
              </a:rPr>
              <a:t>Capstone Project Group 6</a:t>
            </a:r>
            <a:endParaRPr lang="en-US" sz="7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6"/>
          <p:cNvSpPr/>
          <p:nvPr/>
        </p:nvSpPr>
        <p:spPr>
          <a:xfrm>
            <a:off x="10744200" y="6565320"/>
            <a:ext cx="914400" cy="360"/>
          </a:xfrm>
          <a:prstGeom prst="line">
            <a:avLst/>
          </a:prstGeom>
          <a:ln w="15120">
            <a:solidFill>
              <a:srgbClr val="25D7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7"/>
          <p:cNvSpPr/>
          <p:nvPr/>
        </p:nvSpPr>
        <p:spPr>
          <a:xfrm>
            <a:off x="640080" y="39312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 dirty="0" smtClean="0">
                <a:solidFill>
                  <a:srgbClr val="74FBD1"/>
                </a:solidFill>
                <a:effectLst/>
                <a:uFillTx/>
                <a:latin typeface="Aptos"/>
              </a:rPr>
              <a:t>SUMMARY</a:t>
            </a:r>
            <a:endParaRPr lang="en-US" sz="88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8"/>
          <p:cNvSpPr/>
          <p:nvPr/>
        </p:nvSpPr>
        <p:spPr>
          <a:xfrm>
            <a:off x="640080" y="713160"/>
            <a:ext cx="71319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dirty="0" smtClean="0">
                <a:solidFill>
                  <a:srgbClr val="F8FBFF"/>
                </a:solidFill>
                <a:effectLst/>
                <a:uFillTx/>
                <a:latin typeface="Aptos"/>
              </a:rPr>
              <a:t>Achievements </a:t>
            </a:r>
            <a:endParaRPr lang="en-US" sz="2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9"/>
          <p:cNvSpPr/>
          <p:nvPr/>
        </p:nvSpPr>
        <p:spPr>
          <a:xfrm>
            <a:off x="640080" y="1334880"/>
            <a:ext cx="822960" cy="360"/>
          </a:xfrm>
          <a:prstGeom prst="line">
            <a:avLst/>
          </a:prstGeom>
          <a:ln w="28080">
            <a:solidFill>
              <a:srgbClr val="25D7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658440" y="1572840"/>
            <a:ext cx="1008576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B6C6E3"/>
                </a:solidFill>
                <a:effectLst/>
                <a:uFillTx/>
                <a:latin typeface="Aptos"/>
                <a:ea typeface="Aptos"/>
              </a:rPr>
              <a:t>The project builds a chained system where natural language instructions first become Java, and Java is then translated into C#. The strongest result is Stage 2: fine‑tuning dramatically improves translation quality and code structure over the base model.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1"/>
          <p:cNvSpPr/>
          <p:nvPr/>
        </p:nvSpPr>
        <p:spPr>
          <a:xfrm>
            <a:off x="676800" y="2651760"/>
            <a:ext cx="2331360" cy="1325520"/>
          </a:xfrm>
          <a:prstGeom prst="roundRect">
            <a:avLst>
              <a:gd name="adj" fmla="val 5517"/>
            </a:avLst>
          </a:prstGeom>
          <a:solidFill>
            <a:srgbClr val="111B34">
              <a:alpha val="96000"/>
            </a:srgbClr>
          </a:solidFill>
          <a:ln w="11520">
            <a:solidFill>
              <a:srgbClr val="00E38C">
                <a:alpha val="6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2"/>
          <p:cNvSpPr/>
          <p:nvPr/>
        </p:nvSpPr>
        <p:spPr>
          <a:xfrm>
            <a:off x="676800" y="2651760"/>
            <a:ext cx="40680" cy="1325520"/>
          </a:xfrm>
          <a:prstGeom prst="rect">
            <a:avLst/>
          </a:prstGeom>
          <a:solidFill>
            <a:srgbClr val="00E38C"/>
          </a:solidFill>
          <a:ln w="12600">
            <a:solidFill>
              <a:srgbClr val="00E38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859680" y="280728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83.28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4"/>
          <p:cNvSpPr/>
          <p:nvPr/>
        </p:nvSpPr>
        <p:spPr>
          <a:xfrm>
            <a:off x="877680" y="3310200"/>
            <a:ext cx="20113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 dirty="0">
                <a:solidFill>
                  <a:srgbClr val="B6C6E3"/>
                </a:solidFill>
                <a:effectLst/>
                <a:uFillTx/>
                <a:latin typeface="Aptos"/>
              </a:rPr>
              <a:t>BLEU for Java → C# after fine‑tuning</a:t>
            </a:r>
            <a:endParaRPr lang="en-US" sz="88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 dirty="0">
                <a:solidFill>
                  <a:srgbClr val="B6C6E3"/>
                </a:solidFill>
                <a:effectLst/>
                <a:uFillTx/>
                <a:latin typeface="Aptos"/>
              </a:rPr>
              <a:t>+55.77 over base</a:t>
            </a:r>
            <a:endParaRPr lang="en-US" sz="88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5"/>
          <p:cNvSpPr/>
          <p:nvPr/>
        </p:nvSpPr>
        <p:spPr>
          <a:xfrm>
            <a:off x="3246120" y="2651760"/>
            <a:ext cx="2331360" cy="1325520"/>
          </a:xfrm>
          <a:prstGeom prst="roundRect">
            <a:avLst>
              <a:gd name="adj" fmla="val 5517"/>
            </a:avLst>
          </a:prstGeom>
          <a:solidFill>
            <a:srgbClr val="111B34">
              <a:alpha val="96000"/>
            </a:srgbClr>
          </a:solidFill>
          <a:ln w="11520">
            <a:solidFill>
              <a:srgbClr val="25D7FF">
                <a:alpha val="6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6"/>
          <p:cNvSpPr/>
          <p:nvPr/>
        </p:nvSpPr>
        <p:spPr>
          <a:xfrm>
            <a:off x="3246120" y="2651760"/>
            <a:ext cx="40680" cy="1325520"/>
          </a:xfrm>
          <a:prstGeom prst="rect">
            <a:avLst/>
          </a:prstGeom>
          <a:solidFill>
            <a:srgbClr val="25D7FF"/>
          </a:solidFill>
          <a:ln w="12600">
            <a:solidFill>
              <a:srgbClr val="25D7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7"/>
          <p:cNvSpPr/>
          <p:nvPr/>
        </p:nvSpPr>
        <p:spPr>
          <a:xfrm>
            <a:off x="3429000" y="280728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92%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8"/>
          <p:cNvSpPr/>
          <p:nvPr/>
        </p:nvSpPr>
        <p:spPr>
          <a:xfrm>
            <a:off x="3447360" y="3310200"/>
            <a:ext cx="20113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Syntax accuracy and compilation proxy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vs 0% for the base model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9"/>
          <p:cNvSpPr/>
          <p:nvPr/>
        </p:nvSpPr>
        <p:spPr>
          <a:xfrm>
            <a:off x="5815440" y="2651760"/>
            <a:ext cx="2331360" cy="1325520"/>
          </a:xfrm>
          <a:prstGeom prst="roundRect">
            <a:avLst>
              <a:gd name="adj" fmla="val 5517"/>
            </a:avLst>
          </a:prstGeom>
          <a:solidFill>
            <a:srgbClr val="111B34">
              <a:alpha val="96000"/>
            </a:srgbClr>
          </a:solidFill>
          <a:ln w="11520">
            <a:solidFill>
              <a:srgbClr val="8F5CFF">
                <a:alpha val="6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0"/>
          <p:cNvSpPr/>
          <p:nvPr/>
        </p:nvSpPr>
        <p:spPr>
          <a:xfrm>
            <a:off x="5815440" y="2651760"/>
            <a:ext cx="40680" cy="1325520"/>
          </a:xfrm>
          <a:prstGeom prst="rect">
            <a:avLst/>
          </a:prstGeom>
          <a:solidFill>
            <a:srgbClr val="8F5CFF"/>
          </a:solidFill>
          <a:ln w="12600">
            <a:solidFill>
              <a:srgbClr val="8F5C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1"/>
          <p:cNvSpPr/>
          <p:nvPr/>
        </p:nvSpPr>
        <p:spPr>
          <a:xfrm>
            <a:off x="5998320" y="280728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0.7857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2"/>
          <p:cNvSpPr/>
          <p:nvPr/>
        </p:nvSpPr>
        <p:spPr>
          <a:xfrm>
            <a:off x="6016680" y="3310200"/>
            <a:ext cx="20113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CodeBERTScore F1 for NL → Java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vs 0.6489 base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3"/>
          <p:cNvSpPr/>
          <p:nvPr/>
        </p:nvSpPr>
        <p:spPr>
          <a:xfrm>
            <a:off x="8385120" y="2651760"/>
            <a:ext cx="2331360" cy="1325520"/>
          </a:xfrm>
          <a:prstGeom prst="roundRect">
            <a:avLst>
              <a:gd name="adj" fmla="val 5517"/>
            </a:avLst>
          </a:prstGeom>
          <a:solidFill>
            <a:srgbClr val="111B34">
              <a:alpha val="96000"/>
            </a:srgbClr>
          </a:solidFill>
          <a:ln w="11520">
            <a:solidFill>
              <a:srgbClr val="FFE26E">
                <a:alpha val="6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4"/>
          <p:cNvSpPr/>
          <p:nvPr/>
        </p:nvSpPr>
        <p:spPr>
          <a:xfrm>
            <a:off x="8385120" y="2651760"/>
            <a:ext cx="40680" cy="1325520"/>
          </a:xfrm>
          <a:prstGeom prst="rect">
            <a:avLst/>
          </a:prstGeom>
          <a:solidFill>
            <a:srgbClr val="FFE26E"/>
          </a:solidFill>
          <a:ln w="12600">
            <a:solidFill>
              <a:srgbClr val="FFE26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5"/>
          <p:cNvSpPr/>
          <p:nvPr/>
        </p:nvSpPr>
        <p:spPr>
          <a:xfrm>
            <a:off x="8568000" y="280728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40%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6"/>
          <p:cNvSpPr/>
          <p:nvPr/>
        </p:nvSpPr>
        <p:spPr>
          <a:xfrm>
            <a:off x="8586360" y="3310200"/>
            <a:ext cx="20113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Exact match on Stage 2 evaluation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base remained at 0%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7"/>
          <p:cNvSpPr/>
          <p:nvPr/>
        </p:nvSpPr>
        <p:spPr>
          <a:xfrm>
            <a:off x="822960" y="4709160"/>
            <a:ext cx="10560960" cy="849960"/>
          </a:xfrm>
          <a:prstGeom prst="roundRect">
            <a:avLst>
              <a:gd name="adj" fmla="val 8602"/>
            </a:avLst>
          </a:prstGeom>
          <a:solidFill>
            <a:srgbClr val="0D1B2F">
              <a:alpha val="98000"/>
            </a:srgbClr>
          </a:solidFill>
          <a:ln w="10080">
            <a:solidFill>
              <a:srgbClr val="00E38C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8"/>
          <p:cNvSpPr/>
          <p:nvPr/>
        </p:nvSpPr>
        <p:spPr>
          <a:xfrm>
            <a:off x="1051560" y="4873680"/>
            <a:ext cx="101037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 smtClean="0">
                <a:solidFill>
                  <a:srgbClr val="00E38C"/>
                </a:solidFill>
                <a:effectLst/>
                <a:uFillTx/>
                <a:latin typeface="Aptos"/>
              </a:rPr>
              <a:t>Result</a:t>
            </a:r>
            <a:endParaRPr lang="en-US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9"/>
          <p:cNvSpPr/>
          <p:nvPr/>
        </p:nvSpPr>
        <p:spPr>
          <a:xfrm>
            <a:off x="1051560" y="5193720"/>
            <a:ext cx="10103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Stage 1 becomes cleaner and more task‑aligned; Stage 2 becomes far stronger, moving from unreliable base translation to high‑syntax, high‑BLEU C# outputs.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Image 0" descr="/mnt/data/a_wide_cinematic_futuristic_tech_background_scen.png"/>
          <p:cNvPicPr/>
          <p:nvPr/>
        </p:nvPicPr>
        <p:blipFill>
          <a:blip r:embed="rId3"/>
          <a:srcRect t="24" b="2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F">
              <a:alpha val="78000"/>
            </a:srgbClr>
          </a:solidFill>
          <a:ln w="12600">
            <a:solidFill>
              <a:srgbClr val="0A0F1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"/>
          <p:cNvSpPr/>
          <p:nvPr/>
        </p:nvSpPr>
        <p:spPr>
          <a:xfrm>
            <a:off x="502920" y="647388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E8CA6"/>
                </a:solidFill>
                <a:effectLst/>
                <a:uFillTx/>
                <a:latin typeface="Aptos"/>
                <a:ea typeface="Aptos"/>
              </a:rPr>
              <a:t>CodeGen Group 6  •  V5 Experiment Notebook  •  12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2"/>
          <p:cNvSpPr/>
          <p:nvPr/>
        </p:nvSpPr>
        <p:spPr>
          <a:xfrm>
            <a:off x="10744200" y="6565320"/>
            <a:ext cx="914400" cy="360"/>
          </a:xfrm>
          <a:prstGeom prst="line">
            <a:avLst/>
          </a:prstGeom>
          <a:ln w="15120">
            <a:solidFill>
              <a:srgbClr val="25D7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3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F">
              <a:alpha val="88000"/>
            </a:srgbClr>
          </a:solidFill>
          <a:ln w="12600">
            <a:solidFill>
              <a:srgbClr val="0A0F1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4"/>
          <p:cNvSpPr/>
          <p:nvPr/>
        </p:nvSpPr>
        <p:spPr>
          <a:xfrm>
            <a:off x="749880" y="71316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8FBFF"/>
                </a:solidFill>
                <a:effectLst/>
                <a:uFillTx/>
                <a:latin typeface="Aptos"/>
              </a:rPr>
              <a:t>Final deliverables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5"/>
          <p:cNvSpPr/>
          <p:nvPr/>
        </p:nvSpPr>
        <p:spPr>
          <a:xfrm>
            <a:off x="767880" y="1307520"/>
            <a:ext cx="1097280" cy="360"/>
          </a:xfrm>
          <a:prstGeom prst="line">
            <a:avLst/>
          </a:prstGeom>
          <a:ln w="28080">
            <a:solidFill>
              <a:srgbClr val="25D7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6"/>
          <p:cNvSpPr/>
          <p:nvPr/>
        </p:nvSpPr>
        <p:spPr>
          <a:xfrm>
            <a:off x="777240" y="1874520"/>
            <a:ext cx="3382920" cy="1234080"/>
          </a:xfrm>
          <a:prstGeom prst="roundRect">
            <a:avLst>
              <a:gd name="adj" fmla="val 5926"/>
            </a:avLst>
          </a:prstGeom>
          <a:solidFill>
            <a:srgbClr val="0D1B2F">
              <a:alpha val="98000"/>
            </a:srgbClr>
          </a:solidFill>
          <a:ln w="10080">
            <a:solidFill>
              <a:srgbClr val="25D7FF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7"/>
          <p:cNvSpPr/>
          <p:nvPr/>
        </p:nvSpPr>
        <p:spPr>
          <a:xfrm>
            <a:off x="1005840" y="203904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5D7FF"/>
                </a:solidFill>
                <a:effectLst/>
                <a:uFillTx/>
                <a:latin typeface="Aptos"/>
              </a:rPr>
              <a:t>Saved artifacts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8"/>
          <p:cNvSpPr/>
          <p:nvPr/>
        </p:nvSpPr>
        <p:spPr>
          <a:xfrm>
            <a:off x="1005840" y="2359080"/>
            <a:ext cx="2925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Stage 1 adapter + tokenizer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Stage 2 adapter + tokenizer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B6C6E3"/>
                </a:solidFill>
                <a:effectLst/>
                <a:uFillTx/>
                <a:latin typeface="Aptos"/>
              </a:rPr>
              <a:t>training_configuration.json with metrics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9"/>
          <p:cNvSpPr/>
          <p:nvPr/>
        </p:nvSpPr>
        <p:spPr>
          <a:xfrm>
            <a:off x="4434840" y="1874520"/>
            <a:ext cx="3382920" cy="1234080"/>
          </a:xfrm>
          <a:prstGeom prst="roundRect">
            <a:avLst>
              <a:gd name="adj" fmla="val 5926"/>
            </a:avLst>
          </a:prstGeom>
          <a:solidFill>
            <a:srgbClr val="0D1B2F">
              <a:alpha val="98000"/>
            </a:srgbClr>
          </a:solidFill>
          <a:ln w="10080">
            <a:solidFill>
              <a:srgbClr val="00E38C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0"/>
          <p:cNvSpPr/>
          <p:nvPr/>
        </p:nvSpPr>
        <p:spPr>
          <a:xfrm>
            <a:off x="4663440" y="203904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E38C"/>
                </a:solidFill>
                <a:effectLst/>
                <a:uFillTx/>
                <a:latin typeface="Aptos"/>
              </a:rPr>
              <a:t>Hub export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11"/>
          <p:cNvSpPr/>
          <p:nvPr/>
        </p:nvSpPr>
        <p:spPr>
          <a:xfrm>
            <a:off x="4663440" y="2359080"/>
            <a:ext cx="2925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 dirty="0">
                <a:solidFill>
                  <a:srgbClr val="B6C6E3"/>
                </a:solidFill>
                <a:effectLst/>
                <a:uFillTx/>
                <a:latin typeface="Aptos"/>
              </a:rPr>
              <a:t>Merged </a:t>
            </a:r>
            <a:r>
              <a:rPr lang="en-US" sz="1030" b="0" u="none" strike="noStrike" dirty="0" smtClean="0">
                <a:solidFill>
                  <a:srgbClr val="B6C6E3"/>
                </a:solidFill>
                <a:effectLst/>
                <a:uFillTx/>
                <a:latin typeface="Aptos"/>
              </a:rPr>
              <a:t>target</a:t>
            </a:r>
            <a:r>
              <a:rPr lang="en-US" sz="1030" b="0" u="none" strike="noStrike" dirty="0">
                <a:solidFill>
                  <a:srgbClr val="B6C6E3"/>
                </a:solidFill>
                <a:effectLst/>
                <a:uFillTx/>
                <a:latin typeface="Aptos"/>
              </a:rPr>
              <a:t>:</a:t>
            </a:r>
            <a:endParaRPr lang="en-US" sz="10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 dirty="0">
                <a:solidFill>
                  <a:srgbClr val="B6C6E3"/>
                </a:solidFill>
                <a:effectLst/>
                <a:uFillTx/>
                <a:latin typeface="Aptos"/>
              </a:rPr>
              <a:t>shibsankardhara2/Qwen2.5-Coder-1.5B-NL-Java_V5</a:t>
            </a:r>
            <a:endParaRPr lang="en-US" sz="10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12"/>
          <p:cNvSpPr/>
          <p:nvPr/>
        </p:nvSpPr>
        <p:spPr>
          <a:xfrm>
            <a:off x="8092440" y="1874520"/>
            <a:ext cx="3382920" cy="1234080"/>
          </a:xfrm>
          <a:prstGeom prst="roundRect">
            <a:avLst>
              <a:gd name="adj" fmla="val 5926"/>
            </a:avLst>
          </a:prstGeom>
          <a:solidFill>
            <a:srgbClr val="0D1B2F">
              <a:alpha val="98000"/>
            </a:srgbClr>
          </a:solidFill>
          <a:ln w="10080">
            <a:solidFill>
              <a:srgbClr val="FFE26E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3"/>
          <p:cNvSpPr/>
          <p:nvPr/>
        </p:nvSpPr>
        <p:spPr>
          <a:xfrm>
            <a:off x="8321040" y="203904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E26E"/>
                </a:solidFill>
                <a:effectLst/>
                <a:uFillTx/>
                <a:latin typeface="Aptos"/>
              </a:rPr>
              <a:t>Project conclusion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4"/>
          <p:cNvSpPr/>
          <p:nvPr/>
        </p:nvSpPr>
        <p:spPr>
          <a:xfrm>
            <a:off x="8321040" y="2359080"/>
            <a:ext cx="2925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1030" b="0" u="none" strike="noStrike" dirty="0" smtClean="0">
                <a:solidFill>
                  <a:srgbClr val="B6C6E3"/>
                </a:solidFill>
                <a:effectLst/>
                <a:uFillTx/>
                <a:latin typeface="Aptos"/>
              </a:rPr>
              <a:t>The project successfully trained one model for two distinct tasks: Natural Language → Java and</a:t>
            </a:r>
          </a:p>
          <a:p>
            <a:pPr>
              <a:tabLst>
                <a:tab pos="0" algn="l"/>
              </a:tabLst>
            </a:pPr>
            <a:r>
              <a:rPr lang="en-US" sz="1030" b="0" u="none" strike="noStrike" dirty="0" smtClean="0">
                <a:solidFill>
                  <a:srgbClr val="B6C6E3"/>
                </a:solidFill>
                <a:effectLst/>
                <a:uFillTx/>
                <a:latin typeface="Aptos"/>
              </a:rPr>
              <a:t>Java → C#.</a:t>
            </a:r>
            <a:endParaRPr lang="en-US" sz="10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5"/>
          <p:cNvSpPr/>
          <p:nvPr/>
        </p:nvSpPr>
        <p:spPr>
          <a:xfrm>
            <a:off x="786240" y="4251960"/>
            <a:ext cx="9034416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b="1" u="none" strike="noStrike" dirty="0" err="1" smtClean="0">
                <a:solidFill>
                  <a:srgbClr val="F8FBFF"/>
                </a:solidFill>
                <a:effectLst/>
                <a:uFillTx/>
                <a:latin typeface="Aptos"/>
              </a:rPr>
              <a:t>CodeGen</a:t>
            </a:r>
            <a:r>
              <a:rPr lang="en-US" b="1" u="none" strike="noStrike" dirty="0" smtClean="0">
                <a:solidFill>
                  <a:srgbClr val="F8FBFF"/>
                </a:solidFill>
                <a:effectLst/>
                <a:uFillTx/>
                <a:latin typeface="Aptos"/>
              </a:rPr>
              <a:t> 2  • Capstone Project Group 6</a:t>
            </a:r>
          </a:p>
        </p:txBody>
      </p:sp>
      <p:sp>
        <p:nvSpPr>
          <p:cNvPr id="348" name="Text 16"/>
          <p:cNvSpPr/>
          <p:nvPr/>
        </p:nvSpPr>
        <p:spPr>
          <a:xfrm>
            <a:off x="786240" y="486468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74FBD1"/>
                </a:solidFill>
                <a:effectLst/>
                <a:uFillTx/>
                <a:latin typeface="Aptos"/>
              </a:rPr>
              <a:t>Swathi  •  Sattwik  •  Shib  •  Dhrub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7"/>
          <p:cNvSpPr/>
          <p:nvPr/>
        </p:nvSpPr>
        <p:spPr>
          <a:xfrm>
            <a:off x="8412480" y="5139000"/>
            <a:ext cx="29257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 dirty="0">
                <a:solidFill>
                  <a:srgbClr val="F8FBFF"/>
                </a:solidFill>
                <a:effectLst/>
                <a:uFillTx/>
                <a:latin typeface="Aptos"/>
              </a:rPr>
              <a:t>Thank you</a:t>
            </a:r>
            <a:endParaRPr lang="en-US" sz="3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</TotalTime>
  <Words>1461</Words>
  <Application>Microsoft Office PowerPoint</Application>
  <PresentationFormat>Widescreen</PresentationFormat>
  <Paragraphs>280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Arial</vt:lpstr>
      <vt:lpstr>Cascadia Mono</vt:lpstr>
      <vt:lpstr>DejaVu Sans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CodeGen Group 6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Microsoft account</cp:lastModifiedBy>
  <cp:revision>18</cp:revision>
  <dcterms:modified xsi:type="dcterms:W3CDTF">2026-08-06T16:55:06Z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2026-08-02T05:18:27Z</dcterms:created>
  <dc:creator>CodeGen Group 6</dc:creator>
  <dc:description/>
  <dc:language>en-US</dc:language>
  <cp:lastModifiedBy>CodeGen Group 6</cp:lastModifiedBy>
  <dcterms:modified xsi:type="dcterms:W3CDTF">2026-08-02T05:18:27Z</dcterms:modified>
  <cp:revision>1</cp:revision>
  <dc:subject>NL→Java→C# Code Generation Experiments and Results</dc:subject>
  <dc:title>CodeGen Group 6 — V5 Notebook Results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12</vt:r8>
  </property>
  <property fmtid="{D5CDD505-2E9C-101B-9397-08002B2CF9AE}" pid="3" name="PresentationFormat">
    <vt:lpwstr>On-screen Show (16:9)</vt:lpwstr>
  </property>
  <property fmtid="{D5CDD505-2E9C-101B-9397-08002B2CF9AE}" pid="4" name="Slides">
    <vt:r8>12</vt:r8>
  </property>
</Properties>
</file>