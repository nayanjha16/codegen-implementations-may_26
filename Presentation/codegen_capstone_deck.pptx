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48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presentation frames a three-phase capstone project evaluating small LMs (1.5B) against larger LLMs (7B) on code intelligence tasks. We establish baselines, extend datasets with missing data components via execution-validated feedback loops, and fine-tune via QLoRA. Throughout, we maintain honest execution-based evaluation and transparent reporting of both wins and regressions.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Expand on why this setup matters: Colab and T4 are resource constraints typical in academic settings. Greedy decoding (K=0, temperature=0) is critical because we want reproducible, deterministic outputs — not stochastic sampling that would make it hard to debug and validate. We selected Qwen2.5-Coder specifically because it has strong open-source baselines on code tasks.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the throughline of the entire project. Every score reported is backed by actual code execution. We don't count a Java program as 'correct' if it happens to have similar token sequences to the reference — it must compile with javac and pass assertions. This prevents the false positives and false negatives that plague syntactic similarity metrics. Code-to-NL is the one exception where ROUGE-L makes sense since natural language doesn't 'execute'.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three bugs were: (1) incorrect indentation handling when extracting Python from multi-part prompts, causing 'return outside function' syntax errors; (2) missing function definition signatures in MBPP prompt templates, leading to NameErrors; (3) missing java.util imports in generated Java causing compilation failures on HumanEval-X. Each round progressively uncovered and fixed one or more of these. This is why we trusted round3 numbers enough to gate Phase 2 on them.</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The HumanEval-X scores (0.70/0.86) look suspiciously high compared to vendor-published baselines (~0.30/~0.55 for cross-lingual tasks). We flagged this as possible sample bias on the 50-problem subset. The follow-up runs (seed=7 and full n=164) are documented decision gates before committing to Phase 2. The difficulty ranking (HumanEval &gt; MBPP &gt; HumanEval-X) held consistently across both model sizes.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the key motivation for Phase 2. You cannot build effective RAG systems or fine-tune models without parallel data across all modalities. A retrieval system that can only match NL to Python but not to Java creates a bottleneck. Similarly, fine-tuning on code-only data (no NL context) or NL-only data (no code context) leaves the model under-constrained. The execution validation gate ensures we only add high-quality triplets to the training corpus.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a strong viva slide. The key insight is that including the original prompt again on the retry (the 'anchor') helps the model ground itself. Greedy decoding is still used even on retries — we're not exploring, we're converging. The double round-trip validation for NL is expensive but necessary: a plausible-sounding NL description might not actually be executable by the original Python and Java code.</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strong technical viva material. Be ready to explain differential testing, which is used for HumanEval-X's missing Python tests: we parse the function signature, synthesize inputs from type hints, take a trimmed cartesian product, and compare outputs between ground truth and generated code. The -ea flag is critical — Java silently ignores assertion failures without it, making the entire validation strategy fail silently.</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data is from n=20 per benchmark for the extension run. The 60% success rate on NL generation is a diagnostic signal: NL→code is harder than code→NL, and generating descriptions of existing code is not trivial. The output directly feeds Phase 3 training. All flagged=True records (1700 total across the 3 benchmarks) became the training data for QLoRA.</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We use a single fixed train/test split (not per-task splits) to ensure apples-to-apples comparisons and prevent data leakage. The hyperparameters are conservative: small LoRA rank (r=8) and low learning rate (2e-4) reflect the small training set (131 examples). The 4-bit NF4 quantization keeps memory footprint manageable on Colab T4. Code→NL is a new task — it tests whether fine-tuning helps with code documentation.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apples-to-apples harness is what makes the cross-phase comparisons valid despite different sample sizes. We're not running a separate test set for each task — it's the same 33 examples. This prevents cherry-picking test sets and ensures fair comparison.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the deck's most important 'honest reporting' slide. Do not hide the regressions. The hypothesis is that the base model was already very strong on NL→code (0.87+ on Python, 0.79+ on Java), leaving little headroom for fine-tuning to help. The small training set (131 examples) and fixed hyperparameters led to capacity reallocation — the model adapted towards the training distribution and away from the base generalization. Code→NL improved dramatically (+0.28) because natural language is inherently more flexible and the model was learning a register shift, not chasing code correctness. Be ready to explain this overfitting/near-ceiling trade-off in the mentor viva.</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is the single slide that answers 'what benchmarks/tasks/model/eval/scores at each step' if the mentor only wants one summary. The footnote is critical context — different seeds and sample sizes mean absolute comparisons across phases are not apples-to-apples, but the methodology (execution-based, same harness) is consistent.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Closing slide — frame next steps as already-planned, not speculative gaps. This is your safety valve for the mentor viva: the regressions are not mysteries, they're documented artifacts of overfitting on small data with a near-ceiling base model. The seed-7 and full-benchmark follow-ups are the decisions gates that will either validate or invalidate the Phase 1 baseline numbers. RAG is a promising alternative that doesn't require retraining and preserves the base model's generalization.</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371600"/>
            <a:ext cx="9144000" cy="228600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defRPr>
            </a:pPr>
            <a:r>
              <a:rPr dirty="0" err="1"/>
              <a:t>CodeGen</a:t>
            </a:r>
            <a:r>
              <a:rPr dirty="0"/>
              <a:t> (</a:t>
            </a:r>
            <a:r>
              <a:rPr lang="en-US" dirty="0"/>
              <a:t>Group -13</a:t>
            </a:r>
            <a:r>
              <a:rPr dirty="0"/>
              <a:t>): </a:t>
            </a:r>
            <a:r>
              <a:rPr lang="en-US" dirty="0"/>
              <a:t>Measuring and Improving </a:t>
            </a:r>
            <a:r>
              <a:rPr dirty="0"/>
              <a:t>Code Intelligence</a:t>
            </a:r>
          </a:p>
        </p:txBody>
      </p:sp>
      <p:sp>
        <p:nvSpPr>
          <p:cNvPr id="3" name="TextBox 2"/>
          <p:cNvSpPr txBox="1"/>
          <p:nvPr/>
        </p:nvSpPr>
        <p:spPr>
          <a:xfrm>
            <a:off x="457200" y="3732288"/>
            <a:ext cx="8229600" cy="2677656"/>
          </a:xfrm>
          <a:prstGeom prst="rect">
            <a:avLst/>
          </a:prstGeom>
          <a:noFill/>
        </p:spPr>
        <p:txBody>
          <a:bodyPr wrap="square">
            <a:spAutoFit/>
          </a:bodyPr>
          <a:lstStyle/>
          <a:p>
            <a:pPr algn="ctr">
              <a:defRPr sz="2400">
                <a:solidFill>
                  <a:srgbClr val="1F3864"/>
                </a:solidFill>
              </a:defRPr>
            </a:pPr>
            <a:r>
              <a:rPr dirty="0"/>
              <a:t>Baselines → Execution-Validated Dataset Extension → </a:t>
            </a:r>
            <a:r>
              <a:rPr dirty="0" err="1"/>
              <a:t>QLoRA</a:t>
            </a:r>
            <a:r>
              <a:rPr dirty="0"/>
              <a:t> Fine-Tuning</a:t>
            </a:r>
            <a:br>
              <a:rPr lang="en-US" dirty="0"/>
            </a:br>
            <a:endParaRPr lang="en-US" dirty="0"/>
          </a:p>
          <a:p>
            <a:pPr algn="ctr">
              <a:defRPr sz="2400">
                <a:solidFill>
                  <a:srgbClr val="1F3864"/>
                </a:solidFill>
              </a:defRPr>
            </a:pPr>
            <a:r>
              <a:rPr lang="en-IN" dirty="0"/>
              <a:t>Team Members: Pranali</a:t>
            </a:r>
          </a:p>
          <a:p>
            <a:pPr>
              <a:defRPr sz="2400">
                <a:solidFill>
                  <a:srgbClr val="1F3864"/>
                </a:solidFill>
              </a:defRPr>
            </a:pPr>
            <a:r>
              <a:rPr lang="en-IN" dirty="0"/>
              <a:t>                                                                    Aditi </a:t>
            </a:r>
          </a:p>
          <a:p>
            <a:pPr>
              <a:defRPr sz="2400">
                <a:solidFill>
                  <a:srgbClr val="1F3864"/>
                </a:solidFill>
              </a:defRPr>
            </a:pPr>
            <a:r>
              <a:rPr lang="en-IN" dirty="0"/>
              <a:t>                                                                    Ravi</a:t>
            </a:r>
          </a:p>
          <a:p>
            <a:pPr>
              <a:defRPr sz="2400">
                <a:solidFill>
                  <a:srgbClr val="1F3864"/>
                </a:solidFill>
              </a:defRPr>
            </a:pPr>
            <a:r>
              <a:rPr lang="en-IN" dirty="0"/>
              <a:t>                                                                    Vamsi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How We Started</a:t>
            </a:r>
          </a:p>
        </p:txBody>
      </p:sp>
      <p:sp>
        <p:nvSpPr>
          <p:cNvPr id="3" name="TextBox 2"/>
          <p:cNvSpPr txBox="1"/>
          <p:nvPr/>
        </p:nvSpPr>
        <p:spPr>
          <a:xfrm>
            <a:off x="640080" y="1097280"/>
            <a:ext cx="7863840" cy="2215991"/>
          </a:xfrm>
          <a:prstGeom prst="rect">
            <a:avLst/>
          </a:prstGeom>
          <a:noFill/>
        </p:spPr>
        <p:txBody>
          <a:bodyPr wrap="square">
            <a:spAutoFit/>
          </a:bodyPr>
          <a:lstStyle/>
          <a:p>
            <a:pPr>
              <a:spcBef>
                <a:spcPts val="600"/>
              </a:spcBef>
              <a:spcAft>
                <a:spcPts val="600"/>
              </a:spcAft>
              <a:defRPr sz="1800">
                <a:solidFill>
                  <a:srgbClr val="000000"/>
                </a:solidFill>
              </a:defRPr>
            </a:pPr>
            <a:r>
              <a:rPr dirty="0"/>
              <a:t>• Goal: measure and improve </a:t>
            </a:r>
            <a:r>
              <a:rPr dirty="0" err="1"/>
              <a:t>NL↔Python↔Java</a:t>
            </a:r>
            <a:r>
              <a:rPr dirty="0"/>
              <a:t> code intelligence in a small LM vs a larger LLM</a:t>
            </a:r>
          </a:p>
          <a:p>
            <a:pPr>
              <a:spcBef>
                <a:spcPts val="600"/>
              </a:spcBef>
              <a:spcAft>
                <a:spcPts val="600"/>
              </a:spcAft>
              <a:defRPr sz="1800">
                <a:solidFill>
                  <a:srgbClr val="000000"/>
                </a:solidFill>
              </a:defRPr>
            </a:pPr>
            <a:r>
              <a:rPr dirty="0"/>
              <a:t>• Model family: Qwen2.5-Coder — 1.5B (fp16) </a:t>
            </a:r>
            <a:r>
              <a:rPr lang="en-US" dirty="0"/>
              <a:t>, </a:t>
            </a:r>
            <a:r>
              <a:rPr dirty="0"/>
              <a:t>7B (4-bit NF4 quantized)</a:t>
            </a:r>
          </a:p>
          <a:p>
            <a:pPr>
              <a:spcBef>
                <a:spcPts val="600"/>
              </a:spcBef>
              <a:spcAft>
                <a:spcPts val="600"/>
              </a:spcAft>
              <a:defRPr sz="1800">
                <a:solidFill>
                  <a:srgbClr val="000000"/>
                </a:solidFill>
              </a:defRPr>
            </a:pPr>
            <a:r>
              <a:rPr dirty="0"/>
              <a:t>• 3 benchmarks: </a:t>
            </a:r>
            <a:r>
              <a:rPr dirty="0" err="1"/>
              <a:t>HumanEval</a:t>
            </a:r>
            <a:r>
              <a:rPr dirty="0"/>
              <a:t>, MBPP, </a:t>
            </a:r>
            <a:r>
              <a:rPr dirty="0" err="1"/>
              <a:t>HumanEval</a:t>
            </a:r>
            <a:r>
              <a:rPr dirty="0"/>
              <a:t>-X (</a:t>
            </a:r>
            <a:r>
              <a:rPr dirty="0" err="1"/>
              <a:t>Python→Java</a:t>
            </a:r>
            <a:r>
              <a:rPr dirty="0"/>
              <a:t>)</a:t>
            </a:r>
          </a:p>
          <a:p>
            <a:pPr>
              <a:spcBef>
                <a:spcPts val="600"/>
              </a:spcBef>
              <a:spcAft>
                <a:spcPts val="600"/>
              </a:spcAft>
              <a:defRPr sz="1800">
                <a:solidFill>
                  <a:srgbClr val="000000"/>
                </a:solidFill>
              </a:defRPr>
            </a:pPr>
            <a:r>
              <a:rPr dirty="0"/>
              <a:t>• Infra: Google </a:t>
            </a:r>
            <a:r>
              <a:rPr dirty="0" err="1"/>
              <a:t>Colab</a:t>
            </a:r>
            <a:r>
              <a:rPr dirty="0"/>
              <a:t> + T4 GPU, JDK-17 for Java execution sandbox, greedy decoding (temperature=0) for reproducibility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Evaluation Philosophy</a:t>
            </a:r>
          </a:p>
        </p:txBody>
      </p:sp>
      <p:sp>
        <p:nvSpPr>
          <p:cNvPr id="3" name="TextBox 2"/>
          <p:cNvSpPr txBox="1"/>
          <p:nvPr/>
        </p:nvSpPr>
        <p:spPr>
          <a:xfrm>
            <a:off x="640080" y="1097280"/>
            <a:ext cx="7863840" cy="3474720"/>
          </a:xfrm>
          <a:prstGeom prst="rect">
            <a:avLst/>
          </a:prstGeom>
          <a:noFill/>
        </p:spPr>
        <p:txBody>
          <a:bodyPr wrap="square">
            <a:spAutoFit/>
          </a:bodyPr>
          <a:lstStyle/>
          <a:p>
            <a:pPr>
              <a:spcBef>
                <a:spcPts val="600"/>
              </a:spcBef>
              <a:spcAft>
                <a:spcPts val="600"/>
              </a:spcAft>
              <a:defRPr sz="1800">
                <a:solidFill>
                  <a:srgbClr val="000000"/>
                </a:solidFill>
              </a:defRPr>
            </a:pPr>
            <a:r>
              <a:rPr dirty="0"/>
              <a:t>• Execution-based scoring, not string/text similarity matching</a:t>
            </a:r>
          </a:p>
          <a:p>
            <a:pPr>
              <a:spcBef>
                <a:spcPts val="600"/>
              </a:spcBef>
              <a:spcAft>
                <a:spcPts val="600"/>
              </a:spcAft>
              <a:defRPr sz="1800">
                <a:solidFill>
                  <a:srgbClr val="000000"/>
                </a:solidFill>
              </a:defRPr>
            </a:pPr>
            <a:r>
              <a:rPr dirty="0"/>
              <a:t>• pass@1 = generated code actually compiles/runs and passes real hidden tests</a:t>
            </a:r>
          </a:p>
          <a:p>
            <a:pPr>
              <a:spcBef>
                <a:spcPts val="600"/>
              </a:spcBef>
              <a:spcAft>
                <a:spcPts val="600"/>
              </a:spcAft>
              <a:defRPr sz="1800">
                <a:solidFill>
                  <a:srgbClr val="000000"/>
                </a:solidFill>
              </a:defRPr>
            </a:pPr>
            <a:r>
              <a:rPr dirty="0"/>
              <a:t>• ROUGE-L F1 used only for natural-language (NL) generation outputs</a:t>
            </a:r>
          </a:p>
          <a:p>
            <a:pPr>
              <a:spcBef>
                <a:spcPts val="600"/>
              </a:spcBef>
              <a:spcAft>
                <a:spcPts val="600"/>
              </a:spcAft>
              <a:defRPr sz="1800">
                <a:solidFill>
                  <a:srgbClr val="000000"/>
                </a:solidFill>
              </a:defRPr>
            </a:pPr>
            <a:r>
              <a:rPr dirty="0"/>
              <a:t>• Greedy decoding (K=0) throughout for reproducibility</a:t>
            </a:r>
          </a:p>
          <a:p>
            <a:pPr>
              <a:spcBef>
                <a:spcPts val="600"/>
              </a:spcBef>
              <a:spcAft>
                <a:spcPts val="600"/>
              </a:spcAft>
              <a:defRPr sz="1800">
                <a:solidFill>
                  <a:srgbClr val="000000"/>
                </a:solidFill>
              </a:defRPr>
            </a:pPr>
            <a:r>
              <a:rPr dirty="0"/>
              <a:t>• This 'honest execution gate' philosophy carries through all three phases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1: Baselines — Setup &amp; Method</a:t>
            </a:r>
          </a:p>
        </p:txBody>
      </p:sp>
      <p:sp>
        <p:nvSpPr>
          <p:cNvPr id="3" name="TextBox 2"/>
          <p:cNvSpPr txBox="1"/>
          <p:nvPr/>
        </p:nvSpPr>
        <p:spPr>
          <a:xfrm>
            <a:off x="640080" y="1097280"/>
            <a:ext cx="7863840" cy="3474720"/>
          </a:xfrm>
          <a:prstGeom prst="rect">
            <a:avLst/>
          </a:prstGeom>
          <a:noFill/>
        </p:spPr>
        <p:txBody>
          <a:bodyPr wrap="square">
            <a:spAutoFit/>
          </a:bodyPr>
          <a:lstStyle/>
          <a:p>
            <a:pPr>
              <a:spcBef>
                <a:spcPts val="600"/>
              </a:spcBef>
              <a:spcAft>
                <a:spcPts val="600"/>
              </a:spcAft>
              <a:defRPr sz="1800">
                <a:solidFill>
                  <a:srgbClr val="000000"/>
                </a:solidFill>
              </a:defRPr>
            </a:pPr>
            <a:r>
              <a:t>• Models: Qwen2.5-Coder-1.5B (fp16) and Qwen2.5-Coder-7B (4-bit NF4)</a:t>
            </a:r>
          </a:p>
          <a:p>
            <a:pPr>
              <a:spcBef>
                <a:spcPts val="600"/>
              </a:spcBef>
              <a:spcAft>
                <a:spcPts val="600"/>
              </a:spcAft>
              <a:defRPr sz="1800">
                <a:solidFill>
                  <a:srgbClr val="000000"/>
                </a:solidFill>
              </a:defRPr>
            </a:pPr>
            <a:r>
              <a:t>• Benchmarks &amp; tasks: HumanEval (NL→Python), MBPP (NL→Python), HumanEval-X (Python→Java)</a:t>
            </a:r>
          </a:p>
          <a:p>
            <a:pPr>
              <a:spcBef>
                <a:spcPts val="600"/>
              </a:spcBef>
              <a:spcAft>
                <a:spcPts val="600"/>
              </a:spcAft>
              <a:defRPr sz="1800">
                <a:solidFill>
                  <a:srgbClr val="000000"/>
                </a:solidFill>
              </a:defRPr>
            </a:pPr>
            <a:r>
              <a:t>• Decoding: greedy, K=0</a:t>
            </a:r>
          </a:p>
          <a:p>
            <a:pPr>
              <a:spcBef>
                <a:spcPts val="600"/>
              </a:spcBef>
              <a:spcAft>
                <a:spcPts val="600"/>
              </a:spcAft>
              <a:defRPr sz="1800">
                <a:solidFill>
                  <a:srgbClr val="000000"/>
                </a:solidFill>
              </a:defRPr>
            </a:pPr>
            <a:r>
              <a:t>• Metric: execution-based pass@1</a:t>
            </a:r>
          </a:p>
          <a:p>
            <a:pPr>
              <a:spcBef>
                <a:spcPts val="600"/>
              </a:spcBef>
              <a:spcAft>
                <a:spcPts val="600"/>
              </a:spcAft>
              <a:defRPr sz="1800">
                <a:solidFill>
                  <a:srgbClr val="000000"/>
                </a:solidFill>
              </a:defRPr>
            </a:pPr>
            <a:r>
              <a:t>• Rigor: found and fixed 3 pipeline bugs (round1→round3) before trusting any numbers — indentation/extraction bugs and a Java import-injection bug that was causing 100% false failures on HumanEval-X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1: Baseline Scores</a:t>
            </a:r>
          </a:p>
        </p:txBody>
      </p:sp>
      <p:graphicFrame>
        <p:nvGraphicFramePr>
          <p:cNvPr id="3" name="Table 2"/>
          <p:cNvGraphicFramePr>
            <a:graphicFrameLocks noGrp="1"/>
          </p:cNvGraphicFramePr>
          <p:nvPr/>
        </p:nvGraphicFramePr>
        <p:xfrm>
          <a:off x="457200" y="1097280"/>
          <a:ext cx="7680960" cy="22860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71500">
                <a:tc>
                  <a:txBody>
                    <a:bodyPr/>
                    <a:lstStyle/>
                    <a:p>
                      <a:r>
                        <a:rPr sz="1400" b="1">
                          <a:solidFill>
                            <a:srgbClr val="FFFFFF"/>
                          </a:solidFill>
                        </a:rPr>
                        <a:t>Benchmark</a:t>
                      </a:r>
                    </a:p>
                  </a:txBody>
                  <a:tcPr>
                    <a:solidFill>
                      <a:srgbClr val="1F3864"/>
                    </a:solidFill>
                  </a:tcPr>
                </a:tc>
                <a:tc>
                  <a:txBody>
                    <a:bodyPr/>
                    <a:lstStyle/>
                    <a:p>
                      <a:r>
                        <a:rPr sz="1400" b="1">
                          <a:solidFill>
                            <a:srgbClr val="FFFFFF"/>
                          </a:solidFill>
                        </a:rPr>
                        <a:t>Task</a:t>
                      </a:r>
                    </a:p>
                  </a:txBody>
                  <a:tcPr>
                    <a:solidFill>
                      <a:srgbClr val="1F3864"/>
                    </a:solidFill>
                  </a:tcPr>
                </a:tc>
                <a:tc>
                  <a:txBody>
                    <a:bodyPr/>
                    <a:lstStyle/>
                    <a:p>
                      <a:r>
                        <a:rPr sz="1400" b="1">
                          <a:solidFill>
                            <a:srgbClr val="FFFFFF"/>
                          </a:solidFill>
                        </a:rPr>
                        <a:t>1.5B fp16</a:t>
                      </a:r>
                    </a:p>
                  </a:txBody>
                  <a:tcPr>
                    <a:solidFill>
                      <a:srgbClr val="1F3864"/>
                    </a:solidFill>
                  </a:tcPr>
                </a:tc>
                <a:tc>
                  <a:txBody>
                    <a:bodyPr/>
                    <a:lstStyle/>
                    <a:p>
                      <a:r>
                        <a:rPr sz="1400" b="1">
                          <a:solidFill>
                            <a:srgbClr val="FFFFFF"/>
                          </a:solidFill>
                        </a:rPr>
                        <a:t>7B 4-bit NF4</a:t>
                      </a:r>
                    </a:p>
                  </a:txBody>
                  <a:tcPr>
                    <a:solidFill>
                      <a:srgbClr val="1F3864"/>
                    </a:solidFill>
                  </a:tcPr>
                </a:tc>
                <a:extLst>
                  <a:ext uri="{0D108BD9-81ED-4DB2-BD59-A6C34878D82A}">
                    <a16:rowId xmlns:a16="http://schemas.microsoft.com/office/drawing/2014/main" val="10000"/>
                  </a:ext>
                </a:extLst>
              </a:tr>
              <a:tr h="571500">
                <a:tc>
                  <a:txBody>
                    <a:bodyPr/>
                    <a:lstStyle/>
                    <a:p>
                      <a:r>
                        <a:rPr sz="1400">
                          <a:solidFill>
                            <a:srgbClr val="000000"/>
                          </a:solidFill>
                        </a:rPr>
                        <a:t>HumanEval</a:t>
                      </a:r>
                    </a:p>
                  </a:txBody>
                  <a:tcPr/>
                </a:tc>
                <a:tc>
                  <a:txBody>
                    <a:bodyPr/>
                    <a:lstStyle/>
                    <a:p>
                      <a:r>
                        <a:rPr sz="1400">
                          <a:solidFill>
                            <a:srgbClr val="000000"/>
                          </a:solidFill>
                        </a:rPr>
                        <a:t>NL→Python</a:t>
                      </a:r>
                    </a:p>
                  </a:txBody>
                  <a:tcPr/>
                </a:tc>
                <a:tc>
                  <a:txBody>
                    <a:bodyPr/>
                    <a:lstStyle/>
                    <a:p>
                      <a:r>
                        <a:rPr sz="1400">
                          <a:solidFill>
                            <a:srgbClr val="000000"/>
                          </a:solidFill>
                        </a:rPr>
                        <a:t>0.76</a:t>
                      </a:r>
                    </a:p>
                  </a:txBody>
                  <a:tcPr/>
                </a:tc>
                <a:tc>
                  <a:txBody>
                    <a:bodyPr/>
                    <a:lstStyle/>
                    <a:p>
                      <a:r>
                        <a:rPr sz="1400">
                          <a:solidFill>
                            <a:srgbClr val="000000"/>
                          </a:solidFill>
                        </a:rPr>
                        <a:t>0.92</a:t>
                      </a:r>
                    </a:p>
                  </a:txBody>
                  <a:tcPr/>
                </a:tc>
                <a:extLst>
                  <a:ext uri="{0D108BD9-81ED-4DB2-BD59-A6C34878D82A}">
                    <a16:rowId xmlns:a16="http://schemas.microsoft.com/office/drawing/2014/main" val="10001"/>
                  </a:ext>
                </a:extLst>
              </a:tr>
              <a:tr h="571500">
                <a:tc>
                  <a:txBody>
                    <a:bodyPr/>
                    <a:lstStyle/>
                    <a:p>
                      <a:r>
                        <a:rPr sz="1400">
                          <a:solidFill>
                            <a:srgbClr val="000000"/>
                          </a:solidFill>
                        </a:rPr>
                        <a:t>MBPP</a:t>
                      </a:r>
                    </a:p>
                  </a:txBody>
                  <a:tcPr/>
                </a:tc>
                <a:tc>
                  <a:txBody>
                    <a:bodyPr/>
                    <a:lstStyle/>
                    <a:p>
                      <a:r>
                        <a:rPr sz="1400">
                          <a:solidFill>
                            <a:srgbClr val="000000"/>
                          </a:solidFill>
                        </a:rPr>
                        <a:t>NL→Python</a:t>
                      </a:r>
                    </a:p>
                  </a:txBody>
                  <a:tcPr/>
                </a:tc>
                <a:tc>
                  <a:txBody>
                    <a:bodyPr/>
                    <a:lstStyle/>
                    <a:p>
                      <a:r>
                        <a:rPr sz="1400">
                          <a:solidFill>
                            <a:srgbClr val="000000"/>
                          </a:solidFill>
                        </a:rPr>
                        <a:t>0.70</a:t>
                      </a:r>
                    </a:p>
                  </a:txBody>
                  <a:tcPr/>
                </a:tc>
                <a:tc>
                  <a:txBody>
                    <a:bodyPr/>
                    <a:lstStyle/>
                    <a:p>
                      <a:r>
                        <a:rPr sz="1400">
                          <a:solidFill>
                            <a:srgbClr val="000000"/>
                          </a:solidFill>
                        </a:rPr>
                        <a:t>0.82</a:t>
                      </a:r>
                    </a:p>
                  </a:txBody>
                  <a:tcPr/>
                </a:tc>
                <a:extLst>
                  <a:ext uri="{0D108BD9-81ED-4DB2-BD59-A6C34878D82A}">
                    <a16:rowId xmlns:a16="http://schemas.microsoft.com/office/drawing/2014/main" val="10002"/>
                  </a:ext>
                </a:extLst>
              </a:tr>
              <a:tr h="571500">
                <a:tc>
                  <a:txBody>
                    <a:bodyPr/>
                    <a:lstStyle/>
                    <a:p>
                      <a:r>
                        <a:rPr sz="1400">
                          <a:solidFill>
                            <a:srgbClr val="000000"/>
                          </a:solidFill>
                        </a:rPr>
                        <a:t>HumanEval-X</a:t>
                      </a:r>
                    </a:p>
                  </a:txBody>
                  <a:tcPr/>
                </a:tc>
                <a:tc>
                  <a:txBody>
                    <a:bodyPr/>
                    <a:lstStyle/>
                    <a:p>
                      <a:r>
                        <a:rPr sz="1400">
                          <a:solidFill>
                            <a:srgbClr val="000000"/>
                          </a:solidFill>
                        </a:rPr>
                        <a:t>Python→Java</a:t>
                      </a:r>
                    </a:p>
                  </a:txBody>
                  <a:tcPr/>
                </a:tc>
                <a:tc>
                  <a:txBody>
                    <a:bodyPr/>
                    <a:lstStyle/>
                    <a:p>
                      <a:r>
                        <a:rPr sz="1400">
                          <a:solidFill>
                            <a:srgbClr val="000000"/>
                          </a:solidFill>
                        </a:rPr>
                        <a:t>0.70</a:t>
                      </a:r>
                    </a:p>
                  </a:txBody>
                  <a:tcPr/>
                </a:tc>
                <a:tc>
                  <a:txBody>
                    <a:bodyPr/>
                    <a:lstStyle/>
                    <a:p>
                      <a:r>
                        <a:rPr sz="1400">
                          <a:solidFill>
                            <a:srgbClr val="000000"/>
                          </a:solidFill>
                        </a:rPr>
                        <a:t>0.86</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640080" y="3840480"/>
            <a:ext cx="7863840" cy="800219"/>
          </a:xfrm>
          <a:prstGeom prst="rect">
            <a:avLst/>
          </a:prstGeom>
          <a:noFill/>
        </p:spPr>
        <p:txBody>
          <a:bodyPr wrap="square">
            <a:spAutoFit/>
          </a:bodyPr>
          <a:lstStyle/>
          <a:p>
            <a:pPr>
              <a:spcBef>
                <a:spcPts val="600"/>
              </a:spcBef>
              <a:spcAft>
                <a:spcPts val="600"/>
              </a:spcAft>
              <a:defRPr sz="1800">
                <a:solidFill>
                  <a:srgbClr val="000000"/>
                </a:solidFill>
              </a:defRPr>
            </a:pPr>
            <a:r>
              <a:rPr dirty="0"/>
              <a:t>• 7B substantially outperforms 1.5B on every benchmark</a:t>
            </a:r>
          </a:p>
          <a:p>
            <a:pPr>
              <a:spcBef>
                <a:spcPts val="600"/>
              </a:spcBef>
              <a:spcAft>
                <a:spcPts val="600"/>
              </a:spcAft>
              <a:defRPr sz="1800">
                <a:solidFill>
                  <a:srgbClr val="000000"/>
                </a:solidFill>
              </a:defRPr>
            </a:pPr>
            <a:r>
              <a:rPr dirty="0"/>
              <a:t>• seed=42, n=50 subset; sample-bias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2: Why Extend the Dataset</a:t>
            </a:r>
          </a:p>
        </p:txBody>
      </p:sp>
      <p:sp>
        <p:nvSpPr>
          <p:cNvPr id="3" name="TextBox 2"/>
          <p:cNvSpPr txBox="1"/>
          <p:nvPr/>
        </p:nvSpPr>
        <p:spPr>
          <a:xfrm>
            <a:off x="640080" y="1097280"/>
            <a:ext cx="7863840" cy="3474720"/>
          </a:xfrm>
          <a:prstGeom prst="rect">
            <a:avLst/>
          </a:prstGeom>
          <a:noFill/>
        </p:spPr>
        <p:txBody>
          <a:bodyPr wrap="square">
            <a:spAutoFit/>
          </a:bodyPr>
          <a:lstStyle/>
          <a:p>
            <a:pPr>
              <a:spcBef>
                <a:spcPts val="600"/>
              </a:spcBef>
              <a:spcAft>
                <a:spcPts val="600"/>
              </a:spcAft>
              <a:defRPr sz="1800">
                <a:solidFill>
                  <a:srgbClr val="000000"/>
                </a:solidFill>
              </a:defRPr>
            </a:pPr>
            <a:r>
              <a:t>• RAG and fine-tuning need complete (NL, Python, Java) triplets</a:t>
            </a:r>
          </a:p>
          <a:p>
            <a:pPr>
              <a:spcBef>
                <a:spcPts val="600"/>
              </a:spcBef>
              <a:spcAft>
                <a:spcPts val="600"/>
              </a:spcAft>
              <a:defRPr sz="1800">
                <a:solidFill>
                  <a:srgbClr val="000000"/>
                </a:solidFill>
              </a:defRPr>
            </a:pPr>
            <a:r>
              <a:t>• Each benchmark is missing exactly one component of the triplet:</a:t>
            </a:r>
          </a:p>
          <a:p>
            <a:pPr>
              <a:spcBef>
                <a:spcPts val="600"/>
              </a:spcBef>
              <a:spcAft>
                <a:spcPts val="600"/>
              </a:spcAft>
              <a:defRPr sz="1800">
                <a:solidFill>
                  <a:srgbClr val="000000"/>
                </a:solidFill>
              </a:defRPr>
            </a:pPr>
            <a:r>
              <a:t>  - HumanEval: has NL + Python, missing Java</a:t>
            </a:r>
          </a:p>
          <a:p>
            <a:pPr>
              <a:spcBef>
                <a:spcPts val="600"/>
              </a:spcBef>
              <a:spcAft>
                <a:spcPts val="600"/>
              </a:spcAft>
              <a:defRPr sz="1800">
                <a:solidFill>
                  <a:srgbClr val="000000"/>
                </a:solidFill>
              </a:defRPr>
            </a:pPr>
            <a:r>
              <a:t>  - MBPP: has NL + Python, missing Java</a:t>
            </a:r>
          </a:p>
          <a:p>
            <a:pPr>
              <a:spcBef>
                <a:spcPts val="600"/>
              </a:spcBef>
              <a:spcAft>
                <a:spcPts val="600"/>
              </a:spcAft>
              <a:defRPr sz="1800">
                <a:solidFill>
                  <a:srgbClr val="000000"/>
                </a:solidFill>
              </a:defRPr>
            </a:pPr>
            <a:r>
              <a:t>  - HumanEval-X: has Python + Java, missing NL</a:t>
            </a:r>
          </a:p>
          <a:p>
            <a:pPr>
              <a:spcBef>
                <a:spcPts val="600"/>
              </a:spcBef>
              <a:spcAft>
                <a:spcPts val="600"/>
              </a:spcAft>
              <a:defRPr sz="1800">
                <a:solidFill>
                  <a:srgbClr val="000000"/>
                </a:solidFill>
              </a:defRPr>
            </a:pPr>
            <a:r>
              <a:t>• Goal: generate the missing piece for each benchmark, validated by execution, to produce complete triplets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2: The Feedback Loop</a:t>
            </a:r>
          </a:p>
        </p:txBody>
      </p:sp>
      <p:sp>
        <p:nvSpPr>
          <p:cNvPr id="3" name="TextBox 2"/>
          <p:cNvSpPr txBox="1"/>
          <p:nvPr/>
        </p:nvSpPr>
        <p:spPr>
          <a:xfrm>
            <a:off x="640080" y="1097280"/>
            <a:ext cx="7863840" cy="3474720"/>
          </a:xfrm>
          <a:prstGeom prst="rect">
            <a:avLst/>
          </a:prstGeom>
          <a:noFill/>
        </p:spPr>
        <p:txBody>
          <a:bodyPr wrap="square">
            <a:spAutoFit/>
          </a:bodyPr>
          <a:lstStyle/>
          <a:p>
            <a:pPr>
              <a:spcBef>
                <a:spcPts val="600"/>
              </a:spcBef>
              <a:spcAft>
                <a:spcPts val="600"/>
              </a:spcAft>
              <a:defRPr sz="1800">
                <a:solidFill>
                  <a:srgbClr val="000000"/>
                </a:solidFill>
              </a:defRPr>
            </a:pPr>
            <a:r>
              <a:rPr dirty="0"/>
              <a:t>• Pipeline: generate → validate via execution → if fail, embed the validator's actual error into a retry prompt (up to 3 attempts) → mark flag</a:t>
            </a:r>
          </a:p>
          <a:p>
            <a:pPr>
              <a:spcBef>
                <a:spcPts val="600"/>
              </a:spcBef>
              <a:spcAft>
                <a:spcPts val="600"/>
              </a:spcAft>
              <a:defRPr sz="1800">
                <a:solidFill>
                  <a:srgbClr val="000000"/>
                </a:solidFill>
              </a:defRPr>
            </a:pPr>
            <a:r>
              <a:rPr dirty="0"/>
              <a:t>• Concrete example trace: </a:t>
            </a:r>
            <a:r>
              <a:rPr dirty="0" err="1"/>
              <a:t>HumanEval</a:t>
            </a:r>
            <a:r>
              <a:rPr dirty="0"/>
              <a:t> problem #23 ('</a:t>
            </a:r>
            <a:r>
              <a:rPr dirty="0" err="1"/>
              <a:t>strlen</a:t>
            </a:r>
            <a:r>
              <a:rPr dirty="0"/>
              <a:t>') — Attempt 1 generates Java using </a:t>
            </a:r>
            <a:r>
              <a:rPr dirty="0" err="1"/>
              <a:t>s.length</a:t>
            </a:r>
            <a:r>
              <a:rPr dirty="0"/>
              <a:t> (missing </a:t>
            </a:r>
            <a:r>
              <a:rPr dirty="0" err="1"/>
              <a:t>parens</a:t>
            </a:r>
            <a:r>
              <a:rPr dirty="0"/>
              <a:t>), fails to compile; feedback prompt includes the compiler error; Attempt 2 generates </a:t>
            </a:r>
            <a:r>
              <a:rPr dirty="0" err="1"/>
              <a:t>s.length</a:t>
            </a:r>
            <a:r>
              <a:rPr dirty="0"/>
              <a:t>() correctly and passes</a:t>
            </a:r>
          </a:p>
          <a:p>
            <a:pPr>
              <a:spcBef>
                <a:spcPts val="600"/>
              </a:spcBef>
              <a:spcAft>
                <a:spcPts val="600"/>
              </a:spcAft>
              <a:defRPr sz="1800">
                <a:solidFill>
                  <a:srgbClr val="000000"/>
                </a:solidFill>
              </a:defRPr>
            </a:pPr>
            <a:r>
              <a:rPr dirty="0"/>
              <a:t>• Two flows:</a:t>
            </a:r>
          </a:p>
          <a:p>
            <a:pPr>
              <a:spcBef>
                <a:spcPts val="600"/>
              </a:spcBef>
              <a:spcAft>
                <a:spcPts val="600"/>
              </a:spcAft>
              <a:defRPr sz="1800">
                <a:solidFill>
                  <a:srgbClr val="000000"/>
                </a:solidFill>
              </a:defRPr>
            </a:pPr>
            <a:r>
              <a:rPr dirty="0"/>
              <a:t>  - Flow A: generate Java for </a:t>
            </a:r>
            <a:r>
              <a:rPr dirty="0" err="1"/>
              <a:t>HumanEval</a:t>
            </a:r>
            <a:r>
              <a:rPr dirty="0"/>
              <a:t>/MBPP (validated via </a:t>
            </a:r>
            <a:r>
              <a:rPr dirty="0" err="1"/>
              <a:t>javac</a:t>
            </a:r>
            <a:r>
              <a:rPr dirty="0"/>
              <a:t> + java -</a:t>
            </a:r>
            <a:r>
              <a:rPr dirty="0" err="1"/>
              <a:t>ea</a:t>
            </a:r>
            <a:r>
              <a:rPr dirty="0"/>
              <a:t> Main, assertions enabled)</a:t>
            </a:r>
          </a:p>
          <a:p>
            <a:pPr>
              <a:spcBef>
                <a:spcPts val="600"/>
              </a:spcBef>
              <a:spcAft>
                <a:spcPts val="600"/>
              </a:spcAft>
              <a:defRPr sz="1800">
                <a:solidFill>
                  <a:srgbClr val="000000"/>
                </a:solidFill>
              </a:defRPr>
            </a:pPr>
            <a:r>
              <a:rPr dirty="0"/>
              <a:t>  - Flow B: generate NL for </a:t>
            </a:r>
            <a:r>
              <a:rPr dirty="0" err="1"/>
              <a:t>HumanEval</a:t>
            </a:r>
            <a:r>
              <a:rPr dirty="0"/>
              <a:t>-X (validated via double round-trip — regenerate Python and Java from the new NL and check both against ground truth)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2: Hard Gate vs Soft Signals</a:t>
            </a:r>
          </a:p>
        </p:txBody>
      </p:sp>
      <p:sp>
        <p:nvSpPr>
          <p:cNvPr id="3" name="TextBox 2"/>
          <p:cNvSpPr txBox="1"/>
          <p:nvPr/>
        </p:nvSpPr>
        <p:spPr>
          <a:xfrm>
            <a:off x="640080" y="1097280"/>
            <a:ext cx="7863840" cy="2492990"/>
          </a:xfrm>
          <a:prstGeom prst="rect">
            <a:avLst/>
          </a:prstGeom>
          <a:noFill/>
        </p:spPr>
        <p:txBody>
          <a:bodyPr wrap="square">
            <a:spAutoFit/>
          </a:bodyPr>
          <a:lstStyle/>
          <a:p>
            <a:pPr>
              <a:spcBef>
                <a:spcPts val="600"/>
              </a:spcBef>
              <a:spcAft>
                <a:spcPts val="600"/>
              </a:spcAft>
              <a:defRPr sz="1800">
                <a:solidFill>
                  <a:srgbClr val="000000"/>
                </a:solidFill>
              </a:defRPr>
            </a:pPr>
            <a:r>
              <a:rPr dirty="0"/>
              <a:t>• Execution match is the hard gate — it alone decides the flag value</a:t>
            </a:r>
          </a:p>
          <a:p>
            <a:pPr>
              <a:spcBef>
                <a:spcPts val="600"/>
              </a:spcBef>
              <a:spcAft>
                <a:spcPts val="600"/>
              </a:spcAft>
              <a:defRPr sz="1800">
                <a:solidFill>
                  <a:srgbClr val="000000"/>
                </a:solidFill>
              </a:defRPr>
            </a:pPr>
            <a:r>
              <a:rPr dirty="0"/>
              <a:t>• AST canonical-equality and AST-bigram Jaccard similarity are computed and logged, but never used to gate/decide validity</a:t>
            </a:r>
          </a:p>
          <a:p>
            <a:pPr>
              <a:spcBef>
                <a:spcPts val="600"/>
              </a:spcBef>
              <a:spcAft>
                <a:spcPts val="600"/>
              </a:spcAft>
              <a:defRPr sz="1800">
                <a:solidFill>
                  <a:srgbClr val="000000"/>
                </a:solidFill>
              </a:defRPr>
            </a:pPr>
            <a:r>
              <a:rPr dirty="0"/>
              <a:t>• Why not gate on AST alone: superficially different but functionally equivalent code (variable renaming, refactored structure) would be wrongly rejected; conversely near-identical AST can still have different runtime behavior</a:t>
            </a:r>
          </a:p>
          <a:p>
            <a:pPr>
              <a:spcBef>
                <a:spcPts val="600"/>
              </a:spcBef>
              <a:spcAft>
                <a:spcPts val="600"/>
              </a:spcAft>
              <a:defRPr sz="1800">
                <a:solidFill>
                  <a:srgbClr val="000000"/>
                </a:solidFill>
              </a:defRPr>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2: Extension Results</a:t>
            </a:r>
          </a:p>
        </p:txBody>
      </p:sp>
      <p:graphicFrame>
        <p:nvGraphicFramePr>
          <p:cNvPr id="3" name="Table 2"/>
          <p:cNvGraphicFramePr>
            <a:graphicFrameLocks noGrp="1"/>
          </p:cNvGraphicFramePr>
          <p:nvPr/>
        </p:nvGraphicFramePr>
        <p:xfrm>
          <a:off x="457200" y="1097280"/>
          <a:ext cx="7680960" cy="22860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71500">
                <a:tc>
                  <a:txBody>
                    <a:bodyPr/>
                    <a:lstStyle/>
                    <a:p>
                      <a:r>
                        <a:rPr sz="1400" b="1">
                          <a:solidFill>
                            <a:srgbClr val="FFFFFF"/>
                          </a:solidFill>
                        </a:rPr>
                        <a:t>Benchmark</a:t>
                      </a:r>
                    </a:p>
                  </a:txBody>
                  <a:tcPr>
                    <a:solidFill>
                      <a:srgbClr val="1F3864"/>
                    </a:solidFill>
                  </a:tcPr>
                </a:tc>
                <a:tc>
                  <a:txBody>
                    <a:bodyPr/>
                    <a:lstStyle/>
                    <a:p>
                      <a:r>
                        <a:rPr sz="1400" b="1">
                          <a:solidFill>
                            <a:srgbClr val="FFFFFF"/>
                          </a:solidFill>
                        </a:rPr>
                        <a:t>Missing Piece Generated</a:t>
                      </a:r>
                    </a:p>
                  </a:txBody>
                  <a:tcPr>
                    <a:solidFill>
                      <a:srgbClr val="1F3864"/>
                    </a:solidFill>
                  </a:tcPr>
                </a:tc>
                <a:tc>
                  <a:txBody>
                    <a:bodyPr/>
                    <a:lstStyle/>
                    <a:p>
                      <a:r>
                        <a:rPr sz="1400" b="1">
                          <a:solidFill>
                            <a:srgbClr val="FFFFFF"/>
                          </a:solidFill>
                        </a:rPr>
                        <a:t>Flag-True Rate</a:t>
                      </a:r>
                    </a:p>
                  </a:txBody>
                  <a:tcPr>
                    <a:solidFill>
                      <a:srgbClr val="1F3864"/>
                    </a:solidFill>
                  </a:tcPr>
                </a:tc>
                <a:tc>
                  <a:txBody>
                    <a:bodyPr/>
                    <a:lstStyle/>
                    <a:p>
                      <a:r>
                        <a:rPr sz="1400" b="1">
                          <a:solidFill>
                            <a:srgbClr val="FFFFFF"/>
                          </a:solidFill>
                        </a:rPr>
                        <a:t>Mean Attempts</a:t>
                      </a:r>
                    </a:p>
                  </a:txBody>
                  <a:tcPr>
                    <a:solidFill>
                      <a:srgbClr val="1F3864"/>
                    </a:solidFill>
                  </a:tcPr>
                </a:tc>
                <a:extLst>
                  <a:ext uri="{0D108BD9-81ED-4DB2-BD59-A6C34878D82A}">
                    <a16:rowId xmlns:a16="http://schemas.microsoft.com/office/drawing/2014/main" val="10000"/>
                  </a:ext>
                </a:extLst>
              </a:tr>
              <a:tr h="571500">
                <a:tc>
                  <a:txBody>
                    <a:bodyPr/>
                    <a:lstStyle/>
                    <a:p>
                      <a:r>
                        <a:rPr sz="1400">
                          <a:solidFill>
                            <a:srgbClr val="000000"/>
                          </a:solidFill>
                        </a:rPr>
                        <a:t>HumanEval</a:t>
                      </a:r>
                    </a:p>
                  </a:txBody>
                  <a:tcPr/>
                </a:tc>
                <a:tc>
                  <a:txBody>
                    <a:bodyPr/>
                    <a:lstStyle/>
                    <a:p>
                      <a:r>
                        <a:rPr sz="1400">
                          <a:solidFill>
                            <a:srgbClr val="000000"/>
                          </a:solidFill>
                        </a:rPr>
                        <a:t>Java (Flow A)</a:t>
                      </a:r>
                    </a:p>
                  </a:txBody>
                  <a:tcPr/>
                </a:tc>
                <a:tc>
                  <a:txBody>
                    <a:bodyPr/>
                    <a:lstStyle/>
                    <a:p>
                      <a:r>
                        <a:rPr sz="1400">
                          <a:solidFill>
                            <a:srgbClr val="000000"/>
                          </a:solidFill>
                        </a:rPr>
                        <a:t>85%</a:t>
                      </a:r>
                    </a:p>
                  </a:txBody>
                  <a:tcPr/>
                </a:tc>
                <a:tc>
                  <a:txBody>
                    <a:bodyPr/>
                    <a:lstStyle/>
                    <a:p>
                      <a:r>
                        <a:rPr sz="1400">
                          <a:solidFill>
                            <a:srgbClr val="000000"/>
                          </a:solidFill>
                        </a:rPr>
                        <a:t>1.30</a:t>
                      </a:r>
                    </a:p>
                  </a:txBody>
                  <a:tcPr/>
                </a:tc>
                <a:extLst>
                  <a:ext uri="{0D108BD9-81ED-4DB2-BD59-A6C34878D82A}">
                    <a16:rowId xmlns:a16="http://schemas.microsoft.com/office/drawing/2014/main" val="10001"/>
                  </a:ext>
                </a:extLst>
              </a:tr>
              <a:tr h="571500">
                <a:tc>
                  <a:txBody>
                    <a:bodyPr/>
                    <a:lstStyle/>
                    <a:p>
                      <a:r>
                        <a:rPr sz="1400">
                          <a:solidFill>
                            <a:srgbClr val="000000"/>
                          </a:solidFill>
                        </a:rPr>
                        <a:t>MBPP</a:t>
                      </a:r>
                    </a:p>
                  </a:txBody>
                  <a:tcPr/>
                </a:tc>
                <a:tc>
                  <a:txBody>
                    <a:bodyPr/>
                    <a:lstStyle/>
                    <a:p>
                      <a:r>
                        <a:rPr sz="1400">
                          <a:solidFill>
                            <a:srgbClr val="000000"/>
                          </a:solidFill>
                        </a:rPr>
                        <a:t>Java (Flow A)</a:t>
                      </a:r>
                    </a:p>
                  </a:txBody>
                  <a:tcPr/>
                </a:tc>
                <a:tc>
                  <a:txBody>
                    <a:bodyPr/>
                    <a:lstStyle/>
                    <a:p>
                      <a:r>
                        <a:rPr sz="1400">
                          <a:solidFill>
                            <a:srgbClr val="000000"/>
                          </a:solidFill>
                        </a:rPr>
                        <a:t>95%</a:t>
                      </a:r>
                    </a:p>
                  </a:txBody>
                  <a:tcPr/>
                </a:tc>
                <a:tc>
                  <a:txBody>
                    <a:bodyPr/>
                    <a:lstStyle/>
                    <a:p>
                      <a:r>
                        <a:rPr sz="1400">
                          <a:solidFill>
                            <a:srgbClr val="000000"/>
                          </a:solidFill>
                        </a:rPr>
                        <a:t>1.15</a:t>
                      </a:r>
                    </a:p>
                  </a:txBody>
                  <a:tcPr/>
                </a:tc>
                <a:extLst>
                  <a:ext uri="{0D108BD9-81ED-4DB2-BD59-A6C34878D82A}">
                    <a16:rowId xmlns:a16="http://schemas.microsoft.com/office/drawing/2014/main" val="10002"/>
                  </a:ext>
                </a:extLst>
              </a:tr>
              <a:tr h="571500">
                <a:tc>
                  <a:txBody>
                    <a:bodyPr/>
                    <a:lstStyle/>
                    <a:p>
                      <a:r>
                        <a:rPr sz="1400">
                          <a:solidFill>
                            <a:srgbClr val="000000"/>
                          </a:solidFill>
                        </a:rPr>
                        <a:t>HumanEval-X</a:t>
                      </a:r>
                    </a:p>
                  </a:txBody>
                  <a:tcPr/>
                </a:tc>
                <a:tc>
                  <a:txBody>
                    <a:bodyPr/>
                    <a:lstStyle/>
                    <a:p>
                      <a:r>
                        <a:rPr sz="1400">
                          <a:solidFill>
                            <a:srgbClr val="000000"/>
                          </a:solidFill>
                        </a:rPr>
                        <a:t>NL (Flow B)</a:t>
                      </a:r>
                    </a:p>
                  </a:txBody>
                  <a:tcPr/>
                </a:tc>
                <a:tc>
                  <a:txBody>
                    <a:bodyPr/>
                    <a:lstStyle/>
                    <a:p>
                      <a:r>
                        <a:rPr sz="1400">
                          <a:solidFill>
                            <a:srgbClr val="000000"/>
                          </a:solidFill>
                        </a:rPr>
                        <a:t>60%</a:t>
                      </a:r>
                    </a:p>
                  </a:txBody>
                  <a:tcPr/>
                </a:tc>
                <a:tc>
                  <a:txBody>
                    <a:bodyPr/>
                    <a:lstStyle/>
                    <a:p>
                      <a:r>
                        <a:rPr sz="1400">
                          <a:solidFill>
                            <a:srgbClr val="000000"/>
                          </a:solidFill>
                        </a:rPr>
                        <a:t>1.80</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640080" y="3840480"/>
            <a:ext cx="7863840" cy="3474720"/>
          </a:xfrm>
          <a:prstGeom prst="rect">
            <a:avLst/>
          </a:prstGeom>
          <a:noFill/>
        </p:spPr>
        <p:txBody>
          <a:bodyPr wrap="square">
            <a:spAutoFit/>
          </a:bodyPr>
          <a:lstStyle/>
          <a:p>
            <a:pPr>
              <a:spcBef>
                <a:spcPts val="600"/>
              </a:spcBef>
              <a:spcAft>
                <a:spcPts val="600"/>
              </a:spcAft>
              <a:defRPr sz="1800">
                <a:solidFill>
                  <a:srgbClr val="000000"/>
                </a:solidFill>
              </a:defRPr>
            </a:pPr>
            <a:r>
              <a:rPr dirty="0"/>
              <a:t>• Difficulty ranking from Phase 1 holds here too</a:t>
            </a:r>
          </a:p>
          <a:p>
            <a:pPr>
              <a:spcBef>
                <a:spcPts val="600"/>
              </a:spcBef>
              <a:spcAft>
                <a:spcPts val="600"/>
              </a:spcAft>
              <a:defRPr sz="1800">
                <a:solidFill>
                  <a:srgbClr val="000000"/>
                </a:solidFill>
              </a:defRPr>
            </a:pPr>
            <a:r>
              <a:rPr dirty="0"/>
              <a:t>• Retries earn their keep — mean attempts &gt; 1 shows the feedback loop recovers real failures</a:t>
            </a:r>
          </a:p>
          <a:p>
            <a:pPr>
              <a:spcBef>
                <a:spcPts val="600"/>
              </a:spcBef>
              <a:spcAft>
                <a:spcPts val="600"/>
              </a:spcAft>
              <a:defRPr sz="1800">
                <a:solidFill>
                  <a:srgbClr val="000000"/>
                </a:solidFill>
              </a:defRPr>
            </a:pPr>
            <a:r>
              <a:rPr dirty="0"/>
              <a:t>• </a:t>
            </a:r>
            <a:r>
              <a:rPr dirty="0" err="1"/>
              <a:t>HumanEval</a:t>
            </a:r>
            <a:r>
              <a:rPr dirty="0"/>
              <a:t>-X (NL generation, Flow B) is the bottleneck — hardest task, most retries, lowest success</a:t>
            </a:r>
          </a:p>
          <a:p>
            <a:pPr>
              <a:spcBef>
                <a:spcPts val="600"/>
              </a:spcBef>
              <a:spcAft>
                <a:spcPts val="600"/>
              </a:spcAft>
              <a:defRPr sz="1800">
                <a:solidFill>
                  <a:srgbClr val="000000"/>
                </a:solidFill>
              </a:defRPr>
            </a:pPr>
            <a:r>
              <a:rPr dirty="0"/>
              <a:t>• Output feeds directly into Phase 3 as extended_*_seed13.csv</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3: </a:t>
            </a:r>
            <a:r>
              <a:rPr dirty="0" err="1"/>
              <a:t>QLoRA</a:t>
            </a:r>
            <a:r>
              <a:rPr dirty="0"/>
              <a:t> Setup</a:t>
            </a:r>
          </a:p>
        </p:txBody>
      </p:sp>
      <p:sp>
        <p:nvSpPr>
          <p:cNvPr id="3" name="TextBox 2"/>
          <p:cNvSpPr txBox="1"/>
          <p:nvPr/>
        </p:nvSpPr>
        <p:spPr>
          <a:xfrm>
            <a:off x="640080" y="1097280"/>
            <a:ext cx="7863840" cy="2215991"/>
          </a:xfrm>
          <a:prstGeom prst="rect">
            <a:avLst/>
          </a:prstGeom>
          <a:noFill/>
        </p:spPr>
        <p:txBody>
          <a:bodyPr wrap="square">
            <a:spAutoFit/>
          </a:bodyPr>
          <a:lstStyle/>
          <a:p>
            <a:pPr>
              <a:spcBef>
                <a:spcPts val="600"/>
              </a:spcBef>
              <a:spcAft>
                <a:spcPts val="600"/>
              </a:spcAft>
              <a:defRPr sz="1800">
                <a:solidFill>
                  <a:srgbClr val="000000"/>
                </a:solidFill>
              </a:defRPr>
            </a:pPr>
            <a:r>
              <a:rPr dirty="0"/>
              <a:t>• Base model: Qwen2.5-Coder-7B, 4-bit NF4 quantized</a:t>
            </a:r>
          </a:p>
          <a:p>
            <a:pPr>
              <a:spcBef>
                <a:spcPts val="600"/>
              </a:spcBef>
              <a:spcAft>
                <a:spcPts val="600"/>
              </a:spcAft>
              <a:defRPr sz="1800">
                <a:solidFill>
                  <a:srgbClr val="000000"/>
                </a:solidFill>
              </a:defRPr>
            </a:pPr>
            <a:r>
              <a:rPr dirty="0"/>
              <a:t>• </a:t>
            </a:r>
            <a:r>
              <a:rPr dirty="0" err="1"/>
              <a:t>LoRA</a:t>
            </a:r>
            <a:r>
              <a:rPr dirty="0"/>
              <a:t> config: r=8, alpha=16, dropout=0.05, target modules on attention + MLP projections, 3 epochs, learning rate 2e-4</a:t>
            </a:r>
          </a:p>
          <a:p>
            <a:pPr>
              <a:spcBef>
                <a:spcPts val="600"/>
              </a:spcBef>
              <a:spcAft>
                <a:spcPts val="600"/>
              </a:spcAft>
              <a:defRPr sz="1800">
                <a:solidFill>
                  <a:srgbClr val="000000"/>
                </a:solidFill>
              </a:defRPr>
            </a:pPr>
            <a:r>
              <a:rPr dirty="0"/>
              <a:t>• Training data: merged </a:t>
            </a:r>
            <a:r>
              <a:rPr dirty="0" err="1"/>
              <a:t>HumanEval</a:t>
            </a:r>
            <a:r>
              <a:rPr dirty="0"/>
              <a:t> ∩ </a:t>
            </a:r>
            <a:r>
              <a:rPr dirty="0" err="1"/>
              <a:t>HumanEval</a:t>
            </a:r>
            <a:r>
              <a:rPr dirty="0"/>
              <a:t>-X on shared problem ID (164 records), single seed-13 train/test split (131 train / 33 test), no cross-task leakage</a:t>
            </a:r>
          </a:p>
          <a:p>
            <a:pPr>
              <a:spcBef>
                <a:spcPts val="600"/>
              </a:spcBef>
              <a:spcAft>
                <a:spcPts val="600"/>
              </a:spcAft>
              <a:defRPr sz="1800">
                <a:solidFill>
                  <a:srgbClr val="000000"/>
                </a:solidFill>
              </a:defRPr>
            </a:pPr>
            <a:r>
              <a:rPr dirty="0"/>
              <a:t>• Four tasks trained: </a:t>
            </a:r>
            <a:r>
              <a:rPr dirty="0" err="1"/>
              <a:t>NL→Python</a:t>
            </a:r>
            <a:r>
              <a:rPr dirty="0"/>
              <a:t>, </a:t>
            </a:r>
            <a:r>
              <a:rPr dirty="0" err="1"/>
              <a:t>NL→Java</a:t>
            </a:r>
            <a:r>
              <a:rPr dirty="0"/>
              <a:t>, </a:t>
            </a:r>
            <a:r>
              <a:rPr dirty="0" err="1"/>
              <a:t>Python→Java</a:t>
            </a:r>
            <a:r>
              <a:rPr dirty="0"/>
              <a:t>, </a:t>
            </a:r>
            <a:r>
              <a:rPr dirty="0" err="1"/>
              <a:t>Code→NL</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3: Evaluation Strategy</a:t>
            </a:r>
          </a:p>
        </p:txBody>
      </p:sp>
      <p:sp>
        <p:nvSpPr>
          <p:cNvPr id="3" name="TextBox 2"/>
          <p:cNvSpPr txBox="1"/>
          <p:nvPr/>
        </p:nvSpPr>
        <p:spPr>
          <a:xfrm>
            <a:off x="640080" y="1097280"/>
            <a:ext cx="7863840" cy="3474720"/>
          </a:xfrm>
          <a:prstGeom prst="rect">
            <a:avLst/>
          </a:prstGeom>
          <a:noFill/>
        </p:spPr>
        <p:txBody>
          <a:bodyPr wrap="square">
            <a:spAutoFit/>
          </a:bodyPr>
          <a:lstStyle/>
          <a:p>
            <a:pPr>
              <a:spcBef>
                <a:spcPts val="600"/>
              </a:spcBef>
              <a:spcAft>
                <a:spcPts val="600"/>
              </a:spcAft>
              <a:defRPr sz="1800">
                <a:solidFill>
                  <a:srgbClr val="000000"/>
                </a:solidFill>
              </a:defRPr>
            </a:pPr>
            <a:r>
              <a:t>• Compare zero-shot (base model) vs QLoRA-adapted model on the same 33 held-out examples</a:t>
            </a:r>
          </a:p>
          <a:p>
            <a:pPr>
              <a:spcBef>
                <a:spcPts val="600"/>
              </a:spcBef>
              <a:spcAft>
                <a:spcPts val="600"/>
              </a:spcAft>
              <a:defRPr sz="1800">
                <a:solidFill>
                  <a:srgbClr val="000000"/>
                </a:solidFill>
              </a:defRPr>
            </a:pPr>
            <a:r>
              <a:t>• Metric: pass@1 (execution-based) for code-generating tasks; ROUGE-L F1 for the Code→NL task</a:t>
            </a:r>
          </a:p>
          <a:p>
            <a:pPr>
              <a:spcBef>
                <a:spcPts val="600"/>
              </a:spcBef>
              <a:spcAft>
                <a:spcPts val="600"/>
              </a:spcAft>
              <a:defRPr sz="1800">
                <a:solidFill>
                  <a:srgbClr val="000000"/>
                </a:solidFill>
              </a:defRPr>
            </a:pPr>
            <a:r>
              <a:t>• Identical held-out split reused across all 4 tasks</a:t>
            </a:r>
          </a:p>
          <a:p>
            <a:pPr>
              <a:spcBef>
                <a:spcPts val="600"/>
              </a:spcBef>
              <a:spcAft>
                <a:spcPts val="600"/>
              </a:spcAft>
              <a:defRPr sz="1800">
                <a:solidFill>
                  <a:srgbClr val="000000"/>
                </a:solidFill>
              </a:defRPr>
            </a:pPr>
            <a:r>
              <a:t>• Same execution harness as Phase 1 and Phase 2 — apples-to-apples scoring throughout the whole project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Phase 3: </a:t>
            </a:r>
            <a:r>
              <a:rPr dirty="0" err="1"/>
              <a:t>LoRA</a:t>
            </a:r>
            <a:r>
              <a:rPr dirty="0"/>
              <a:t> Results</a:t>
            </a:r>
          </a:p>
        </p:txBody>
      </p:sp>
      <p:graphicFrame>
        <p:nvGraphicFramePr>
          <p:cNvPr id="3" name="Table 2"/>
          <p:cNvGraphicFramePr>
            <a:graphicFrameLocks noGrp="1"/>
          </p:cNvGraphicFramePr>
          <p:nvPr>
            <p:extLst>
              <p:ext uri="{D42A27DB-BD31-4B8C-83A1-F6EECF244321}">
                <p14:modId xmlns:p14="http://schemas.microsoft.com/office/powerpoint/2010/main" val="3575412477"/>
              </p:ext>
            </p:extLst>
          </p:nvPr>
        </p:nvGraphicFramePr>
        <p:xfrm>
          <a:off x="457200" y="1097280"/>
          <a:ext cx="8321040" cy="2286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57200">
                <a:tc>
                  <a:txBody>
                    <a:bodyPr/>
                    <a:lstStyle/>
                    <a:p>
                      <a:r>
                        <a:rPr sz="1400" b="1">
                          <a:solidFill>
                            <a:srgbClr val="FFFFFF"/>
                          </a:solidFill>
                        </a:rPr>
                        <a:t>Task</a:t>
                      </a:r>
                    </a:p>
                  </a:txBody>
                  <a:tcPr>
                    <a:solidFill>
                      <a:srgbClr val="1F3864"/>
                    </a:solidFill>
                  </a:tcPr>
                </a:tc>
                <a:tc>
                  <a:txBody>
                    <a:bodyPr/>
                    <a:lstStyle/>
                    <a:p>
                      <a:r>
                        <a:rPr sz="1400" b="1">
                          <a:solidFill>
                            <a:srgbClr val="FFFFFF"/>
                          </a:solidFill>
                        </a:rPr>
                        <a:t>Metric</a:t>
                      </a:r>
                    </a:p>
                  </a:txBody>
                  <a:tcPr>
                    <a:solidFill>
                      <a:srgbClr val="1F3864"/>
                    </a:solidFill>
                  </a:tcPr>
                </a:tc>
                <a:tc>
                  <a:txBody>
                    <a:bodyPr/>
                    <a:lstStyle/>
                    <a:p>
                      <a:r>
                        <a:rPr sz="1400" b="1">
                          <a:solidFill>
                            <a:srgbClr val="FFFFFF"/>
                          </a:solidFill>
                        </a:rPr>
                        <a:t>Zero-shot</a:t>
                      </a:r>
                    </a:p>
                  </a:txBody>
                  <a:tcPr>
                    <a:solidFill>
                      <a:srgbClr val="1F3864"/>
                    </a:solidFill>
                  </a:tcPr>
                </a:tc>
                <a:tc>
                  <a:txBody>
                    <a:bodyPr/>
                    <a:lstStyle/>
                    <a:p>
                      <a:r>
                        <a:rPr sz="1400" b="1">
                          <a:solidFill>
                            <a:srgbClr val="FFFFFF"/>
                          </a:solidFill>
                        </a:rPr>
                        <a:t>QLoRA</a:t>
                      </a:r>
                    </a:p>
                  </a:txBody>
                  <a:tcPr>
                    <a:solidFill>
                      <a:srgbClr val="1F3864"/>
                    </a:solidFill>
                  </a:tcPr>
                </a:tc>
                <a:tc>
                  <a:txBody>
                    <a:bodyPr/>
                    <a:lstStyle/>
                    <a:p>
                      <a:r>
                        <a:rPr sz="1400" b="1">
                          <a:solidFill>
                            <a:srgbClr val="FFFFFF"/>
                          </a:solidFill>
                        </a:rPr>
                        <a:t>Delta</a:t>
                      </a:r>
                    </a:p>
                  </a:txBody>
                  <a:tcPr>
                    <a:solidFill>
                      <a:srgbClr val="1F3864"/>
                    </a:solidFill>
                  </a:tcPr>
                </a:tc>
                <a:extLst>
                  <a:ext uri="{0D108BD9-81ED-4DB2-BD59-A6C34878D82A}">
                    <a16:rowId xmlns:a16="http://schemas.microsoft.com/office/drawing/2014/main" val="10000"/>
                  </a:ext>
                </a:extLst>
              </a:tr>
              <a:tr h="457200">
                <a:tc>
                  <a:txBody>
                    <a:bodyPr/>
                    <a:lstStyle/>
                    <a:p>
                      <a:r>
                        <a:rPr sz="1400">
                          <a:solidFill>
                            <a:srgbClr val="000000"/>
                          </a:solidFill>
                        </a:rPr>
                        <a:t>NL→Python</a:t>
                      </a:r>
                    </a:p>
                  </a:txBody>
                  <a:tcPr/>
                </a:tc>
                <a:tc>
                  <a:txBody>
                    <a:bodyPr/>
                    <a:lstStyle/>
                    <a:p>
                      <a:r>
                        <a:rPr sz="1400">
                          <a:solidFill>
                            <a:srgbClr val="000000"/>
                          </a:solidFill>
                        </a:rPr>
                        <a:t>pass@1</a:t>
                      </a:r>
                    </a:p>
                  </a:txBody>
                  <a:tcPr/>
                </a:tc>
                <a:tc>
                  <a:txBody>
                    <a:bodyPr/>
                    <a:lstStyle/>
                    <a:p>
                      <a:r>
                        <a:rPr sz="1400">
                          <a:solidFill>
                            <a:srgbClr val="000000"/>
                          </a:solidFill>
                        </a:rPr>
                        <a:t>0.8788</a:t>
                      </a:r>
                    </a:p>
                  </a:txBody>
                  <a:tcPr/>
                </a:tc>
                <a:tc>
                  <a:txBody>
                    <a:bodyPr/>
                    <a:lstStyle/>
                    <a:p>
                      <a:r>
                        <a:rPr sz="1400">
                          <a:solidFill>
                            <a:srgbClr val="000000"/>
                          </a:solidFill>
                        </a:rPr>
                        <a:t>0.7273</a:t>
                      </a:r>
                    </a:p>
                  </a:txBody>
                  <a:tcPr/>
                </a:tc>
                <a:tc>
                  <a:txBody>
                    <a:bodyPr/>
                    <a:lstStyle/>
                    <a:p>
                      <a:r>
                        <a:rPr sz="1400" b="1" dirty="0">
                          <a:solidFill>
                            <a:schemeClr val="tx1"/>
                          </a:solidFill>
                        </a:rPr>
                        <a:t>-0.1515</a:t>
                      </a:r>
                    </a:p>
                  </a:txBody>
                  <a:tcPr/>
                </a:tc>
                <a:extLst>
                  <a:ext uri="{0D108BD9-81ED-4DB2-BD59-A6C34878D82A}">
                    <a16:rowId xmlns:a16="http://schemas.microsoft.com/office/drawing/2014/main" val="10001"/>
                  </a:ext>
                </a:extLst>
              </a:tr>
              <a:tr h="457200">
                <a:tc>
                  <a:txBody>
                    <a:bodyPr/>
                    <a:lstStyle/>
                    <a:p>
                      <a:r>
                        <a:rPr sz="1400">
                          <a:solidFill>
                            <a:srgbClr val="000000"/>
                          </a:solidFill>
                        </a:rPr>
                        <a:t>NL→Java</a:t>
                      </a:r>
                    </a:p>
                  </a:txBody>
                  <a:tcPr/>
                </a:tc>
                <a:tc>
                  <a:txBody>
                    <a:bodyPr/>
                    <a:lstStyle/>
                    <a:p>
                      <a:r>
                        <a:rPr sz="1400">
                          <a:solidFill>
                            <a:srgbClr val="000000"/>
                          </a:solidFill>
                        </a:rPr>
                        <a:t>pass@1</a:t>
                      </a:r>
                    </a:p>
                  </a:txBody>
                  <a:tcPr/>
                </a:tc>
                <a:tc>
                  <a:txBody>
                    <a:bodyPr/>
                    <a:lstStyle/>
                    <a:p>
                      <a:r>
                        <a:rPr sz="1400">
                          <a:solidFill>
                            <a:srgbClr val="000000"/>
                          </a:solidFill>
                        </a:rPr>
                        <a:t>0.7879</a:t>
                      </a:r>
                    </a:p>
                  </a:txBody>
                  <a:tcPr/>
                </a:tc>
                <a:tc>
                  <a:txBody>
                    <a:bodyPr/>
                    <a:lstStyle/>
                    <a:p>
                      <a:r>
                        <a:rPr sz="1400">
                          <a:solidFill>
                            <a:srgbClr val="000000"/>
                          </a:solidFill>
                        </a:rPr>
                        <a:t>0.6970</a:t>
                      </a:r>
                    </a:p>
                  </a:txBody>
                  <a:tcPr/>
                </a:tc>
                <a:tc>
                  <a:txBody>
                    <a:bodyPr/>
                    <a:lstStyle/>
                    <a:p>
                      <a:r>
                        <a:rPr sz="1400" b="1" dirty="0">
                          <a:solidFill>
                            <a:schemeClr val="tx1"/>
                          </a:solidFill>
                        </a:rPr>
                        <a:t>-0.0909</a:t>
                      </a:r>
                    </a:p>
                  </a:txBody>
                  <a:tcPr/>
                </a:tc>
                <a:extLst>
                  <a:ext uri="{0D108BD9-81ED-4DB2-BD59-A6C34878D82A}">
                    <a16:rowId xmlns:a16="http://schemas.microsoft.com/office/drawing/2014/main" val="10002"/>
                  </a:ext>
                </a:extLst>
              </a:tr>
              <a:tr h="457200">
                <a:tc>
                  <a:txBody>
                    <a:bodyPr/>
                    <a:lstStyle/>
                    <a:p>
                      <a:r>
                        <a:rPr sz="1400">
                          <a:solidFill>
                            <a:srgbClr val="000000"/>
                          </a:solidFill>
                        </a:rPr>
                        <a:t>Code→NL</a:t>
                      </a:r>
                    </a:p>
                  </a:txBody>
                  <a:tcPr/>
                </a:tc>
                <a:tc>
                  <a:txBody>
                    <a:bodyPr/>
                    <a:lstStyle/>
                    <a:p>
                      <a:r>
                        <a:rPr sz="1400">
                          <a:solidFill>
                            <a:srgbClr val="000000"/>
                          </a:solidFill>
                        </a:rPr>
                        <a:t>ROUGE-L F1</a:t>
                      </a:r>
                    </a:p>
                  </a:txBody>
                  <a:tcPr/>
                </a:tc>
                <a:tc>
                  <a:txBody>
                    <a:bodyPr/>
                    <a:lstStyle/>
                    <a:p>
                      <a:r>
                        <a:rPr sz="1400">
                          <a:solidFill>
                            <a:srgbClr val="000000"/>
                          </a:solidFill>
                        </a:rPr>
                        <a:t>0.2505</a:t>
                      </a:r>
                    </a:p>
                  </a:txBody>
                  <a:tcPr/>
                </a:tc>
                <a:tc>
                  <a:txBody>
                    <a:bodyPr/>
                    <a:lstStyle/>
                    <a:p>
                      <a:r>
                        <a:rPr sz="1400">
                          <a:solidFill>
                            <a:srgbClr val="000000"/>
                          </a:solidFill>
                        </a:rPr>
                        <a:t>0.5273</a:t>
                      </a:r>
                    </a:p>
                  </a:txBody>
                  <a:tcPr/>
                </a:tc>
                <a:tc>
                  <a:txBody>
                    <a:bodyPr/>
                    <a:lstStyle/>
                    <a:p>
                      <a:r>
                        <a:rPr sz="1400" b="1" dirty="0">
                          <a:solidFill>
                            <a:schemeClr val="tx1"/>
                          </a:solidFill>
                        </a:rPr>
                        <a:t>+0.2768</a:t>
                      </a:r>
                    </a:p>
                  </a:txBody>
                  <a:tcPr/>
                </a:tc>
                <a:extLst>
                  <a:ext uri="{0D108BD9-81ED-4DB2-BD59-A6C34878D82A}">
                    <a16:rowId xmlns:a16="http://schemas.microsoft.com/office/drawing/2014/main" val="10003"/>
                  </a:ext>
                </a:extLst>
              </a:tr>
              <a:tr h="457200">
                <a:tc>
                  <a:txBody>
                    <a:bodyPr/>
                    <a:lstStyle/>
                    <a:p>
                      <a:r>
                        <a:rPr sz="1400">
                          <a:solidFill>
                            <a:srgbClr val="000000"/>
                          </a:solidFill>
                        </a:rPr>
                        <a:t>Python→Java</a:t>
                      </a:r>
                    </a:p>
                  </a:txBody>
                  <a:tcPr/>
                </a:tc>
                <a:tc>
                  <a:txBody>
                    <a:bodyPr/>
                    <a:lstStyle/>
                    <a:p>
                      <a:r>
                        <a:rPr sz="1400">
                          <a:solidFill>
                            <a:srgbClr val="000000"/>
                          </a:solidFill>
                        </a:rPr>
                        <a:t>pass@1</a:t>
                      </a:r>
                    </a:p>
                  </a:txBody>
                  <a:tcPr/>
                </a:tc>
                <a:tc>
                  <a:txBody>
                    <a:bodyPr/>
                    <a:lstStyle/>
                    <a:p>
                      <a:r>
                        <a:rPr sz="1400">
                          <a:solidFill>
                            <a:srgbClr val="000000"/>
                          </a:solidFill>
                        </a:rPr>
                        <a:t>0.8485</a:t>
                      </a:r>
                    </a:p>
                  </a:txBody>
                  <a:tcPr/>
                </a:tc>
                <a:tc>
                  <a:txBody>
                    <a:bodyPr/>
                    <a:lstStyle/>
                    <a:p>
                      <a:r>
                        <a:rPr sz="1400">
                          <a:solidFill>
                            <a:srgbClr val="000000"/>
                          </a:solidFill>
                        </a:rPr>
                        <a:t>0.8788</a:t>
                      </a:r>
                    </a:p>
                  </a:txBody>
                  <a:tcPr/>
                </a:tc>
                <a:tc>
                  <a:txBody>
                    <a:bodyPr/>
                    <a:lstStyle/>
                    <a:p>
                      <a:r>
                        <a:rPr sz="1400" b="1" dirty="0">
                          <a:solidFill>
                            <a:schemeClr val="tx1"/>
                          </a:solidFill>
                        </a:rPr>
                        <a:t>+0.0303</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640080" y="3840480"/>
            <a:ext cx="7863840" cy="1785104"/>
          </a:xfrm>
          <a:prstGeom prst="rect">
            <a:avLst/>
          </a:prstGeom>
          <a:noFill/>
        </p:spPr>
        <p:txBody>
          <a:bodyPr wrap="square">
            <a:spAutoFit/>
          </a:bodyPr>
          <a:lstStyle/>
          <a:p>
            <a:pPr>
              <a:spcBef>
                <a:spcPts val="600"/>
              </a:spcBef>
              <a:spcAft>
                <a:spcPts val="600"/>
              </a:spcAft>
              <a:defRPr sz="1800">
                <a:solidFill>
                  <a:srgbClr val="000000"/>
                </a:solidFill>
              </a:defRPr>
            </a:pPr>
            <a:r>
              <a:rPr dirty="0"/>
              <a:t>• Wins: </a:t>
            </a:r>
            <a:r>
              <a:rPr dirty="0" err="1"/>
              <a:t>Code→NL</a:t>
            </a:r>
            <a:r>
              <a:rPr dirty="0"/>
              <a:t> (+0.28), </a:t>
            </a:r>
            <a:r>
              <a:rPr dirty="0" err="1"/>
              <a:t>Python→Java</a:t>
            </a:r>
            <a:r>
              <a:rPr dirty="0"/>
              <a:t> (+0.03)</a:t>
            </a:r>
          </a:p>
          <a:p>
            <a:pPr>
              <a:spcBef>
                <a:spcPts val="600"/>
              </a:spcBef>
              <a:spcAft>
                <a:spcPts val="600"/>
              </a:spcAft>
              <a:defRPr sz="1800">
                <a:solidFill>
                  <a:srgbClr val="000000"/>
                </a:solidFill>
              </a:defRPr>
            </a:pPr>
            <a:r>
              <a:rPr dirty="0"/>
              <a:t>• Regressions: </a:t>
            </a:r>
            <a:r>
              <a:rPr dirty="0" err="1"/>
              <a:t>NL→Python</a:t>
            </a:r>
            <a:r>
              <a:rPr dirty="0"/>
              <a:t> (-0.15), </a:t>
            </a:r>
            <a:r>
              <a:rPr dirty="0" err="1"/>
              <a:t>NL→Java</a:t>
            </a:r>
            <a:r>
              <a:rPr dirty="0"/>
              <a:t> (-0.09)</a:t>
            </a:r>
          </a:p>
          <a:p>
            <a:pPr>
              <a:spcBef>
                <a:spcPts val="600"/>
              </a:spcBef>
              <a:spcAft>
                <a:spcPts val="600"/>
              </a:spcAft>
              <a:defRPr sz="1800">
                <a:solidFill>
                  <a:srgbClr val="000000"/>
                </a:solidFill>
              </a:defRPr>
            </a:pPr>
            <a:r>
              <a:rPr dirty="0"/>
              <a:t>• </a:t>
            </a:r>
            <a:r>
              <a:rPr dirty="0" err="1"/>
              <a:t>Code→NL</a:t>
            </a:r>
            <a:r>
              <a:rPr dirty="0"/>
              <a:t> improved most because it's fundamentally a format/register adaptation task, not a code-correctness task — exactly where fine-tuning on limited data helps most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Scorecard (At-a-Glance)</a:t>
            </a:r>
          </a:p>
        </p:txBody>
      </p:sp>
      <p:graphicFrame>
        <p:nvGraphicFramePr>
          <p:cNvPr id="3" name="Table 2"/>
          <p:cNvGraphicFramePr>
            <a:graphicFrameLocks noGrp="1"/>
          </p:cNvGraphicFramePr>
          <p:nvPr/>
        </p:nvGraphicFramePr>
        <p:xfrm>
          <a:off x="457200" y="1097280"/>
          <a:ext cx="8229600" cy="31927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571500">
                <a:tc>
                  <a:txBody>
                    <a:bodyPr/>
                    <a:lstStyle/>
                    <a:p>
                      <a:r>
                        <a:rPr sz="1400" b="1">
                          <a:solidFill>
                            <a:srgbClr val="FFFFFF"/>
                          </a:solidFill>
                        </a:rPr>
                        <a:t>Phase</a:t>
                      </a:r>
                    </a:p>
                  </a:txBody>
                  <a:tcPr>
                    <a:solidFill>
                      <a:srgbClr val="1F3864"/>
                    </a:solidFill>
                  </a:tcPr>
                </a:tc>
                <a:tc>
                  <a:txBody>
                    <a:bodyPr/>
                    <a:lstStyle/>
                    <a:p>
                      <a:r>
                        <a:rPr sz="1400" b="1">
                          <a:solidFill>
                            <a:srgbClr val="FFFFFF"/>
                          </a:solidFill>
                        </a:rPr>
                        <a:t>Model</a:t>
                      </a:r>
                    </a:p>
                  </a:txBody>
                  <a:tcPr>
                    <a:solidFill>
                      <a:srgbClr val="1F3864"/>
                    </a:solidFill>
                  </a:tcPr>
                </a:tc>
                <a:tc>
                  <a:txBody>
                    <a:bodyPr/>
                    <a:lstStyle/>
                    <a:p>
                      <a:r>
                        <a:rPr sz="1400" b="1">
                          <a:solidFill>
                            <a:srgbClr val="FFFFFF"/>
                          </a:solidFill>
                        </a:rPr>
                        <a:t>Benchmark(s)</a:t>
                      </a:r>
                    </a:p>
                  </a:txBody>
                  <a:tcPr>
                    <a:solidFill>
                      <a:srgbClr val="1F3864"/>
                    </a:solidFill>
                  </a:tcPr>
                </a:tc>
                <a:tc>
                  <a:txBody>
                    <a:bodyPr/>
                    <a:lstStyle/>
                    <a:p>
                      <a:r>
                        <a:rPr sz="1400" b="1">
                          <a:solidFill>
                            <a:srgbClr val="FFFFFF"/>
                          </a:solidFill>
                        </a:rPr>
                        <a:t>Task(s)</a:t>
                      </a:r>
                    </a:p>
                  </a:txBody>
                  <a:tcPr>
                    <a:solidFill>
                      <a:srgbClr val="1F3864"/>
                    </a:solidFill>
                  </a:tcPr>
                </a:tc>
                <a:tc>
                  <a:txBody>
                    <a:bodyPr/>
                    <a:lstStyle/>
                    <a:p>
                      <a:r>
                        <a:rPr sz="1400" b="1">
                          <a:solidFill>
                            <a:srgbClr val="FFFFFF"/>
                          </a:solidFill>
                        </a:rPr>
                        <a:t>Eval Metric</a:t>
                      </a:r>
                    </a:p>
                  </a:txBody>
                  <a:tcPr>
                    <a:solidFill>
                      <a:srgbClr val="1F3864"/>
                    </a:solidFill>
                  </a:tcPr>
                </a:tc>
                <a:tc>
                  <a:txBody>
                    <a:bodyPr/>
                    <a:lstStyle/>
                    <a:p>
                      <a:r>
                        <a:rPr sz="1400" b="1">
                          <a:solidFill>
                            <a:srgbClr val="FFFFFF"/>
                          </a:solidFill>
                        </a:rPr>
                        <a:t>Headline Score</a:t>
                      </a:r>
                    </a:p>
                  </a:txBody>
                  <a:tcPr>
                    <a:solidFill>
                      <a:srgbClr val="1F3864"/>
                    </a:solidFill>
                  </a:tcPr>
                </a:tc>
                <a:extLst>
                  <a:ext uri="{0D108BD9-81ED-4DB2-BD59-A6C34878D82A}">
                    <a16:rowId xmlns:a16="http://schemas.microsoft.com/office/drawing/2014/main" val="10000"/>
                  </a:ext>
                </a:extLst>
              </a:tr>
              <a:tr h="571500">
                <a:tc>
                  <a:txBody>
                    <a:bodyPr/>
                    <a:lstStyle/>
                    <a:p>
                      <a:r>
                        <a:rPr sz="1400">
                          <a:solidFill>
                            <a:srgbClr val="000000"/>
                          </a:solidFill>
                        </a:rPr>
                        <a:t>Phase 1: Baselines</a:t>
                      </a:r>
                    </a:p>
                  </a:txBody>
                  <a:tcPr/>
                </a:tc>
                <a:tc>
                  <a:txBody>
                    <a:bodyPr/>
                    <a:lstStyle/>
                    <a:p>
                      <a:r>
                        <a:rPr sz="1400">
                          <a:solidFill>
                            <a:srgbClr val="000000"/>
                          </a:solidFill>
                        </a:rPr>
                        <a:t>Qwen2.5-Coder 1.5B / 7B</a:t>
                      </a:r>
                    </a:p>
                  </a:txBody>
                  <a:tcPr/>
                </a:tc>
                <a:tc>
                  <a:txBody>
                    <a:bodyPr/>
                    <a:lstStyle/>
                    <a:p>
                      <a:r>
                        <a:rPr sz="1400">
                          <a:solidFill>
                            <a:srgbClr val="000000"/>
                          </a:solidFill>
                        </a:rPr>
                        <a:t>HumanEval, MBPP, HumanEval-X</a:t>
                      </a:r>
                    </a:p>
                  </a:txBody>
                  <a:tcPr/>
                </a:tc>
                <a:tc>
                  <a:txBody>
                    <a:bodyPr/>
                    <a:lstStyle/>
                    <a:p>
                      <a:r>
                        <a:rPr sz="1400">
                          <a:solidFill>
                            <a:srgbClr val="000000"/>
                          </a:solidFill>
                        </a:rPr>
                        <a:t>NL→Python, Python→Java</a:t>
                      </a:r>
                    </a:p>
                  </a:txBody>
                  <a:tcPr/>
                </a:tc>
                <a:tc>
                  <a:txBody>
                    <a:bodyPr/>
                    <a:lstStyle/>
                    <a:p>
                      <a:r>
                        <a:rPr sz="1400">
                          <a:solidFill>
                            <a:srgbClr val="000000"/>
                          </a:solidFill>
                        </a:rPr>
                        <a:t>Execution pass@1</a:t>
                      </a:r>
                    </a:p>
                  </a:txBody>
                  <a:tcPr/>
                </a:tc>
                <a:tc>
                  <a:txBody>
                    <a:bodyPr/>
                    <a:lstStyle/>
                    <a:p>
                      <a:r>
                        <a:rPr sz="1400">
                          <a:solidFill>
                            <a:srgbClr val="000000"/>
                          </a:solidFill>
                        </a:rPr>
                        <a:t>0.70–0.92 (7B)</a:t>
                      </a:r>
                    </a:p>
                  </a:txBody>
                  <a:tcPr/>
                </a:tc>
                <a:extLst>
                  <a:ext uri="{0D108BD9-81ED-4DB2-BD59-A6C34878D82A}">
                    <a16:rowId xmlns:a16="http://schemas.microsoft.com/office/drawing/2014/main" val="10001"/>
                  </a:ext>
                </a:extLst>
              </a:tr>
              <a:tr h="571500">
                <a:tc>
                  <a:txBody>
                    <a:bodyPr/>
                    <a:lstStyle/>
                    <a:p>
                      <a:r>
                        <a:rPr sz="1400">
                          <a:solidFill>
                            <a:srgbClr val="000000"/>
                          </a:solidFill>
                        </a:rPr>
                        <a:t>Phase 2: Dataset Extension</a:t>
                      </a:r>
                    </a:p>
                  </a:txBody>
                  <a:tcPr/>
                </a:tc>
                <a:tc>
                  <a:txBody>
                    <a:bodyPr/>
                    <a:lstStyle/>
                    <a:p>
                      <a:r>
                        <a:rPr sz="1400">
                          <a:solidFill>
                            <a:srgbClr val="000000"/>
                          </a:solidFill>
                        </a:rPr>
                        <a:t>Qwen2.5-Coder-7B (4-bit)</a:t>
                      </a:r>
                    </a:p>
                  </a:txBody>
                  <a:tcPr/>
                </a:tc>
                <a:tc>
                  <a:txBody>
                    <a:bodyPr/>
                    <a:lstStyle/>
                    <a:p>
                      <a:r>
                        <a:rPr sz="1400">
                          <a:solidFill>
                            <a:srgbClr val="000000"/>
                          </a:solidFill>
                        </a:rPr>
                        <a:t>HumanEval, MBPP, HumanEval-X</a:t>
                      </a:r>
                    </a:p>
                  </a:txBody>
                  <a:tcPr/>
                </a:tc>
                <a:tc>
                  <a:txBody>
                    <a:bodyPr/>
                    <a:lstStyle/>
                    <a:p>
                      <a:r>
                        <a:rPr sz="1400">
                          <a:solidFill>
                            <a:srgbClr val="000000"/>
                          </a:solidFill>
                        </a:rPr>
                        <a:t>Java gen, NL gen (feedback loop)</a:t>
                      </a:r>
                    </a:p>
                  </a:txBody>
                  <a:tcPr/>
                </a:tc>
                <a:tc>
                  <a:txBody>
                    <a:bodyPr/>
                    <a:lstStyle/>
                    <a:p>
                      <a:r>
                        <a:rPr sz="1400">
                          <a:solidFill>
                            <a:srgbClr val="000000"/>
                          </a:solidFill>
                        </a:rPr>
                        <a:t>Execution pass@1 (flag-true rate)</a:t>
                      </a:r>
                    </a:p>
                  </a:txBody>
                  <a:tcPr/>
                </a:tc>
                <a:tc>
                  <a:txBody>
                    <a:bodyPr/>
                    <a:lstStyle/>
                    <a:p>
                      <a:r>
                        <a:rPr sz="1400">
                          <a:solidFill>
                            <a:srgbClr val="000000"/>
                          </a:solidFill>
                        </a:rPr>
                        <a:t>60–95%</a:t>
                      </a:r>
                    </a:p>
                  </a:txBody>
                  <a:tcPr/>
                </a:tc>
                <a:extLst>
                  <a:ext uri="{0D108BD9-81ED-4DB2-BD59-A6C34878D82A}">
                    <a16:rowId xmlns:a16="http://schemas.microsoft.com/office/drawing/2014/main" val="10002"/>
                  </a:ext>
                </a:extLst>
              </a:tr>
              <a:tr h="571500">
                <a:tc>
                  <a:txBody>
                    <a:bodyPr/>
                    <a:lstStyle/>
                    <a:p>
                      <a:r>
                        <a:rPr sz="1400">
                          <a:solidFill>
                            <a:srgbClr val="000000"/>
                          </a:solidFill>
                        </a:rPr>
                        <a:t>Phase 3: QLoRA Fine-Tune</a:t>
                      </a:r>
                    </a:p>
                  </a:txBody>
                  <a:tcPr/>
                </a:tc>
                <a:tc>
                  <a:txBody>
                    <a:bodyPr/>
                    <a:lstStyle/>
                    <a:p>
                      <a:r>
                        <a:rPr sz="1400">
                          <a:solidFill>
                            <a:srgbClr val="000000"/>
                          </a:solidFill>
                        </a:rPr>
                        <a:t>Qwen2.5-Coder-7B (4-bit + LoRA)</a:t>
                      </a:r>
                    </a:p>
                  </a:txBody>
                  <a:tcPr/>
                </a:tc>
                <a:tc>
                  <a:txBody>
                    <a:bodyPr/>
                    <a:lstStyle/>
                    <a:p>
                      <a:r>
                        <a:rPr sz="1400">
                          <a:solidFill>
                            <a:srgbClr val="000000"/>
                          </a:solidFill>
                        </a:rPr>
                        <a:t>Merged HumanEval ∩ HumanEval-X (+MBPP-derived)</a:t>
                      </a:r>
                    </a:p>
                  </a:txBody>
                  <a:tcPr/>
                </a:tc>
                <a:tc>
                  <a:txBody>
                    <a:bodyPr/>
                    <a:lstStyle/>
                    <a:p>
                      <a:r>
                        <a:rPr sz="1400">
                          <a:solidFill>
                            <a:srgbClr val="000000"/>
                          </a:solidFill>
                        </a:rPr>
                        <a:t>NL→Python, NL→Java, Python→Java, Code→NL</a:t>
                      </a:r>
                    </a:p>
                  </a:txBody>
                  <a:tcPr/>
                </a:tc>
                <a:tc>
                  <a:txBody>
                    <a:bodyPr/>
                    <a:lstStyle/>
                    <a:p>
                      <a:r>
                        <a:rPr sz="1400">
                          <a:solidFill>
                            <a:srgbClr val="000000"/>
                          </a:solidFill>
                        </a:rPr>
                        <a:t>pass@1 / ROUGE-L F1</a:t>
                      </a:r>
                    </a:p>
                  </a:txBody>
                  <a:tcPr/>
                </a:tc>
                <a:tc>
                  <a:txBody>
                    <a:bodyPr/>
                    <a:lstStyle/>
                    <a:p>
                      <a:r>
                        <a:rPr sz="1400" b="1">
                          <a:solidFill>
                            <a:srgbClr val="228B22"/>
                          </a:solidFill>
                        </a:rPr>
                        <a:t>mixed: +0.03 to +0.28 gains, -0.09 to -0.15 regressions</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457200" y="6217920"/>
            <a:ext cx="8229600" cy="914400"/>
          </a:xfrm>
          <a:prstGeom prst="rect">
            <a:avLst/>
          </a:prstGeom>
          <a:noFill/>
        </p:spPr>
        <p:txBody>
          <a:bodyPr wrap="square">
            <a:spAutoFit/>
          </a:bodyPr>
          <a:lstStyle/>
          <a:p>
            <a:pPr>
              <a:defRPr sz="1000" i="1">
                <a:solidFill>
                  <a:srgbClr val="404040"/>
                </a:solidFill>
              </a:defRPr>
            </a:pPr>
            <a:r>
              <a:t>Methodology note: seeds and sample sizes differ by phase (Phase 1: seed=42, n=50; Phase 2: seed=13, n=20; Phase 3: seed=13, n=33) — the same execution-based scoring harness was used throughout, so results remain comparable in kind even though absolute sample sizes differ.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74320"/>
            <a:ext cx="9144000" cy="731520"/>
          </a:xfrm>
          <a:prstGeom prst="rect">
            <a:avLst/>
          </a:prstGeom>
          <a:solidFill>
            <a:srgbClr val="1F3864"/>
          </a:solidFill>
          <a:ln>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2800" b="1">
                <a:solidFill>
                  <a:srgbClr val="FFFFFF"/>
                </a:solidFill>
              </a:defRPr>
            </a:pPr>
            <a:r>
              <a:rPr dirty="0"/>
              <a:t>Next Steps</a:t>
            </a:r>
          </a:p>
        </p:txBody>
      </p:sp>
      <p:sp>
        <p:nvSpPr>
          <p:cNvPr id="3" name="TextBox 2"/>
          <p:cNvSpPr txBox="1"/>
          <p:nvPr/>
        </p:nvSpPr>
        <p:spPr>
          <a:xfrm>
            <a:off x="640080" y="1097280"/>
            <a:ext cx="7863840" cy="2215991"/>
          </a:xfrm>
          <a:prstGeom prst="rect">
            <a:avLst/>
          </a:prstGeom>
          <a:noFill/>
        </p:spPr>
        <p:txBody>
          <a:bodyPr wrap="square">
            <a:spAutoFit/>
          </a:bodyPr>
          <a:lstStyle/>
          <a:p>
            <a:pPr>
              <a:spcBef>
                <a:spcPts val="600"/>
              </a:spcBef>
              <a:spcAft>
                <a:spcPts val="600"/>
              </a:spcAft>
              <a:defRPr sz="1800">
                <a:solidFill>
                  <a:srgbClr val="000000"/>
                </a:solidFill>
              </a:defRPr>
            </a:pPr>
            <a:r>
              <a:rPr dirty="0"/>
              <a:t>Next steps:</a:t>
            </a:r>
          </a:p>
          <a:p>
            <a:pPr>
              <a:spcBef>
                <a:spcPts val="600"/>
              </a:spcBef>
              <a:spcAft>
                <a:spcPts val="600"/>
              </a:spcAft>
              <a:defRPr sz="1800">
                <a:solidFill>
                  <a:srgbClr val="000000"/>
                </a:solidFill>
              </a:defRPr>
            </a:pPr>
            <a:r>
              <a:rPr dirty="0"/>
              <a:t>• Confirm baseline numbers with the planned seed-7 and full-benchmark follow-up runs</a:t>
            </a:r>
          </a:p>
          <a:p>
            <a:pPr>
              <a:spcBef>
                <a:spcPts val="600"/>
              </a:spcBef>
              <a:spcAft>
                <a:spcPts val="600"/>
              </a:spcAft>
              <a:defRPr sz="1800">
                <a:solidFill>
                  <a:srgbClr val="000000"/>
                </a:solidFill>
              </a:defRPr>
            </a:pPr>
            <a:r>
              <a:rPr dirty="0"/>
              <a:t>• Address the </a:t>
            </a:r>
            <a:r>
              <a:rPr dirty="0" err="1"/>
              <a:t>NL→code</a:t>
            </a:r>
            <a:r>
              <a:rPr dirty="0"/>
              <a:t> regression with more targeted execution-validated training data and gentler training (e.g. fewer epochs, lower </a:t>
            </a:r>
            <a:r>
              <a:rPr dirty="0" err="1"/>
              <a:t>LoRA</a:t>
            </a:r>
            <a:r>
              <a:rPr dirty="0"/>
              <a:t> rank)</a:t>
            </a:r>
          </a:p>
          <a:p>
            <a:pPr>
              <a:spcBef>
                <a:spcPts val="600"/>
              </a:spcBef>
              <a:spcAft>
                <a:spcPts val="600"/>
              </a:spcAft>
              <a:defRPr sz="1800">
                <a:solidFill>
                  <a:srgbClr val="000000"/>
                </a:solidFill>
              </a:defRPr>
            </a:pPr>
            <a:r>
              <a:rPr dirty="0"/>
              <a:t>• Explore a RAG-based arm as an alternative/complement to fine-tuning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e06a806-128a-42b3-9b50-2719b8746adb}" enabled="1" method="Standard" siteId="{ff9b87e3-c548-4b3d-8782-7cf47b86c057}" contentBits="0" removed="0"/>
</clbl:labelList>
</file>

<file path=docProps/app.xml><?xml version="1.0" encoding="utf-8"?>
<Properties xmlns="http://schemas.openxmlformats.org/officeDocument/2006/extended-properties" xmlns:vt="http://schemas.openxmlformats.org/officeDocument/2006/docPropsVTypes">
  <TotalTime>2931</TotalTime>
  <Words>2304</Words>
  <Application>Microsoft Office PowerPoint</Application>
  <PresentationFormat>On-screen Show (4:3)</PresentationFormat>
  <Paragraphs>164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Vamsi Krishna S</cp:lastModifiedBy>
  <cp:revision>23</cp:revision>
  <dcterms:created xsi:type="dcterms:W3CDTF">2013-01-27T09:14:16Z</dcterms:created>
  <dcterms:modified xsi:type="dcterms:W3CDTF">2026-07-06T09:49:52Z</dcterms:modified>
  <cp:category/>
</cp:coreProperties>
</file>