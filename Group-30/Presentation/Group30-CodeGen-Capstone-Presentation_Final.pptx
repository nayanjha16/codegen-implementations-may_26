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 snapToObjects="1">
      <p:cViewPr>
        <p:scale>
          <a:sx n="75" d="100"/>
          <a:sy n="75" d="100"/>
        </p:scale>
        <p:origin x="926" y="-1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IIIT HYDERABAD CAPSTONE PROJECT  —  GROUP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703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 dirty="0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>
              <a:rPr dirty="0"/>
            </a:br>
            <a:r>
              <a:rPr sz="1900" b="0" i="1" dirty="0">
                <a:solidFill>
                  <a:srgbClr val="C7D9E2"/>
                </a:solidFill>
                <a:latin typeface="Calibri"/>
              </a:rPr>
              <a:t>Natural Language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→ </a:t>
            </a:r>
            <a:r>
              <a:rPr sz="1900" b="0" i="1" dirty="0">
                <a:solidFill>
                  <a:srgbClr val="C7D9E2"/>
                </a:solidFill>
                <a:latin typeface="Calibri"/>
              </a:rPr>
              <a:t>Python 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or C++ and C++ -&gt; Python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359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</a:t>
            </a:r>
            <a:r>
              <a:rPr lang="en-US" sz="1600" b="0" i="0">
                <a:solidFill>
                  <a:srgbClr val="FFFFFF"/>
                </a:solidFill>
                <a:latin typeface="Calibri"/>
              </a:rPr>
              <a:t>l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im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Lohitha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5896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Prof. Anil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Neelkanti</a:t>
            </a:r>
            <a:endParaRPr sz="1500" b="0" i="0" dirty="0">
              <a:solidFill>
                <a:srgbClr val="FFFFFF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Pawan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Baswani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 dirty="0">
                <a:solidFill>
                  <a:schemeClr val="bg1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3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 dirty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and C++ to Python translation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— demonstrating a path to extend code-generation support to languages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or tasks 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an LLM was not originally trained on.</a:t>
            </a:r>
            <a:endParaRPr lang="en-US" sz="135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663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Baseline accuracy for NL → 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and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→ </a:t>
            </a:r>
            <a:r>
              <a:rPr lang="en-US" sz="1300" dirty="0">
                <a:solidFill>
                  <a:srgbClr val="1A1F2B"/>
                </a:solidFill>
              </a:rPr>
              <a:t>Python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translation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using Qwen2.5-Coder-7B-Instruct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fine-tuning in two phases: NL → PL1 (Python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) and PL1 → PL2 (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-&gt; Python)</a:t>
            </a:r>
            <a:endParaRPr lang="en-US" sz="1300" b="0" i="0" dirty="0">
              <a:solidFill>
                <a:srgbClr val="1A1F2B"/>
              </a:solidFill>
              <a:highlight>
                <a:srgbClr val="FFFF00"/>
              </a:highlight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 </a:t>
            </a:r>
            <a:r>
              <a:rPr lang="en-US" sz="1300" dirty="0">
                <a:solidFill>
                  <a:srgbClr val="1A1F2B"/>
                </a:solidFill>
              </a:rPr>
              <a:t>PL1-&gt; PL2. PL1-&gt; Documentation-&gt; PL2 Code -&gt; Translate to PL1 -&gt; Compare with ground truth PL1</a:t>
            </a:r>
          </a:p>
          <a:p>
            <a:pPr marL="571500" lvl="1" indent="-114300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PL1-&gt; Documentation-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pPr lvl="1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Documentation-&gt; PL2 Code: LLM-as-judge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Evaluation via AST similarity +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15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Text interface for PL → PL 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convert directly to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task-detection — LLM classifier routes input to the correct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Delivered as a live, voice-enabled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Gradio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69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SingletonMeta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Every heavyweight component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: 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  <a:latin typeface="Calibri"/>
              </a:rPr>
              <a:t>	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QwenModelBase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CodeDocumentationGenerator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QwenCodeGenerator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LLMJudge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AST,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FilteredDataset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— is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				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implemented as a singleton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orchestrates the full workflow: loads/unloads models, runs baseline + validation, computes summary statistics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b="1" dirty="0">
                <a:solidFill>
                  <a:srgbClr val="1A1F2B"/>
                </a:solidFill>
                <a:latin typeface="Calibri"/>
              </a:rPr>
              <a:t>LLM Judge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: Generates Score 0.0 -1.0 and metrics compiles (Y/N),  correct logic (Y/N), handling edge cases (Y/N), List of issues and explanation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7CE622B-600D-0078-8A7E-8525BF4DC96A}"/>
              </a:ext>
            </a:extLst>
          </p:cNvPr>
          <p:cNvSpPr/>
          <p:nvPr/>
        </p:nvSpPr>
        <p:spPr>
          <a:xfrm>
            <a:off x="4904900" y="2395728"/>
            <a:ext cx="1244440" cy="34747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LLM Judge</a:t>
            </a:r>
          </a:p>
          <a:p>
            <a:pPr algn="ctr"/>
            <a:r>
              <a:rPr lang="en-US" sz="1200" dirty="0"/>
              <a:t>(doc-&gt;python)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23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 (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HuggingFace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 — deduplicated Python &amp; C++ source files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bigcode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/the-stack-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dedup</a:t>
            </a:r>
            <a:endParaRPr lang="en-US" sz="1250" b="0" i="0" dirty="0">
              <a:solidFill>
                <a:srgbClr val="1A1F2B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002060"/>
                </a:solidFill>
                <a:latin typeface="Calibri"/>
              </a:rPr>
              <a:t>▪  </a:t>
            </a:r>
            <a:r>
              <a:rPr lang="en-US" sz="1250" b="1" dirty="0" err="1">
                <a:solidFill>
                  <a:srgbClr val="002060"/>
                </a:solidFill>
                <a:latin typeface="Calibri"/>
              </a:rPr>
              <a:t>Fileds</a:t>
            </a:r>
            <a:r>
              <a:rPr lang="en-US" sz="1250" b="1" dirty="0">
                <a:solidFill>
                  <a:srgbClr val="002060"/>
                </a:solidFill>
                <a:latin typeface="Calibri"/>
              </a:rPr>
              <a:t> Used: </a:t>
            </a:r>
            <a:r>
              <a:rPr sz="1250" b="1" dirty="0" err="1">
                <a:solidFill>
                  <a:srgbClr val="002060"/>
                </a:solidFill>
                <a:latin typeface="Calibri"/>
              </a:rPr>
              <a:t>hexsha</a:t>
            </a:r>
            <a:r>
              <a:rPr sz="1250" b="1" dirty="0">
                <a:solidFill>
                  <a:srgbClr val="002060"/>
                </a:solidFill>
                <a:latin typeface="Calibri"/>
              </a:rPr>
              <a:t> (id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), content (code), lang, 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max_stars_count</a:t>
            </a:r>
            <a:endParaRPr sz="125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Streamed, filtered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by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Streaming from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HuggingFace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on every pass is slow — caching gives instant reloads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Dataset Split</a:t>
            </a:r>
            <a:r>
              <a:rPr lang="en-US" sz="1500" b="1" i="0" dirty="0">
                <a:solidFill>
                  <a:srgbClr val="0F2A4A"/>
                </a:solidFill>
                <a:latin typeface="Calibri"/>
              </a:rPr>
              <a:t> </a:t>
            </a:r>
            <a:r>
              <a:rPr lang="en-US" sz="1000" b="1" dirty="0">
                <a:solidFill>
                  <a:srgbClr val="0F2A4A"/>
                </a:solidFill>
                <a:latin typeface="Calibri"/>
              </a:rPr>
              <a:t>Allocate more records for trainings</a:t>
            </a:r>
            <a:endParaRPr sz="1500" b="1" i="0" strike="sngStrike" dirty="0">
              <a:solidFill>
                <a:srgbClr val="0F2A4A"/>
              </a:solidFill>
              <a:latin typeface="Calibri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076882"/>
              </p:ext>
            </p:extLst>
          </p:nvPr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9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1/2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0265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250</a:t>
            </a:r>
            <a:endParaRPr sz="1250" b="0" i="0" dirty="0">
              <a:solidFill>
                <a:srgbClr val="FF0000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Language split: </a:t>
            </a:r>
            <a:r>
              <a:rPr lang="en-US" sz="125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  / 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12899"/>
              </p:ext>
            </p:extLst>
          </p:nvPr>
        </p:nvGraphicFramePr>
        <p:xfrm>
          <a:off x="502920" y="1325880"/>
          <a:ext cx="11201400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6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LoRA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  (r=16, α=32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, dropout=0.1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Two adapters: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NL→Python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/C++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, 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C++ -&gt; </a:t>
                      </a:r>
                      <a:r>
                        <a:rPr sz="1250" dirty="0">
                          <a:solidFill>
                            <a:srgbClr val="002060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microsoft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/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graphcodebert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-base</a:t>
                      </a:r>
                    </a:p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5928360" cy="1491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PeftModel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Qwen model scores 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documentation for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generated C++ code 0–1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LLM-as-judge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Tokenizer is shared from the base model — not bundled inside each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1B6900-837A-3412-A818-A44345E5C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856635"/>
              </p:ext>
            </p:extLst>
          </p:nvPr>
        </p:nvGraphicFramePr>
        <p:xfrm>
          <a:off x="7299960" y="4220565"/>
          <a:ext cx="4358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6960">
                  <a:extLst>
                    <a:ext uri="{9D8B030D-6E8A-4147-A177-3AD203B41FA5}">
                      <a16:colId xmlns:a16="http://schemas.microsoft.com/office/drawing/2014/main" val="16598943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97747323"/>
                    </a:ext>
                  </a:extLst>
                </a:gridCol>
              </a:tblGrid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Training Arguments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653961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Device 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30529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Gradient accumulation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36207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Num train 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3/30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839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2e</a:t>
                      </a:r>
                      <a:r>
                        <a:rPr lang="en-US" sz="1200" baseline="30000" dirty="0"/>
                        <a:t>-4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40733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Logging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5860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Epoch (save every epoch)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01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total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 (save the best)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669485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True (save memory)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528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lang="en-US" sz="1300" dirty="0">
                <a:solidFill>
                  <a:srgbClr val="002060"/>
                </a:solidFill>
                <a:latin typeface="Calibri"/>
              </a:rPr>
              <a:t>C++ -&gt; P</a:t>
            </a:r>
            <a:r>
              <a:rPr sz="1300" b="0" i="0" dirty="0">
                <a:solidFill>
                  <a:srgbClr val="002060"/>
                </a:solidFill>
                <a:latin typeface="Calibri"/>
              </a:rPr>
              <a:t>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 and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get an equivalent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implementation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Gradio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Built with shareable public web URL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Runs on Google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Colab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with T4 / L4 GPU acceleration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242249"/>
            <a:ext cx="8046720" cy="4126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dirty="0">
                <a:solidFill>
                  <a:srgbClr val="1A1F2B"/>
                </a:solidFill>
                <a:latin typeface="Calibri"/>
              </a:rPr>
              <a:t>Qwen2.5-Coder scores generated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(0–1) against documentation + reference before it is accepted for Python back-translation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5084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3 times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Each generation step (documentation, code, PL1→PL2) is repeated; the highest-scoring attempt is retained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compute_summary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() aggregates results by language (Python / C++) and by phase (NL→PL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1/PL2 and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PL2-&gt;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BASELINE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Results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Records Processed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0.7250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NL → PL Avg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0.9127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GraphCodeBERT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6304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0.5374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AST Similarity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834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Baseline Summary (n=167)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3200400"/>
          <a:ext cx="553211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0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Python records (n=84)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0.7357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C++ records (n=83)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0.7142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AST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0.5374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GraphCodeBERTScore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0.9127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PL1 → PL2 round-trip (n=83)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0.6857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309360" y="283464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Reading the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349240" cy="1649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meaning-equivalent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High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(0.91) vs. lower AST score (0.54) → generated code is often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structurally divergent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from ground truth (different idioms / formatting)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Python (0.7357) and C++ (0.7142) NL→PL scores are close — base model generalizes reasonably across both languages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Round-trip NL→PL1→PL2 (0.6857) is lower than single-hop NL→PL, as expected — errors compound across two generation steps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DA1A26-9C4F-6BD5-D115-FCC81CED3EDE}"/>
              </a:ext>
            </a:extLst>
          </p:cNvPr>
          <p:cNvSpPr/>
          <p:nvPr/>
        </p:nvSpPr>
        <p:spPr>
          <a:xfrm>
            <a:off x="7818120" y="5133975"/>
            <a:ext cx="3200400" cy="12287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713564"/>
              </p:ext>
            </p:extLst>
          </p:nvPr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4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. 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Calibri"/>
                        </a:rPr>
                        <a:t>Moved to  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4-bit quantization (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BitsAndBytes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) cut usage from ~14 GB to ~4 GB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logic_correct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edge_cases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verdict, plus a 0–1 score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Curate a parallel Python–C++ dataset with shared intent/documentation for more reliable PL1→PL2 evaluation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Add execution-based validation — auto-generate test cases and run code in a sandbox to confirm functional equivalence, not just similarity scores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Scale baseline &amp; validation runs to the full dataset once GPU memory/fragmentation issues are resolved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Tune the relative weighting of AST, </a:t>
            </a:r>
            <a:r>
              <a:rPr sz="15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, and execution accuracy in the final accuracy metric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Text-to-speech readout of generated documentation — extends the voice stretch goal end-to-end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Extend beyond Python/C++ to lower-resource, legacy languages (e.g. Ada95) — real-world need given shrinking specialist workforces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55F6E"/>
                </a:solidFill>
                <a:latin typeface="Calibri"/>
              </a:rPr>
              <a:t>Accuracy by model / fine-tuning duration, across the Baseline and Validation splits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290428"/>
              </p:ext>
            </p:extLst>
          </p:nvPr>
        </p:nvGraphicFramePr>
        <p:xfrm>
          <a:off x="502920" y="1691640"/>
          <a:ext cx="11201400" cy="4554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/ Metric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codegen-350m</a:t>
                      </a:r>
                      <a:r>
                        <a:rPr lang="en-US" sz="1600" b="1" i="1" baseline="3000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09215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Qwen-0.5B</a:t>
                      </a:r>
                      <a:r>
                        <a:rPr lang="en-US" sz="1100" b="1" i="1" dirty="0">
                          <a:solidFill>
                            <a:srgbClr val="FF0000"/>
                          </a:solidFill>
                          <a:latin typeface="+mn-lt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Qwen-7B  —  3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0.3621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0.34935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0.26605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0.22825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0.45815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0.4703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0.36795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0.36345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0.35615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0.335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0.3403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0.335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Qwen-7B  —  30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0.6987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0.5321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0.4565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0.9163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0.9406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0.7359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0.7269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0.7123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0.6806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272784"/>
            <a:ext cx="1115568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b="1" i="1" baseline="30000" dirty="0">
                <a:solidFill>
                  <a:srgbClr val="FF0000"/>
                </a:solidFill>
              </a:rPr>
              <a:t>*</a:t>
            </a:r>
            <a:r>
              <a:rPr sz="950" b="0" i="1" dirty="0">
                <a:solidFill>
                  <a:srgbClr val="555F6E"/>
                </a:solidFill>
                <a:latin typeface="Calibri"/>
              </a:rPr>
              <a:t>codegen-350m and Qwen-0.5B were not evaluated for this comparison (NA) — see Issues &amp; Learnings for why codegen-350m was dropped.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 — Visualized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55F6E"/>
                </a:solidFill>
                <a:latin typeface="Calibri"/>
              </a:rPr>
              <a:t>More training epochs move every metric up, consistently, on both splits</a:t>
            </a:r>
          </a:p>
        </p:txBody>
      </p:sp>
      <p:pic>
        <p:nvPicPr>
          <p:cNvPr id="9" name="Picture 8" descr="epoch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0" y="1572768"/>
            <a:ext cx="8778240" cy="45903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272784"/>
            <a:ext cx="111556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5F6E"/>
                </a:solidFill>
                <a:latin typeface="Calibri"/>
              </a:rPr>
              <a:t>Qwen2.5-Coder-7B + LoRA. Bars grouped by fine-tuning duration (3 vs. 30 epochs); left panel = Baseline split, right panel = Validation split.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 dirty="0" err="1">
                <a:solidFill>
                  <a:schemeClr val="bg1"/>
                </a:solidFill>
                <a:latin typeface="Calibri"/>
              </a:rPr>
              <a:t>CodeGen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1957</Words>
  <Application>Microsoft Office PowerPoint</Application>
  <PresentationFormat>Widescreen</PresentationFormat>
  <Paragraphs>286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Tripathi, Taran (IND)</dc:creator>
  <cp:keywords/>
  <dc:description>generated using python-pptx</dc:description>
  <cp:lastModifiedBy>Tripathi, Taran (IND)</cp:lastModifiedBy>
  <cp:revision>8</cp:revision>
  <dcterms:created xsi:type="dcterms:W3CDTF">2013-01-27T09:14:16Z</dcterms:created>
  <dcterms:modified xsi:type="dcterms:W3CDTF">2026-08-02T03:03:56Z</dcterms:modified>
  <cp:category/>
</cp:coreProperties>
</file>