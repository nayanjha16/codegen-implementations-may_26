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89320"/>
            <a:ext cx="12191695" cy="18288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IIIT HYDERABAD CAPSTONE PROJECT  —  GROUP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FFFFFF"/>
                </a:solidFill>
                <a:latin typeface="Calibri"/>
              </a:rPr>
              <a:t>CodeGen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8036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1">
                <a:solidFill>
                  <a:srgbClr val="C7D9E2"/>
                </a:solidFill>
                <a:latin typeface="Calibri"/>
              </a:rPr>
              <a:t>Cross-Language Code Generation with Fine-Tuned LLMs</a:t>
            </a:r>
            <a:br/>
            <a:r>
              <a:rPr sz="1900" b="0" i="1">
                <a:solidFill>
                  <a:srgbClr val="C7D9E2"/>
                </a:solidFill>
                <a:latin typeface="Calibri"/>
              </a:rPr>
              <a:t>Natural Language → Python → C++, with Voice-Enabled Interaction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977639"/>
            <a:ext cx="2194560" cy="2794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2062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7A3B"/>
                </a:solidFill>
                <a:latin typeface="Calibri"/>
              </a:rPr>
              <a:t>TEAM MEMBERS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57200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600" b="1">
                <a:solidFill>
                  <a:srgbClr val="1F7A8C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Taran Tripathi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600" b="1">
                <a:solidFill>
                  <a:srgbClr val="1F7A8C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Prakhar Nigam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600" b="1">
                <a:solidFill>
                  <a:srgbClr val="1F7A8C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Kihim Lohitha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600" b="1">
                <a:solidFill>
                  <a:srgbClr val="1F7A8C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Tushnik Chakrabarty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420624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7A3B"/>
                </a:solidFill>
                <a:latin typeface="Calibri"/>
              </a:rPr>
              <a:t>PROJECT GUIDANCE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572000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500" b="1">
                <a:solidFill>
                  <a:srgbClr val="1F7A8C"/>
                </a:solidFill>
                <a:latin typeface="Calibri"/>
              </a:rPr>
              <a:t>▪  </a:t>
            </a:r>
            <a:r>
              <a:rPr sz="1500" b="1">
                <a:solidFill>
                  <a:srgbClr val="0F2A4A"/>
                </a:solidFill>
                <a:latin typeface="Calibri"/>
              </a:rPr>
              <a:t>Supervisor: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Prof. Anil Neelkanti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500" b="1">
                <a:solidFill>
                  <a:srgbClr val="1F7A8C"/>
                </a:solidFill>
                <a:latin typeface="Calibri"/>
              </a:rPr>
              <a:t>▪  </a:t>
            </a:r>
            <a:r>
              <a:rPr sz="1500" b="1">
                <a:solidFill>
                  <a:srgbClr val="0F2A4A"/>
                </a:solidFill>
                <a:latin typeface="Calibri"/>
              </a:rPr>
              <a:t>Mentors: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Pawan Baswani, Nayan Anand Jha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555F6E"/>
                </a:solidFill>
                <a:latin typeface="Calibri"/>
              </a:rPr>
              <a:t>PG Certification Program in Artificial Intelligence and Machine Learning — Cohort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MOTIVATION &amp;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Project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F2A4A"/>
                </a:solidFill>
                <a:latin typeface="Calibri"/>
              </a:rPr>
              <a:t>Problem 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27632"/>
            <a:ext cx="11155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1A1F2B"/>
                </a:solidFill>
                <a:latin typeface="Calibri"/>
              </a:rPr>
              <a:t>LLMs increasingly understand and synthesize code, not just natural language. This project applies and fine-tunes an LLM to translate between natural language and two programming languages (Python, C++) — demonstrating a path to extend code-generation support to languages an LLM was not originally trained 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606040"/>
            <a:ext cx="5440680" cy="356616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2606040"/>
            <a:ext cx="5440680" cy="3566160"/>
          </a:xfrm>
          <a:prstGeom prst="rect">
            <a:avLst/>
          </a:prstGeom>
          <a:solidFill>
            <a:srgbClr val="FC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606040"/>
            <a:ext cx="5440680" cy="50292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606040"/>
            <a:ext cx="5440680" cy="50292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97480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BASE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697480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STRETCH GOAL 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337560"/>
            <a:ext cx="4892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Baseline accuracy for NL → Python and Python → C++ generation using Qwen2.5-Coder-7B-Instruct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LoRA fine-tuning in two phases: NL → PL1 (Python) and PL1 → PL2 (Python ↔ C++ round-trip)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Best documentation selected from 3 generation iterations, scored per record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Evaluation via AST similarity + GraphCodeBERTScore + LLM-as-judge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337560"/>
            <a:ext cx="4892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ASR (Whisper) — speak a natural-language prompt → transcribed → code generated (NL → PL)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Text interface for PL → PL — paste Python, convert directly to C++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Auto task-detection — LLM classifier routes input to the correct LoRA adapter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Delivered as a live, voice-enabled Gradio web application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SYSTEM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2A4A"/>
                </a:solidFill>
                <a:latin typeface="Calibri"/>
              </a:rPr>
              <a:t>End-to-End Pipeline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27632"/>
            <a:ext cx="1783080" cy="868680"/>
          </a:xfrm>
          <a:prstGeom prst="roundRect">
            <a:avLst>
              <a:gd name="adj" fmla="val 12000"/>
            </a:avLst>
          </a:prstGeom>
          <a:solidFill>
            <a:srgbClr val="1F7A8C"/>
          </a:solidFill>
          <a:ln w="952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the-stack-dedup
Dataset
(Python + C++)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96000" y="1961388"/>
            <a:ext cx="13716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1627632"/>
            <a:ext cx="1783080" cy="868680"/>
          </a:xfrm>
          <a:prstGeom prst="roundRect">
            <a:avLst>
              <a:gd name="adj" fmla="val 12000"/>
            </a:avLst>
          </a:prstGeom>
          <a:solidFill>
            <a:srgbClr val="1F7A8C"/>
          </a:solidFill>
          <a:ln w="952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Documentation
Generator
(Qwen2.5-Coder)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353400" y="1961388"/>
            <a:ext cx="13716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17720" y="1627632"/>
            <a:ext cx="1783080" cy="868680"/>
          </a:xfrm>
          <a:prstGeom prst="roundRect">
            <a:avLst>
              <a:gd name="adj" fmla="val 12000"/>
            </a:avLst>
          </a:prstGeom>
          <a:solidFill>
            <a:srgbClr val="0F2A4A"/>
          </a:solidFill>
          <a:ln w="9525">
            <a:solidFill>
              <a:srgbClr val="0F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Code Generator
+ LoRA Adapters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410800" y="1961388"/>
            <a:ext cx="13716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75120" y="1627632"/>
            <a:ext cx="1783080" cy="868680"/>
          </a:xfrm>
          <a:prstGeom prst="roundRect">
            <a:avLst>
              <a:gd name="adj" fmla="val 12000"/>
            </a:avLst>
          </a:prstGeom>
          <a:solidFill>
            <a:srgbClr val="1F7A8C"/>
          </a:solidFill>
          <a:ln w="952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AST +
GraphCodeBERT
Scoring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468200" y="1961388"/>
            <a:ext cx="13716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732520" y="1627632"/>
            <a:ext cx="1783080" cy="868680"/>
          </a:xfrm>
          <a:prstGeom prst="roundRect">
            <a:avLst>
              <a:gd name="adj" fmla="val 12000"/>
            </a:avLst>
          </a:prstGeom>
          <a:solidFill>
            <a:srgbClr val="E87A3B"/>
          </a:solidFill>
          <a:ln w="9525">
            <a:solidFill>
              <a:srgbClr val="E87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Best-of-3
Selection → 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743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2A4A"/>
                </a:solidFill>
                <a:latin typeface="Calibri"/>
              </a:rPr>
              <a:t>Three-Phase Workflow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154680"/>
            <a:ext cx="3520440" cy="777240"/>
          </a:xfrm>
          <a:prstGeom prst="roundRect">
            <a:avLst>
              <a:gd name="adj" fmla="val 12000"/>
            </a:avLst>
          </a:prstGeom>
          <a:solidFill>
            <a:srgbClr val="2C4A66"/>
          </a:solidFill>
          <a:ln w="9525">
            <a:solidFill>
              <a:srgbClr val="2C4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Baseline Phase
(base model accuracy)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033360" y="3438144"/>
            <a:ext cx="32004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480560" y="3154680"/>
            <a:ext cx="3520440" cy="777240"/>
          </a:xfrm>
          <a:prstGeom prst="roundRect">
            <a:avLst>
              <a:gd name="adj" fmla="val 12000"/>
            </a:avLst>
          </a:prstGeom>
          <a:solidFill>
            <a:srgbClr val="2C4A66"/>
          </a:solidFill>
          <a:ln w="9525">
            <a:solidFill>
              <a:srgbClr val="2C4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LoRA Fine-Tuning Phase
(NL→PL1, PL1→PL2)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011000" y="3438144"/>
            <a:ext cx="320040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58200" y="3154680"/>
            <a:ext cx="3520440" cy="777240"/>
          </a:xfrm>
          <a:prstGeom prst="roundRect">
            <a:avLst>
              <a:gd name="adj" fmla="val 12000"/>
            </a:avLst>
          </a:prstGeom>
          <a:solidFill>
            <a:srgbClr val="2C4A66"/>
          </a:solidFill>
          <a:ln w="9525">
            <a:solidFill>
              <a:srgbClr val="2C4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Validation Phase
(held-out evaluation)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2519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2A4A"/>
                </a:solidFill>
                <a:latin typeface="Calibri"/>
              </a:rPr>
              <a:t>Design Pattern: Singleton Model Management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617720"/>
            <a:ext cx="111556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1">
                <a:solidFill>
                  <a:srgbClr val="0F2A4A"/>
                </a:solidFill>
                <a:latin typeface="Calibri"/>
              </a:rPr>
              <a:t>SingletonMeta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Every heavyweight component — 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QwenModelBase, CodeDocumentationGenerator, QwenCodeGenerator, LLMJudge, AST, GraphCodeBERTScorer, FilteredDataset, BaselineData — is implemented as a singleton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Prevents redundant model reloads across pipeline stages — critical for GPU memory efficiency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BaselineData orchestrates the full workflow: loads/unloads models, runs baseline + validation, computes summary statistics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Dataset &amp;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Data 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45920"/>
            <a:ext cx="5486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>
                <a:solidFill>
                  <a:srgbClr val="0F2A4A"/>
                </a:solidFill>
                <a:latin typeface="Calibri"/>
              </a:rPr>
              <a:t> (HuggingFace) — deduplicated Python &amp; C++ source files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bigcode/the-stack-dedup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>
                <a:solidFill>
                  <a:srgbClr val="0F2A4A"/>
                </a:solidFill>
                <a:latin typeface="Calibri"/>
              </a:rPr>
              <a:t>hexsha (id), content (code), lang, max_stars_count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Fields used: 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Streamed, filtered to Python/C++, then enriched (language tag, documentation cache, score placeholders)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063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Why Caching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42900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Streaming from HuggingFace on every pass is slow — caching gives instant reloads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Baseline computation needs multiple passes over the same records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Guarantees consistent records across runs and experiments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280160"/>
            <a:ext cx="5257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Dataset Split (equal thirds)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0" y="1645920"/>
          <a:ext cx="52578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2184"/>
                <a:gridCol w="736092"/>
                <a:gridCol w="3049524"/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b="1" sz="1250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50">
                          <a:solidFill>
                            <a:srgbClr val="FFFFFF"/>
                          </a:solidFill>
                          <a:latin typeface="Calibri"/>
                        </a:rPr>
                        <a:t>Split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50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1/3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Base-model accuracy computation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LoRA Training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1/3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Fine-tuning the adapters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Validation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1/3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F2B"/>
                          </a:solidFill>
                          <a:latin typeface="Calibri"/>
                        </a:rPr>
                        <a:t>Held-out evaluation of fine-tuned 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00800" y="3520440"/>
            <a:ext cx="5257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Run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886200"/>
            <a:ext cx="5257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>
                <a:solidFill>
                  <a:srgbClr val="0F2A4A"/>
                </a:solidFill>
                <a:latin typeface="Calibri"/>
              </a:rPr>
              <a:t>Baseline records processed: 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167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>
                <a:solidFill>
                  <a:srgbClr val="0F2A4A"/>
                </a:solidFill>
                <a:latin typeface="Calibri"/>
              </a:rPr>
              <a:t>Language split: 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84 Python  /  83 C++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GPU memory limits (see Issues &amp; Learnings) constrained full-dataset runs on available T4/L4 hardware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MODELS &amp; FINE-TUNING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Model Details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25880"/>
          <a:ext cx="1120140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4308"/>
                <a:gridCol w="4256532"/>
                <a:gridCol w="4480560"/>
              </a:tblGrid>
              <a:tr h="464820"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Base LLM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Qwen/Qwen2.5-Coder-7B-Instruct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Documentation generation, code generation, LLM-judge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LoRA  (r=16, α=32)  +  4-bit NF4 quantization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Two adapters: NL→Python, Python→C++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Semantic similarity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microsoft/graphcodebert-base</a:t>
                      </a:r>
                    </a:p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(via sentence-transformers)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Embedding cosine similarity between code pairs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Structural similarity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tree-sitter (Python &amp; C++ grammars)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AST generation + node-level similarity comparison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</a:tr>
              <a:tr h="4648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Speech-to-text (stretch)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openai/whisper-base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Voice-prompt transcription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34340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Key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09160"/>
            <a:ext cx="11155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1">
                <a:solidFill>
                  <a:srgbClr val="0F2A4A"/>
                </a:solidFill>
                <a:latin typeface="Calibri"/>
              </a:rPr>
              <a:t>PeftModel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Two adapters share one 4-bit quantized base model via PEFT's multi-adapter 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 — hot-swapped at inference time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1">
                <a:solidFill>
                  <a:srgbClr val="0F2A4A"/>
                </a:solidFill>
                <a:latin typeface="Calibri"/>
              </a:rPr>
              <a:t>Qwen model scores generated C++ code 0–1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LLM-as-judge: 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against documentation + reference before it is accepted for back-translation (quality threshold = 0.3)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Tokenizer is shared from the base model — not bundled inside each LoRA adapter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DEMO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User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2A4A"/>
                </a:solidFill>
                <a:latin typeface="Calibri"/>
              </a:rPr>
              <a:t>Interaction Flow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00200"/>
            <a:ext cx="1965960" cy="868680"/>
          </a:xfrm>
          <a:prstGeom prst="roundRect">
            <a:avLst>
              <a:gd name="adj" fmla="val 12000"/>
            </a:avLst>
          </a:prstGeom>
          <a:solidFill>
            <a:srgbClr val="1F7A8C"/>
          </a:solidFill>
          <a:ln w="952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Text Input  or
Voice Recording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76880" y="1933956"/>
            <a:ext cx="246888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61488" y="1600200"/>
            <a:ext cx="1965960" cy="868680"/>
          </a:xfrm>
          <a:prstGeom prst="roundRect">
            <a:avLst>
              <a:gd name="adj" fmla="val 12000"/>
            </a:avLst>
          </a:prstGeom>
          <a:solidFill>
            <a:srgbClr val="2C4A66"/>
          </a:solidFill>
          <a:ln w="9525">
            <a:solidFill>
              <a:srgbClr val="2C4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Whisper ASR
(if voice)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735448" y="1933956"/>
            <a:ext cx="246888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0056" y="1600200"/>
            <a:ext cx="1965960" cy="868680"/>
          </a:xfrm>
          <a:prstGeom prst="roundRect">
            <a:avLst>
              <a:gd name="adj" fmla="val 12000"/>
            </a:avLst>
          </a:prstGeom>
          <a:solidFill>
            <a:srgbClr val="0F2A4A"/>
          </a:solidFill>
          <a:ln w="9525">
            <a:solidFill>
              <a:srgbClr val="0F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Auto-Detect Task
(LLM classifier)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994016" y="1933956"/>
            <a:ext cx="246888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278624" y="1600200"/>
            <a:ext cx="1965960" cy="868680"/>
          </a:xfrm>
          <a:prstGeom prst="roundRect">
            <a:avLst>
              <a:gd name="adj" fmla="val 12000"/>
            </a:avLst>
          </a:prstGeom>
          <a:solidFill>
            <a:srgbClr val="1F7A8C"/>
          </a:solidFill>
          <a:ln w="9525">
            <a:solidFill>
              <a:srgbClr val="1F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Load LoRA Adapter
(NL→PY  /  PY→CPP)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252584" y="1933956"/>
            <a:ext cx="246888" cy="201168"/>
          </a:xfrm>
          <a:prstGeom prst="rightArrow">
            <a:avLst/>
          </a:prstGeom>
          <a:solidFill>
            <a:srgbClr val="55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537192" y="1600200"/>
            <a:ext cx="1965960" cy="868680"/>
          </a:xfrm>
          <a:prstGeom prst="roundRect">
            <a:avLst>
              <a:gd name="adj" fmla="val 12000"/>
            </a:avLst>
          </a:prstGeom>
          <a:solidFill>
            <a:srgbClr val="E87A3B"/>
          </a:solidFill>
          <a:ln w="9525">
            <a:solidFill>
              <a:srgbClr val="E87A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Generate + Syntax-
Highlighted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7889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Modes Supported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154680"/>
            <a:ext cx="54864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NL → Python — generate code from a plain-English description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Python → C++ — paste Python, get an equivalent C++ implementation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Auto — system classifies intent and routes automatically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Voice input — microphone recording transcribed before routing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788920"/>
            <a:ext cx="5257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F2A4A"/>
                </a:solidFill>
                <a:latin typeface="Calibri"/>
              </a:rPr>
              <a:t>Delivery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154680"/>
            <a:ext cx="5257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1">
                <a:solidFill>
                  <a:srgbClr val="0F2A4A"/>
                </a:solidFill>
                <a:latin typeface="Calibri"/>
              </a:rPr>
              <a:t>Gradio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Built with 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 — shareable public web URL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Runs on Google Colab with T4 / L4 GPU acceleration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Adapters + base model downloaded and 4-bit quantized at startup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300" b="1">
                <a:solidFill>
                  <a:srgbClr val="1F7A8C"/>
                </a:solidFill>
                <a:latin typeface="Calibri"/>
              </a:rPr>
              <a:t>▪  </a:t>
            </a:r>
            <a:r>
              <a:rPr sz="1300" b="0" i="0">
                <a:solidFill>
                  <a:srgbClr val="1A1F2B"/>
                </a:solidFill>
                <a:latin typeface="Calibri"/>
              </a:rPr>
              <a:t>Generated code shown with syntax highlighting and a task-status message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MEASURING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Scoring &amp;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82296" cy="77724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71600"/>
            <a:ext cx="2743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AST Similarity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371600"/>
            <a:ext cx="80467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A1F2B"/>
                </a:solidFill>
                <a:latin typeface="Calibri"/>
              </a:rPr>
              <a:t>tree-sitter parses generated &amp; ground-truth code; node-level tree similarity used (exact-match ASTs are too formatting-sensitive — e.g. spacing in a function signature changes the raw tree)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67712"/>
            <a:ext cx="82296" cy="77724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67712"/>
            <a:ext cx="2743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GraphCodeBERTScore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267712"/>
            <a:ext cx="80467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A1F2B"/>
                </a:solidFill>
                <a:latin typeface="Calibri"/>
              </a:rPr>
              <a:t>Cosine similarity between GraphCodeBERT embeddings of the two code snippets — captures semantic equivalence even when structure differs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163824"/>
            <a:ext cx="82296" cy="77724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4"/>
            <a:ext cx="2743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Average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163824"/>
            <a:ext cx="80467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A1F2B"/>
                </a:solidFill>
                <a:latin typeface="Calibri"/>
              </a:rPr>
              <a:t>Mean of AST Similarity and GraphCodeBERTScore — the primary per-record quality metric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059936"/>
            <a:ext cx="82296" cy="77724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59936"/>
            <a:ext cx="2743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LLM-as-Judge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059936"/>
            <a:ext cx="80467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A1F2B"/>
                </a:solidFill>
                <a:latin typeface="Calibri"/>
              </a:rPr>
              <a:t>Qwen2.5-Coder scores generated C++ (0–1) against documentation + reference before it is accepted for Python back-translation; quality threshold = 0.3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047488"/>
            <a:ext cx="11185855" cy="19050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276088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Best-of-3 &amp; Aggregation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64184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>
                <a:solidFill>
                  <a:srgbClr val="0F2A4A"/>
                </a:solidFill>
                <a:latin typeface="Calibri"/>
              </a:rPr>
              <a:t>3 times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Each generation step (documentation, code, PL1→PL2) is repeated 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; the highest-scoring attempt is retained per record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compute_summary() aggregates results by language (Python / C++) and by phase (NL→PL, NL→PL1→PL2)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BASELINE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Results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2606040" cy="118872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73152" cy="118872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630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2A4A"/>
                </a:solidFill>
                <a:latin typeface="Calibri"/>
              </a:rPr>
              <a:t>167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555F6E"/>
                </a:solidFill>
                <a:latin typeface="Calibri"/>
              </a:rPr>
              <a:t>Records Processed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325880"/>
            <a:ext cx="2606040" cy="118872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325880"/>
            <a:ext cx="73152" cy="118872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14630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2A4A"/>
                </a:solidFill>
                <a:latin typeface="Calibri"/>
              </a:rPr>
              <a:t>0.7250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10312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555F6E"/>
                </a:solidFill>
                <a:latin typeface="Calibri"/>
              </a:rPr>
              <a:t>NL → PL Avg Score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325880"/>
            <a:ext cx="2606040" cy="118872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325880"/>
            <a:ext cx="73152" cy="118872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4630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2A4A"/>
                </a:solidFill>
                <a:latin typeface="Calibri"/>
              </a:rPr>
              <a:t>0.9127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10312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555F6E"/>
                </a:solidFill>
                <a:latin typeface="Calibri"/>
              </a:rPr>
              <a:t>GraphCodeBERT Score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06840" y="1325880"/>
            <a:ext cx="2606040" cy="1188720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06840" y="1325880"/>
            <a:ext cx="73152" cy="118872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14630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2A4A"/>
                </a:solidFill>
                <a:latin typeface="Calibri"/>
              </a:rPr>
              <a:t>0.5374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210312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555F6E"/>
                </a:solidFill>
                <a:latin typeface="Calibri"/>
              </a:rPr>
              <a:t>AST Similarity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28346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Baseline Summary (n=167)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02920" y="3200400"/>
          <a:ext cx="5532119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1841"/>
                <a:gridCol w="1770278"/>
              </a:tblGrid>
              <a:tr h="480060"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Score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Python records (n=84)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0.7357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C++ records (n=83)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0.7142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NL → PL AST Score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0.5374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NL → PL GraphCodeBERTScore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0.9127</a:t>
                      </a:r>
                    </a:p>
                  </a:txBody>
                  <a:tcPr anchor="ctr">
                    <a:solidFill>
                      <a:srgbClr val="EEF2F6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NL → PL1 → PL2 round-trip (n=83)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A1F2B"/>
                          </a:solidFill>
                          <a:latin typeface="Calibri"/>
                        </a:rPr>
                        <a:t>0.6857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309360" y="2834640"/>
            <a:ext cx="5349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F2A4A"/>
                </a:solidFill>
                <a:latin typeface="Calibri"/>
              </a:rPr>
              <a:t>Reading the Numbers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3492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>
                <a:solidFill>
                  <a:srgbClr val="0F2A4A"/>
                </a:solidFill>
                <a:latin typeface="Calibri"/>
              </a:rPr>
              <a:t>meaning-equivalent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High GraphCodeBERTScore (0.91) vs. lower AST score (0.54) → generated code is often 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1">
                <a:solidFill>
                  <a:srgbClr val="0F2A4A"/>
                </a:solidFill>
                <a:latin typeface="Calibri"/>
              </a:rPr>
              <a:t>structurally divergent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 but 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 from ground truth (different idioms / formatting)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Python (0.7357) and C++ (0.7142) NL→PL scores are close — base model generalizes reasonably across both languages</a:t>
            </a:r>
          </a:p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250" b="1">
                <a:solidFill>
                  <a:srgbClr val="1F7A8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A1F2B"/>
                </a:solidFill>
                <a:latin typeface="Calibri"/>
              </a:rPr>
              <a:t>Round-trip NL→PL1→PL2 (0.6857) is lower than single-hop NL→PL, as expected — errors compound across two generation steps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RETROSPECTIVE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Issues and Learnings from the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1234440"/>
          <a:ext cx="11384279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19825"/>
                <a:gridCol w="5464454"/>
              </a:tblGrid>
              <a:tr h="584200"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Issue Faced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Learning</a:t>
                      </a:r>
                    </a:p>
                  </a:txBody>
                  <a:tcPr anchor="ctr">
                    <a:solidFill>
                      <a:srgbClr val="0F2A4A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No dataset had matching Python &amp; C++ code for the same intent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Generate PL2 from the PL1 documentation; treat the original PL1 as ground truth for the reverse check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Python code used packages with no C++ equivalent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Reversed the pipeline — generate documentation from C++, produce Python from it, then convert back to C++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codegen-350M-multi is a completion model — kept repeating documentation instead of generating code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Wrong model choice for NL→PL; switched to Qwen/Qwen2.5-Coder-7B-Instruct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codegen-350M-multi threw index-out-of-bounds errors; CUDA:1 tensors held garbage values — hooks, rope_scaling and token-limit fixes all failed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Pinned to a single GPU (CUDA_VISIBLE_DEVICES) with CUDA_LAUNCH_BLOCKING / TORCH_USE_CUDA_DSA for debugging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7B model's VRAM footprint too large for the available GPUs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4-bit quantization (BitsAndBytes) cut usage from ~14 GB to ~4 GB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Fine-tuning still hit a hard OOM ceiling — only ~33 records could be processed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Cache-clearing + garbage collection helped marginally; no complete fix found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One Qwen model overloaded with three roles — documentation generation, code generation, and LLM-judge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Accepted as a memory-driven design constraint; no alternative model was available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842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Judging code correctness without compiling or executing it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030">
                          <a:solidFill>
                            <a:srgbClr val="1A1F2B"/>
                          </a:solidFill>
                          <a:latin typeface="Calibri"/>
                        </a:rPr>
                        <a:t>Used Qwen as an LLM-judge scoring compiles / logic_correct / edge_cases / verdict, plus a 0–1 score</a:t>
                      </a:r>
                    </a:p>
                  </a:txBody>
                  <a:tcPr anchor="ctr" marT="38100" marB="38100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8FB4C6"/>
                </a:solidFill>
                <a:latin typeface="Calibri"/>
              </a:rP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libri"/>
              </a:rP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38404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8FB4C6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F6E"/>
                </a:solidFill>
                <a:latin typeface="Calibri"/>
              </a:rPr>
              <a:t>IIIT Hyderabad Capstone Project — Group 30 : CodeGen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155680" cy="493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spcAft>
                <a:spcPts val="1800"/>
              </a:spcAft>
            </a:pPr>
            <a:r>
              <a:rPr sz="1550" b="1">
                <a:solidFill>
                  <a:srgbClr val="1F7A8C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A1F2B"/>
                </a:solidFill>
                <a:latin typeface="Calibri"/>
              </a:rPr>
              <a:t>Curate a parallel Python–C++ dataset with shared intent/documentation for more reliable PL1→PL2 evaluation</a:t>
            </a:r>
          </a:p>
          <a:p>
            <a:pPr algn="l" marL="0" indent="0">
              <a:lnSpc>
                <a:spcPct val="108000"/>
              </a:lnSpc>
              <a:spcAft>
                <a:spcPts val="1800"/>
              </a:spcAft>
            </a:pPr>
            <a:r>
              <a:rPr sz="1550" b="1">
                <a:solidFill>
                  <a:srgbClr val="1F7A8C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A1F2B"/>
                </a:solidFill>
                <a:latin typeface="Calibri"/>
              </a:rPr>
              <a:t>Add execution-based validation — auto-generate test cases and run code in a sandbox to confirm functional equivalence, not just similarity scores</a:t>
            </a:r>
          </a:p>
          <a:p>
            <a:pPr algn="l" marL="0" indent="0">
              <a:lnSpc>
                <a:spcPct val="108000"/>
              </a:lnSpc>
              <a:spcAft>
                <a:spcPts val="1800"/>
              </a:spcAft>
            </a:pPr>
            <a:r>
              <a:rPr sz="1550" b="1">
                <a:solidFill>
                  <a:srgbClr val="1F7A8C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A1F2B"/>
                </a:solidFill>
                <a:latin typeface="Calibri"/>
              </a:rPr>
              <a:t>Scale baseline &amp; validation runs to the full dataset once GPU memory/fragmentation issues are resolved</a:t>
            </a:r>
          </a:p>
          <a:p>
            <a:pPr algn="l" marL="0" indent="0">
              <a:lnSpc>
                <a:spcPct val="108000"/>
              </a:lnSpc>
              <a:spcAft>
                <a:spcPts val="1800"/>
              </a:spcAft>
            </a:pPr>
            <a:r>
              <a:rPr sz="1550" b="1">
                <a:solidFill>
                  <a:srgbClr val="1F7A8C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A1F2B"/>
                </a:solidFill>
                <a:latin typeface="Calibri"/>
              </a:rPr>
              <a:t>Tune the relative weighting of AST, GraphCodeBERTScore, and execution accuracy in the final accuracy metric</a:t>
            </a:r>
          </a:p>
          <a:p>
            <a:pPr algn="l" marL="0" indent="0">
              <a:lnSpc>
                <a:spcPct val="108000"/>
              </a:lnSpc>
              <a:spcAft>
                <a:spcPts val="1800"/>
              </a:spcAft>
            </a:pPr>
            <a:r>
              <a:rPr sz="1550" b="1">
                <a:solidFill>
                  <a:srgbClr val="1F7A8C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A1F2B"/>
                </a:solidFill>
                <a:latin typeface="Calibri"/>
              </a:rPr>
              <a:t>Text-to-speech readout of generated documentation — extends the voice stretch goal end-to-end</a:t>
            </a:r>
          </a:p>
          <a:p>
            <a:pPr algn="l" marL="0" indent="0">
              <a:lnSpc>
                <a:spcPct val="108000"/>
              </a:lnSpc>
              <a:spcAft>
                <a:spcPts val="1800"/>
              </a:spcAft>
            </a:pPr>
            <a:r>
              <a:rPr sz="1550" b="1">
                <a:solidFill>
                  <a:srgbClr val="1F7A8C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A1F2B"/>
                </a:solidFill>
                <a:latin typeface="Calibri"/>
              </a:rPr>
              <a:t>Extend beyond Python/C++ to lower-resource, legacy languages (e.g. Ada95) — real-world need given shrinking specialist workforces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42900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E87A3B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114800"/>
            <a:ext cx="2194560" cy="27940"/>
          </a:xfrm>
          <a:prstGeom prst="rect">
            <a:avLst/>
          </a:prstGeom>
          <a:solidFill>
            <a:srgbClr val="E8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434840"/>
            <a:ext cx="7315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0" indent="0">
              <a:lnSpc>
                <a:spcPct val="108000"/>
              </a:lnSpc>
              <a:spcAft>
                <a:spcPts val="800"/>
              </a:spcAft>
            </a:pPr>
            <a:r>
              <a:rPr sz="1500" b="1">
                <a:solidFill>
                  <a:srgbClr val="1F7A8C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C7D9E2"/>
                </a:solidFill>
                <a:latin typeface="Calibri"/>
              </a:rPr>
              <a:t>Taran Tripathi, Prakhar Nigam, Kihim Lohitha, Tushnik Chakrabarty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1206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5F6E"/>
                </a:solidFill>
                <a:latin typeface="Calibri"/>
              </a:rPr>
              <a:t>CodeGen — IIIT Hyderabad Capstone Project, Group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