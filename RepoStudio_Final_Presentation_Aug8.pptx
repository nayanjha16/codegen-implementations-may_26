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5"/>
    <p:sldMasterId id="2147483672" r:id="rId6"/>
    <p:sldMasterId id="2147483673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7344FEA-F7BD-47A4-B9F7-6CC6FA7C7415}">
  <a:tblStyle styleId="{A7344FEA-F7BD-47A4-B9F7-6CC6FA7C741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2.xml"/><Relationship Id="rId11" Type="http://schemas.openxmlformats.org/officeDocument/2006/relationships/slide" Target="slides/slide3.xml"/><Relationship Id="rId22" Type="http://schemas.openxmlformats.org/officeDocument/2006/relationships/slide" Target="slides/slide14.xml"/><Relationship Id="rId10" Type="http://schemas.openxmlformats.org/officeDocument/2006/relationships/slide" Target="slides/slide2.xml"/><Relationship Id="rId21" Type="http://schemas.openxmlformats.org/officeDocument/2006/relationships/slide" Target="slides/slide13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1.xml"/><Relationship Id="rId6" Type="http://schemas.openxmlformats.org/officeDocument/2006/relationships/slideMaster" Target="slideMasters/slideMaster2.xml"/><Relationship Id="rId18" Type="http://schemas.openxmlformats.org/officeDocument/2006/relationships/slide" Target="slides/slide10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f98fd180a4_2_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g3f98fd180a4_2_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f98fd180a4_2_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f98fd180a4_2_16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g3f98fd180a4_2_16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f98fd180a4_2_16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f98fd180a4_2_5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g3f98fd180a4_2_5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f98fd180a4_2_5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f98fd180a4_2_103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g3f98fd180a4_2_103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g3f98fd180a4_2_103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f98fd180a4_2_137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g3f98fd180a4_2_137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g3f98fd180a4_2_137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f98fd180a4_2_157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g3f98fd180a4_2_157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g3f98fd180a4_2_157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f98fd180a4_2_186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g3f98fd180a4_2_186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g3f98fd180a4_2_186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f98fd180a4_2_21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" name="Google Shape;345;g3f98fd180a4_2_21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g3f98fd180a4_2_21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f98fd180a4_2_24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1" name="Google Shape;381;g3f98fd180a4_2_24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g3f98fd180a4_2_24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f98fd180a4_0_9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1" name="Google Shape;431;g3f98fd180a4_0_9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 want to be candid about what actually went wrong, because the fixes are as much a part of this project as the final numbers. Early on I learned that data quality matters more than volume — 79 of 616 candidate rows failed validation and were rejected rather than quietly kept to inflate the corpus size. The most important discovery came during manual testing in Gradio: the first fine-tuned adapter had only ever seen a plain instruction-input-response prompt, so when Stage 5 added a 'Retrieved Context' section at inference time, it sometimes ignored it — while the untouched base model handled it better in that one case. That's a real design gap, and I treated it as one: I built a training-time RAG prompt builder, added grounded evidence to about a third of eligible training rows, and trained a separate, versioned adapter rather than patching the first one. I also learned to never equate compiling or parsing with correctness — that claim is reserved strictly for Docker-executed tests, and I kept generation and verification decoupled specifically because Docker wasn't available inside Colab.</a:t>
            </a:r>
            <a:endParaRPr/>
          </a:p>
        </p:txBody>
      </p:sp>
      <p:sp>
        <p:nvSpPr>
          <p:cNvPr id="432" name="Google Shape;432;g3f98fd180a4_0_9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f98fd180a4_2_298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3" name="Google Shape;443;g3f98fd180a4_2_298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g3f98fd180a4_2_298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f98fd180a4_0_176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5" name="Google Shape;485;g3f98fd180a4_0_176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g3f98fd180a4_0_176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f98fd180a4_0_322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2" name="Google Shape;492;g3f98fd180a4_0_322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g3f98fd180a4_0_322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f98fd180a4_0_220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7" name="Google Shape;517;g3f98fd180a4_0_220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g3f98fd180a4_0_220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514350" y="1597819"/>
            <a:ext cx="58293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028700" y="2914650"/>
            <a:ext cx="48006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342900" y="205978"/>
            <a:ext cx="61722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42900" y="1200150"/>
            <a:ext cx="61722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541735" y="3305175"/>
            <a:ext cx="58293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541735" y="2180035"/>
            <a:ext cx="58293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42900" y="205978"/>
            <a:ext cx="61722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342900" y="1200150"/>
            <a:ext cx="30291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3486150" y="1200150"/>
            <a:ext cx="30291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342900" y="205978"/>
            <a:ext cx="61722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342900" y="1151335"/>
            <a:ext cx="30300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342900" y="1631156"/>
            <a:ext cx="30300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3483769" y="1151335"/>
            <a:ext cx="30312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3483769" y="1631156"/>
            <a:ext cx="30312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42900" y="205978"/>
            <a:ext cx="61722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42900" y="204788"/>
            <a:ext cx="2256300" cy="871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681288" y="204788"/>
            <a:ext cx="3833700" cy="43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342900" y="1076325"/>
            <a:ext cx="2256300" cy="3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344216" y="3600450"/>
            <a:ext cx="41148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344216" y="459581"/>
            <a:ext cx="41148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344216" y="4025504"/>
            <a:ext cx="41148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42900" y="205978"/>
            <a:ext cx="61722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731750" y="-188700"/>
            <a:ext cx="3394500" cy="61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3549300" y="1628879"/>
            <a:ext cx="4388700" cy="15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406050" y="142978"/>
            <a:ext cx="4388700" cy="45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42900" y="205978"/>
            <a:ext cx="61722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2900" y="1200150"/>
            <a:ext cx="61722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hyperlink" Target="https://drive.google.com/file/d/1mFqmK9T92FRY1_48I9JhjOPS3vGmqA0I/view" TargetMode="External"/><Relationship Id="rId5" Type="http://schemas.openxmlformats.org/officeDocument/2006/relationships/image" Target="../media/image2.png"/><Relationship Id="rId6" Type="http://schemas.openxmlformats.org/officeDocument/2006/relationships/hyperlink" Target="https://repocoder-studio-ufasjxwf2q-uc.a.run.app/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11E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7"/>
          <p:cNvSpPr/>
          <p:nvPr/>
        </p:nvSpPr>
        <p:spPr>
          <a:xfrm>
            <a:off x="617220" y="754380"/>
            <a:ext cx="3154680" cy="219456"/>
          </a:xfrm>
          <a:prstGeom prst="roundRect">
            <a:avLst>
              <a:gd fmla="val 50000" name="adj"/>
            </a:avLst>
          </a:prstGeom>
          <a:solidFill>
            <a:srgbClr val="0D1524"/>
          </a:solidFill>
          <a:ln cap="flat" cmpd="sng" w="12700">
            <a:solidFill>
              <a:srgbClr val="5BC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7"/>
          <p:cNvSpPr/>
          <p:nvPr/>
        </p:nvSpPr>
        <p:spPr>
          <a:xfrm>
            <a:off x="617220" y="747522"/>
            <a:ext cx="315468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C8F5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5BC8F5"/>
                </a:solidFill>
                <a:latin typeface="Calibri"/>
                <a:ea typeface="Calibri"/>
                <a:cs typeface="Calibri"/>
                <a:sym typeface="Calibri"/>
              </a:rPr>
              <a:t>FINAL CAPSTONE • STAGES 1–5 EXECUTED &amp; EVALUATED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7"/>
          <p:cNvSpPr/>
          <p:nvPr/>
        </p:nvSpPr>
        <p:spPr>
          <a:xfrm>
            <a:off x="582930" y="1131570"/>
            <a:ext cx="795528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EFFA"/>
              </a:buClr>
              <a:buSzPts val="4100"/>
              <a:buFont typeface="Calibri"/>
              <a:buNone/>
            </a:pPr>
            <a:r>
              <a:rPr b="1" i="0" lang="en" sz="4100" u="none" cap="none" strike="noStrike">
                <a:solidFill>
                  <a:srgbClr val="E9EFFA"/>
                </a:solidFill>
                <a:latin typeface="Calibri"/>
                <a:ea typeface="Calibri"/>
                <a:cs typeface="Calibri"/>
                <a:sym typeface="Calibri"/>
              </a:rPr>
              <a:t>RepoCoder Studio</a:t>
            </a:r>
            <a:endParaRPr b="0" i="0" sz="4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7"/>
          <p:cNvSpPr/>
          <p:nvPr/>
        </p:nvSpPr>
        <p:spPr>
          <a:xfrm>
            <a:off x="617220" y="1885950"/>
            <a:ext cx="7886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C8F5"/>
              </a:buClr>
              <a:buSzPts val="1500"/>
              <a:buFont typeface="Calibri"/>
              <a:buNone/>
            </a:pPr>
            <a:r>
              <a:rPr b="0" i="0" lang="en" sz="1500" u="none" cap="none" strike="noStrike">
                <a:solidFill>
                  <a:srgbClr val="5BC8F5"/>
                </a:solidFill>
                <a:latin typeface="Calibri"/>
                <a:ea typeface="Calibri"/>
                <a:cs typeface="Calibri"/>
                <a:sym typeface="Calibri"/>
              </a:rPr>
              <a:t>Repository-Aware AI Analytics &amp; Development Assistant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7"/>
          <p:cNvSpPr/>
          <p:nvPr/>
        </p:nvSpPr>
        <p:spPr>
          <a:xfrm>
            <a:off x="617220" y="233172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9C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AA9C7"/>
                </a:solidFill>
                <a:latin typeface="Calibri"/>
                <a:ea typeface="Calibri"/>
                <a:cs typeface="Calibri"/>
                <a:sym typeface="Calibri"/>
              </a:rPr>
              <a:t>Six bilingual code tasks • One fine-tuned 0.5B model • Repository retrieval with provenance • Cloud Run deployment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7"/>
          <p:cNvSpPr/>
          <p:nvPr/>
        </p:nvSpPr>
        <p:spPr>
          <a:xfrm>
            <a:off x="617220" y="2948940"/>
            <a:ext cx="7886700" cy="1371600"/>
          </a:xfrm>
          <a:prstGeom prst="roundRect">
            <a:avLst>
              <a:gd fmla="val 4000" name="adj"/>
            </a:avLst>
          </a:prstGeom>
          <a:solidFill>
            <a:srgbClr val="101A2E"/>
          </a:solidFill>
          <a:ln cap="flat" cmpd="sng" w="9525">
            <a:solidFill>
              <a:srgbClr val="2C3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7"/>
          <p:cNvSpPr/>
          <p:nvPr/>
        </p:nvSpPr>
        <p:spPr>
          <a:xfrm>
            <a:off x="857250" y="3120390"/>
            <a:ext cx="747522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9EFFA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E9EFFA"/>
                </a:solidFill>
                <a:latin typeface="Calibri"/>
                <a:ea typeface="Calibri"/>
                <a:cs typeface="Calibri"/>
                <a:sym typeface="Calibri"/>
              </a:rPr>
              <a:t>IIIT Hyderabad AIML Certification Program • Group 46</a:t>
            </a:r>
            <a:br>
              <a:rPr b="1" i="0" lang="en" sz="1100" u="none" cap="none" strike="noStrike">
                <a:solidFill>
                  <a:srgbClr val="E9EF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900" u="none" cap="none" strike="noStrike">
                <a:solidFill>
                  <a:srgbClr val="9AA9C7"/>
                </a:solidFill>
                <a:latin typeface="Calibri"/>
                <a:ea typeface="Calibri"/>
                <a:cs typeface="Calibri"/>
                <a:sym typeface="Calibri"/>
              </a:rPr>
              <a:t>Professor: Anil Nelakanti      Mentors: Nayan | Pavan</a:t>
            </a:r>
            <a:br>
              <a:rPr b="0" i="0" lang="en" sz="900" u="none" cap="none" strike="noStrike">
                <a:solidFill>
                  <a:srgbClr val="9AA9C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900" u="none" cap="none" strike="noStrike">
                <a:solidFill>
                  <a:srgbClr val="9AA9C7"/>
                </a:solidFill>
                <a:latin typeface="Calibri"/>
                <a:ea typeface="Calibri"/>
                <a:cs typeface="Calibri"/>
                <a:sym typeface="Calibri"/>
              </a:rPr>
              <a:t>Team: Anupa Viswanath | Mohan Krishna M. | Praveen Kumar CH | Mohan Kumar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524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/>
          <p:nvPr/>
        </p:nvSpPr>
        <p:spPr>
          <a:xfrm>
            <a:off x="411480" y="219456"/>
            <a:ext cx="72009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C8F5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5BC8F5"/>
                </a:solidFill>
                <a:latin typeface="Calibri"/>
                <a:ea typeface="Calibri"/>
                <a:cs typeface="Calibri"/>
                <a:sym typeface="Calibri"/>
              </a:rPr>
              <a:t>PROBLEM &amp; OBJECTIVE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8"/>
          <p:cNvSpPr/>
          <p:nvPr/>
        </p:nvSpPr>
        <p:spPr>
          <a:xfrm>
            <a:off x="411480" y="397764"/>
            <a:ext cx="8298180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EFFA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E9EFFA"/>
                </a:solidFill>
                <a:latin typeface="Calibri"/>
                <a:ea typeface="Calibri"/>
                <a:cs typeface="Calibri"/>
                <a:sym typeface="Calibri"/>
              </a:rPr>
              <a:t>Real software work is repository-specific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8"/>
          <p:cNvSpPr/>
          <p:nvPr/>
        </p:nvSpPr>
        <p:spPr>
          <a:xfrm>
            <a:off x="411480" y="809244"/>
            <a:ext cx="829818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9C7"/>
              </a:buClr>
              <a:buSzPts val="1000"/>
              <a:buFont typeface="Calibri"/>
              <a:buNone/>
            </a:pPr>
            <a:r>
              <a:rPr b="0" i="1" lang="en" sz="1000" u="none" cap="none" strike="noStrike">
                <a:solidFill>
                  <a:srgbClr val="9AA9C7"/>
                </a:solidFill>
                <a:latin typeface="Calibri"/>
                <a:ea typeface="Calibri"/>
                <a:cs typeface="Calibri"/>
                <a:sym typeface="Calibri"/>
              </a:rPr>
              <a:t>General code models know languages — they cannot know your thresholds, conventions and shared rules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8"/>
          <p:cNvSpPr/>
          <p:nvPr/>
        </p:nvSpPr>
        <p:spPr>
          <a:xfrm>
            <a:off x="8743950" y="4834890"/>
            <a:ext cx="30861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9C7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AA9C7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8"/>
          <p:cNvSpPr/>
          <p:nvPr/>
        </p:nvSpPr>
        <p:spPr>
          <a:xfrm>
            <a:off x="411480" y="4834890"/>
            <a:ext cx="30861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C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5A6A8C"/>
                </a:solidFill>
                <a:latin typeface="Calibri"/>
                <a:ea typeface="Calibri"/>
                <a:cs typeface="Calibri"/>
                <a:sym typeface="Calibri"/>
              </a:rPr>
              <a:t>RepoCoder Studio • Group 46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8"/>
          <p:cNvSpPr/>
          <p:nvPr/>
        </p:nvSpPr>
        <p:spPr>
          <a:xfrm>
            <a:off x="411480" y="1234440"/>
            <a:ext cx="3703320" cy="1714500"/>
          </a:xfrm>
          <a:prstGeom prst="roundRect">
            <a:avLst>
              <a:gd fmla="val 3200" name="adj"/>
            </a:avLst>
          </a:prstGeom>
          <a:solidFill>
            <a:srgbClr val="16223A"/>
          </a:solidFill>
          <a:ln cap="flat" cmpd="sng" w="9525">
            <a:solidFill>
              <a:srgbClr val="2C3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8"/>
          <p:cNvSpPr/>
          <p:nvPr/>
        </p:nvSpPr>
        <p:spPr>
          <a:xfrm>
            <a:off x="617220" y="1337310"/>
            <a:ext cx="329184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FA3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8FA3"/>
                </a:solidFill>
                <a:latin typeface="Calibri"/>
                <a:ea typeface="Calibri"/>
                <a:cs typeface="Calibri"/>
                <a:sym typeface="Calibri"/>
              </a:rPr>
              <a:t>THE GAP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8"/>
          <p:cNvSpPr/>
          <p:nvPr/>
        </p:nvSpPr>
        <p:spPr>
          <a:xfrm>
            <a:off x="651510" y="1645920"/>
            <a:ext cx="68580" cy="68580"/>
          </a:xfrm>
          <a:prstGeom prst="ellipse">
            <a:avLst/>
          </a:prstGeom>
          <a:solidFill>
            <a:srgbClr val="FF8FA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8"/>
          <p:cNvSpPr/>
          <p:nvPr/>
        </p:nvSpPr>
        <p:spPr>
          <a:xfrm>
            <a:off x="822960" y="1577340"/>
            <a:ext cx="3154680" cy="425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9EFFA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E9EFFA"/>
                </a:solidFill>
                <a:latin typeface="Calibri"/>
                <a:ea typeface="Calibri"/>
                <a:cs typeface="Calibri"/>
                <a:sym typeface="Calibri"/>
              </a:rPr>
              <a:t>A developer's request depends on existing business thresholds, naming conventions and shared validation rules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8"/>
          <p:cNvSpPr/>
          <p:nvPr/>
        </p:nvSpPr>
        <p:spPr>
          <a:xfrm>
            <a:off x="651510" y="2071116"/>
            <a:ext cx="68580" cy="68580"/>
          </a:xfrm>
          <a:prstGeom prst="ellipse">
            <a:avLst/>
          </a:prstGeom>
          <a:solidFill>
            <a:srgbClr val="FF8FA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8"/>
          <p:cNvSpPr/>
          <p:nvPr/>
        </p:nvSpPr>
        <p:spPr>
          <a:xfrm>
            <a:off x="822960" y="2002536"/>
            <a:ext cx="3154680" cy="425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9EFFA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E9EFFA"/>
                </a:solidFill>
                <a:latin typeface="Calibri"/>
                <a:ea typeface="Calibri"/>
                <a:cs typeface="Calibri"/>
                <a:sym typeface="Calibri"/>
              </a:rPr>
              <a:t>A pretrained model cannot know this private, local information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8"/>
          <p:cNvSpPr/>
          <p:nvPr/>
        </p:nvSpPr>
        <p:spPr>
          <a:xfrm>
            <a:off x="651510" y="2496312"/>
            <a:ext cx="68580" cy="68580"/>
          </a:xfrm>
          <a:prstGeom prst="ellipse">
            <a:avLst/>
          </a:prstGeom>
          <a:solidFill>
            <a:srgbClr val="FF8FA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8"/>
          <p:cNvSpPr/>
          <p:nvPr/>
        </p:nvSpPr>
        <p:spPr>
          <a:xfrm>
            <a:off x="822960" y="2427732"/>
            <a:ext cx="3154680" cy="425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9EFFA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E9EFFA"/>
                </a:solidFill>
                <a:latin typeface="Calibri"/>
                <a:ea typeface="Calibri"/>
                <a:cs typeface="Calibri"/>
                <a:sym typeface="Calibri"/>
              </a:rPr>
              <a:t>Pasting the whole repository into every prompt is impractical — too many tokens, untraceable answers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8"/>
          <p:cNvSpPr/>
          <p:nvPr/>
        </p:nvSpPr>
        <p:spPr>
          <a:xfrm>
            <a:off x="411480" y="3051810"/>
            <a:ext cx="3703320" cy="1508760"/>
          </a:xfrm>
          <a:prstGeom prst="roundRect">
            <a:avLst>
              <a:gd fmla="val 3636" name="adj"/>
            </a:avLst>
          </a:prstGeom>
          <a:solidFill>
            <a:srgbClr val="101A2E"/>
          </a:solidFill>
          <a:ln cap="flat" cmpd="sng" w="9525">
            <a:solidFill>
              <a:srgbClr val="2C3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8"/>
          <p:cNvSpPr/>
          <p:nvPr/>
        </p:nvSpPr>
        <p:spPr>
          <a:xfrm>
            <a:off x="617220" y="3154680"/>
            <a:ext cx="329184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E0B7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5FE0B7"/>
                </a:solidFill>
                <a:latin typeface="Calibri"/>
                <a:ea typeface="Calibri"/>
                <a:cs typeface="Calibri"/>
                <a:sym typeface="Calibri"/>
              </a:rPr>
              <a:t>TWO COMPLEMENTARY ANSWERS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8"/>
          <p:cNvSpPr/>
          <p:nvPr/>
        </p:nvSpPr>
        <p:spPr>
          <a:xfrm>
            <a:off x="617220" y="3394710"/>
            <a:ext cx="332613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C8F5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5BC8F5"/>
                </a:solidFill>
                <a:latin typeface="Calibri"/>
                <a:ea typeface="Calibri"/>
                <a:cs typeface="Calibri"/>
                <a:sym typeface="Calibri"/>
              </a:rPr>
              <a:t>Fine-tuning </a:t>
            </a:r>
            <a:r>
              <a:rPr b="0" i="0" lang="en" sz="800" u="none" cap="none" strike="noStrike">
                <a:solidFill>
                  <a:srgbClr val="E9EFFA"/>
                </a:solidFill>
                <a:latin typeface="Calibri"/>
                <a:ea typeface="Calibri"/>
                <a:cs typeface="Calibri"/>
                <a:sym typeface="Calibri"/>
              </a:rPr>
              <a:t>teaches the six task formats and bilingual transformation behaviour.</a:t>
            </a:r>
            <a:br>
              <a:rPr b="0" i="0" lang="en" sz="800" u="none" cap="none" strike="noStrike">
                <a:solidFill>
                  <a:srgbClr val="E9EF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900" u="none" cap="none" strike="noStrike">
                <a:solidFill>
                  <a:srgbClr val="5FE0B7"/>
                </a:solidFill>
                <a:latin typeface="Calibri"/>
                <a:ea typeface="Calibri"/>
                <a:cs typeface="Calibri"/>
                <a:sym typeface="Calibri"/>
              </a:rPr>
              <a:t>Repository RAG </a:t>
            </a:r>
            <a:r>
              <a:rPr b="0" i="0" lang="en" sz="800" u="none" cap="none" strike="noStrike">
                <a:solidFill>
                  <a:srgbClr val="E9EFFA"/>
                </a:solidFill>
                <a:latin typeface="Calibri"/>
                <a:ea typeface="Calibri"/>
                <a:cs typeface="Calibri"/>
                <a:sym typeface="Calibri"/>
              </a:rPr>
              <a:t>supplies project-specific facts as evidence at inference time — with scores and provenance.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8"/>
          <p:cNvSpPr/>
          <p:nvPr/>
        </p:nvSpPr>
        <p:spPr>
          <a:xfrm>
            <a:off x="4286250" y="1234440"/>
            <a:ext cx="4423410" cy="1988820"/>
          </a:xfrm>
          <a:prstGeom prst="roundRect">
            <a:avLst>
              <a:gd fmla="val 2759" name="adj"/>
            </a:avLst>
          </a:prstGeom>
          <a:solidFill>
            <a:srgbClr val="16223A"/>
          </a:solidFill>
          <a:ln cap="flat" cmpd="sng" w="9525">
            <a:solidFill>
              <a:srgbClr val="2C3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8"/>
          <p:cNvSpPr/>
          <p:nvPr/>
        </p:nvSpPr>
        <p:spPr>
          <a:xfrm>
            <a:off x="4491990" y="1337310"/>
            <a:ext cx="40462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C8F5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5BC8F5"/>
                </a:solidFill>
                <a:latin typeface="Calibri"/>
                <a:ea typeface="Calibri"/>
                <a:cs typeface="Calibri"/>
                <a:sym typeface="Calibri"/>
              </a:rPr>
              <a:t>SIX SUPERVISED TRANSFORMATIONS — ONE MODEL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8"/>
          <p:cNvSpPr/>
          <p:nvPr/>
        </p:nvSpPr>
        <p:spPr>
          <a:xfrm>
            <a:off x="4491990" y="1645920"/>
            <a:ext cx="1988820" cy="425196"/>
          </a:xfrm>
          <a:prstGeom prst="roundRect">
            <a:avLst>
              <a:gd fmla="val 12903" name="adj"/>
            </a:avLst>
          </a:prstGeom>
          <a:solidFill>
            <a:srgbClr val="1B2A47"/>
          </a:solidFill>
          <a:ln cap="flat" cmpd="sng" w="9525">
            <a:solidFill>
              <a:srgbClr val="2C3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8"/>
          <p:cNvSpPr/>
          <p:nvPr/>
        </p:nvSpPr>
        <p:spPr>
          <a:xfrm>
            <a:off x="4594860" y="1680210"/>
            <a:ext cx="4114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C8F5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5BC8F5"/>
                </a:solidFill>
                <a:latin typeface="Calibri"/>
                <a:ea typeface="Calibri"/>
                <a:cs typeface="Calibri"/>
                <a:sym typeface="Calibri"/>
              </a:rPr>
              <a:t>T1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8"/>
          <p:cNvSpPr/>
          <p:nvPr/>
        </p:nvSpPr>
        <p:spPr>
          <a:xfrm>
            <a:off x="5006340" y="1680210"/>
            <a:ext cx="14401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EFFA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E9EFFA"/>
                </a:solidFill>
                <a:latin typeface="Calibri"/>
                <a:ea typeface="Calibri"/>
                <a:cs typeface="Calibri"/>
                <a:sym typeface="Calibri"/>
              </a:rPr>
              <a:t>NL → Python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8"/>
          <p:cNvSpPr/>
          <p:nvPr/>
        </p:nvSpPr>
        <p:spPr>
          <a:xfrm>
            <a:off x="6617970" y="1645920"/>
            <a:ext cx="1988820" cy="425196"/>
          </a:xfrm>
          <a:prstGeom prst="roundRect">
            <a:avLst>
              <a:gd fmla="val 12903" name="adj"/>
            </a:avLst>
          </a:prstGeom>
          <a:solidFill>
            <a:srgbClr val="1B2A47"/>
          </a:solidFill>
          <a:ln cap="flat" cmpd="sng" w="9525">
            <a:solidFill>
              <a:srgbClr val="2C3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8"/>
          <p:cNvSpPr/>
          <p:nvPr/>
        </p:nvSpPr>
        <p:spPr>
          <a:xfrm>
            <a:off x="6720840" y="1680210"/>
            <a:ext cx="4114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C8F5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5BC8F5"/>
                </a:solidFill>
                <a:latin typeface="Calibri"/>
                <a:ea typeface="Calibri"/>
                <a:cs typeface="Calibri"/>
                <a:sym typeface="Calibri"/>
              </a:rPr>
              <a:t>T2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8"/>
          <p:cNvSpPr/>
          <p:nvPr/>
        </p:nvSpPr>
        <p:spPr>
          <a:xfrm>
            <a:off x="7132320" y="1680210"/>
            <a:ext cx="14401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EFFA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E9EFFA"/>
                </a:solidFill>
                <a:latin typeface="Calibri"/>
                <a:ea typeface="Calibri"/>
                <a:cs typeface="Calibri"/>
                <a:sym typeface="Calibri"/>
              </a:rPr>
              <a:t>NL → Java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8"/>
          <p:cNvSpPr/>
          <p:nvPr/>
        </p:nvSpPr>
        <p:spPr>
          <a:xfrm>
            <a:off x="4491990" y="2160270"/>
            <a:ext cx="1988820" cy="425196"/>
          </a:xfrm>
          <a:prstGeom prst="roundRect">
            <a:avLst>
              <a:gd fmla="val 12903" name="adj"/>
            </a:avLst>
          </a:prstGeom>
          <a:solidFill>
            <a:srgbClr val="1B2A47"/>
          </a:solidFill>
          <a:ln cap="flat" cmpd="sng" w="9525">
            <a:solidFill>
              <a:srgbClr val="2C3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8"/>
          <p:cNvSpPr/>
          <p:nvPr/>
        </p:nvSpPr>
        <p:spPr>
          <a:xfrm>
            <a:off x="4594860" y="2194560"/>
            <a:ext cx="4114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T3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8"/>
          <p:cNvSpPr/>
          <p:nvPr/>
        </p:nvSpPr>
        <p:spPr>
          <a:xfrm>
            <a:off x="5006340" y="2194560"/>
            <a:ext cx="14401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EFFA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E9EFFA"/>
                </a:solidFill>
                <a:latin typeface="Calibri"/>
                <a:ea typeface="Calibri"/>
                <a:cs typeface="Calibri"/>
                <a:sym typeface="Calibri"/>
              </a:rPr>
              <a:t>Python → Java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8"/>
          <p:cNvSpPr/>
          <p:nvPr/>
        </p:nvSpPr>
        <p:spPr>
          <a:xfrm>
            <a:off x="6617970" y="2160270"/>
            <a:ext cx="1988820" cy="425196"/>
          </a:xfrm>
          <a:prstGeom prst="roundRect">
            <a:avLst>
              <a:gd fmla="val 12903" name="adj"/>
            </a:avLst>
          </a:prstGeom>
          <a:solidFill>
            <a:srgbClr val="1B2A47"/>
          </a:solidFill>
          <a:ln cap="flat" cmpd="sng" w="9525">
            <a:solidFill>
              <a:srgbClr val="2C3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8"/>
          <p:cNvSpPr/>
          <p:nvPr/>
        </p:nvSpPr>
        <p:spPr>
          <a:xfrm>
            <a:off x="6720840" y="2194560"/>
            <a:ext cx="4114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T4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8"/>
          <p:cNvSpPr/>
          <p:nvPr/>
        </p:nvSpPr>
        <p:spPr>
          <a:xfrm>
            <a:off x="7132320" y="2194560"/>
            <a:ext cx="14401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EFFA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E9EFFA"/>
                </a:solidFill>
                <a:latin typeface="Calibri"/>
                <a:ea typeface="Calibri"/>
                <a:cs typeface="Calibri"/>
                <a:sym typeface="Calibri"/>
              </a:rPr>
              <a:t>Java → Python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8"/>
          <p:cNvSpPr/>
          <p:nvPr/>
        </p:nvSpPr>
        <p:spPr>
          <a:xfrm>
            <a:off x="4491990" y="2674620"/>
            <a:ext cx="1988820" cy="425196"/>
          </a:xfrm>
          <a:prstGeom prst="roundRect">
            <a:avLst>
              <a:gd fmla="val 12903" name="adj"/>
            </a:avLst>
          </a:prstGeom>
          <a:solidFill>
            <a:srgbClr val="1B2A47"/>
          </a:solidFill>
          <a:ln cap="flat" cmpd="sng" w="9525">
            <a:solidFill>
              <a:srgbClr val="2C3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8"/>
          <p:cNvSpPr/>
          <p:nvPr/>
        </p:nvSpPr>
        <p:spPr>
          <a:xfrm>
            <a:off x="4594860" y="2708910"/>
            <a:ext cx="4114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E0B7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5FE0B7"/>
                </a:solidFill>
                <a:latin typeface="Calibri"/>
                <a:ea typeface="Calibri"/>
                <a:cs typeface="Calibri"/>
                <a:sym typeface="Calibri"/>
              </a:rPr>
              <a:t>T5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8"/>
          <p:cNvSpPr/>
          <p:nvPr/>
        </p:nvSpPr>
        <p:spPr>
          <a:xfrm>
            <a:off x="5006340" y="2708910"/>
            <a:ext cx="14401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EFFA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E9EFFA"/>
                </a:solidFill>
                <a:latin typeface="Calibri"/>
                <a:ea typeface="Calibri"/>
                <a:cs typeface="Calibri"/>
                <a:sym typeface="Calibri"/>
              </a:rPr>
              <a:t>Python → NL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8"/>
          <p:cNvSpPr/>
          <p:nvPr/>
        </p:nvSpPr>
        <p:spPr>
          <a:xfrm>
            <a:off x="6617970" y="2674620"/>
            <a:ext cx="1988820" cy="425196"/>
          </a:xfrm>
          <a:prstGeom prst="roundRect">
            <a:avLst>
              <a:gd fmla="val 12903" name="adj"/>
            </a:avLst>
          </a:prstGeom>
          <a:solidFill>
            <a:srgbClr val="1B2A47"/>
          </a:solidFill>
          <a:ln cap="flat" cmpd="sng" w="9525">
            <a:solidFill>
              <a:srgbClr val="2C3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8"/>
          <p:cNvSpPr/>
          <p:nvPr/>
        </p:nvSpPr>
        <p:spPr>
          <a:xfrm>
            <a:off x="6720840" y="2708910"/>
            <a:ext cx="4114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E0B7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5FE0B7"/>
                </a:solidFill>
                <a:latin typeface="Calibri"/>
                <a:ea typeface="Calibri"/>
                <a:cs typeface="Calibri"/>
                <a:sym typeface="Calibri"/>
              </a:rPr>
              <a:t>T6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8"/>
          <p:cNvSpPr/>
          <p:nvPr/>
        </p:nvSpPr>
        <p:spPr>
          <a:xfrm>
            <a:off x="7132320" y="2708910"/>
            <a:ext cx="14401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EFFA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E9EFFA"/>
                </a:solidFill>
                <a:latin typeface="Calibri"/>
                <a:ea typeface="Calibri"/>
                <a:cs typeface="Calibri"/>
                <a:sym typeface="Calibri"/>
              </a:rPr>
              <a:t>Java → NL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8"/>
          <p:cNvSpPr/>
          <p:nvPr/>
        </p:nvSpPr>
        <p:spPr>
          <a:xfrm>
            <a:off x="4286250" y="3326130"/>
            <a:ext cx="4423410" cy="1234440"/>
          </a:xfrm>
          <a:prstGeom prst="roundRect">
            <a:avLst>
              <a:gd fmla="val 4444" name="adj"/>
            </a:avLst>
          </a:prstGeom>
          <a:solidFill>
            <a:srgbClr val="101A2E"/>
          </a:solidFill>
          <a:ln cap="flat" cmpd="sng" w="9525">
            <a:solidFill>
              <a:srgbClr val="2C3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8"/>
          <p:cNvSpPr/>
          <p:nvPr/>
        </p:nvSpPr>
        <p:spPr>
          <a:xfrm>
            <a:off x="4491990" y="3429000"/>
            <a:ext cx="40462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RESEARCH QUESTION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8"/>
          <p:cNvSpPr/>
          <p:nvPr/>
        </p:nvSpPr>
        <p:spPr>
          <a:xfrm>
            <a:off x="4491990" y="3669030"/>
            <a:ext cx="40462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9EFFA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rgbClr val="E9EFFA"/>
                </a:solidFill>
                <a:latin typeface="Calibri"/>
                <a:ea typeface="Calibri"/>
                <a:cs typeface="Calibri"/>
                <a:sym typeface="Calibri"/>
              </a:rPr>
              <a:t>Can a small code model be adapted for bilingual software-engineering tasks — and can repository retrieval improve it when the correct answer depends on information that is in the repository but absent from the prompt?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524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9"/>
          <p:cNvSpPr/>
          <p:nvPr/>
        </p:nvSpPr>
        <p:spPr>
          <a:xfrm>
            <a:off x="411480" y="219456"/>
            <a:ext cx="72009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C8F5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5BC8F5"/>
                </a:solidFill>
                <a:latin typeface="Calibri"/>
                <a:ea typeface="Calibri"/>
                <a:cs typeface="Calibri"/>
                <a:sym typeface="Calibri"/>
              </a:rPr>
              <a:t>SYSTEM ARCHITECTURE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9"/>
          <p:cNvSpPr/>
          <p:nvPr/>
        </p:nvSpPr>
        <p:spPr>
          <a:xfrm>
            <a:off x="411480" y="397764"/>
            <a:ext cx="8298180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EFFA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E9EFFA"/>
                </a:solidFill>
                <a:latin typeface="Calibri"/>
                <a:ea typeface="Calibri"/>
                <a:cs typeface="Calibri"/>
                <a:sym typeface="Calibri"/>
              </a:rPr>
              <a:t>One layered pipeline — from raw data to a served, auditable assistant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9"/>
          <p:cNvSpPr/>
          <p:nvPr/>
        </p:nvSpPr>
        <p:spPr>
          <a:xfrm>
            <a:off x="411480" y="809244"/>
            <a:ext cx="829818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9C7"/>
              </a:buClr>
              <a:buSzPts val="1000"/>
              <a:buFont typeface="Calibri"/>
              <a:buNone/>
            </a:pPr>
            <a:r>
              <a:rPr b="0" i="1" lang="en" sz="1000" u="none" cap="none" strike="noStrike">
                <a:solidFill>
                  <a:srgbClr val="9AA9C7"/>
                </a:solidFill>
                <a:latin typeface="Calibri"/>
                <a:ea typeface="Calibri"/>
                <a:cs typeface="Calibri"/>
                <a:sym typeface="Calibri"/>
              </a:rPr>
              <a:t>Three claims kept separate throughout: fine-tuning quality, RAG quality, functional correctness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9"/>
          <p:cNvSpPr/>
          <p:nvPr/>
        </p:nvSpPr>
        <p:spPr>
          <a:xfrm>
            <a:off x="8743950" y="4834890"/>
            <a:ext cx="30861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9C7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AA9C7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9"/>
          <p:cNvSpPr/>
          <p:nvPr/>
        </p:nvSpPr>
        <p:spPr>
          <a:xfrm>
            <a:off x="411480" y="4834890"/>
            <a:ext cx="30861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C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5A6A8C"/>
                </a:solidFill>
                <a:latin typeface="Calibri"/>
                <a:ea typeface="Calibri"/>
                <a:cs typeface="Calibri"/>
                <a:sym typeface="Calibri"/>
              </a:rPr>
              <a:t>RepoCoder Studio • Group 46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9"/>
          <p:cNvSpPr/>
          <p:nvPr/>
        </p:nvSpPr>
        <p:spPr>
          <a:xfrm>
            <a:off x="411480" y="1268730"/>
            <a:ext cx="1303020" cy="960120"/>
          </a:xfrm>
          <a:prstGeom prst="roundRect">
            <a:avLst>
              <a:gd fmla="val 5714" name="adj"/>
            </a:avLst>
          </a:prstGeom>
          <a:solidFill>
            <a:srgbClr val="16223A"/>
          </a:solidFill>
          <a:ln cap="flat" cmpd="sng" w="9525">
            <a:solidFill>
              <a:srgbClr val="2C3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9"/>
          <p:cNvSpPr/>
          <p:nvPr/>
        </p:nvSpPr>
        <p:spPr>
          <a:xfrm>
            <a:off x="500634" y="1364742"/>
            <a:ext cx="1124712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C8F5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5BC8F5"/>
                </a:solidFill>
                <a:latin typeface="Calibri"/>
                <a:ea typeface="Calibri"/>
                <a:cs typeface="Calibri"/>
                <a:sym typeface="Calibri"/>
              </a:rPr>
              <a:t>Raw sources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9"/>
          <p:cNvSpPr/>
          <p:nvPr/>
        </p:nvSpPr>
        <p:spPr>
          <a:xfrm>
            <a:off x="500634" y="1735074"/>
            <a:ext cx="1124712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AA9C7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9AA9C7"/>
                </a:solidFill>
                <a:latin typeface="Calibri"/>
                <a:ea typeface="Calibri"/>
                <a:cs typeface="Calibri"/>
                <a:sym typeface="Calibri"/>
              </a:rPr>
              <a:t>XLCoST + CodeXGLUE / CodeSearchNet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9"/>
          <p:cNvSpPr/>
          <p:nvPr/>
        </p:nvSpPr>
        <p:spPr>
          <a:xfrm>
            <a:off x="1680210" y="1597914"/>
            <a:ext cx="2057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9C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9AA9C7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9"/>
          <p:cNvSpPr/>
          <p:nvPr/>
        </p:nvSpPr>
        <p:spPr>
          <a:xfrm>
            <a:off x="1817370" y="1268730"/>
            <a:ext cx="1303020" cy="960120"/>
          </a:xfrm>
          <a:prstGeom prst="roundRect">
            <a:avLst>
              <a:gd fmla="val 5714" name="adj"/>
            </a:avLst>
          </a:prstGeom>
          <a:solidFill>
            <a:srgbClr val="16223A"/>
          </a:solidFill>
          <a:ln cap="flat" cmpd="sng" w="9525">
            <a:solidFill>
              <a:srgbClr val="2C3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9"/>
          <p:cNvSpPr/>
          <p:nvPr/>
        </p:nvSpPr>
        <p:spPr>
          <a:xfrm>
            <a:off x="1906524" y="1364742"/>
            <a:ext cx="1124712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C8F5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5BC8F5"/>
                </a:solidFill>
                <a:latin typeface="Calibri"/>
                <a:ea typeface="Calibri"/>
                <a:cs typeface="Calibri"/>
                <a:sym typeface="Calibri"/>
              </a:rPr>
              <a:t>Normalize + align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9"/>
          <p:cNvSpPr/>
          <p:nvPr/>
        </p:nvSpPr>
        <p:spPr>
          <a:xfrm>
            <a:off x="1906524" y="1735074"/>
            <a:ext cx="1124712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AA9C7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9AA9C7"/>
                </a:solidFill>
                <a:latin typeface="Calibri"/>
                <a:ea typeface="Calibri"/>
                <a:cs typeface="Calibri"/>
                <a:sym typeface="Calibri"/>
              </a:rPr>
              <a:t>Semantic + structural NL–Py–Java triples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9"/>
          <p:cNvSpPr/>
          <p:nvPr/>
        </p:nvSpPr>
        <p:spPr>
          <a:xfrm>
            <a:off x="3086100" y="1597914"/>
            <a:ext cx="2057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9C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9AA9C7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9"/>
          <p:cNvSpPr/>
          <p:nvPr/>
        </p:nvSpPr>
        <p:spPr>
          <a:xfrm>
            <a:off x="3223260" y="1268730"/>
            <a:ext cx="1303020" cy="960120"/>
          </a:xfrm>
          <a:prstGeom prst="roundRect">
            <a:avLst>
              <a:gd fmla="val 5714" name="adj"/>
            </a:avLst>
          </a:prstGeom>
          <a:solidFill>
            <a:srgbClr val="16223A"/>
          </a:solidFill>
          <a:ln cap="flat" cmpd="sng" w="9525">
            <a:solidFill>
              <a:srgbClr val="2C3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9"/>
          <p:cNvSpPr/>
          <p:nvPr/>
        </p:nvSpPr>
        <p:spPr>
          <a:xfrm>
            <a:off x="3312414" y="1364742"/>
            <a:ext cx="1124712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E0B7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5FE0B7"/>
                </a:solidFill>
                <a:latin typeface="Calibri"/>
                <a:ea typeface="Calibri"/>
                <a:cs typeface="Calibri"/>
                <a:sym typeface="Calibri"/>
              </a:rPr>
              <a:t>Validate + approve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9"/>
          <p:cNvSpPr/>
          <p:nvPr/>
        </p:nvSpPr>
        <p:spPr>
          <a:xfrm>
            <a:off x="3312414" y="1735074"/>
            <a:ext cx="1124712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AA9C7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9AA9C7"/>
                </a:solidFill>
                <a:latin typeface="Calibri"/>
                <a:ea typeface="Calibri"/>
                <a:cs typeface="Calibri"/>
                <a:sym typeface="Calibri"/>
              </a:rPr>
              <a:t>AST • Tree-sitter • dedupe • provenance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9"/>
          <p:cNvSpPr/>
          <p:nvPr/>
        </p:nvSpPr>
        <p:spPr>
          <a:xfrm>
            <a:off x="4491990" y="1597914"/>
            <a:ext cx="2057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9C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9AA9C7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9"/>
          <p:cNvSpPr/>
          <p:nvPr/>
        </p:nvSpPr>
        <p:spPr>
          <a:xfrm>
            <a:off x="4629150" y="1268730"/>
            <a:ext cx="1303020" cy="960120"/>
          </a:xfrm>
          <a:prstGeom prst="roundRect">
            <a:avLst>
              <a:gd fmla="val 5714" name="adj"/>
            </a:avLst>
          </a:prstGeom>
          <a:solidFill>
            <a:srgbClr val="16223A"/>
          </a:solidFill>
          <a:ln cap="flat" cmpd="sng" w="9525">
            <a:solidFill>
              <a:srgbClr val="2C3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9"/>
          <p:cNvSpPr/>
          <p:nvPr/>
        </p:nvSpPr>
        <p:spPr>
          <a:xfrm>
            <a:off x="4718304" y="1364742"/>
            <a:ext cx="1124712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Six task contracts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9"/>
          <p:cNvSpPr/>
          <p:nvPr/>
        </p:nvSpPr>
        <p:spPr>
          <a:xfrm>
            <a:off x="4718304" y="1735074"/>
            <a:ext cx="1124712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AA9C7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9AA9C7"/>
                </a:solidFill>
                <a:latin typeface="Calibri"/>
                <a:ea typeface="Calibri"/>
                <a:cs typeface="Calibri"/>
                <a:sym typeface="Calibri"/>
              </a:rPr>
              <a:t>Task token • output rules • header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9"/>
          <p:cNvSpPr/>
          <p:nvPr/>
        </p:nvSpPr>
        <p:spPr>
          <a:xfrm>
            <a:off x="5897880" y="1597914"/>
            <a:ext cx="2057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9C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9AA9C7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9"/>
          <p:cNvSpPr/>
          <p:nvPr/>
        </p:nvSpPr>
        <p:spPr>
          <a:xfrm>
            <a:off x="6035040" y="1268730"/>
            <a:ext cx="1303020" cy="960120"/>
          </a:xfrm>
          <a:prstGeom prst="roundRect">
            <a:avLst>
              <a:gd fmla="val 5714" name="adj"/>
            </a:avLst>
          </a:prstGeom>
          <a:solidFill>
            <a:srgbClr val="16223A"/>
          </a:solidFill>
          <a:ln cap="flat" cmpd="sng" w="9525">
            <a:solidFill>
              <a:srgbClr val="2C3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9"/>
          <p:cNvSpPr/>
          <p:nvPr/>
        </p:nvSpPr>
        <p:spPr>
          <a:xfrm>
            <a:off x="6124194" y="1364742"/>
            <a:ext cx="1124712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LoRA fine-tune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9"/>
          <p:cNvSpPr/>
          <p:nvPr/>
        </p:nvSpPr>
        <p:spPr>
          <a:xfrm>
            <a:off x="6124194" y="1735074"/>
            <a:ext cx="1124712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AA9C7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9AA9C7"/>
                </a:solidFill>
                <a:latin typeface="Calibri"/>
                <a:ea typeface="Calibri"/>
                <a:cs typeface="Calibri"/>
                <a:sym typeface="Calibri"/>
              </a:rPr>
              <a:t>Completion-only loss + EOS supervision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9"/>
          <p:cNvSpPr/>
          <p:nvPr/>
        </p:nvSpPr>
        <p:spPr>
          <a:xfrm>
            <a:off x="7303770" y="1597914"/>
            <a:ext cx="2057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9C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9AA9C7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9"/>
          <p:cNvSpPr/>
          <p:nvPr/>
        </p:nvSpPr>
        <p:spPr>
          <a:xfrm>
            <a:off x="7440930" y="1268730"/>
            <a:ext cx="1303020" cy="960120"/>
          </a:xfrm>
          <a:prstGeom prst="roundRect">
            <a:avLst>
              <a:gd fmla="val 5714" name="adj"/>
            </a:avLst>
          </a:prstGeom>
          <a:solidFill>
            <a:srgbClr val="16223A"/>
          </a:solidFill>
          <a:ln cap="flat" cmpd="sng" w="9525">
            <a:solidFill>
              <a:srgbClr val="2C3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9"/>
          <p:cNvSpPr/>
          <p:nvPr/>
        </p:nvSpPr>
        <p:spPr>
          <a:xfrm>
            <a:off x="7530084" y="1364742"/>
            <a:ext cx="1124712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9C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B79CFF"/>
                </a:solidFill>
                <a:latin typeface="Calibri"/>
                <a:ea typeface="Calibri"/>
                <a:cs typeface="Calibri"/>
                <a:sym typeface="Calibri"/>
              </a:rPr>
              <a:t>Evaluate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9"/>
          <p:cNvSpPr/>
          <p:nvPr/>
        </p:nvSpPr>
        <p:spPr>
          <a:xfrm>
            <a:off x="7530084" y="1735074"/>
            <a:ext cx="1124712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AA9C7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9AA9C7"/>
                </a:solidFill>
                <a:latin typeface="Calibri"/>
                <a:ea typeface="Calibri"/>
                <a:cs typeface="Calibri"/>
                <a:sym typeface="Calibri"/>
              </a:rPr>
              <a:t>Same held-out rows, both models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9"/>
          <p:cNvSpPr/>
          <p:nvPr/>
        </p:nvSpPr>
        <p:spPr>
          <a:xfrm>
            <a:off x="411480" y="2468880"/>
            <a:ext cx="2674620" cy="1097280"/>
          </a:xfrm>
          <a:prstGeom prst="roundRect">
            <a:avLst>
              <a:gd fmla="val 5000" name="adj"/>
            </a:avLst>
          </a:prstGeom>
          <a:solidFill>
            <a:srgbClr val="16223A"/>
          </a:solidFill>
          <a:ln cap="flat" cmpd="sng" w="9525">
            <a:solidFill>
              <a:srgbClr val="2C3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9"/>
          <p:cNvSpPr/>
          <p:nvPr/>
        </p:nvSpPr>
        <p:spPr>
          <a:xfrm>
            <a:off x="548640" y="2571750"/>
            <a:ext cx="24003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C8F5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5BC8F5"/>
                </a:solidFill>
                <a:latin typeface="Calibri"/>
                <a:ea typeface="Calibri"/>
                <a:cs typeface="Calibri"/>
                <a:sym typeface="Calibri"/>
              </a:rPr>
              <a:t>Stage 4 — Repository Explorer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9"/>
          <p:cNvSpPr/>
          <p:nvPr/>
        </p:nvSpPr>
        <p:spPr>
          <a:xfrm>
            <a:off x="548640" y="2825496"/>
            <a:ext cx="243459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AA9C7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AA9C7"/>
                </a:solidFill>
                <a:latin typeface="Calibri"/>
                <a:ea typeface="Calibri"/>
                <a:cs typeface="Calibri"/>
                <a:sym typeface="Calibri"/>
              </a:rPr>
              <a:t>AST + Tree-sitter parsing → symbols, imports, calls → MiniLM embeddings → FAISS → dependency graph. Isolated indexes per repository.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9"/>
          <p:cNvSpPr/>
          <p:nvPr/>
        </p:nvSpPr>
        <p:spPr>
          <a:xfrm>
            <a:off x="3223260" y="2468880"/>
            <a:ext cx="2674620" cy="1097280"/>
          </a:xfrm>
          <a:prstGeom prst="roundRect">
            <a:avLst>
              <a:gd fmla="val 5000" name="adj"/>
            </a:avLst>
          </a:prstGeom>
          <a:solidFill>
            <a:srgbClr val="16223A"/>
          </a:solidFill>
          <a:ln cap="flat" cmpd="sng" w="9525">
            <a:solidFill>
              <a:srgbClr val="2C3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9"/>
          <p:cNvSpPr/>
          <p:nvPr/>
        </p:nvSpPr>
        <p:spPr>
          <a:xfrm>
            <a:off x="3360420" y="2571750"/>
            <a:ext cx="24003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E0B7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5FE0B7"/>
                </a:solidFill>
                <a:latin typeface="Calibri"/>
                <a:ea typeface="Calibri"/>
                <a:cs typeface="Calibri"/>
                <a:sym typeface="Calibri"/>
              </a:rPr>
              <a:t>Stage 5 — Retrieval + RAG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9"/>
          <p:cNvSpPr/>
          <p:nvPr/>
        </p:nvSpPr>
        <p:spPr>
          <a:xfrm>
            <a:off x="3360420" y="2825496"/>
            <a:ext cx="243459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AA9C7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AA9C7"/>
                </a:solidFill>
                <a:latin typeface="Calibri"/>
                <a:ea typeface="Calibri"/>
                <a:cs typeface="Calibri"/>
                <a:sym typeface="Calibri"/>
              </a:rPr>
              <a:t>Dense + lexical + cross-encoder reranking, dependency expansion, corpus RAG on train-split rows only, evidence-gated abstention.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9"/>
          <p:cNvSpPr/>
          <p:nvPr/>
        </p:nvSpPr>
        <p:spPr>
          <a:xfrm>
            <a:off x="6035040" y="2468880"/>
            <a:ext cx="2674620" cy="1097280"/>
          </a:xfrm>
          <a:prstGeom prst="roundRect">
            <a:avLst>
              <a:gd fmla="val 5000" name="adj"/>
            </a:avLst>
          </a:prstGeom>
          <a:solidFill>
            <a:srgbClr val="16223A"/>
          </a:solidFill>
          <a:ln cap="flat" cmpd="sng" w="9525">
            <a:solidFill>
              <a:srgbClr val="2C3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9"/>
          <p:cNvSpPr/>
          <p:nvPr/>
        </p:nvSpPr>
        <p:spPr>
          <a:xfrm>
            <a:off x="6172200" y="2571750"/>
            <a:ext cx="24003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Verification &amp; serving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9"/>
          <p:cNvSpPr/>
          <p:nvPr/>
        </p:nvSpPr>
        <p:spPr>
          <a:xfrm>
            <a:off x="6172200" y="2825496"/>
            <a:ext cx="243459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AA9C7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AA9C7"/>
                </a:solidFill>
                <a:latin typeface="Calibri"/>
                <a:ea typeface="Calibri"/>
                <a:cs typeface="Calibri"/>
                <a:sym typeface="Calibri"/>
              </a:rPr>
              <a:t>Output validation, isolated Docker functional tests, Gradio demo, FastAPI browser app — one shared generation contract.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9"/>
          <p:cNvSpPr/>
          <p:nvPr/>
        </p:nvSpPr>
        <p:spPr>
          <a:xfrm>
            <a:off x="411480" y="3806190"/>
            <a:ext cx="8298180" cy="788670"/>
          </a:xfrm>
          <a:prstGeom prst="roundRect">
            <a:avLst>
              <a:gd fmla="val 6957" name="adj"/>
            </a:avLst>
          </a:prstGeom>
          <a:solidFill>
            <a:srgbClr val="101A2E"/>
          </a:solidFill>
          <a:ln cap="flat" cmpd="sng" w="9525">
            <a:solidFill>
              <a:srgbClr val="2C3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9"/>
          <p:cNvSpPr/>
          <p:nvPr/>
        </p:nvSpPr>
        <p:spPr>
          <a:xfrm>
            <a:off x="651510" y="3909060"/>
            <a:ext cx="34290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9C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B79CFF"/>
                </a:solidFill>
                <a:latin typeface="Calibri"/>
                <a:ea typeface="Calibri"/>
                <a:cs typeface="Calibri"/>
                <a:sym typeface="Calibri"/>
              </a:rPr>
              <a:t>AUDITABILITY BY DESIGN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9"/>
          <p:cNvSpPr/>
          <p:nvPr/>
        </p:nvSpPr>
        <p:spPr>
          <a:xfrm>
            <a:off x="651510" y="4114800"/>
            <a:ext cx="7818120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9EFFA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E9EFFA"/>
                </a:solidFill>
                <a:latin typeface="Calibri"/>
                <a:ea typeface="Calibri"/>
                <a:cs typeface="Calibri"/>
                <a:sym typeface="Calibri"/>
              </a:rPr>
              <a:t>Every artifact carries manifests and hashes; checkpoints resume only when data, prompts, normalization and settings all match; raw generations are preserved separately from extracted, scored outputs.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524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0"/>
          <p:cNvSpPr/>
          <p:nvPr/>
        </p:nvSpPr>
        <p:spPr>
          <a:xfrm>
            <a:off x="411480" y="219456"/>
            <a:ext cx="72009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C8F5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5BC8F5"/>
                </a:solidFill>
                <a:latin typeface="Calibri"/>
                <a:ea typeface="Calibri"/>
                <a:cs typeface="Calibri"/>
                <a:sym typeface="Calibri"/>
              </a:rPr>
              <a:t>COMBINED STAGE — DATA &amp; TRAINING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30"/>
          <p:cNvSpPr/>
          <p:nvPr/>
        </p:nvSpPr>
        <p:spPr>
          <a:xfrm>
            <a:off x="411480" y="397764"/>
            <a:ext cx="8298180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EFFA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E9EFFA"/>
                </a:solidFill>
                <a:latin typeface="Calibri"/>
                <a:ea typeface="Calibri"/>
                <a:cs typeface="Calibri"/>
                <a:sym typeface="Calibri"/>
              </a:rPr>
              <a:t>Trustworthy supervision, then efficient adaptation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30"/>
          <p:cNvSpPr/>
          <p:nvPr/>
        </p:nvSpPr>
        <p:spPr>
          <a:xfrm>
            <a:off x="411480" y="809244"/>
            <a:ext cx="829818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9C7"/>
              </a:buClr>
              <a:buSzPts val="1000"/>
              <a:buFont typeface="Calibri"/>
              <a:buNone/>
            </a:pPr>
            <a:r>
              <a:rPr b="0" i="1" lang="en" sz="1000" u="none" cap="none" strike="noStrike">
                <a:solidFill>
                  <a:srgbClr val="9AA9C7"/>
                </a:solidFill>
                <a:latin typeface="Calibri"/>
                <a:ea typeface="Calibri"/>
                <a:cs typeface="Calibri"/>
                <a:sym typeface="Calibri"/>
              </a:rPr>
              <a:t>Public datasets are candidates, not truth — 79 of 616 candidate rows were rejected before training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30"/>
          <p:cNvSpPr/>
          <p:nvPr/>
        </p:nvSpPr>
        <p:spPr>
          <a:xfrm>
            <a:off x="8743950" y="4834890"/>
            <a:ext cx="30861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9C7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AA9C7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30"/>
          <p:cNvSpPr/>
          <p:nvPr/>
        </p:nvSpPr>
        <p:spPr>
          <a:xfrm>
            <a:off x="411480" y="4834890"/>
            <a:ext cx="30861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C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5A6A8C"/>
                </a:solidFill>
                <a:latin typeface="Calibri"/>
                <a:ea typeface="Calibri"/>
                <a:cs typeface="Calibri"/>
                <a:sym typeface="Calibri"/>
              </a:rPr>
              <a:t>RepoCoder Studio • Group 46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30"/>
          <p:cNvSpPr/>
          <p:nvPr/>
        </p:nvSpPr>
        <p:spPr>
          <a:xfrm>
            <a:off x="411480" y="1234440"/>
            <a:ext cx="4114800" cy="1783080"/>
          </a:xfrm>
          <a:prstGeom prst="roundRect">
            <a:avLst>
              <a:gd fmla="val 3077" name="adj"/>
            </a:avLst>
          </a:prstGeom>
          <a:solidFill>
            <a:srgbClr val="16223A"/>
          </a:solidFill>
          <a:ln cap="flat" cmpd="sng" w="9525">
            <a:solidFill>
              <a:srgbClr val="2C3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30"/>
          <p:cNvSpPr/>
          <p:nvPr/>
        </p:nvSpPr>
        <p:spPr>
          <a:xfrm>
            <a:off x="617220" y="1337310"/>
            <a:ext cx="37033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E0B7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5FE0B7"/>
                </a:solidFill>
                <a:latin typeface="Calibri"/>
                <a:ea typeface="Calibri"/>
                <a:cs typeface="Calibri"/>
                <a:sym typeface="Calibri"/>
              </a:rPr>
              <a:t>QUALITY FUNNEL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30"/>
          <p:cNvSpPr/>
          <p:nvPr/>
        </p:nvSpPr>
        <p:spPr>
          <a:xfrm>
            <a:off x="617220" y="1611630"/>
            <a:ext cx="92583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E0B7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5FE0B7"/>
                </a:solidFill>
                <a:latin typeface="Calibri"/>
                <a:ea typeface="Calibri"/>
                <a:cs typeface="Calibri"/>
                <a:sym typeface="Calibri"/>
              </a:rPr>
              <a:t>616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30"/>
          <p:cNvSpPr/>
          <p:nvPr/>
        </p:nvSpPr>
        <p:spPr>
          <a:xfrm>
            <a:off x="1577340" y="1611630"/>
            <a:ext cx="2811780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9EFFA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E9EFFA"/>
                </a:solidFill>
                <a:latin typeface="Calibri"/>
                <a:ea typeface="Calibri"/>
                <a:cs typeface="Calibri"/>
                <a:sym typeface="Calibri"/>
              </a:rPr>
              <a:t>candidate rows after seeded sampling + semantic alignment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30"/>
          <p:cNvSpPr/>
          <p:nvPr/>
        </p:nvSpPr>
        <p:spPr>
          <a:xfrm>
            <a:off x="617220" y="2064258"/>
            <a:ext cx="92583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E0B7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5FE0B7"/>
                </a:solidFill>
                <a:latin typeface="Calibri"/>
                <a:ea typeface="Calibri"/>
                <a:cs typeface="Calibri"/>
                <a:sym typeface="Calibri"/>
              </a:rPr>
              <a:t>537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30"/>
          <p:cNvSpPr/>
          <p:nvPr/>
        </p:nvSpPr>
        <p:spPr>
          <a:xfrm>
            <a:off x="1577340" y="2064258"/>
            <a:ext cx="2811780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9EFFA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E9EFFA"/>
                </a:solidFill>
                <a:latin typeface="Calibri"/>
                <a:ea typeface="Calibri"/>
                <a:cs typeface="Calibri"/>
                <a:sym typeface="Calibri"/>
              </a:rPr>
              <a:t>approved rows (79 rejected) — every row yields all six tasks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30"/>
          <p:cNvSpPr/>
          <p:nvPr/>
        </p:nvSpPr>
        <p:spPr>
          <a:xfrm>
            <a:off x="617220" y="2516886"/>
            <a:ext cx="92583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E0B7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5FE0B7"/>
                </a:solidFill>
                <a:latin typeface="Calibri"/>
                <a:ea typeface="Calibri"/>
                <a:cs typeface="Calibri"/>
                <a:sym typeface="Calibri"/>
              </a:rPr>
              <a:t>3,222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30"/>
          <p:cNvSpPr/>
          <p:nvPr/>
        </p:nvSpPr>
        <p:spPr>
          <a:xfrm>
            <a:off x="1577340" y="2516886"/>
            <a:ext cx="2811780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9EFFA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E9EFFA"/>
                </a:solidFill>
                <a:latin typeface="Calibri"/>
                <a:ea typeface="Calibri"/>
                <a:cs typeface="Calibri"/>
                <a:sym typeface="Calibri"/>
              </a:rPr>
              <a:t>task examples • train 2,430→2,424 retained (99.75%) / val 366 / test 426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30"/>
          <p:cNvSpPr/>
          <p:nvPr/>
        </p:nvSpPr>
        <p:spPr>
          <a:xfrm>
            <a:off x="411480" y="3154680"/>
            <a:ext cx="4114800" cy="1405890"/>
          </a:xfrm>
          <a:prstGeom prst="roundRect">
            <a:avLst>
              <a:gd fmla="val 3902" name="adj"/>
            </a:avLst>
          </a:prstGeom>
          <a:solidFill>
            <a:srgbClr val="101A2E"/>
          </a:solidFill>
          <a:ln cap="flat" cmpd="sng" w="9525">
            <a:solidFill>
              <a:srgbClr val="2C3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30"/>
          <p:cNvSpPr/>
          <p:nvPr/>
        </p:nvSpPr>
        <p:spPr>
          <a:xfrm>
            <a:off x="617220" y="3257550"/>
            <a:ext cx="37033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PROMPT CONTRACT v2.6 + EOS CORRECTION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30"/>
          <p:cNvSpPr/>
          <p:nvPr/>
        </p:nvSpPr>
        <p:spPr>
          <a:xfrm>
            <a:off x="651510" y="3566160"/>
            <a:ext cx="68580" cy="68580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30"/>
          <p:cNvSpPr/>
          <p:nvPr/>
        </p:nvSpPr>
        <p:spPr>
          <a:xfrm>
            <a:off x="822960" y="3497580"/>
            <a:ext cx="35661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9EFFA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E9EFFA"/>
                </a:solidFill>
                <a:latin typeface="Calibri"/>
                <a:ea typeface="Calibri"/>
                <a:cs typeface="Calibri"/>
                <a:sym typeface="Calibri"/>
              </a:rPr>
              <a:t>Explicit task token, role, output rules and response header in every prompt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30"/>
          <p:cNvSpPr/>
          <p:nvPr/>
        </p:nvSpPr>
        <p:spPr>
          <a:xfrm>
            <a:off x="651510" y="3895344"/>
            <a:ext cx="68580" cy="68580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30"/>
          <p:cNvSpPr/>
          <p:nvPr/>
        </p:nvSpPr>
        <p:spPr>
          <a:xfrm>
            <a:off x="822960" y="3826764"/>
            <a:ext cx="35661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9EFFA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E9EFFA"/>
                </a:solidFill>
                <a:latin typeface="Calibri"/>
                <a:ea typeface="Calibri"/>
                <a:cs typeface="Calibri"/>
                <a:sym typeface="Calibri"/>
              </a:rPr>
              <a:t>Loss computed on completion tokens only — prompts are never learning targets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30"/>
          <p:cNvSpPr/>
          <p:nvPr/>
        </p:nvSpPr>
        <p:spPr>
          <a:xfrm>
            <a:off x="651510" y="4224528"/>
            <a:ext cx="68580" cy="68580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30"/>
          <p:cNvSpPr/>
          <p:nvPr/>
        </p:nvSpPr>
        <p:spPr>
          <a:xfrm>
            <a:off x="822960" y="4155948"/>
            <a:ext cx="35661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9EFFA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E9EFFA"/>
                </a:solidFill>
                <a:latin typeface="Calibri"/>
                <a:ea typeface="Calibri"/>
                <a:cs typeface="Calibri"/>
                <a:sym typeface="Calibri"/>
              </a:rPr>
              <a:t>Supervised EOS token fixed the earlier run's repeat-until-limit outputs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30"/>
          <p:cNvSpPr/>
          <p:nvPr/>
        </p:nvSpPr>
        <p:spPr>
          <a:xfrm>
            <a:off x="4697730" y="1234440"/>
            <a:ext cx="4011930" cy="3326130"/>
          </a:xfrm>
          <a:prstGeom prst="roundRect">
            <a:avLst>
              <a:gd fmla="val 1649" name="adj"/>
            </a:avLst>
          </a:prstGeom>
          <a:solidFill>
            <a:srgbClr val="16223A"/>
          </a:solidFill>
          <a:ln cap="flat" cmpd="sng" w="9525">
            <a:solidFill>
              <a:srgbClr val="2C3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30"/>
          <p:cNvSpPr/>
          <p:nvPr/>
        </p:nvSpPr>
        <p:spPr>
          <a:xfrm>
            <a:off x="4903470" y="1337310"/>
            <a:ext cx="363474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C8F5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5BC8F5"/>
                </a:solidFill>
                <a:latin typeface="Calibri"/>
                <a:ea typeface="Calibri"/>
                <a:cs typeface="Calibri"/>
                <a:sym typeface="Calibri"/>
              </a:rPr>
              <a:t>LORA TRAINING — CORRECTED FULL RUN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30"/>
          <p:cNvSpPr/>
          <p:nvPr/>
        </p:nvSpPr>
        <p:spPr>
          <a:xfrm>
            <a:off x="4903470" y="1645920"/>
            <a:ext cx="3634740" cy="425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9EFFA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E9EFFA"/>
                </a:solidFill>
                <a:latin typeface="Calibri"/>
                <a:ea typeface="Calibri"/>
                <a:cs typeface="Calibri"/>
                <a:sym typeface="Calibri"/>
              </a:rPr>
              <a:t>Base model</a:t>
            </a:r>
            <a:br>
              <a:rPr b="1" i="0" lang="en" sz="900" u="none" cap="none" strike="noStrike">
                <a:solidFill>
                  <a:srgbClr val="E9EF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800" u="none" cap="none" strike="noStrike">
                <a:solidFill>
                  <a:srgbClr val="9AA9C7"/>
                </a:solidFill>
                <a:latin typeface="Calibri"/>
                <a:ea typeface="Calibri"/>
                <a:cs typeface="Calibri"/>
                <a:sym typeface="Calibri"/>
              </a:rPr>
              <a:t>Qwen2.5-Coder-0.5B-Instruct (frozen)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30"/>
          <p:cNvSpPr/>
          <p:nvPr/>
        </p:nvSpPr>
        <p:spPr>
          <a:xfrm>
            <a:off x="4903470" y="2071116"/>
            <a:ext cx="3634740" cy="425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9EFFA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E9EFFA"/>
                </a:solidFill>
                <a:latin typeface="Calibri"/>
                <a:ea typeface="Calibri"/>
                <a:cs typeface="Calibri"/>
                <a:sym typeface="Calibri"/>
              </a:rPr>
              <a:t>LoRA config</a:t>
            </a:r>
            <a:br>
              <a:rPr b="1" i="0" lang="en" sz="900" u="none" cap="none" strike="noStrike">
                <a:solidFill>
                  <a:srgbClr val="E9EF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800" u="none" cap="none" strike="noStrike">
                <a:solidFill>
                  <a:srgbClr val="9AA9C7"/>
                </a:solidFill>
                <a:latin typeface="Calibri"/>
                <a:ea typeface="Calibri"/>
                <a:cs typeface="Calibri"/>
                <a:sym typeface="Calibri"/>
              </a:rPr>
              <a:t>rank 16 • alpha 32 • dropout 0.05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30"/>
          <p:cNvSpPr/>
          <p:nvPr/>
        </p:nvSpPr>
        <p:spPr>
          <a:xfrm>
            <a:off x="4903470" y="2496312"/>
            <a:ext cx="3634740" cy="425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9EFFA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E9EFFA"/>
                </a:solidFill>
                <a:latin typeface="Calibri"/>
                <a:ea typeface="Calibri"/>
                <a:cs typeface="Calibri"/>
                <a:sym typeface="Calibri"/>
              </a:rPr>
              <a:t>Trainable params</a:t>
            </a:r>
            <a:br>
              <a:rPr b="1" i="0" lang="en" sz="900" u="none" cap="none" strike="noStrike">
                <a:solidFill>
                  <a:srgbClr val="E9EF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800" u="none" cap="none" strike="noStrike">
                <a:solidFill>
                  <a:srgbClr val="9AA9C7"/>
                </a:solidFill>
                <a:latin typeface="Calibri"/>
                <a:ea typeface="Calibri"/>
                <a:cs typeface="Calibri"/>
                <a:sym typeface="Calibri"/>
              </a:rPr>
              <a:t>8.80M of 502.8M — 1.75% of the model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30"/>
          <p:cNvSpPr/>
          <p:nvPr/>
        </p:nvSpPr>
        <p:spPr>
          <a:xfrm>
            <a:off x="4903470" y="2921508"/>
            <a:ext cx="3634740" cy="425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9EFFA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E9EFFA"/>
                </a:solidFill>
                <a:latin typeface="Calibri"/>
                <a:ea typeface="Calibri"/>
                <a:cs typeface="Calibri"/>
                <a:sym typeface="Calibri"/>
              </a:rPr>
              <a:t>Schedule</a:t>
            </a:r>
            <a:br>
              <a:rPr b="1" i="0" lang="en" sz="900" u="none" cap="none" strike="noStrike">
                <a:solidFill>
                  <a:srgbClr val="E9EF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800" u="none" cap="none" strike="noStrike">
                <a:solidFill>
                  <a:srgbClr val="9AA9C7"/>
                </a:solidFill>
                <a:latin typeface="Calibri"/>
                <a:ea typeface="Calibri"/>
                <a:cs typeface="Calibri"/>
                <a:sym typeface="Calibri"/>
              </a:rPr>
              <a:t>1 epoch • lr 5e-5 • batch 1 × grad-accum 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30"/>
          <p:cNvSpPr/>
          <p:nvPr/>
        </p:nvSpPr>
        <p:spPr>
          <a:xfrm>
            <a:off x="4903470" y="3346704"/>
            <a:ext cx="3634740" cy="425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9EFFA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E9EFFA"/>
                </a:solidFill>
                <a:latin typeface="Calibri"/>
                <a:ea typeface="Calibri"/>
                <a:cs typeface="Calibri"/>
                <a:sym typeface="Calibri"/>
              </a:rPr>
              <a:t>Run</a:t>
            </a:r>
            <a:br>
              <a:rPr b="1" i="0" lang="en" sz="900" u="none" cap="none" strike="noStrike">
                <a:solidFill>
                  <a:srgbClr val="E9EF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800" u="none" cap="none" strike="noStrike">
                <a:solidFill>
                  <a:srgbClr val="9AA9C7"/>
                </a:solidFill>
                <a:latin typeface="Calibri"/>
                <a:ea typeface="Calibri"/>
                <a:cs typeface="Calibri"/>
                <a:sym typeface="Calibri"/>
              </a:rPr>
              <a:t>303 steps in ~21 min on a Colab T4 GPU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30"/>
          <p:cNvSpPr/>
          <p:nvPr/>
        </p:nvSpPr>
        <p:spPr>
          <a:xfrm>
            <a:off x="4903470" y="3771900"/>
            <a:ext cx="3634740" cy="425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9EFFA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E9EFFA"/>
                </a:solidFill>
                <a:latin typeface="Calibri"/>
                <a:ea typeface="Calibri"/>
                <a:cs typeface="Calibri"/>
                <a:sym typeface="Calibri"/>
              </a:rPr>
              <a:t>Loss</a:t>
            </a:r>
            <a:br>
              <a:rPr b="1" i="0" lang="en" sz="900" u="none" cap="none" strike="noStrike">
                <a:solidFill>
                  <a:srgbClr val="E9EF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800" u="none" cap="none" strike="noStrike">
                <a:solidFill>
                  <a:srgbClr val="9AA9C7"/>
                </a:solidFill>
                <a:latin typeface="Calibri"/>
                <a:ea typeface="Calibri"/>
                <a:cs typeface="Calibri"/>
                <a:sym typeface="Calibri"/>
              </a:rPr>
              <a:t>1.66 (step 10) → 1.08 (step 300)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30"/>
          <p:cNvSpPr/>
          <p:nvPr/>
        </p:nvSpPr>
        <p:spPr>
          <a:xfrm>
            <a:off x="4903470" y="4183380"/>
            <a:ext cx="363474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B79CFF"/>
              </a:buClr>
              <a:buSzPts val="800"/>
              <a:buFont typeface="Calibri"/>
              <a:buNone/>
            </a:pPr>
            <a:r>
              <a:rPr b="0" i="1" lang="en" sz="800" u="none" cap="none" strike="noStrike">
                <a:solidFill>
                  <a:srgbClr val="B79CFF"/>
                </a:solidFill>
                <a:latin typeface="Calibri"/>
                <a:ea typeface="Calibri"/>
                <a:cs typeface="Calibri"/>
                <a:sym typeface="Calibri"/>
              </a:rPr>
              <a:t>Adapter: RepoCoderStudio_FastCorrected_LoRA_v1_0 — a fresh run from the base model. A second, RAG-aware adapter (v1.2) follows in Stage 5.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524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1"/>
          <p:cNvSpPr/>
          <p:nvPr/>
        </p:nvSpPr>
        <p:spPr>
          <a:xfrm>
            <a:off x="411480" y="219456"/>
            <a:ext cx="72009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C8F5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5BC8F5"/>
                </a:solidFill>
                <a:latin typeface="Calibri"/>
                <a:ea typeface="Calibri"/>
                <a:cs typeface="Calibri"/>
                <a:sym typeface="Calibri"/>
              </a:rPr>
              <a:t>COMBINED STAGE RESULTS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31"/>
          <p:cNvSpPr/>
          <p:nvPr/>
        </p:nvSpPr>
        <p:spPr>
          <a:xfrm>
            <a:off x="411480" y="397764"/>
            <a:ext cx="8298180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EFFA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E9EFFA"/>
                </a:solidFill>
                <a:latin typeface="Calibri"/>
                <a:ea typeface="Calibri"/>
                <a:cs typeface="Calibri"/>
                <a:sym typeface="Calibri"/>
              </a:rPr>
              <a:t>Fine-tuning improved five of six tasks and preserved the sixth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31"/>
          <p:cNvSpPr/>
          <p:nvPr/>
        </p:nvSpPr>
        <p:spPr>
          <a:xfrm>
            <a:off x="411480" y="809244"/>
            <a:ext cx="829818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9C7"/>
              </a:buClr>
              <a:buSzPts val="1000"/>
              <a:buFont typeface="Calibri"/>
              <a:buNone/>
            </a:pPr>
            <a:r>
              <a:rPr b="0" i="1" lang="en" sz="1000" u="none" cap="none" strike="noStrike">
                <a:solidFill>
                  <a:srgbClr val="9AA9C7"/>
                </a:solidFill>
                <a:latin typeface="Calibri"/>
                <a:ea typeface="Calibri"/>
                <a:cs typeface="Calibri"/>
                <a:sym typeface="Calibri"/>
              </a:rPr>
              <a:t>Identical held-out rows, prompts and metrics for both models • official CodeBLEU 0.7.0 validated for Python and Java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31"/>
          <p:cNvSpPr/>
          <p:nvPr/>
        </p:nvSpPr>
        <p:spPr>
          <a:xfrm>
            <a:off x="8743950" y="4834890"/>
            <a:ext cx="30861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9C7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AA9C7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31"/>
          <p:cNvSpPr/>
          <p:nvPr/>
        </p:nvSpPr>
        <p:spPr>
          <a:xfrm>
            <a:off x="411480" y="4834890"/>
            <a:ext cx="30861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C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5A6A8C"/>
                </a:solidFill>
                <a:latin typeface="Calibri"/>
                <a:ea typeface="Calibri"/>
                <a:cs typeface="Calibri"/>
                <a:sym typeface="Calibri"/>
              </a:rPr>
              <a:t>RepoCoder Studio • Group 46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31"/>
          <p:cNvSpPr/>
          <p:nvPr/>
        </p:nvSpPr>
        <p:spPr>
          <a:xfrm>
            <a:off x="411480" y="1234440"/>
            <a:ext cx="2708910" cy="685800"/>
          </a:xfrm>
          <a:prstGeom prst="roundRect">
            <a:avLst>
              <a:gd fmla="val 8000" name="adj"/>
            </a:avLst>
          </a:prstGeom>
          <a:solidFill>
            <a:srgbClr val="16223A"/>
          </a:solidFill>
          <a:ln cap="flat" cmpd="sng" w="9525">
            <a:solidFill>
              <a:srgbClr val="2C3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31"/>
          <p:cNvSpPr/>
          <p:nvPr/>
        </p:nvSpPr>
        <p:spPr>
          <a:xfrm>
            <a:off x="548640" y="1303020"/>
            <a:ext cx="246888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E0B7"/>
              </a:buClr>
              <a:buSzPts val="1500"/>
              <a:buFont typeface="Calibri"/>
              <a:buNone/>
            </a:pPr>
            <a:r>
              <a:rPr b="1" i="0" lang="en" sz="1500" u="none" cap="none" strike="noStrike">
                <a:solidFill>
                  <a:srgbClr val="5FE0B7"/>
                </a:solidFill>
                <a:latin typeface="Calibri"/>
                <a:ea typeface="Calibri"/>
                <a:cs typeface="Calibri"/>
                <a:sym typeface="Calibri"/>
              </a:rPr>
              <a:t>40% → 85%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31"/>
          <p:cNvSpPr/>
          <p:nvPr/>
        </p:nvSpPr>
        <p:spPr>
          <a:xfrm>
            <a:off x="548640" y="1611630"/>
            <a:ext cx="2468880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9C7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AA9C7"/>
                </a:solidFill>
                <a:latin typeface="Calibri"/>
                <a:ea typeface="Calibri"/>
                <a:cs typeface="Calibri"/>
                <a:sym typeface="Calibri"/>
              </a:rPr>
              <a:t>Python → Java compile success — the largest gain (+45 pp)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31"/>
          <p:cNvSpPr/>
          <p:nvPr/>
        </p:nvSpPr>
        <p:spPr>
          <a:xfrm>
            <a:off x="3257550" y="1234440"/>
            <a:ext cx="2708910" cy="685800"/>
          </a:xfrm>
          <a:prstGeom prst="roundRect">
            <a:avLst>
              <a:gd fmla="val 8000" name="adj"/>
            </a:avLst>
          </a:prstGeom>
          <a:solidFill>
            <a:srgbClr val="16223A"/>
          </a:solidFill>
          <a:ln cap="flat" cmpd="sng" w="9525">
            <a:solidFill>
              <a:srgbClr val="2C3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31"/>
          <p:cNvSpPr/>
          <p:nvPr/>
        </p:nvSpPr>
        <p:spPr>
          <a:xfrm>
            <a:off x="3394710" y="1303020"/>
            <a:ext cx="246888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C8F5"/>
              </a:buClr>
              <a:buSzPts val="1500"/>
              <a:buFont typeface="Calibri"/>
              <a:buNone/>
            </a:pPr>
            <a:r>
              <a:rPr b="1" i="0" lang="en" sz="1500" u="none" cap="none" strike="noStrike">
                <a:solidFill>
                  <a:srgbClr val="5BC8F5"/>
                </a:solidFill>
                <a:latin typeface="Calibri"/>
                <a:ea typeface="Calibri"/>
                <a:cs typeface="Calibri"/>
                <a:sym typeface="Calibri"/>
              </a:rPr>
              <a:t>75% → 92.5%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31"/>
          <p:cNvSpPr/>
          <p:nvPr/>
        </p:nvSpPr>
        <p:spPr>
          <a:xfrm>
            <a:off x="3394710" y="1611630"/>
            <a:ext cx="2468880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9C7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AA9C7"/>
                </a:solidFill>
                <a:latin typeface="Calibri"/>
                <a:ea typeface="Calibri"/>
                <a:cs typeface="Calibri"/>
                <a:sym typeface="Calibri"/>
              </a:rPr>
              <a:t>average structural success across the four code tasks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31"/>
          <p:cNvSpPr/>
          <p:nvPr/>
        </p:nvSpPr>
        <p:spPr>
          <a:xfrm>
            <a:off x="6103620" y="1234440"/>
            <a:ext cx="2708910" cy="685800"/>
          </a:xfrm>
          <a:prstGeom prst="roundRect">
            <a:avLst>
              <a:gd fmla="val 8000" name="adj"/>
            </a:avLst>
          </a:prstGeom>
          <a:solidFill>
            <a:srgbClr val="16223A"/>
          </a:solidFill>
          <a:ln cap="flat" cmpd="sng" w="9525">
            <a:solidFill>
              <a:srgbClr val="2C3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31"/>
          <p:cNvSpPr/>
          <p:nvPr/>
        </p:nvSpPr>
        <p:spPr>
          <a:xfrm>
            <a:off x="6240780" y="1303020"/>
            <a:ext cx="246888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500"/>
              <a:buFont typeface="Calibri"/>
              <a:buNone/>
            </a:pPr>
            <a:r>
              <a:rPr b="1" i="0" lang="en" sz="15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31"/>
          <p:cNvSpPr/>
          <p:nvPr/>
        </p:nvSpPr>
        <p:spPr>
          <a:xfrm>
            <a:off x="6240780" y="1611630"/>
            <a:ext cx="2468880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9C7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AA9C7"/>
                </a:solidFill>
                <a:latin typeface="Calibri"/>
                <a:ea typeface="Calibri"/>
                <a:cs typeface="Calibri"/>
                <a:sym typeface="Calibri"/>
              </a:rPr>
              <a:t>empty predictions from either model in 240 generations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82" name="Google Shape;282;p31"/>
          <p:cNvGraphicFramePr/>
          <p:nvPr/>
        </p:nvGraphicFramePr>
        <p:xfrm>
          <a:off x="411480" y="2057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{A7344FEA-F7BD-47A4-B9F7-6CC6FA7C7415}</a:tableStyleId>
              </a:tblPr>
              <a:tblGrid>
                <a:gridCol w="1714500"/>
                <a:gridCol w="1371600"/>
                <a:gridCol w="960100"/>
                <a:gridCol w="1028700"/>
                <a:gridCol w="822950"/>
                <a:gridCol w="2400300"/>
              </a:tblGrid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C8F5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rgbClr val="5BC8F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Task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150" marB="41150" marR="41150" marL="41150" anchor="ctr">
                    <a:lnL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C8F5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rgbClr val="5BC8F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Primary metric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150" marB="41150" marR="41150" marL="41150" anchor="ctr">
                    <a:lnL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C8F5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rgbClr val="5BC8F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Baseline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150" marB="41150" marR="41150" marL="41150" anchor="ctr">
                    <a:lnL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C8F5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rgbClr val="5BC8F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Fine-tuned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150" marB="41150" marR="41150" marL="41150" anchor="ctr">
                    <a:lnL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C8F5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rgbClr val="5BC8F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Delta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150" marB="41150" marR="41150" marL="41150" anchor="ctr">
                    <a:lnL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C8F5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rgbClr val="5BC8F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Interpretation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150" marB="41150" marR="41150" marL="41150" anchor="ctr">
                    <a:lnL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1A2E"/>
                    </a:solidFill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9EFFA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E9EFF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T1  NL → Python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150" marB="41150" marR="41150" marL="41150" anchor="ctr">
                    <a:lnL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9EFFA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E9EFF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Parse success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150" marB="41150" marR="41150" marL="41150" anchor="ctr">
                    <a:lnL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9EFFA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E9EFF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150" marB="41150" marR="41150" marL="41150" anchor="ctr">
                    <a:lnL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E0B7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5FE0B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150" marB="41150" marR="41150" marL="41150" anchor="ctr">
                    <a:lnL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D166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FFD1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+10 pp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150" marB="41150" marR="41150" marL="41150" anchor="ctr">
                    <a:lnL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9EFFA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E9EFF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Full structural success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150" marB="41150" marR="41150" marL="41150" anchor="ctr">
                    <a:lnL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7"/>
                    </a:solidFill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9EFFA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E9EFF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T2  NL → Java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150" marB="41150" marR="41150" marL="41150" anchor="ctr">
                    <a:lnL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9EFFA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E9EFF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Compile success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150" marB="41150" marR="41150" marL="41150" anchor="ctr">
                    <a:lnL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9EFFA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E9EFF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70%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150" marB="41150" marR="41150" marL="41150" anchor="ctr">
                    <a:lnL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E0B7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5FE0B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150" marB="41150" marR="41150" marL="41150" anchor="ctr">
                    <a:lnL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D166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FFD1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+15 pp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150" marB="41150" marR="41150" marL="41150" anchor="ctr">
                    <a:lnL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9EFFA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E9EFF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Clear improvement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150" marB="41150" marR="41150" marL="41150" anchor="ctr">
                    <a:lnL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23A"/>
                    </a:solidFill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9EFFA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E9EFF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T3  Python → Java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150" marB="41150" marR="41150" marL="41150" anchor="ctr">
                    <a:lnL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9EFFA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E9EFF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Compile success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150" marB="41150" marR="41150" marL="41150" anchor="ctr">
                    <a:lnL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9EFFA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E9EFF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150" marB="41150" marR="41150" marL="41150" anchor="ctr">
                    <a:lnL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E0B7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5FE0B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150" marB="41150" marR="41150" marL="41150" anchor="ctr">
                    <a:lnL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D166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FFD1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+45 pp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150" marB="41150" marR="41150" marL="41150" anchor="ctr">
                    <a:lnL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9EFFA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E9EFF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Largest improvement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150" marB="41150" marR="41150" marL="41150" anchor="ctr">
                    <a:lnL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7"/>
                    </a:solidFill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9EFFA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E9EFF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T4  Java → Python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150" marB="41150" marR="41150" marL="41150" anchor="ctr">
                    <a:lnL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9EFFA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E9EFF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Parse success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150" marB="41150" marR="41150" marL="41150" anchor="ctr">
                    <a:lnL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9EFFA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E9EFF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150" marB="41150" marR="41150" marL="41150" anchor="ctr">
                    <a:lnL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E0B7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5FE0B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150" marB="41150" marR="41150" marL="41150" anchor="ctr">
                    <a:lnL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D166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FFD1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 pp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150" marB="41150" marR="41150" marL="41150" anchor="ctr">
                    <a:lnL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9EFFA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E9EFF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Preserved — no forgetting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150" marB="41150" marR="41150" marL="41150" anchor="ctr">
                    <a:lnL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23A"/>
                    </a:solidFill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9EFFA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E9EFF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T5  Python → NL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150" marB="41150" marR="41150" marL="41150" anchor="ctr">
                    <a:lnL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9EFFA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E9EFF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ROUGE-L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150" marB="41150" marR="41150" marL="41150" anchor="ctr">
                    <a:lnL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9EFFA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E9EFF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0.217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150" marB="41150" marR="41150" marL="41150" anchor="ctr">
                    <a:lnL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E0B7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5FE0B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0.320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150" marB="41150" marR="41150" marL="41150" anchor="ctr">
                    <a:lnL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D166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FFD1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+0.103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150" marB="41150" marR="41150" marL="41150" anchor="ctr">
                    <a:lnL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9EFFA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E9EFF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Better explanations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150" marB="41150" marR="41150" marL="41150" anchor="ctr">
                    <a:lnL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7"/>
                    </a:solidFill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9EFFA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E9EFF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T6  Java → NL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150" marB="41150" marR="41150" marL="41150" anchor="ctr">
                    <a:lnL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9EFFA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E9EFF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ROUGE-L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150" marB="41150" marR="41150" marL="41150" anchor="ctr">
                    <a:lnL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9EFFA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E9EFF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0.209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150" marB="41150" marR="41150" marL="41150" anchor="ctr">
                    <a:lnL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E0B7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5FE0B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0.282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150" marB="41150" marR="41150" marL="41150" anchor="ctr">
                    <a:lnL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D166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FFD1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+0.073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150" marB="41150" marR="41150" marL="41150" anchor="ctr">
                    <a:lnL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9EFFA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E9EFF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Better explanations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150" marB="41150" marR="41150" marL="41150" anchor="ctr">
                    <a:lnL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23A"/>
                    </a:solidFill>
                  </a:tcPr>
                </a:tc>
              </a:tr>
            </a:tbl>
          </a:graphicData>
        </a:graphic>
      </p:graphicFrame>
      <p:sp>
        <p:nvSpPr>
          <p:cNvPr id="283" name="Google Shape;283;p31"/>
          <p:cNvSpPr/>
          <p:nvPr/>
        </p:nvSpPr>
        <p:spPr>
          <a:xfrm>
            <a:off x="411480" y="4320540"/>
            <a:ext cx="82981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9C7"/>
              </a:buClr>
              <a:buSzPts val="800"/>
              <a:buFont typeface="Calibri"/>
              <a:buNone/>
            </a:pPr>
            <a:r>
              <a:rPr b="0" i="1" lang="en" sz="800" u="none" cap="none" strike="noStrike">
                <a:solidFill>
                  <a:srgbClr val="9AA9C7"/>
                </a:solidFill>
                <a:latin typeface="Calibri"/>
                <a:ea typeface="Calibri"/>
                <a:cs typeface="Calibri"/>
                <a:sym typeface="Calibri"/>
              </a:rPr>
              <a:t>20 held-out examples per task, seeded task-wise selection. Parse and compile are structural claims — functional correctness is reserved for trusted Docker tests, reported separately.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524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2"/>
          <p:cNvSpPr/>
          <p:nvPr/>
        </p:nvSpPr>
        <p:spPr>
          <a:xfrm>
            <a:off x="411480" y="219456"/>
            <a:ext cx="72009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C8F5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5BC8F5"/>
                </a:solidFill>
                <a:latin typeface="Calibri"/>
                <a:ea typeface="Calibri"/>
                <a:cs typeface="Calibri"/>
                <a:sym typeface="Calibri"/>
              </a:rPr>
              <a:t>STAGE 4 — REPOSITORY INTELLIGENCE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32"/>
          <p:cNvSpPr/>
          <p:nvPr/>
        </p:nvSpPr>
        <p:spPr>
          <a:xfrm>
            <a:off x="411480" y="397764"/>
            <a:ext cx="8298180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EFFA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E9EFFA"/>
                </a:solidFill>
                <a:latin typeface="Calibri"/>
                <a:ea typeface="Calibri"/>
                <a:cs typeface="Calibri"/>
                <a:sym typeface="Calibri"/>
              </a:rPr>
              <a:t>Codebases become searchable, dependency-aware evidence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32"/>
          <p:cNvSpPr/>
          <p:nvPr/>
        </p:nvSpPr>
        <p:spPr>
          <a:xfrm>
            <a:off x="411480" y="809244"/>
            <a:ext cx="829818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9C7"/>
              </a:buClr>
              <a:buSzPts val="1000"/>
              <a:buFont typeface="Calibri"/>
              <a:buNone/>
            </a:pPr>
            <a:r>
              <a:rPr b="0" i="1" lang="en" sz="1000" u="none" cap="none" strike="noStrike">
                <a:solidFill>
                  <a:srgbClr val="9AA9C7"/>
                </a:solidFill>
                <a:latin typeface="Calibri"/>
                <a:ea typeface="Calibri"/>
                <a:cs typeface="Calibri"/>
                <a:sym typeface="Calibri"/>
              </a:rPr>
              <a:t>Parse → symbols → embeddings → FAISS → dependency graph — with isolated indexes per repository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32"/>
          <p:cNvSpPr/>
          <p:nvPr/>
        </p:nvSpPr>
        <p:spPr>
          <a:xfrm>
            <a:off x="8743950" y="4834890"/>
            <a:ext cx="30861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9C7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AA9C7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32"/>
          <p:cNvSpPr/>
          <p:nvPr/>
        </p:nvSpPr>
        <p:spPr>
          <a:xfrm>
            <a:off x="411480" y="4834890"/>
            <a:ext cx="30861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C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5A6A8C"/>
                </a:solidFill>
                <a:latin typeface="Calibri"/>
                <a:ea typeface="Calibri"/>
                <a:cs typeface="Calibri"/>
                <a:sym typeface="Calibri"/>
              </a:rPr>
              <a:t>RepoCoder Studio • Group 46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32"/>
          <p:cNvSpPr/>
          <p:nvPr/>
        </p:nvSpPr>
        <p:spPr>
          <a:xfrm>
            <a:off x="411480" y="1234440"/>
            <a:ext cx="4080510" cy="1097280"/>
          </a:xfrm>
          <a:prstGeom prst="roundRect">
            <a:avLst>
              <a:gd fmla="val 5000" name="adj"/>
            </a:avLst>
          </a:prstGeom>
          <a:solidFill>
            <a:srgbClr val="16223A"/>
          </a:solidFill>
          <a:ln cap="flat" cmpd="sng" w="9525">
            <a:solidFill>
              <a:srgbClr val="2C3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32"/>
          <p:cNvSpPr/>
          <p:nvPr/>
        </p:nvSpPr>
        <p:spPr>
          <a:xfrm>
            <a:off x="562356" y="1392174"/>
            <a:ext cx="102870" cy="102870"/>
          </a:xfrm>
          <a:prstGeom prst="ellipse">
            <a:avLst/>
          </a:prstGeom>
          <a:solidFill>
            <a:srgbClr val="5BC8F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32"/>
          <p:cNvSpPr/>
          <p:nvPr/>
        </p:nvSpPr>
        <p:spPr>
          <a:xfrm>
            <a:off x="754380" y="1323594"/>
            <a:ext cx="363474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EFFA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E9EFFA"/>
                </a:solidFill>
                <a:latin typeface="Calibri"/>
                <a:ea typeface="Calibri"/>
                <a:cs typeface="Calibri"/>
                <a:sym typeface="Calibri"/>
              </a:rPr>
              <a:t>LedgerFlow — controlled BFSI fixture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32"/>
          <p:cNvSpPr/>
          <p:nvPr/>
        </p:nvSpPr>
        <p:spPr>
          <a:xfrm>
            <a:off x="754380" y="1577340"/>
            <a:ext cx="3600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AA9C7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AA9C7"/>
                </a:solidFill>
                <a:latin typeface="Calibri"/>
                <a:ea typeface="Calibri"/>
                <a:cs typeface="Calibri"/>
                <a:sym typeface="Calibri"/>
              </a:rPr>
              <a:t>21 files • 74 functions • 9 classes • 912 lines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AA9C7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AA9C7"/>
                </a:solidFill>
                <a:latin typeface="Calibri"/>
                <a:ea typeface="Calibri"/>
                <a:cs typeface="Calibri"/>
                <a:sym typeface="Calibri"/>
              </a:rPr>
              <a:t>Bilingual banking repo with hidden policy rules and Python↔Java migration pairs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32"/>
          <p:cNvSpPr/>
          <p:nvPr/>
        </p:nvSpPr>
        <p:spPr>
          <a:xfrm>
            <a:off x="4663440" y="1234440"/>
            <a:ext cx="4080510" cy="1097280"/>
          </a:xfrm>
          <a:prstGeom prst="roundRect">
            <a:avLst>
              <a:gd fmla="val 5000" name="adj"/>
            </a:avLst>
          </a:prstGeom>
          <a:solidFill>
            <a:srgbClr val="16223A"/>
          </a:solidFill>
          <a:ln cap="flat" cmpd="sng" w="9525">
            <a:solidFill>
              <a:srgbClr val="2C3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32"/>
          <p:cNvSpPr/>
          <p:nvPr/>
        </p:nvSpPr>
        <p:spPr>
          <a:xfrm>
            <a:off x="4814316" y="1392174"/>
            <a:ext cx="102870" cy="102870"/>
          </a:xfrm>
          <a:prstGeom prst="ellipse">
            <a:avLst/>
          </a:prstGeom>
          <a:solidFill>
            <a:srgbClr val="5FE0B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32"/>
          <p:cNvSpPr/>
          <p:nvPr/>
        </p:nvSpPr>
        <p:spPr>
          <a:xfrm>
            <a:off x="5006340" y="1323594"/>
            <a:ext cx="363474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EFFA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E9EFFA"/>
                </a:solidFill>
                <a:latin typeface="Calibri"/>
                <a:ea typeface="Calibri"/>
                <a:cs typeface="Calibri"/>
                <a:sym typeface="Calibri"/>
              </a:rPr>
              <a:t>AWS S3 examples — public repository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32"/>
          <p:cNvSpPr/>
          <p:nvPr/>
        </p:nvSpPr>
        <p:spPr>
          <a:xfrm>
            <a:off x="5006340" y="1577340"/>
            <a:ext cx="3600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AA9C7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AA9C7"/>
                </a:solidFill>
                <a:latin typeface="Calibri"/>
                <a:ea typeface="Calibri"/>
                <a:cs typeface="Calibri"/>
                <a:sym typeface="Calibri"/>
              </a:rPr>
              <a:t>170 files • 794 functions • 144 classes • 27,726 lines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AA9C7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AA9C7"/>
                </a:solidFill>
                <a:latin typeface="Calibri"/>
                <a:ea typeface="Calibri"/>
                <a:cs typeface="Calibri"/>
                <a:sym typeface="Calibri"/>
              </a:rPr>
              <a:t>Sparse checkout with recorded commit provenance — real-world authenticity at scale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32"/>
          <p:cNvSpPr/>
          <p:nvPr/>
        </p:nvSpPr>
        <p:spPr>
          <a:xfrm>
            <a:off x="411480" y="2503170"/>
            <a:ext cx="2708910" cy="857250"/>
          </a:xfrm>
          <a:prstGeom prst="roundRect">
            <a:avLst>
              <a:gd fmla="val 6400" name="adj"/>
            </a:avLst>
          </a:prstGeom>
          <a:solidFill>
            <a:srgbClr val="101A2E"/>
          </a:solidFill>
          <a:ln cap="flat" cmpd="sng" w="9525">
            <a:solidFill>
              <a:srgbClr val="2C3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32"/>
          <p:cNvSpPr/>
          <p:nvPr/>
        </p:nvSpPr>
        <p:spPr>
          <a:xfrm>
            <a:off x="548640" y="2585466"/>
            <a:ext cx="243459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E0B7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5FE0B7"/>
                </a:solidFill>
                <a:latin typeface="Calibri"/>
                <a:ea typeface="Calibri"/>
                <a:cs typeface="Calibri"/>
                <a:sym typeface="Calibri"/>
              </a:rPr>
              <a:t>0.970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32"/>
          <p:cNvSpPr/>
          <p:nvPr/>
        </p:nvSpPr>
        <p:spPr>
          <a:xfrm>
            <a:off x="548640" y="2928366"/>
            <a:ext cx="2468880" cy="397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AA9C7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AA9C7"/>
                </a:solidFill>
                <a:latin typeface="Calibri"/>
                <a:ea typeface="Calibri"/>
                <a:cs typeface="Calibri"/>
                <a:sym typeface="Calibri"/>
              </a:rPr>
              <a:t>Recall@5 — 50 hand-labelled LedgerFlow queries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32"/>
          <p:cNvSpPr/>
          <p:nvPr/>
        </p:nvSpPr>
        <p:spPr>
          <a:xfrm>
            <a:off x="3257550" y="2503170"/>
            <a:ext cx="2708910" cy="857250"/>
          </a:xfrm>
          <a:prstGeom prst="roundRect">
            <a:avLst>
              <a:gd fmla="val 6400" name="adj"/>
            </a:avLst>
          </a:prstGeom>
          <a:solidFill>
            <a:srgbClr val="101A2E"/>
          </a:solidFill>
          <a:ln cap="flat" cmpd="sng" w="9525">
            <a:solidFill>
              <a:srgbClr val="2C3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32"/>
          <p:cNvSpPr/>
          <p:nvPr/>
        </p:nvSpPr>
        <p:spPr>
          <a:xfrm>
            <a:off x="3394710" y="2585466"/>
            <a:ext cx="243459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C8F5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5BC8F5"/>
                </a:solidFill>
                <a:latin typeface="Calibri"/>
                <a:ea typeface="Calibri"/>
                <a:cs typeface="Calibri"/>
                <a:sym typeface="Calibri"/>
              </a:rPr>
              <a:t>0.921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32"/>
          <p:cNvSpPr/>
          <p:nvPr/>
        </p:nvSpPr>
        <p:spPr>
          <a:xfrm>
            <a:off x="3394710" y="2928366"/>
            <a:ext cx="2468880" cy="397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AA9C7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AA9C7"/>
                </a:solidFill>
                <a:latin typeface="Calibri"/>
                <a:ea typeface="Calibri"/>
                <a:cs typeface="Calibri"/>
                <a:sym typeface="Calibri"/>
              </a:rPr>
              <a:t>MRR@5 — the right symbol is usually ranked first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32"/>
          <p:cNvSpPr/>
          <p:nvPr/>
        </p:nvSpPr>
        <p:spPr>
          <a:xfrm>
            <a:off x="6103620" y="2503170"/>
            <a:ext cx="2708910" cy="857250"/>
          </a:xfrm>
          <a:prstGeom prst="roundRect">
            <a:avLst>
              <a:gd fmla="val 6400" name="adj"/>
            </a:avLst>
          </a:prstGeom>
          <a:solidFill>
            <a:srgbClr val="101A2E"/>
          </a:solidFill>
          <a:ln cap="flat" cmpd="sng" w="9525">
            <a:solidFill>
              <a:srgbClr val="2C3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32"/>
          <p:cNvSpPr/>
          <p:nvPr/>
        </p:nvSpPr>
        <p:spPr>
          <a:xfrm>
            <a:off x="6240780" y="2585466"/>
            <a:ext cx="243459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0.83 / 0.90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32"/>
          <p:cNvSpPr/>
          <p:nvPr/>
        </p:nvSpPr>
        <p:spPr>
          <a:xfrm>
            <a:off x="6240780" y="2928366"/>
            <a:ext cx="2468880" cy="397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AA9C7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AA9C7"/>
                </a:solidFill>
                <a:latin typeface="Calibri"/>
                <a:ea typeface="Calibri"/>
                <a:cs typeface="Calibri"/>
                <a:sym typeface="Calibri"/>
              </a:rPr>
              <a:t>Top-3 accuracy on external RepoBench-R (Python / Java, 100 rows each)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32"/>
          <p:cNvSpPr/>
          <p:nvPr/>
        </p:nvSpPr>
        <p:spPr>
          <a:xfrm>
            <a:off x="411480" y="3531870"/>
            <a:ext cx="8298180" cy="1028700"/>
          </a:xfrm>
          <a:prstGeom prst="roundRect">
            <a:avLst>
              <a:gd fmla="val 5333" name="adj"/>
            </a:avLst>
          </a:prstGeom>
          <a:solidFill>
            <a:srgbClr val="16223A"/>
          </a:solidFill>
          <a:ln cap="flat" cmpd="sng" w="9525">
            <a:solidFill>
              <a:srgbClr val="2C3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32"/>
          <p:cNvSpPr/>
          <p:nvPr/>
        </p:nvSpPr>
        <p:spPr>
          <a:xfrm>
            <a:off x="651510" y="3634740"/>
            <a:ext cx="54864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HONEST EXTERNAL READING + FULL PROVENANCE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32"/>
          <p:cNvSpPr/>
          <p:nvPr/>
        </p:nvSpPr>
        <p:spPr>
          <a:xfrm>
            <a:off x="651510" y="3854196"/>
            <a:ext cx="7818120" cy="651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9EFFA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E9EFFA"/>
                </a:solidFill>
                <a:latin typeface="Calibri"/>
                <a:ea typeface="Calibri"/>
                <a:cs typeface="Calibri"/>
                <a:sym typeface="Calibri"/>
              </a:rPr>
              <a:t>RepoBench top-1 sits near candidate chance (0.35 vs 0.32 random for Python; 0.30 vs 0.36 for Java) — the honest claim is strong top-3 candidate retrieval, not solved top-1 ranking. Every result records dense score, lexical score, final score, retrieval method, file path and provenance, so an accepted or rejected retrieval can always be explained.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524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3"/>
          <p:cNvSpPr/>
          <p:nvPr/>
        </p:nvSpPr>
        <p:spPr>
          <a:xfrm>
            <a:off x="411480" y="219456"/>
            <a:ext cx="72009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C8F5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5BC8F5"/>
                </a:solidFill>
                <a:latin typeface="Calibri"/>
                <a:ea typeface="Calibri"/>
                <a:cs typeface="Calibri"/>
                <a:sym typeface="Calibri"/>
              </a:rPr>
              <a:t>STAGE 5 — RETRIEVAL &amp; RAG DESIGN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33"/>
          <p:cNvSpPr/>
          <p:nvPr/>
        </p:nvSpPr>
        <p:spPr>
          <a:xfrm>
            <a:off x="411480" y="397764"/>
            <a:ext cx="8298180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EFFA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E9EFFA"/>
                </a:solidFill>
                <a:latin typeface="Calibri"/>
                <a:ea typeface="Calibri"/>
                <a:cs typeface="Calibri"/>
                <a:sym typeface="Calibri"/>
              </a:rPr>
              <a:t>Retrieval must earn its place in the prompt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33"/>
          <p:cNvSpPr/>
          <p:nvPr/>
        </p:nvSpPr>
        <p:spPr>
          <a:xfrm>
            <a:off x="411480" y="809244"/>
            <a:ext cx="829818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9C7"/>
              </a:buClr>
              <a:buSzPts val="1000"/>
              <a:buFont typeface="Calibri"/>
              <a:buNone/>
            </a:pPr>
            <a:r>
              <a:rPr b="0" i="1" lang="en" sz="1000" u="none" cap="none" strike="noStrike">
                <a:solidFill>
                  <a:srgbClr val="9AA9C7"/>
                </a:solidFill>
                <a:latin typeface="Calibri"/>
                <a:ea typeface="Calibri"/>
                <a:cs typeface="Calibri"/>
                <a:sym typeface="Calibri"/>
              </a:rPr>
              <a:t>A real three-arm ablation on NL, Python and Java queries — plus safeguards that keep the comparison honest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33"/>
          <p:cNvSpPr/>
          <p:nvPr/>
        </p:nvSpPr>
        <p:spPr>
          <a:xfrm>
            <a:off x="8743950" y="4834890"/>
            <a:ext cx="30861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9C7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AA9C7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33"/>
          <p:cNvSpPr/>
          <p:nvPr/>
        </p:nvSpPr>
        <p:spPr>
          <a:xfrm>
            <a:off x="411480" y="4834890"/>
            <a:ext cx="30861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C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5A6A8C"/>
                </a:solidFill>
                <a:latin typeface="Calibri"/>
                <a:ea typeface="Calibri"/>
                <a:cs typeface="Calibri"/>
                <a:sym typeface="Calibri"/>
              </a:rPr>
              <a:t>RepoCoder Studio • Group 46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33"/>
          <p:cNvSpPr/>
          <p:nvPr/>
        </p:nvSpPr>
        <p:spPr>
          <a:xfrm>
            <a:off x="411480" y="1234440"/>
            <a:ext cx="4354830" cy="1885950"/>
          </a:xfrm>
          <a:prstGeom prst="roundRect">
            <a:avLst>
              <a:gd fmla="val 2909" name="adj"/>
            </a:avLst>
          </a:prstGeom>
          <a:solidFill>
            <a:srgbClr val="16223A"/>
          </a:solidFill>
          <a:ln cap="flat" cmpd="sng" w="9525">
            <a:solidFill>
              <a:srgbClr val="2C3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33"/>
          <p:cNvSpPr/>
          <p:nvPr/>
        </p:nvSpPr>
        <p:spPr>
          <a:xfrm>
            <a:off x="617220" y="1337310"/>
            <a:ext cx="390906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C8F5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5BC8F5"/>
                </a:solidFill>
                <a:latin typeface="Calibri"/>
                <a:ea typeface="Calibri"/>
                <a:cs typeface="Calibri"/>
                <a:sym typeface="Calibri"/>
              </a:rPr>
              <a:t>RETRIEVAL ABLATION — LEDGERFLOW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26" name="Google Shape;326;p33"/>
          <p:cNvGraphicFramePr/>
          <p:nvPr/>
        </p:nvGraphicFramePr>
        <p:xfrm>
          <a:off x="617220" y="16116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{A7344FEA-F7BD-47A4-B9F7-6CC6FA7C7415}</a:tableStyleId>
              </a:tblPr>
              <a:tblGrid>
                <a:gridCol w="1885950"/>
                <a:gridCol w="685800"/>
                <a:gridCol w="685800"/>
                <a:gridCol w="685800"/>
              </a:tblGrid>
              <a:tr h="27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C8F5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5BC8F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Configuration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150" marB="41150" marR="41150" marL="41150" anchor="ctr">
                    <a:lnL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C8F5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5BC8F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P@5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150" marB="41150" marR="41150" marL="41150" anchor="ctr">
                    <a:lnL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C8F5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5BC8F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R@5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150" marB="41150" marR="41150" marL="41150" anchor="ctr">
                    <a:lnL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C8F5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5BC8F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MRR@5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150" marB="41150" marR="41150" marL="41150" anchor="ctr">
                    <a:lnL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1A2E"/>
                    </a:solidFill>
                  </a:tcPr>
                </a:tc>
              </a:tr>
              <a:tr h="27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9EFFA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E9EFF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Dense only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150" marB="41150" marR="41150" marL="41150" anchor="ctr">
                    <a:lnL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9EFFA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E9EFF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0.238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150" marB="41150" marR="41150" marL="41150" anchor="ctr">
                    <a:lnL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9EFFA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E9EFF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0.940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150" marB="41150" marR="41150" marL="41150" anchor="ctr">
                    <a:lnL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9EFFA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E9EFF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0.906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150" marB="41150" marR="41150" marL="41150" anchor="ctr">
                    <a:lnL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23A"/>
                    </a:solidFill>
                  </a:tcPr>
                </a:tc>
              </a:tr>
              <a:tr h="27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9EFFA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E9EFF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 Lexical hybrid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150" marB="41150" marR="41150" marL="41150" anchor="ctr">
                    <a:lnL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9EFFA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E9EFF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0.245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150" marB="41150" marR="41150" marL="41150" anchor="ctr">
                    <a:lnL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9EFFA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E9EFF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0.950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150" marB="41150" marR="41150" marL="41150" anchor="ctr">
                    <a:lnL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9EFFA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E9EFF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0.927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150" marB="41150" marR="41150" marL="41150" anchor="ctr">
                    <a:lnL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7"/>
                    </a:solidFill>
                  </a:tcPr>
                </a:tc>
              </a:tr>
              <a:tr h="27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9EFFA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E9EFF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 Cross-encoder rerank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150" marB="41150" marR="41150" marL="41150" anchor="ctr">
                    <a:lnL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E0B7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5FE0B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0.279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150" marB="41150" marR="41150" marL="41150" anchor="ctr">
                    <a:lnL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E0B7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5FE0B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0.970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150" marB="41150" marR="41150" marL="41150" anchor="ctr">
                    <a:lnL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E0B7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5FE0B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0.980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150" marB="41150" marR="41150" marL="41150" anchor="ctr">
                    <a:lnL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C3E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23A"/>
                    </a:solidFill>
                  </a:tcPr>
                </a:tc>
              </a:tr>
            </a:tbl>
          </a:graphicData>
        </a:graphic>
      </p:graphicFrame>
      <p:sp>
        <p:nvSpPr>
          <p:cNvPr id="327" name="Google Shape;327;p33"/>
          <p:cNvSpPr/>
          <p:nvPr/>
        </p:nvSpPr>
        <p:spPr>
          <a:xfrm>
            <a:off x="617220" y="2743200"/>
            <a:ext cx="3943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AA9C7"/>
              </a:buClr>
              <a:buSzPts val="700"/>
              <a:buFont typeface="Calibri"/>
              <a:buNone/>
            </a:pPr>
            <a:r>
              <a:rPr b="0" i="1" lang="en" sz="700" u="none" cap="none" strike="noStrike">
                <a:solidFill>
                  <a:srgbClr val="9AA9C7"/>
                </a:solidFill>
                <a:latin typeface="Calibri"/>
                <a:ea typeface="Calibri"/>
                <a:cs typeface="Calibri"/>
                <a:sym typeface="Calibri"/>
              </a:rPr>
              <a:t>Every reranked row records reranker_applied=True — reranking was exercised, not merely configured. Misconfigured hybrid weights fall back to dense-only instead of crashing.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33"/>
          <p:cNvSpPr/>
          <p:nvPr/>
        </p:nvSpPr>
        <p:spPr>
          <a:xfrm>
            <a:off x="411480" y="3257550"/>
            <a:ext cx="4354830" cy="1303020"/>
          </a:xfrm>
          <a:prstGeom prst="roundRect">
            <a:avLst>
              <a:gd fmla="val 4211" name="adj"/>
            </a:avLst>
          </a:prstGeom>
          <a:solidFill>
            <a:srgbClr val="101A2E"/>
          </a:solidFill>
          <a:ln cap="flat" cmpd="sng" w="9525">
            <a:solidFill>
              <a:srgbClr val="2C3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33"/>
          <p:cNvSpPr/>
          <p:nvPr/>
        </p:nvSpPr>
        <p:spPr>
          <a:xfrm>
            <a:off x="617220" y="3360420"/>
            <a:ext cx="390906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9C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B79CFF"/>
                </a:solidFill>
                <a:latin typeface="Calibri"/>
                <a:ea typeface="Calibri"/>
                <a:cs typeface="Calibri"/>
                <a:sym typeface="Calibri"/>
              </a:rPr>
              <a:t>MODALITY-ALIGNED CORPUS RAG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33"/>
          <p:cNvSpPr/>
          <p:nvPr/>
        </p:nvSpPr>
        <p:spPr>
          <a:xfrm>
            <a:off x="617220" y="3600450"/>
            <a:ext cx="3943350" cy="891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9EFFA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E9EFFA"/>
                </a:solidFill>
                <a:latin typeface="Calibri"/>
                <a:ea typeface="Calibri"/>
                <a:cs typeface="Calibri"/>
                <a:sym typeface="Calibri"/>
              </a:rPr>
              <a:t>Three separate corpus indexes over the same 405 train-split rows — natural-language keys for T1/T2, Python keys for T3/T5, Java keys for T4/T6 — so Java queries are never compared against an NL-only vector space.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33"/>
          <p:cNvSpPr/>
          <p:nvPr/>
        </p:nvSpPr>
        <p:spPr>
          <a:xfrm>
            <a:off x="4937760" y="1234440"/>
            <a:ext cx="3771900" cy="3326130"/>
          </a:xfrm>
          <a:prstGeom prst="roundRect">
            <a:avLst>
              <a:gd fmla="val 1649" name="adj"/>
            </a:avLst>
          </a:prstGeom>
          <a:solidFill>
            <a:srgbClr val="16223A"/>
          </a:solidFill>
          <a:ln cap="flat" cmpd="sng" w="9525">
            <a:solidFill>
              <a:srgbClr val="2C3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33"/>
          <p:cNvSpPr/>
          <p:nvPr/>
        </p:nvSpPr>
        <p:spPr>
          <a:xfrm>
            <a:off x="5143500" y="1337310"/>
            <a:ext cx="34290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SAFEGUARDS THAT KEEP RAG HONEST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33"/>
          <p:cNvSpPr/>
          <p:nvPr/>
        </p:nvSpPr>
        <p:spPr>
          <a:xfrm>
            <a:off x="5177790" y="1680210"/>
            <a:ext cx="68580" cy="68580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3"/>
          <p:cNvSpPr/>
          <p:nvPr/>
        </p:nvSpPr>
        <p:spPr>
          <a:xfrm>
            <a:off x="5349240" y="1611630"/>
            <a:ext cx="3223260" cy="5623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9EFFA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E9EFFA"/>
                </a:solidFill>
                <a:latin typeface="Calibri"/>
                <a:ea typeface="Calibri"/>
                <a:cs typeface="Calibri"/>
                <a:sym typeface="Calibri"/>
              </a:rPr>
              <a:t>No answer leakage — validation and test rows are excluded from the RAG index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33"/>
          <p:cNvSpPr/>
          <p:nvPr/>
        </p:nvSpPr>
        <p:spPr>
          <a:xfrm>
            <a:off x="5177790" y="2242566"/>
            <a:ext cx="68580" cy="68580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33"/>
          <p:cNvSpPr/>
          <p:nvPr/>
        </p:nvSpPr>
        <p:spPr>
          <a:xfrm>
            <a:off x="5349240" y="2173986"/>
            <a:ext cx="3223260" cy="5623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9EFFA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E9EFFA"/>
                </a:solidFill>
                <a:latin typeface="Calibri"/>
                <a:ea typeface="Calibri"/>
                <a:cs typeface="Calibri"/>
                <a:sym typeface="Calibri"/>
              </a:rPr>
              <a:t>Abstention — weak or ambiguous evidence is rejected, with reason, top score and margin recorded; an empty context is never labelled successful RAG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33"/>
          <p:cNvSpPr/>
          <p:nvPr/>
        </p:nvSpPr>
        <p:spPr>
          <a:xfrm>
            <a:off x="5177790" y="2804922"/>
            <a:ext cx="68580" cy="68580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33"/>
          <p:cNvSpPr/>
          <p:nvPr/>
        </p:nvSpPr>
        <p:spPr>
          <a:xfrm>
            <a:off x="5349240" y="2736342"/>
            <a:ext cx="3223260" cy="5623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9EFFA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E9EFFA"/>
                </a:solidFill>
                <a:latin typeface="Calibri"/>
                <a:ea typeface="Calibri"/>
                <a:cs typeface="Calibri"/>
                <a:sym typeface="Calibri"/>
              </a:rPr>
              <a:t>Immutable RetrievalOutcome per request — no shared state that a concurrent request could overwrite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33"/>
          <p:cNvSpPr/>
          <p:nvPr/>
        </p:nvSpPr>
        <p:spPr>
          <a:xfrm>
            <a:off x="5177790" y="3367278"/>
            <a:ext cx="68580" cy="68580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33"/>
          <p:cNvSpPr/>
          <p:nvPr/>
        </p:nvSpPr>
        <p:spPr>
          <a:xfrm>
            <a:off x="5349240" y="3298698"/>
            <a:ext cx="3223260" cy="5623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9EFFA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E9EFFA"/>
                </a:solidFill>
                <a:latin typeface="Calibri"/>
                <a:ea typeface="Calibri"/>
                <a:cs typeface="Calibri"/>
                <a:sym typeface="Calibri"/>
              </a:rPr>
              <a:t>Whole evidence blocks only — code is never cut mid-block by the character budget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33"/>
          <p:cNvSpPr/>
          <p:nvPr/>
        </p:nvSpPr>
        <p:spPr>
          <a:xfrm>
            <a:off x="5177790" y="3929634"/>
            <a:ext cx="68580" cy="68580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33"/>
          <p:cNvSpPr/>
          <p:nvPr/>
        </p:nvSpPr>
        <p:spPr>
          <a:xfrm>
            <a:off x="5349240" y="3861054"/>
            <a:ext cx="3223260" cy="5623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9EFFA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E9EFFA"/>
                </a:solidFill>
                <a:latin typeface="Calibri"/>
                <a:ea typeface="Calibri"/>
                <a:cs typeface="Calibri"/>
                <a:sym typeface="Calibri"/>
              </a:rPr>
              <a:t>Secrets redacted before embedding or persistence; mock embeddings fail closed for reported results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524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4"/>
          <p:cNvSpPr/>
          <p:nvPr/>
        </p:nvSpPr>
        <p:spPr>
          <a:xfrm>
            <a:off x="411480" y="219456"/>
            <a:ext cx="72009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C8F5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5BC8F5"/>
                </a:solidFill>
                <a:latin typeface="Calibri"/>
                <a:ea typeface="Calibri"/>
                <a:cs typeface="Calibri"/>
                <a:sym typeface="Calibri"/>
              </a:rPr>
              <a:t>STAGE 5 — HIDDEN-POLICY EXPERIMENT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34"/>
          <p:cNvSpPr/>
          <p:nvPr/>
        </p:nvSpPr>
        <p:spPr>
          <a:xfrm>
            <a:off x="411480" y="397764"/>
            <a:ext cx="8298180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EFFA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E9EFFA"/>
                </a:solidFill>
                <a:latin typeface="Calibri"/>
                <a:ea typeface="Calibri"/>
                <a:cs typeface="Calibri"/>
                <a:sym typeface="Calibri"/>
              </a:rPr>
              <a:t>The causal test: can retrieval supply what the prompt deliberately omits?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34"/>
          <p:cNvSpPr/>
          <p:nvPr/>
        </p:nvSpPr>
        <p:spPr>
          <a:xfrm>
            <a:off x="411480" y="809244"/>
            <a:ext cx="829818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9C7"/>
              </a:buClr>
              <a:buSzPts val="1000"/>
              <a:buFont typeface="Calibri"/>
              <a:buNone/>
            </a:pPr>
            <a:r>
              <a:rPr b="0" i="1" lang="en" sz="1000" u="none" cap="none" strike="noStrike">
                <a:solidFill>
                  <a:srgbClr val="9AA9C7"/>
                </a:solidFill>
                <a:latin typeface="Calibri"/>
                <a:ea typeface="Calibri"/>
                <a:cs typeface="Calibri"/>
                <a:sym typeface="Calibri"/>
              </a:rPr>
              <a:t>Implement the repository's transfer-risk policy — without being told its thresholds, weights, country list or score cap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34"/>
          <p:cNvSpPr/>
          <p:nvPr/>
        </p:nvSpPr>
        <p:spPr>
          <a:xfrm>
            <a:off x="8743950" y="4834890"/>
            <a:ext cx="30861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9C7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AA9C7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34"/>
          <p:cNvSpPr/>
          <p:nvPr/>
        </p:nvSpPr>
        <p:spPr>
          <a:xfrm>
            <a:off x="411480" y="4834890"/>
            <a:ext cx="30861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C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5A6A8C"/>
                </a:solidFill>
                <a:latin typeface="Calibri"/>
                <a:ea typeface="Calibri"/>
                <a:cs typeface="Calibri"/>
                <a:sym typeface="Calibri"/>
              </a:rPr>
              <a:t>RepoCoder Studio • Group 46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34"/>
          <p:cNvSpPr/>
          <p:nvPr/>
        </p:nvSpPr>
        <p:spPr>
          <a:xfrm>
            <a:off x="411480" y="1268730"/>
            <a:ext cx="2331720" cy="994410"/>
          </a:xfrm>
          <a:prstGeom prst="roundRect">
            <a:avLst>
              <a:gd fmla="val 5517" name="adj"/>
            </a:avLst>
          </a:prstGeom>
          <a:solidFill>
            <a:srgbClr val="16223A"/>
          </a:solidFill>
          <a:ln cap="flat" cmpd="sng" w="9525">
            <a:solidFill>
              <a:srgbClr val="2C3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34"/>
          <p:cNvSpPr/>
          <p:nvPr/>
        </p:nvSpPr>
        <p:spPr>
          <a:xfrm>
            <a:off x="534924" y="1337310"/>
            <a:ext cx="209169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EFFA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E9EFFA"/>
                </a:solidFill>
                <a:latin typeface="Calibri"/>
                <a:ea typeface="Calibri"/>
                <a:cs typeface="Calibri"/>
                <a:sym typeface="Calibri"/>
              </a:rPr>
              <a:t>Baseline • no RAG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34"/>
          <p:cNvSpPr/>
          <p:nvPr/>
        </p:nvSpPr>
        <p:spPr>
          <a:xfrm>
            <a:off x="534924" y="1543050"/>
            <a:ext cx="209169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FA3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8FA3"/>
                </a:solidFill>
                <a:latin typeface="Calibri"/>
                <a:ea typeface="Calibri"/>
                <a:cs typeface="Calibri"/>
                <a:sym typeface="Calibri"/>
              </a:rPr>
              <a:t>Policy recovered: NO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34"/>
          <p:cNvSpPr/>
          <p:nvPr/>
        </p:nvSpPr>
        <p:spPr>
          <a:xfrm>
            <a:off x="534924" y="1735074"/>
            <a:ext cx="2112264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AA9C7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9AA9C7"/>
                </a:solidFill>
                <a:latin typeface="Calibri"/>
                <a:ea typeface="Calibri"/>
                <a:cs typeface="Calibri"/>
                <a:sym typeface="Calibri"/>
              </a:rPr>
              <a:t>Structurally valid, but invented plausible thresholds and countries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34"/>
          <p:cNvSpPr/>
          <p:nvPr/>
        </p:nvSpPr>
        <p:spPr>
          <a:xfrm>
            <a:off x="2880360" y="1268730"/>
            <a:ext cx="2331720" cy="994410"/>
          </a:xfrm>
          <a:prstGeom prst="roundRect">
            <a:avLst>
              <a:gd fmla="val 5517" name="adj"/>
            </a:avLst>
          </a:prstGeom>
          <a:solidFill>
            <a:srgbClr val="16223A"/>
          </a:solidFill>
          <a:ln cap="flat" cmpd="sng" w="9525">
            <a:solidFill>
              <a:srgbClr val="2C3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34"/>
          <p:cNvSpPr/>
          <p:nvPr/>
        </p:nvSpPr>
        <p:spPr>
          <a:xfrm>
            <a:off x="3003804" y="1337310"/>
            <a:ext cx="209169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EFFA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E9EFFA"/>
                </a:solidFill>
                <a:latin typeface="Calibri"/>
                <a:ea typeface="Calibri"/>
                <a:cs typeface="Calibri"/>
                <a:sym typeface="Calibri"/>
              </a:rPr>
              <a:t>Baseline • + RAG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34"/>
          <p:cNvSpPr/>
          <p:nvPr/>
        </p:nvSpPr>
        <p:spPr>
          <a:xfrm>
            <a:off x="3003804" y="1543050"/>
            <a:ext cx="209169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C8F5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5BC8F5"/>
                </a:solidFill>
                <a:latin typeface="Calibri"/>
                <a:ea typeface="Calibri"/>
                <a:cs typeface="Calibri"/>
                <a:sym typeface="Calibri"/>
              </a:rPr>
              <a:t>Policy recovered: YES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34"/>
          <p:cNvSpPr/>
          <p:nvPr/>
        </p:nvSpPr>
        <p:spPr>
          <a:xfrm>
            <a:off x="3003804" y="1735074"/>
            <a:ext cx="2112264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AA9C7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9AA9C7"/>
                </a:solidFill>
                <a:latin typeface="Calibri"/>
                <a:ea typeface="Calibri"/>
                <a:cs typeface="Calibri"/>
                <a:sym typeface="Calibri"/>
              </a:rPr>
              <a:t>Recovered repository thresholds, restricted countries and device rule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34"/>
          <p:cNvSpPr/>
          <p:nvPr/>
        </p:nvSpPr>
        <p:spPr>
          <a:xfrm>
            <a:off x="411480" y="2379726"/>
            <a:ext cx="2331720" cy="994410"/>
          </a:xfrm>
          <a:prstGeom prst="roundRect">
            <a:avLst>
              <a:gd fmla="val 5517" name="adj"/>
            </a:avLst>
          </a:prstGeom>
          <a:solidFill>
            <a:srgbClr val="16223A"/>
          </a:solidFill>
          <a:ln cap="flat" cmpd="sng" w="9525">
            <a:solidFill>
              <a:srgbClr val="2C3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34"/>
          <p:cNvSpPr/>
          <p:nvPr/>
        </p:nvSpPr>
        <p:spPr>
          <a:xfrm>
            <a:off x="534924" y="2448306"/>
            <a:ext cx="209169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EFFA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E9EFFA"/>
                </a:solidFill>
                <a:latin typeface="Calibri"/>
                <a:ea typeface="Calibri"/>
                <a:cs typeface="Calibri"/>
                <a:sym typeface="Calibri"/>
              </a:rPr>
              <a:t>Fine-tuned v1.2 • no RAG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34"/>
          <p:cNvSpPr/>
          <p:nvPr/>
        </p:nvSpPr>
        <p:spPr>
          <a:xfrm>
            <a:off x="534924" y="2654046"/>
            <a:ext cx="209169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Policy recovered: NO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34"/>
          <p:cNvSpPr/>
          <p:nvPr/>
        </p:nvSpPr>
        <p:spPr>
          <a:xfrm>
            <a:off x="534924" y="2846070"/>
            <a:ext cx="2112264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AA9C7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9AA9C7"/>
                </a:solidFill>
                <a:latin typeface="Calibri"/>
                <a:ea typeface="Calibri"/>
                <a:cs typeface="Calibri"/>
                <a:sym typeface="Calibri"/>
              </a:rPr>
              <a:t>Followed the task shape cleanly, but not the repository policy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34"/>
          <p:cNvSpPr/>
          <p:nvPr/>
        </p:nvSpPr>
        <p:spPr>
          <a:xfrm>
            <a:off x="2880360" y="2379726"/>
            <a:ext cx="2331720" cy="994410"/>
          </a:xfrm>
          <a:prstGeom prst="roundRect">
            <a:avLst>
              <a:gd fmla="val 5517" name="adj"/>
            </a:avLst>
          </a:prstGeom>
          <a:solidFill>
            <a:srgbClr val="16223A"/>
          </a:solidFill>
          <a:ln cap="flat" cmpd="sng" w="9525">
            <a:solidFill>
              <a:srgbClr val="2C3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34"/>
          <p:cNvSpPr/>
          <p:nvPr/>
        </p:nvSpPr>
        <p:spPr>
          <a:xfrm>
            <a:off x="3003804" y="2448306"/>
            <a:ext cx="209169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EFFA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E9EFFA"/>
                </a:solidFill>
                <a:latin typeface="Calibri"/>
                <a:ea typeface="Calibri"/>
                <a:cs typeface="Calibri"/>
                <a:sym typeface="Calibri"/>
              </a:rPr>
              <a:t>Fine-tuned v1.2 • + RAG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34"/>
          <p:cNvSpPr/>
          <p:nvPr/>
        </p:nvSpPr>
        <p:spPr>
          <a:xfrm>
            <a:off x="3003804" y="2654046"/>
            <a:ext cx="209169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E0B7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5FE0B7"/>
                </a:solidFill>
                <a:latin typeface="Calibri"/>
                <a:ea typeface="Calibri"/>
                <a:cs typeface="Calibri"/>
                <a:sym typeface="Calibri"/>
              </a:rPr>
              <a:t>Policy recovered: YES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34"/>
          <p:cNvSpPr/>
          <p:nvPr/>
        </p:nvSpPr>
        <p:spPr>
          <a:xfrm>
            <a:off x="3003804" y="2846070"/>
            <a:ext cx="2112264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AA9C7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9AA9C7"/>
                </a:solidFill>
                <a:latin typeface="Calibri"/>
                <a:ea typeface="Calibri"/>
                <a:cs typeface="Calibri"/>
                <a:sym typeface="Calibri"/>
              </a:rPr>
              <a:t>Recovered the core repository-specific rules — the intended division of labour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34"/>
          <p:cNvSpPr/>
          <p:nvPr/>
        </p:nvSpPr>
        <p:spPr>
          <a:xfrm>
            <a:off x="411480" y="3531870"/>
            <a:ext cx="4937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AA9C7"/>
              </a:buClr>
              <a:buSzPts val="800"/>
              <a:buFont typeface="Calibri"/>
              <a:buNone/>
            </a:pPr>
            <a:r>
              <a:rPr b="0" i="1" lang="en" sz="800" u="none" cap="none" strike="noStrike">
                <a:solidFill>
                  <a:srgbClr val="9AA9C7"/>
                </a:solidFill>
                <a:latin typeface="Calibri"/>
                <a:ea typeface="Calibri"/>
                <a:cs typeface="Calibri"/>
                <a:sym typeface="Calibri"/>
              </a:rPr>
              <a:t>All four arms: structural PASS • same request • same immutable retrieval outcome for both RAG arms — isolating fine-tuning benefit from RAG benefit. ‘Fine-tuned’ = the RAG-aware v1.2 adapter (Stage 5’s retrain of v1.0).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34"/>
          <p:cNvSpPr/>
          <p:nvPr/>
        </p:nvSpPr>
        <p:spPr>
          <a:xfrm>
            <a:off x="5486400" y="1268730"/>
            <a:ext cx="3223260" cy="2091690"/>
          </a:xfrm>
          <a:prstGeom prst="roundRect">
            <a:avLst>
              <a:gd fmla="val 2623" name="adj"/>
            </a:avLst>
          </a:prstGeom>
          <a:solidFill>
            <a:srgbClr val="101A2E"/>
          </a:solidFill>
          <a:ln cap="flat" cmpd="sng" w="9525">
            <a:solidFill>
              <a:srgbClr val="2C3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34"/>
          <p:cNvSpPr/>
          <p:nvPr/>
        </p:nvSpPr>
        <p:spPr>
          <a:xfrm>
            <a:off x="5692140" y="1371600"/>
            <a:ext cx="28117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E0B7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5FE0B7"/>
                </a:solidFill>
                <a:latin typeface="Calibri"/>
                <a:ea typeface="Calibri"/>
                <a:cs typeface="Calibri"/>
                <a:sym typeface="Calibri"/>
              </a:rPr>
              <a:t>RETRIEVAL EVIDENCE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34"/>
          <p:cNvSpPr/>
          <p:nvPr/>
        </p:nvSpPr>
        <p:spPr>
          <a:xfrm>
            <a:off x="5692140" y="1659636"/>
            <a:ext cx="284607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9EFFA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E9EFFA"/>
                </a:solidFill>
                <a:latin typeface="Calibri"/>
                <a:ea typeface="Calibri"/>
                <a:cs typeface="Calibri"/>
                <a:sym typeface="Calibri"/>
              </a:rPr>
              <a:t>Decision:  </a:t>
            </a:r>
            <a:r>
              <a:rPr b="0" i="0" lang="en" sz="800" u="none" cap="none" strike="noStrike">
                <a:solidFill>
                  <a:srgbClr val="9AA9C7"/>
                </a:solidFill>
                <a:latin typeface="Calibri"/>
                <a:ea typeface="Calibri"/>
                <a:cs typeface="Calibri"/>
                <a:sym typeface="Calibri"/>
              </a:rPr>
              <a:t>evidence_accepted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34"/>
          <p:cNvSpPr/>
          <p:nvPr/>
        </p:nvSpPr>
        <p:spPr>
          <a:xfrm>
            <a:off x="5692140" y="1995678"/>
            <a:ext cx="284607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9EFFA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E9EFFA"/>
                </a:solidFill>
                <a:latin typeface="Calibri"/>
                <a:ea typeface="Calibri"/>
                <a:cs typeface="Calibri"/>
                <a:sym typeface="Calibri"/>
              </a:rPr>
              <a:t>Top source:  </a:t>
            </a:r>
            <a:r>
              <a:rPr b="0" i="0" lang="en" sz="800" u="none" cap="none" strike="noStrike">
                <a:solidFill>
                  <a:srgbClr val="9AA9C7"/>
                </a:solidFill>
                <a:latin typeface="Calibri"/>
                <a:ea typeface="Calibri"/>
                <a:cs typeface="Calibri"/>
                <a:sym typeface="Calibri"/>
              </a:rPr>
              <a:t>transfer_risk_score — policies/transfer_policy.py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34"/>
          <p:cNvSpPr/>
          <p:nvPr/>
        </p:nvSpPr>
        <p:spPr>
          <a:xfrm>
            <a:off x="5692140" y="2331720"/>
            <a:ext cx="284607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9EFFA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E9EFFA"/>
                </a:solidFill>
                <a:latin typeface="Calibri"/>
                <a:ea typeface="Calibri"/>
                <a:cs typeface="Calibri"/>
                <a:sym typeface="Calibri"/>
              </a:rPr>
              <a:t>Top score:  </a:t>
            </a:r>
            <a:r>
              <a:rPr b="0" i="0" lang="en" sz="800" u="none" cap="none" strike="noStrike">
                <a:solidFill>
                  <a:srgbClr val="9AA9C7"/>
                </a:solidFill>
                <a:latin typeface="Calibri"/>
                <a:ea typeface="Calibri"/>
                <a:cs typeface="Calibri"/>
                <a:sym typeface="Calibri"/>
              </a:rPr>
              <a:t>0.9162  (reranker score 1.0)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34"/>
          <p:cNvSpPr/>
          <p:nvPr/>
        </p:nvSpPr>
        <p:spPr>
          <a:xfrm>
            <a:off x="5692140" y="2667762"/>
            <a:ext cx="284607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9EFFA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E9EFFA"/>
                </a:solidFill>
                <a:latin typeface="Calibri"/>
                <a:ea typeface="Calibri"/>
                <a:cs typeface="Calibri"/>
                <a:sym typeface="Calibri"/>
              </a:rPr>
              <a:t>Method:  </a:t>
            </a:r>
            <a:r>
              <a:rPr b="0" i="0" lang="en" sz="800" u="none" cap="none" strike="noStrike">
                <a:solidFill>
                  <a:srgbClr val="9AA9C7"/>
                </a:solidFill>
                <a:latin typeface="Calibri"/>
                <a:ea typeface="Calibri"/>
                <a:cs typeface="Calibri"/>
                <a:sym typeface="Calibri"/>
              </a:rPr>
              <a:t>dense + lexical + cross_encoder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34"/>
          <p:cNvSpPr/>
          <p:nvPr/>
        </p:nvSpPr>
        <p:spPr>
          <a:xfrm>
            <a:off x="5692140" y="3003804"/>
            <a:ext cx="284607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9EFFA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E9EFFA"/>
                </a:solidFill>
                <a:latin typeface="Calibri"/>
                <a:ea typeface="Calibri"/>
                <a:cs typeface="Calibri"/>
                <a:sym typeface="Calibri"/>
              </a:rPr>
              <a:t>Provenance:  </a:t>
            </a:r>
            <a:r>
              <a:rPr b="0" i="0" lang="en" sz="800" u="none" cap="none" strike="noStrike">
                <a:solidFill>
                  <a:srgbClr val="9AA9C7"/>
                </a:solidFill>
                <a:latin typeface="Calibri"/>
                <a:ea typeface="Calibri"/>
                <a:cs typeface="Calibri"/>
                <a:sym typeface="Calibri"/>
              </a:rPr>
              <a:t>repository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34"/>
          <p:cNvSpPr/>
          <p:nvPr/>
        </p:nvSpPr>
        <p:spPr>
          <a:xfrm>
            <a:off x="411480" y="3943350"/>
            <a:ext cx="8298180" cy="651510"/>
          </a:xfrm>
          <a:prstGeom prst="roundRect">
            <a:avLst>
              <a:gd fmla="val 8421" name="adj"/>
            </a:avLst>
          </a:prstGeom>
          <a:solidFill>
            <a:srgbClr val="16223A"/>
          </a:solidFill>
          <a:ln cap="flat" cmpd="sng" w="9525">
            <a:solidFill>
              <a:srgbClr val="2C3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34"/>
          <p:cNvSpPr/>
          <p:nvPr/>
        </p:nvSpPr>
        <p:spPr>
          <a:xfrm>
            <a:off x="651510" y="4046220"/>
            <a:ext cx="78181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Functional verification, reported honestly: </a:t>
            </a:r>
            <a:r>
              <a:rPr b="0" i="0" lang="en" sz="800" u="none" cap="none" strike="noStrike">
                <a:solidFill>
                  <a:srgbClr val="E9EFFA"/>
                </a:solidFill>
                <a:latin typeface="Calibri"/>
                <a:ea typeface="Calibri"/>
                <a:cs typeface="Calibri"/>
                <a:sym typeface="Calibri"/>
              </a:rPr>
              <a:t>Python and Java no-RAG/RAG candidates were generated and saved (generation = COMPLETE). Docker was unavailable in Colab, so functional checks record NOT_FEASIBLE — a standalone non-root, no-network Docker evaluator ships for EC2 execution. Structural PASS is never converted into a functional claim.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524"/>
        </a:solidFill>
      </p:bgPr>
    </p:bg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5"/>
          <p:cNvSpPr/>
          <p:nvPr/>
        </p:nvSpPr>
        <p:spPr>
          <a:xfrm>
            <a:off x="411480" y="219456"/>
            <a:ext cx="72009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C8F5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5BC8F5"/>
                </a:solidFill>
                <a:latin typeface="Calibri"/>
                <a:ea typeface="Calibri"/>
                <a:cs typeface="Calibri"/>
                <a:sym typeface="Calibri"/>
              </a:rPr>
              <a:t>DEPLOYMENT — GOOGLE CLOUD RUN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35"/>
          <p:cNvSpPr/>
          <p:nvPr/>
        </p:nvSpPr>
        <p:spPr>
          <a:xfrm>
            <a:off x="411480" y="397764"/>
            <a:ext cx="8298180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EFFA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E9EFFA"/>
                </a:solidFill>
                <a:latin typeface="Calibri"/>
                <a:ea typeface="Calibri"/>
                <a:cs typeface="Calibri"/>
                <a:sym typeface="Calibri"/>
              </a:rPr>
              <a:t>A serverless, health-checked service with $0 idle cost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35"/>
          <p:cNvSpPr/>
          <p:nvPr/>
        </p:nvSpPr>
        <p:spPr>
          <a:xfrm>
            <a:off x="411480" y="809244"/>
            <a:ext cx="829818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9C7"/>
              </a:buClr>
              <a:buSzPts val="1000"/>
              <a:buFont typeface="Calibri"/>
              <a:buNone/>
            </a:pPr>
            <a:r>
              <a:rPr b="0" i="1" lang="en" sz="1000" u="none" cap="none" strike="noStrike">
                <a:solidFill>
                  <a:srgbClr val="9AA9C7"/>
                </a:solidFill>
                <a:latin typeface="Calibri"/>
                <a:ea typeface="Calibri"/>
                <a:cs typeface="Calibri"/>
                <a:sym typeface="Calibri"/>
              </a:rPr>
              <a:t>The same adapter, indexes and generation contract as the notebook — packaged as a containerized microservice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35"/>
          <p:cNvSpPr/>
          <p:nvPr/>
        </p:nvSpPr>
        <p:spPr>
          <a:xfrm>
            <a:off x="8743950" y="4834890"/>
            <a:ext cx="30861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9C7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AA9C7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35"/>
          <p:cNvSpPr/>
          <p:nvPr/>
        </p:nvSpPr>
        <p:spPr>
          <a:xfrm>
            <a:off x="411480" y="4834890"/>
            <a:ext cx="30861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C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5A6A8C"/>
                </a:solidFill>
                <a:latin typeface="Calibri"/>
                <a:ea typeface="Calibri"/>
                <a:cs typeface="Calibri"/>
                <a:sym typeface="Calibri"/>
              </a:rPr>
              <a:t>RepoCoder Studio • Group 46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35"/>
          <p:cNvSpPr/>
          <p:nvPr/>
        </p:nvSpPr>
        <p:spPr>
          <a:xfrm>
            <a:off x="411480" y="1268730"/>
            <a:ext cx="2023110" cy="925830"/>
          </a:xfrm>
          <a:prstGeom prst="roundRect">
            <a:avLst>
              <a:gd fmla="val 5926" name="adj"/>
            </a:avLst>
          </a:prstGeom>
          <a:solidFill>
            <a:srgbClr val="16223A"/>
          </a:solidFill>
          <a:ln cap="flat" cmpd="sng" w="9525">
            <a:solidFill>
              <a:srgbClr val="2C3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35"/>
          <p:cNvSpPr/>
          <p:nvPr/>
        </p:nvSpPr>
        <p:spPr>
          <a:xfrm>
            <a:off x="514350" y="1351026"/>
            <a:ext cx="181737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C8F5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5BC8F5"/>
                </a:solidFill>
                <a:latin typeface="Calibri"/>
                <a:ea typeface="Calibri"/>
                <a:cs typeface="Calibri"/>
                <a:sym typeface="Calibri"/>
              </a:rPr>
              <a:t>1. Source staging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35"/>
          <p:cNvSpPr/>
          <p:nvPr/>
        </p:nvSpPr>
        <p:spPr>
          <a:xfrm>
            <a:off x="514350" y="1584198"/>
            <a:ext cx="1817370" cy="5623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9AA9C7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AA9C7"/>
                </a:solidFill>
                <a:latin typeface="Calibri"/>
                <a:ea typeface="Calibri"/>
                <a:cs typeface="Calibri"/>
                <a:sym typeface="Calibri"/>
              </a:rPr>
              <a:t>Project root as build context — curated runtime artifacts only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35"/>
          <p:cNvSpPr/>
          <p:nvPr/>
        </p:nvSpPr>
        <p:spPr>
          <a:xfrm>
            <a:off x="2503170" y="1268730"/>
            <a:ext cx="2023110" cy="925830"/>
          </a:xfrm>
          <a:prstGeom prst="roundRect">
            <a:avLst>
              <a:gd fmla="val 5926" name="adj"/>
            </a:avLst>
          </a:prstGeom>
          <a:solidFill>
            <a:srgbClr val="16223A"/>
          </a:solidFill>
          <a:ln cap="flat" cmpd="sng" w="9525">
            <a:solidFill>
              <a:srgbClr val="2C3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35"/>
          <p:cNvSpPr/>
          <p:nvPr/>
        </p:nvSpPr>
        <p:spPr>
          <a:xfrm>
            <a:off x="2606040" y="1351026"/>
            <a:ext cx="181737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C8F5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5BC8F5"/>
                </a:solidFill>
                <a:latin typeface="Calibri"/>
                <a:ea typeface="Calibri"/>
                <a:cs typeface="Calibri"/>
                <a:sym typeface="Calibri"/>
              </a:rPr>
              <a:t>2. Cloud Build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35"/>
          <p:cNvSpPr/>
          <p:nvPr/>
        </p:nvSpPr>
        <p:spPr>
          <a:xfrm>
            <a:off x="2606040" y="1584198"/>
            <a:ext cx="1817370" cy="5623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9AA9C7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AA9C7"/>
                </a:solidFill>
                <a:latin typeface="Calibri"/>
                <a:ea typeface="Calibri"/>
                <a:cs typeface="Calibri"/>
                <a:sym typeface="Calibri"/>
              </a:rPr>
              <a:t>gcloud builds submit → container image in the registry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35"/>
          <p:cNvSpPr/>
          <p:nvPr/>
        </p:nvSpPr>
        <p:spPr>
          <a:xfrm>
            <a:off x="4594860" y="1268730"/>
            <a:ext cx="2023110" cy="925830"/>
          </a:xfrm>
          <a:prstGeom prst="roundRect">
            <a:avLst>
              <a:gd fmla="val 5926" name="adj"/>
            </a:avLst>
          </a:prstGeom>
          <a:solidFill>
            <a:srgbClr val="16223A"/>
          </a:solidFill>
          <a:ln cap="flat" cmpd="sng" w="9525">
            <a:solidFill>
              <a:srgbClr val="2C3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35"/>
          <p:cNvSpPr/>
          <p:nvPr/>
        </p:nvSpPr>
        <p:spPr>
          <a:xfrm>
            <a:off x="4697730" y="1351026"/>
            <a:ext cx="181737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E0B7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5FE0B7"/>
                </a:solidFill>
                <a:latin typeface="Calibri"/>
                <a:ea typeface="Calibri"/>
                <a:cs typeface="Calibri"/>
                <a:sym typeface="Calibri"/>
              </a:rPr>
              <a:t>3. Cloud Run deploy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35"/>
          <p:cNvSpPr/>
          <p:nvPr/>
        </p:nvSpPr>
        <p:spPr>
          <a:xfrm>
            <a:off x="4697730" y="1584198"/>
            <a:ext cx="1817370" cy="5623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9AA9C7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AA9C7"/>
                </a:solidFill>
                <a:latin typeface="Calibri"/>
                <a:ea typeface="Calibri"/>
                <a:cs typeface="Calibri"/>
                <a:sym typeface="Calibri"/>
              </a:rPr>
              <a:t>us-central1 • 4 vCPU / 8 GiB • port 8000 • timeout 600 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35"/>
          <p:cNvSpPr/>
          <p:nvPr/>
        </p:nvSpPr>
        <p:spPr>
          <a:xfrm>
            <a:off x="6686550" y="1268730"/>
            <a:ext cx="2023110" cy="925830"/>
          </a:xfrm>
          <a:prstGeom prst="roundRect">
            <a:avLst>
              <a:gd fmla="val 5926" name="adj"/>
            </a:avLst>
          </a:prstGeom>
          <a:solidFill>
            <a:srgbClr val="16223A"/>
          </a:solidFill>
          <a:ln cap="flat" cmpd="sng" w="9525">
            <a:solidFill>
              <a:srgbClr val="2C3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5"/>
          <p:cNvSpPr/>
          <p:nvPr/>
        </p:nvSpPr>
        <p:spPr>
          <a:xfrm>
            <a:off x="6789420" y="1351026"/>
            <a:ext cx="181737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4. Verification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35"/>
          <p:cNvSpPr/>
          <p:nvPr/>
        </p:nvSpPr>
        <p:spPr>
          <a:xfrm>
            <a:off x="6789420" y="1584198"/>
            <a:ext cx="1817370" cy="5623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9AA9C7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AA9C7"/>
                </a:solidFill>
                <a:latin typeface="Calibri"/>
                <a:ea typeface="Calibri"/>
                <a:cs typeface="Calibri"/>
                <a:sym typeface="Calibri"/>
              </a:rPr>
              <a:t>/api/health check → 100% traffic to new revision • old revision spins down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35"/>
          <p:cNvSpPr/>
          <p:nvPr/>
        </p:nvSpPr>
        <p:spPr>
          <a:xfrm>
            <a:off x="411480" y="2331720"/>
            <a:ext cx="1975104" cy="720090"/>
          </a:xfrm>
          <a:prstGeom prst="roundRect">
            <a:avLst>
              <a:gd fmla="val 7619" name="adj"/>
            </a:avLst>
          </a:prstGeom>
          <a:solidFill>
            <a:srgbClr val="101A2E"/>
          </a:solidFill>
          <a:ln cap="flat" cmpd="sng" w="9525">
            <a:solidFill>
              <a:srgbClr val="2C3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/>
          <p:nvPr/>
        </p:nvSpPr>
        <p:spPr>
          <a:xfrm>
            <a:off x="534924" y="2400300"/>
            <a:ext cx="171450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E0B7"/>
              </a:buClr>
              <a:buSzPts val="1700"/>
              <a:buFont typeface="Calibri"/>
              <a:buNone/>
            </a:pPr>
            <a:r>
              <a:rPr b="1" i="0" lang="en" sz="1700" u="none" cap="none" strike="noStrike">
                <a:solidFill>
                  <a:srgbClr val="5FE0B7"/>
                </a:solidFill>
                <a:latin typeface="Calibri"/>
                <a:ea typeface="Calibri"/>
                <a:cs typeface="Calibri"/>
                <a:sym typeface="Calibri"/>
              </a:rPr>
              <a:t>$0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35"/>
          <p:cNvSpPr/>
          <p:nvPr/>
        </p:nvSpPr>
        <p:spPr>
          <a:xfrm>
            <a:off x="534924" y="2708910"/>
            <a:ext cx="174879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9C7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9AA9C7"/>
                </a:solidFill>
                <a:latin typeface="Calibri"/>
                <a:ea typeface="Calibri"/>
                <a:cs typeface="Calibri"/>
                <a:sym typeface="Calibri"/>
              </a:rPr>
              <a:t>idle cost — scales to zero when inactive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35"/>
          <p:cNvSpPr/>
          <p:nvPr/>
        </p:nvSpPr>
        <p:spPr>
          <a:xfrm>
            <a:off x="2523744" y="2331720"/>
            <a:ext cx="1975104" cy="720090"/>
          </a:xfrm>
          <a:prstGeom prst="roundRect">
            <a:avLst>
              <a:gd fmla="val 7619" name="adj"/>
            </a:avLst>
          </a:prstGeom>
          <a:solidFill>
            <a:srgbClr val="101A2E"/>
          </a:solidFill>
          <a:ln cap="flat" cmpd="sng" w="9525">
            <a:solidFill>
              <a:srgbClr val="2C3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35"/>
          <p:cNvSpPr/>
          <p:nvPr/>
        </p:nvSpPr>
        <p:spPr>
          <a:xfrm>
            <a:off x="2647188" y="2400300"/>
            <a:ext cx="171450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C8F5"/>
              </a:buClr>
              <a:buSzPts val="1700"/>
              <a:buFont typeface="Calibri"/>
              <a:buNone/>
            </a:pPr>
            <a:r>
              <a:rPr b="1" i="0" lang="en" sz="1700" u="none" cap="none" strike="noStrike">
                <a:solidFill>
                  <a:srgbClr val="5BC8F5"/>
                </a:solidFill>
                <a:latin typeface="Calibri"/>
                <a:ea typeface="Calibri"/>
                <a:cs typeface="Calibri"/>
                <a:sym typeface="Calibri"/>
              </a:rPr>
              <a:t>0 → 10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35"/>
          <p:cNvSpPr/>
          <p:nvPr/>
        </p:nvSpPr>
        <p:spPr>
          <a:xfrm>
            <a:off x="2647188" y="2708910"/>
            <a:ext cx="174879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9C7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9AA9C7"/>
                </a:solidFill>
                <a:latin typeface="Calibri"/>
                <a:ea typeface="Calibri"/>
                <a:cs typeface="Calibri"/>
                <a:sym typeface="Calibri"/>
              </a:rPr>
              <a:t>instances, demand-driven autoscaling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35"/>
          <p:cNvSpPr/>
          <p:nvPr/>
        </p:nvSpPr>
        <p:spPr>
          <a:xfrm>
            <a:off x="4636008" y="2331720"/>
            <a:ext cx="1975104" cy="720090"/>
          </a:xfrm>
          <a:prstGeom prst="roundRect">
            <a:avLst>
              <a:gd fmla="val 7619" name="adj"/>
            </a:avLst>
          </a:prstGeom>
          <a:solidFill>
            <a:srgbClr val="101A2E"/>
          </a:solidFill>
          <a:ln cap="flat" cmpd="sng" w="9525">
            <a:solidFill>
              <a:srgbClr val="2C3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35"/>
          <p:cNvSpPr/>
          <p:nvPr/>
        </p:nvSpPr>
        <p:spPr>
          <a:xfrm>
            <a:off x="4759452" y="2400300"/>
            <a:ext cx="171450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9CFF"/>
              </a:buClr>
              <a:buSzPts val="1700"/>
              <a:buFont typeface="Calibri"/>
              <a:buNone/>
            </a:pPr>
            <a:r>
              <a:rPr b="1" i="0" lang="en" sz="1700" u="none" cap="none" strike="noStrike">
                <a:solidFill>
                  <a:srgbClr val="B79CFF"/>
                </a:solidFill>
                <a:latin typeface="Calibri"/>
                <a:ea typeface="Calibri"/>
                <a:cs typeface="Calibri"/>
                <a:sym typeface="Calibri"/>
              </a:rPr>
              <a:t>160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35"/>
          <p:cNvSpPr/>
          <p:nvPr/>
        </p:nvSpPr>
        <p:spPr>
          <a:xfrm>
            <a:off x="4759452" y="2708910"/>
            <a:ext cx="174879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9C7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9AA9C7"/>
                </a:solidFill>
                <a:latin typeface="Calibri"/>
                <a:ea typeface="Calibri"/>
                <a:cs typeface="Calibri"/>
                <a:sym typeface="Calibri"/>
              </a:rPr>
              <a:t>concurrent requests per instance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35"/>
          <p:cNvSpPr/>
          <p:nvPr/>
        </p:nvSpPr>
        <p:spPr>
          <a:xfrm>
            <a:off x="6748272" y="2331720"/>
            <a:ext cx="1975104" cy="720090"/>
          </a:xfrm>
          <a:prstGeom prst="roundRect">
            <a:avLst>
              <a:gd fmla="val 7619" name="adj"/>
            </a:avLst>
          </a:prstGeom>
          <a:solidFill>
            <a:srgbClr val="101A2E"/>
          </a:solidFill>
          <a:ln cap="flat" cmpd="sng" w="9525">
            <a:solidFill>
              <a:srgbClr val="2C3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35"/>
          <p:cNvSpPr/>
          <p:nvPr/>
        </p:nvSpPr>
        <p:spPr>
          <a:xfrm>
            <a:off x="6871716" y="2400300"/>
            <a:ext cx="171450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700"/>
              <a:buFont typeface="Calibri"/>
              <a:buNone/>
            </a:pPr>
            <a:r>
              <a:rPr b="1" i="0" lang="en" sz="17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&lt; 2 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35"/>
          <p:cNvSpPr/>
          <p:nvPr/>
        </p:nvSpPr>
        <p:spPr>
          <a:xfrm>
            <a:off x="6871716" y="2708910"/>
            <a:ext cx="174879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9C7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9AA9C7"/>
                </a:solidFill>
                <a:latin typeface="Calibri"/>
                <a:ea typeface="Calibri"/>
                <a:cs typeface="Calibri"/>
                <a:sym typeface="Calibri"/>
              </a:rPr>
              <a:t>single-click revision rollback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35"/>
          <p:cNvSpPr/>
          <p:nvPr/>
        </p:nvSpPr>
        <p:spPr>
          <a:xfrm>
            <a:off x="411480" y="3223260"/>
            <a:ext cx="4114800" cy="1337310"/>
          </a:xfrm>
          <a:prstGeom prst="roundRect">
            <a:avLst>
              <a:gd fmla="val 4103" name="adj"/>
            </a:avLst>
          </a:prstGeom>
          <a:solidFill>
            <a:srgbClr val="16223A"/>
          </a:solidFill>
          <a:ln cap="flat" cmpd="sng" w="9525">
            <a:solidFill>
              <a:srgbClr val="2C3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35"/>
          <p:cNvSpPr/>
          <p:nvPr/>
        </p:nvSpPr>
        <p:spPr>
          <a:xfrm>
            <a:off x="617220" y="3326130"/>
            <a:ext cx="37033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E0B7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5FE0B7"/>
                </a:solidFill>
                <a:latin typeface="Calibri"/>
                <a:ea typeface="Calibri"/>
                <a:cs typeface="Calibri"/>
                <a:sym typeface="Calibri"/>
              </a:rPr>
              <a:t>CONTAINER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35"/>
          <p:cNvSpPr/>
          <p:nvPr/>
        </p:nvSpPr>
        <p:spPr>
          <a:xfrm>
            <a:off x="651510" y="3634740"/>
            <a:ext cx="68580" cy="68580"/>
          </a:xfrm>
          <a:prstGeom prst="ellipse">
            <a:avLst/>
          </a:prstGeom>
          <a:solidFill>
            <a:srgbClr val="5FE0B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35"/>
          <p:cNvSpPr/>
          <p:nvPr/>
        </p:nvSpPr>
        <p:spPr>
          <a:xfrm>
            <a:off x="822960" y="3566160"/>
            <a:ext cx="35661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9EFFA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E9EFFA"/>
                </a:solidFill>
                <a:latin typeface="Calibri"/>
                <a:ea typeface="Calibri"/>
                <a:cs typeface="Calibri"/>
                <a:sym typeface="Calibri"/>
              </a:rPr>
              <a:t>python:3.11-slim + headless JDK for live Java compile checks; non-root user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35"/>
          <p:cNvSpPr/>
          <p:nvPr/>
        </p:nvSpPr>
        <p:spPr>
          <a:xfrm>
            <a:off x="651510" y="3963924"/>
            <a:ext cx="68580" cy="68580"/>
          </a:xfrm>
          <a:prstGeom prst="ellipse">
            <a:avLst/>
          </a:prstGeom>
          <a:solidFill>
            <a:srgbClr val="5FE0B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5"/>
          <p:cNvSpPr/>
          <p:nvPr/>
        </p:nvSpPr>
        <p:spPr>
          <a:xfrm>
            <a:off x="822960" y="3895344"/>
            <a:ext cx="35661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9EFFA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E9EFFA"/>
                </a:solidFill>
                <a:latin typeface="Calibri"/>
                <a:ea typeface="Calibri"/>
                <a:cs typeface="Calibri"/>
                <a:sym typeface="Calibri"/>
              </a:rPr>
              <a:t>Base, embedding and reranker models pre-baked → fast cold starts, no HF rate limits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35"/>
          <p:cNvSpPr/>
          <p:nvPr/>
        </p:nvSpPr>
        <p:spPr>
          <a:xfrm>
            <a:off x="651510" y="4293108"/>
            <a:ext cx="68580" cy="68580"/>
          </a:xfrm>
          <a:prstGeom prst="ellipse">
            <a:avLst/>
          </a:prstGeom>
          <a:solidFill>
            <a:srgbClr val="5FE0B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35"/>
          <p:cNvSpPr/>
          <p:nvPr/>
        </p:nvSpPr>
        <p:spPr>
          <a:xfrm>
            <a:off x="822960" y="4224528"/>
            <a:ext cx="35661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9EFFA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E9EFFA"/>
                </a:solidFill>
                <a:latin typeface="Calibri"/>
                <a:ea typeface="Calibri"/>
                <a:cs typeface="Calibri"/>
                <a:sym typeface="Calibri"/>
              </a:rPr>
              <a:t>LoRA adapter (RAG-aware v1.2) injected via environment variable; honours Cloud Run's PORT contract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35"/>
          <p:cNvSpPr/>
          <p:nvPr/>
        </p:nvSpPr>
        <p:spPr>
          <a:xfrm>
            <a:off x="4663440" y="3223260"/>
            <a:ext cx="4046220" cy="1337310"/>
          </a:xfrm>
          <a:prstGeom prst="roundRect">
            <a:avLst>
              <a:gd fmla="val 4103" name="adj"/>
            </a:avLst>
          </a:prstGeom>
          <a:solidFill>
            <a:srgbClr val="16223A"/>
          </a:solidFill>
          <a:ln cap="flat" cmpd="sng" w="9525">
            <a:solidFill>
              <a:srgbClr val="2C3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35"/>
          <p:cNvSpPr/>
          <p:nvPr/>
        </p:nvSpPr>
        <p:spPr>
          <a:xfrm>
            <a:off x="4869180" y="3326130"/>
            <a:ext cx="363474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PRODUCTION OPERATIONS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35"/>
          <p:cNvSpPr/>
          <p:nvPr/>
        </p:nvSpPr>
        <p:spPr>
          <a:xfrm>
            <a:off x="4903470" y="3634740"/>
            <a:ext cx="68580" cy="68580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35"/>
          <p:cNvSpPr/>
          <p:nvPr/>
        </p:nvSpPr>
        <p:spPr>
          <a:xfrm>
            <a:off x="5074920" y="3566160"/>
            <a:ext cx="34975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9EFFA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E9EFFA"/>
                </a:solidFill>
                <a:latin typeface="Calibri"/>
                <a:ea typeface="Calibri"/>
                <a:cs typeface="Calibri"/>
                <a:sym typeface="Calibri"/>
              </a:rPr>
              <a:t>Permanent HTTPS behind a global load balancer; OS isolation with automated patching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35"/>
          <p:cNvSpPr/>
          <p:nvPr/>
        </p:nvSpPr>
        <p:spPr>
          <a:xfrm>
            <a:off x="4903470" y="3963924"/>
            <a:ext cx="68580" cy="68580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35"/>
          <p:cNvSpPr/>
          <p:nvPr/>
        </p:nvSpPr>
        <p:spPr>
          <a:xfrm>
            <a:off x="5074920" y="3895344"/>
            <a:ext cx="34975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9EFFA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E9EFFA"/>
                </a:solidFill>
                <a:latin typeface="Calibri"/>
                <a:ea typeface="Calibri"/>
                <a:cs typeface="Calibri"/>
                <a:sym typeface="Calibri"/>
              </a:rPr>
              <a:t>Health-monitored revisions — zero-downtime switch, instant rollback in the console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35"/>
          <p:cNvSpPr/>
          <p:nvPr/>
        </p:nvSpPr>
        <p:spPr>
          <a:xfrm>
            <a:off x="4903470" y="4293108"/>
            <a:ext cx="68580" cy="68580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35"/>
          <p:cNvSpPr/>
          <p:nvPr/>
        </p:nvSpPr>
        <p:spPr>
          <a:xfrm>
            <a:off x="5074920" y="4224528"/>
            <a:ext cx="34975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9EFFA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E9EFFA"/>
                </a:solidFill>
                <a:latin typeface="Calibri"/>
                <a:ea typeface="Calibri"/>
                <a:cs typeface="Calibri"/>
                <a:sym typeface="Calibri"/>
              </a:rPr>
              <a:t>FastAPI serves generate, compare, execute, reindex, health and the browser UI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52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36"/>
          <p:cNvSpPr txBox="1"/>
          <p:nvPr/>
        </p:nvSpPr>
        <p:spPr>
          <a:xfrm>
            <a:off x="480060" y="219456"/>
            <a:ext cx="6515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>
                <a:solidFill>
                  <a:srgbClr val="5BC8F5"/>
                </a:solidFill>
                <a:latin typeface="Calibri"/>
                <a:ea typeface="Calibri"/>
                <a:cs typeface="Calibri"/>
                <a:sym typeface="Calibri"/>
              </a:rPr>
              <a:t>CHALLENGES &amp; LESSONS LEARNED</a:t>
            </a:r>
            <a:endParaRPr sz="1100"/>
          </a:p>
        </p:txBody>
      </p:sp>
      <p:sp>
        <p:nvSpPr>
          <p:cNvPr id="436" name="Google Shape;436;p36"/>
          <p:cNvSpPr txBox="1"/>
          <p:nvPr/>
        </p:nvSpPr>
        <p:spPr>
          <a:xfrm>
            <a:off x="445770" y="425196"/>
            <a:ext cx="80925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>
                <a:solidFill>
                  <a:srgbClr val="E9EFFA"/>
                </a:solidFill>
                <a:latin typeface="Calibri"/>
                <a:ea typeface="Calibri"/>
                <a:cs typeface="Calibri"/>
                <a:sym typeface="Calibri"/>
              </a:rPr>
              <a:t>What Went Wrong — and What It Taught Me</a:t>
            </a:r>
            <a:endParaRPr sz="1100"/>
          </a:p>
        </p:txBody>
      </p:sp>
      <p:sp>
        <p:nvSpPr>
          <p:cNvPr id="437" name="Google Shape;437;p36"/>
          <p:cNvSpPr/>
          <p:nvPr/>
        </p:nvSpPr>
        <p:spPr>
          <a:xfrm>
            <a:off x="480060" y="946404"/>
            <a:ext cx="1097400" cy="38100"/>
          </a:xfrm>
          <a:prstGeom prst="rect">
            <a:avLst/>
          </a:prstGeom>
          <a:solidFill>
            <a:srgbClr val="5BC8F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36"/>
          <p:cNvSpPr txBox="1"/>
          <p:nvPr/>
        </p:nvSpPr>
        <p:spPr>
          <a:xfrm>
            <a:off x="8332470" y="4834890"/>
            <a:ext cx="514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>
                <a:solidFill>
                  <a:srgbClr val="5A6A8C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100"/>
          </a:p>
        </p:txBody>
      </p:sp>
      <p:sp>
        <p:nvSpPr>
          <p:cNvPr id="439" name="Google Shape;439;p36"/>
          <p:cNvSpPr txBox="1"/>
          <p:nvPr/>
        </p:nvSpPr>
        <p:spPr>
          <a:xfrm>
            <a:off x="480060" y="4834890"/>
            <a:ext cx="34290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>
                <a:solidFill>
                  <a:srgbClr val="5A6A8C"/>
                </a:solidFill>
                <a:latin typeface="Calibri"/>
                <a:ea typeface="Calibri"/>
                <a:cs typeface="Calibri"/>
                <a:sym typeface="Calibri"/>
              </a:rPr>
              <a:t>RepoCoder Studio · AI/ML Capstone</a:t>
            </a:r>
            <a:endParaRPr sz="1100"/>
          </a:p>
        </p:txBody>
      </p:sp>
      <p:sp>
        <p:nvSpPr>
          <p:cNvPr id="440" name="Google Shape;440;p36"/>
          <p:cNvSpPr txBox="1"/>
          <p:nvPr/>
        </p:nvSpPr>
        <p:spPr>
          <a:xfrm>
            <a:off x="514350" y="1337310"/>
            <a:ext cx="7955400" cy="20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5BC8F5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" sz="1300">
                <a:solidFill>
                  <a:srgbClr val="E9EFFA"/>
                </a:solidFill>
                <a:latin typeface="Calibri"/>
                <a:ea typeface="Calibri"/>
                <a:cs typeface="Calibri"/>
                <a:sym typeface="Calibri"/>
              </a:rPr>
              <a:t>Data quality beat data quantity: 79 of 616 candidate rows were rejected rather than silently kept</a:t>
            </a:r>
            <a:endParaRPr sz="1100"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5FE0B7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" sz="1300">
                <a:solidFill>
                  <a:srgbClr val="E9EFFA"/>
                </a:solidFill>
                <a:latin typeface="Calibri"/>
                <a:ea typeface="Calibri"/>
                <a:cs typeface="Calibri"/>
                <a:sym typeface="Calibri"/>
              </a:rPr>
              <a:t>Fine-tuning and RAG solve different problems — and must share the same prompt contract</a:t>
            </a:r>
            <a:endParaRPr sz="1100"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" sz="1300">
                <a:solidFill>
                  <a:srgbClr val="E9EFFA"/>
                </a:solidFill>
                <a:latin typeface="Calibri"/>
                <a:ea typeface="Calibri"/>
                <a:cs typeface="Calibri"/>
                <a:sym typeface="Calibri"/>
              </a:rPr>
              <a:t>Discovered late: the first adapter had never seen a “Retrieved Context” prompt shape and ignored it</a:t>
            </a:r>
            <a:endParaRPr sz="1100"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8FA3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" sz="1300">
                <a:solidFill>
                  <a:srgbClr val="E9EFFA"/>
                </a:solidFill>
                <a:latin typeface="Calibri"/>
                <a:ea typeface="Calibri"/>
                <a:cs typeface="Calibri"/>
                <a:sym typeface="Calibri"/>
              </a:rPr>
              <a:t>Fixed it, not deferred it: added grounded RAG-formatted training rows and trained a separate v1.2 adapter</a:t>
            </a:r>
            <a:endParaRPr sz="1100"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5BC8F5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" sz="1300">
                <a:solidFill>
                  <a:srgbClr val="E9EFFA"/>
                </a:solidFill>
                <a:latin typeface="Calibri"/>
                <a:ea typeface="Calibri"/>
                <a:cs typeface="Calibri"/>
                <a:sym typeface="Calibri"/>
              </a:rPr>
              <a:t>Compilation and parsing are not correctness — functional claims are reserved for Docker-verified tests</a:t>
            </a:r>
            <a:endParaRPr sz="1100"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5FE0B7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" sz="1300">
                <a:solidFill>
                  <a:srgbClr val="E9EFFA"/>
                </a:solidFill>
                <a:latin typeface="Calibri"/>
                <a:ea typeface="Calibri"/>
                <a:cs typeface="Calibri"/>
                <a:sym typeface="Calibri"/>
              </a:rPr>
              <a:t>Docker was unavailable in Colab, so generation and functional verification were deliberately decoupled</a:t>
            </a:r>
            <a:endParaRPr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11E"/>
        </a:solidFill>
      </p:bgPr>
    </p:bg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37"/>
          <p:cNvSpPr/>
          <p:nvPr/>
        </p:nvSpPr>
        <p:spPr>
          <a:xfrm>
            <a:off x="7680960" y="3771900"/>
            <a:ext cx="2743200" cy="2743200"/>
          </a:xfrm>
          <a:prstGeom prst="ellipse">
            <a:avLst/>
          </a:prstGeom>
          <a:solidFill>
            <a:srgbClr val="111D33"/>
          </a:solidFill>
          <a:ln cap="flat" cmpd="sng" w="12700">
            <a:solidFill>
              <a:srgbClr val="1C2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37"/>
          <p:cNvSpPr/>
          <p:nvPr/>
        </p:nvSpPr>
        <p:spPr>
          <a:xfrm>
            <a:off x="411480" y="240030"/>
            <a:ext cx="61722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C8F5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5BC8F5"/>
                </a:solidFill>
                <a:latin typeface="Calibri"/>
                <a:ea typeface="Calibri"/>
                <a:cs typeface="Calibri"/>
                <a:sym typeface="Calibri"/>
              </a:rPr>
              <a:t>SUMMARY &amp; DISCUSSION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37"/>
          <p:cNvSpPr/>
          <p:nvPr/>
        </p:nvSpPr>
        <p:spPr>
          <a:xfrm>
            <a:off x="411480" y="432054"/>
            <a:ext cx="83667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EFFA"/>
              </a:buClr>
              <a:buSzPts val="1700"/>
              <a:buFont typeface="Calibri"/>
              <a:buNone/>
            </a:pPr>
            <a:r>
              <a:rPr b="1" i="0" lang="en" sz="1700" u="none" cap="none" strike="noStrike">
                <a:solidFill>
                  <a:srgbClr val="E9EFFA"/>
                </a:solidFill>
                <a:latin typeface="Calibri"/>
                <a:ea typeface="Calibri"/>
                <a:cs typeface="Calibri"/>
                <a:sym typeface="Calibri"/>
              </a:rPr>
              <a:t>A completed, auditable Stage 5 capstone — and a foundation for Stage 6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37"/>
          <p:cNvSpPr/>
          <p:nvPr/>
        </p:nvSpPr>
        <p:spPr>
          <a:xfrm>
            <a:off x="411480" y="1028700"/>
            <a:ext cx="2708910" cy="2640330"/>
          </a:xfrm>
          <a:prstGeom prst="roundRect">
            <a:avLst>
              <a:gd fmla="val 2078" name="adj"/>
            </a:avLst>
          </a:prstGeom>
          <a:solidFill>
            <a:srgbClr val="101A2E"/>
          </a:solidFill>
          <a:ln cap="flat" cmpd="sng" w="9525">
            <a:solidFill>
              <a:srgbClr val="2C3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37"/>
          <p:cNvSpPr/>
          <p:nvPr/>
        </p:nvSpPr>
        <p:spPr>
          <a:xfrm>
            <a:off x="562356" y="1152144"/>
            <a:ext cx="24003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C8F5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5BC8F5"/>
                </a:solidFill>
                <a:latin typeface="Calibri"/>
                <a:ea typeface="Calibri"/>
                <a:cs typeface="Calibri"/>
                <a:sym typeface="Calibri"/>
              </a:rPr>
              <a:t>WHAT WE LEARNED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37"/>
          <p:cNvSpPr/>
          <p:nvPr/>
        </p:nvSpPr>
        <p:spPr>
          <a:xfrm>
            <a:off x="576072" y="1488186"/>
            <a:ext cx="68580" cy="68580"/>
          </a:xfrm>
          <a:prstGeom prst="ellipse">
            <a:avLst/>
          </a:prstGeom>
          <a:solidFill>
            <a:srgbClr val="5BC8F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37"/>
          <p:cNvSpPr/>
          <p:nvPr/>
        </p:nvSpPr>
        <p:spPr>
          <a:xfrm>
            <a:off x="733806" y="1426464"/>
            <a:ext cx="2263140" cy="534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9EFFA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E9EFFA"/>
                </a:solidFill>
                <a:latin typeface="Calibri"/>
                <a:ea typeface="Calibri"/>
                <a:cs typeface="Calibri"/>
                <a:sym typeface="Calibri"/>
              </a:rPr>
              <a:t>Data quality matters more than dataset size — a clean small run beats a noisy large one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37"/>
          <p:cNvSpPr/>
          <p:nvPr/>
        </p:nvSpPr>
        <p:spPr>
          <a:xfrm>
            <a:off x="576072" y="2023110"/>
            <a:ext cx="68580" cy="68580"/>
          </a:xfrm>
          <a:prstGeom prst="ellipse">
            <a:avLst/>
          </a:prstGeom>
          <a:solidFill>
            <a:srgbClr val="5BC8F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37"/>
          <p:cNvSpPr/>
          <p:nvPr/>
        </p:nvSpPr>
        <p:spPr>
          <a:xfrm>
            <a:off x="733806" y="1961388"/>
            <a:ext cx="2263140" cy="534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9EFFA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E9EFFA"/>
                </a:solidFill>
                <a:latin typeface="Calibri"/>
                <a:ea typeface="Calibri"/>
                <a:cs typeface="Calibri"/>
                <a:sym typeface="Calibri"/>
              </a:rPr>
              <a:t>Fine-tuning teaches task behaviour; RAG supplies repository facts — different problems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37"/>
          <p:cNvSpPr/>
          <p:nvPr/>
        </p:nvSpPr>
        <p:spPr>
          <a:xfrm>
            <a:off x="576072" y="2558034"/>
            <a:ext cx="68580" cy="68580"/>
          </a:xfrm>
          <a:prstGeom prst="ellipse">
            <a:avLst/>
          </a:prstGeom>
          <a:solidFill>
            <a:srgbClr val="5BC8F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7"/>
          <p:cNvSpPr/>
          <p:nvPr/>
        </p:nvSpPr>
        <p:spPr>
          <a:xfrm>
            <a:off x="733806" y="2496312"/>
            <a:ext cx="2263140" cy="534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9EFFA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E9EFFA"/>
                </a:solidFill>
                <a:latin typeface="Calibri"/>
                <a:ea typeface="Calibri"/>
                <a:cs typeface="Calibri"/>
                <a:sym typeface="Calibri"/>
              </a:rPr>
              <a:t>Termination (EOS) is part of model quality, not a detail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37"/>
          <p:cNvSpPr/>
          <p:nvPr/>
        </p:nvSpPr>
        <p:spPr>
          <a:xfrm>
            <a:off x="576072" y="3092958"/>
            <a:ext cx="68580" cy="68580"/>
          </a:xfrm>
          <a:prstGeom prst="ellipse">
            <a:avLst/>
          </a:prstGeom>
          <a:solidFill>
            <a:srgbClr val="5BC8F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37"/>
          <p:cNvSpPr/>
          <p:nvPr/>
        </p:nvSpPr>
        <p:spPr>
          <a:xfrm>
            <a:off x="733806" y="3031236"/>
            <a:ext cx="2263140" cy="534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9EFFA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E9EFFA"/>
                </a:solidFill>
                <a:latin typeface="Calibri"/>
                <a:ea typeface="Calibri"/>
                <a:cs typeface="Calibri"/>
                <a:sym typeface="Calibri"/>
              </a:rPr>
              <a:t>Compilation is not correctness — functional claims need trusted tests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37"/>
          <p:cNvSpPr/>
          <p:nvPr/>
        </p:nvSpPr>
        <p:spPr>
          <a:xfrm>
            <a:off x="3257550" y="1028700"/>
            <a:ext cx="2708910" cy="2640330"/>
          </a:xfrm>
          <a:prstGeom prst="roundRect">
            <a:avLst>
              <a:gd fmla="val 2078" name="adj"/>
            </a:avLst>
          </a:prstGeom>
          <a:solidFill>
            <a:srgbClr val="101A2E"/>
          </a:solidFill>
          <a:ln cap="flat" cmpd="sng" w="9525">
            <a:solidFill>
              <a:srgbClr val="2C3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37"/>
          <p:cNvSpPr/>
          <p:nvPr/>
        </p:nvSpPr>
        <p:spPr>
          <a:xfrm>
            <a:off x="3408426" y="1152144"/>
            <a:ext cx="24003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HONEST LIMITATIONS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37"/>
          <p:cNvSpPr/>
          <p:nvPr/>
        </p:nvSpPr>
        <p:spPr>
          <a:xfrm>
            <a:off x="3422142" y="1488186"/>
            <a:ext cx="68580" cy="68580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37"/>
          <p:cNvSpPr/>
          <p:nvPr/>
        </p:nvSpPr>
        <p:spPr>
          <a:xfrm>
            <a:off x="3579876" y="1426464"/>
            <a:ext cx="2263140" cy="534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9EFFA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E9EFFA"/>
                </a:solidFill>
                <a:latin typeface="Calibri"/>
                <a:ea typeface="Calibri"/>
                <a:cs typeface="Calibri"/>
                <a:sym typeface="Calibri"/>
              </a:rPr>
              <a:t>0.5B model across six heterogeneous tasks — larger models may help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37"/>
          <p:cNvSpPr/>
          <p:nvPr/>
        </p:nvSpPr>
        <p:spPr>
          <a:xfrm>
            <a:off x="3422142" y="2023110"/>
            <a:ext cx="68580" cy="68580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37"/>
          <p:cNvSpPr/>
          <p:nvPr/>
        </p:nvSpPr>
        <p:spPr>
          <a:xfrm>
            <a:off x="3579876" y="1961388"/>
            <a:ext cx="2263140" cy="534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9EFFA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E9EFFA"/>
                </a:solidFill>
                <a:latin typeface="Calibri"/>
                <a:ea typeface="Calibri"/>
                <a:cs typeface="Calibri"/>
                <a:sym typeface="Calibri"/>
              </a:rPr>
              <a:t>20 examples per task: strong evidence, wider uncertainty than a full study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37"/>
          <p:cNvSpPr/>
          <p:nvPr/>
        </p:nvSpPr>
        <p:spPr>
          <a:xfrm>
            <a:off x="3422142" y="2558034"/>
            <a:ext cx="68580" cy="68580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37"/>
          <p:cNvSpPr/>
          <p:nvPr/>
        </p:nvSpPr>
        <p:spPr>
          <a:xfrm>
            <a:off x="3579876" y="2496312"/>
            <a:ext cx="2263140" cy="534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9EFFA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E9EFFA"/>
                </a:solidFill>
                <a:latin typeface="Calibri"/>
                <a:ea typeface="Calibri"/>
                <a:cs typeface="Calibri"/>
                <a:sym typeface="Calibri"/>
              </a:rPr>
              <a:t>RepoBench top-1 near chance; the claim is top-3 candidate retrieval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37"/>
          <p:cNvSpPr/>
          <p:nvPr/>
        </p:nvSpPr>
        <p:spPr>
          <a:xfrm>
            <a:off x="3422142" y="3092958"/>
            <a:ext cx="68580" cy="68580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37"/>
          <p:cNvSpPr/>
          <p:nvPr/>
        </p:nvSpPr>
        <p:spPr>
          <a:xfrm>
            <a:off x="3579876" y="3031236"/>
            <a:ext cx="2263140" cy="534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9EFFA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E9EFFA"/>
                </a:solidFill>
                <a:latin typeface="Calibri"/>
                <a:ea typeface="Calibri"/>
                <a:cs typeface="Calibri"/>
                <a:sym typeface="Calibri"/>
              </a:rPr>
              <a:t>Docker verification is host-dependent — NOT_FEASIBLE in Colab, EC2 evaluator provided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37"/>
          <p:cNvSpPr/>
          <p:nvPr/>
        </p:nvSpPr>
        <p:spPr>
          <a:xfrm>
            <a:off x="6103620" y="1028700"/>
            <a:ext cx="2708910" cy="2640330"/>
          </a:xfrm>
          <a:prstGeom prst="roundRect">
            <a:avLst>
              <a:gd fmla="val 2078" name="adj"/>
            </a:avLst>
          </a:prstGeom>
          <a:solidFill>
            <a:srgbClr val="101A2E"/>
          </a:solidFill>
          <a:ln cap="flat" cmpd="sng" w="9525">
            <a:solidFill>
              <a:srgbClr val="2C3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37"/>
          <p:cNvSpPr/>
          <p:nvPr/>
        </p:nvSpPr>
        <p:spPr>
          <a:xfrm>
            <a:off x="6254496" y="1152144"/>
            <a:ext cx="24003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E0B7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5FE0B7"/>
                </a:solidFill>
                <a:latin typeface="Calibri"/>
                <a:ea typeface="Calibri"/>
                <a:cs typeface="Calibri"/>
                <a:sym typeface="Calibri"/>
              </a:rPr>
              <a:t>STAGE 6 DIRECTION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37"/>
          <p:cNvSpPr/>
          <p:nvPr/>
        </p:nvSpPr>
        <p:spPr>
          <a:xfrm>
            <a:off x="6268212" y="1488186"/>
            <a:ext cx="68580" cy="68580"/>
          </a:xfrm>
          <a:prstGeom prst="ellipse">
            <a:avLst/>
          </a:prstGeom>
          <a:solidFill>
            <a:srgbClr val="5FE0B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37"/>
          <p:cNvSpPr/>
          <p:nvPr/>
        </p:nvSpPr>
        <p:spPr>
          <a:xfrm>
            <a:off x="6425946" y="1426464"/>
            <a:ext cx="2263140" cy="534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9EFFA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E9EFFA"/>
                </a:solidFill>
                <a:latin typeface="Calibri"/>
                <a:ea typeface="Calibri"/>
                <a:cs typeface="Calibri"/>
                <a:sym typeface="Calibri"/>
              </a:rPr>
              <a:t>Planner → retriever → generator → validator → repair loop over the served API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37"/>
          <p:cNvSpPr/>
          <p:nvPr/>
        </p:nvSpPr>
        <p:spPr>
          <a:xfrm>
            <a:off x="6268212" y="2023110"/>
            <a:ext cx="68580" cy="68580"/>
          </a:xfrm>
          <a:prstGeom prst="ellipse">
            <a:avLst/>
          </a:prstGeom>
          <a:solidFill>
            <a:srgbClr val="5FE0B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37"/>
          <p:cNvSpPr/>
          <p:nvPr/>
        </p:nvSpPr>
        <p:spPr>
          <a:xfrm>
            <a:off x="6425946" y="1961388"/>
            <a:ext cx="2263140" cy="534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9EFFA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E9EFFA"/>
                </a:solidFill>
                <a:latin typeface="Calibri"/>
                <a:ea typeface="Calibri"/>
                <a:cs typeface="Calibri"/>
                <a:sym typeface="Calibri"/>
              </a:rPr>
              <a:t>React frontend on the stable FastAPI contract; live GCP smoke test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37"/>
          <p:cNvSpPr/>
          <p:nvPr/>
        </p:nvSpPr>
        <p:spPr>
          <a:xfrm>
            <a:off x="6268212" y="2558034"/>
            <a:ext cx="68580" cy="68580"/>
          </a:xfrm>
          <a:prstGeom prst="ellipse">
            <a:avLst/>
          </a:prstGeom>
          <a:solidFill>
            <a:srgbClr val="5FE0B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37"/>
          <p:cNvSpPr/>
          <p:nvPr/>
        </p:nvSpPr>
        <p:spPr>
          <a:xfrm>
            <a:off x="6425946" y="2496312"/>
            <a:ext cx="2263140" cy="534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9EFFA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E9EFFA"/>
                </a:solidFill>
                <a:latin typeface="Calibri"/>
                <a:ea typeface="Calibri"/>
                <a:cs typeface="Calibri"/>
                <a:sym typeface="Calibri"/>
              </a:rPr>
              <a:t>Auth, monitoring, persistent artifact storage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37"/>
          <p:cNvSpPr/>
          <p:nvPr/>
        </p:nvSpPr>
        <p:spPr>
          <a:xfrm>
            <a:off x="6268212" y="3092958"/>
            <a:ext cx="68580" cy="68580"/>
          </a:xfrm>
          <a:prstGeom prst="ellipse">
            <a:avLst/>
          </a:prstGeom>
          <a:solidFill>
            <a:srgbClr val="5FE0B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37"/>
          <p:cNvSpPr/>
          <p:nvPr/>
        </p:nvSpPr>
        <p:spPr>
          <a:xfrm>
            <a:off x="6425946" y="3031236"/>
            <a:ext cx="2263140" cy="534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9EFFA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E9EFFA"/>
                </a:solidFill>
                <a:latin typeface="Calibri"/>
                <a:ea typeface="Calibri"/>
                <a:cs typeface="Calibri"/>
                <a:sym typeface="Calibri"/>
              </a:rPr>
              <a:t>Repeat the larger capstone profile when GPU resources permit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37"/>
          <p:cNvSpPr/>
          <p:nvPr/>
        </p:nvSpPr>
        <p:spPr>
          <a:xfrm>
            <a:off x="411480" y="3840480"/>
            <a:ext cx="8298180" cy="582930"/>
          </a:xfrm>
          <a:prstGeom prst="roundRect">
            <a:avLst>
              <a:gd fmla="val 9412" name="adj"/>
            </a:avLst>
          </a:prstGeom>
          <a:solidFill>
            <a:srgbClr val="16223A"/>
          </a:solidFill>
          <a:ln cap="flat" cmpd="sng" w="9525">
            <a:solidFill>
              <a:srgbClr val="2C3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37"/>
          <p:cNvSpPr/>
          <p:nvPr/>
        </p:nvSpPr>
        <p:spPr>
          <a:xfrm>
            <a:off x="651510" y="3943350"/>
            <a:ext cx="7818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9EFFA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E9EFFA"/>
                </a:solidFill>
                <a:latin typeface="Calibri"/>
                <a:ea typeface="Calibri"/>
                <a:cs typeface="Calibri"/>
                <a:sym typeface="Calibri"/>
              </a:rPr>
              <a:t>Delivered: executed notebook • validated corpus • trained adapter • evaluation logs • two repository indexes • Docker functional harness • Gradio + FastAPI interfaces • Cloud Run deployment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37"/>
          <p:cNvSpPr/>
          <p:nvPr/>
        </p:nvSpPr>
        <p:spPr>
          <a:xfrm>
            <a:off x="411480" y="4594860"/>
            <a:ext cx="5829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EFFA"/>
              </a:buClr>
              <a:buSzPts val="1700"/>
              <a:buFont typeface="Calibri"/>
              <a:buNone/>
            </a:pPr>
            <a:r>
              <a:rPr b="1" i="0" lang="en" sz="1700" u="none" cap="none" strike="noStrike">
                <a:solidFill>
                  <a:srgbClr val="E9EFFA"/>
                </a:solidFill>
                <a:latin typeface="Calibri"/>
                <a:ea typeface="Calibri"/>
                <a:cs typeface="Calibri"/>
                <a:sym typeface="Calibri"/>
              </a:rPr>
              <a:t>Next: a live product demo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37"/>
          <p:cNvSpPr/>
          <p:nvPr/>
        </p:nvSpPr>
        <p:spPr>
          <a:xfrm>
            <a:off x="411480" y="4937760"/>
            <a:ext cx="78867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9C7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AA9C7"/>
                </a:solidFill>
                <a:latin typeface="Calibri"/>
                <a:ea typeface="Calibri"/>
                <a:cs typeface="Calibri"/>
                <a:sym typeface="Calibri"/>
              </a:rPr>
              <a:t>RepoCoder Studio • Group 46 • IIIT Hyderabad AIML Certification Program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11E"/>
        </a:solidFill>
      </p:bgPr>
    </p:bg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38"/>
          <p:cNvSpPr/>
          <p:nvPr/>
        </p:nvSpPr>
        <p:spPr>
          <a:xfrm>
            <a:off x="1303296" y="2012000"/>
            <a:ext cx="7190400" cy="11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EFFA"/>
              </a:buClr>
              <a:buSzPts val="1700"/>
              <a:buFont typeface="Calibri"/>
              <a:buNone/>
            </a:pPr>
            <a:r>
              <a:rPr b="1" lang="en" sz="3200">
                <a:solidFill>
                  <a:srgbClr val="E9EFFA"/>
                </a:solidFill>
                <a:latin typeface="Calibri"/>
                <a:ea typeface="Calibri"/>
                <a:cs typeface="Calibri"/>
                <a:sym typeface="Calibri"/>
              </a:rPr>
              <a:t>Demo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38"/>
          <p:cNvSpPr/>
          <p:nvPr/>
        </p:nvSpPr>
        <p:spPr>
          <a:xfrm>
            <a:off x="330180" y="4879685"/>
            <a:ext cx="7886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9C7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AA9C7"/>
                </a:solidFill>
                <a:latin typeface="Calibri"/>
                <a:ea typeface="Calibri"/>
                <a:cs typeface="Calibri"/>
                <a:sym typeface="Calibri"/>
              </a:rPr>
              <a:t>RepoCoder Studio • Group 46 • IIIT Hyderabad AIML Certification Program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11E"/>
        </a:solidFill>
      </p:bgPr>
    </p:bg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39"/>
          <p:cNvSpPr/>
          <p:nvPr/>
        </p:nvSpPr>
        <p:spPr>
          <a:xfrm>
            <a:off x="330180" y="4879685"/>
            <a:ext cx="7886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9C7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AA9C7"/>
                </a:solidFill>
                <a:latin typeface="Calibri"/>
                <a:ea typeface="Calibri"/>
                <a:cs typeface="Calibri"/>
                <a:sym typeface="Calibri"/>
              </a:rPr>
              <a:t>RepoCoder Studio • Group 46 • IIIT Hyderabad AIML Certification Program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96" name="Google Shape;496;p39"/>
          <p:cNvGrpSpPr/>
          <p:nvPr/>
        </p:nvGrpSpPr>
        <p:grpSpPr>
          <a:xfrm>
            <a:off x="480060" y="219456"/>
            <a:ext cx="6515100" cy="209700"/>
            <a:chOff x="0" y="0"/>
            <a:chExt cx="6515100" cy="209700"/>
          </a:xfrm>
        </p:grpSpPr>
        <p:sp>
          <p:nvSpPr>
            <p:cNvPr id="497" name="Google Shape;497;p39"/>
            <p:cNvSpPr/>
            <p:nvPr/>
          </p:nvSpPr>
          <p:spPr>
            <a:xfrm>
              <a:off x="0" y="0"/>
              <a:ext cx="6515100" cy="209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39"/>
            <p:cNvSpPr txBox="1"/>
            <p:nvPr/>
          </p:nvSpPr>
          <p:spPr>
            <a:xfrm>
              <a:off x="0" y="0"/>
              <a:ext cx="65151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5BC8F5"/>
                  </a:solidFill>
                  <a:latin typeface="Calibri"/>
                  <a:ea typeface="Calibri"/>
                  <a:cs typeface="Calibri"/>
                  <a:sym typeface="Calibri"/>
                </a:rPr>
                <a:t>INTERACTIVE DEMO</a:t>
              </a:r>
              <a:endParaRPr b="1" sz="900">
                <a:solidFill>
                  <a:srgbClr val="5BC8F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445770" y="425196"/>
            <a:ext cx="8092500" cy="423000"/>
            <a:chOff x="0" y="0"/>
            <a:chExt cx="8092500" cy="423000"/>
          </a:xfrm>
        </p:grpSpPr>
        <p:sp>
          <p:nvSpPr>
            <p:cNvPr id="500" name="Google Shape;500;p39"/>
            <p:cNvSpPr/>
            <p:nvPr/>
          </p:nvSpPr>
          <p:spPr>
            <a:xfrm>
              <a:off x="0" y="0"/>
              <a:ext cx="8092500" cy="423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39"/>
            <p:cNvSpPr txBox="1"/>
            <p:nvPr/>
          </p:nvSpPr>
          <p:spPr>
            <a:xfrm>
              <a:off x="0" y="0"/>
              <a:ext cx="8092500" cy="42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300">
                  <a:solidFill>
                    <a:srgbClr val="E9EFFA"/>
                  </a:solidFill>
                  <a:latin typeface="Calibri"/>
                  <a:ea typeface="Calibri"/>
                  <a:cs typeface="Calibri"/>
                  <a:sym typeface="Calibri"/>
                </a:rPr>
                <a:t>RepoCoder Studio Portal</a:t>
              </a:r>
              <a:endParaRPr b="1" sz="2300">
                <a:solidFill>
                  <a:srgbClr val="E9EFF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02" name="Google Shape;502;p39"/>
          <p:cNvSpPr/>
          <p:nvPr/>
        </p:nvSpPr>
        <p:spPr>
          <a:xfrm>
            <a:off x="480060" y="946404"/>
            <a:ext cx="1097400" cy="38100"/>
          </a:xfrm>
          <a:prstGeom prst="rect">
            <a:avLst/>
          </a:prstGeom>
          <a:solidFill>
            <a:srgbClr val="5BC8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03" name="Google Shape;503;p39"/>
          <p:cNvGrpSpPr/>
          <p:nvPr/>
        </p:nvGrpSpPr>
        <p:grpSpPr>
          <a:xfrm>
            <a:off x="1524000" y="1238250"/>
            <a:ext cx="6096000" cy="3238500"/>
            <a:chOff x="1524000" y="1238250"/>
            <a:chExt cx="6096000" cy="3238500"/>
          </a:xfrm>
        </p:grpSpPr>
        <p:sp>
          <p:nvSpPr>
            <p:cNvPr id="504" name="Google Shape;504;p39"/>
            <p:cNvSpPr/>
            <p:nvPr/>
          </p:nvSpPr>
          <p:spPr>
            <a:xfrm>
              <a:off x="1524000" y="1238250"/>
              <a:ext cx="6096000" cy="266700"/>
            </a:xfrm>
            <a:prstGeom prst="roundRect">
              <a:avLst>
                <a:gd fmla="val 21428" name="adj"/>
              </a:avLst>
            </a:prstGeom>
            <a:solidFill>
              <a:srgbClr val="16223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39"/>
            <p:cNvSpPr/>
            <p:nvPr/>
          </p:nvSpPr>
          <p:spPr>
            <a:xfrm>
              <a:off x="1590675" y="1323975"/>
              <a:ext cx="95400" cy="95400"/>
            </a:xfrm>
            <a:prstGeom prst="ellipse">
              <a:avLst/>
            </a:prstGeom>
            <a:solidFill>
              <a:srgbClr val="FF8FA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39"/>
            <p:cNvSpPr/>
            <p:nvPr/>
          </p:nvSpPr>
          <p:spPr>
            <a:xfrm>
              <a:off x="1733550" y="1323975"/>
              <a:ext cx="95400" cy="95400"/>
            </a:xfrm>
            <a:prstGeom prst="ellipse">
              <a:avLst/>
            </a:prstGeom>
            <a:solidFill>
              <a:srgbClr val="FFD16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39"/>
            <p:cNvSpPr/>
            <p:nvPr/>
          </p:nvSpPr>
          <p:spPr>
            <a:xfrm>
              <a:off x="1876425" y="1323975"/>
              <a:ext cx="95400" cy="95400"/>
            </a:xfrm>
            <a:prstGeom prst="ellipse">
              <a:avLst/>
            </a:prstGeom>
            <a:solidFill>
              <a:srgbClr val="5FE0B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39"/>
            <p:cNvSpPr txBox="1"/>
            <p:nvPr/>
          </p:nvSpPr>
          <p:spPr>
            <a:xfrm>
              <a:off x="2095500" y="1238250"/>
              <a:ext cx="49530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525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9AA9C7"/>
                  </a:solidFill>
                  <a:latin typeface="Calibri"/>
                  <a:ea typeface="Calibri"/>
                  <a:cs typeface="Calibri"/>
                  <a:sym typeface="Calibri"/>
                </a:rPr>
                <a:t>localhost:3000/repocoder-studio</a:t>
              </a:r>
              <a:endParaRPr sz="800">
                <a:solidFill>
                  <a:srgbClr val="9AA9C7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9" name="Google Shape;509;p39"/>
            <p:cNvSpPr/>
            <p:nvPr/>
          </p:nvSpPr>
          <p:spPr>
            <a:xfrm>
              <a:off x="1524000" y="1504950"/>
              <a:ext cx="6096000" cy="2971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510" name="Google Shape;510;p39"/>
          <p:cNvPicPr preferRelativeResize="0"/>
          <p:nvPr/>
        </p:nvPicPr>
        <p:blipFill rotWithShape="1">
          <a:blip r:embed="rId3">
            <a:alphaModFix/>
          </a:blip>
          <a:srcRect b="18754" l="0" r="0" t="18754"/>
          <a:stretch/>
        </p:blipFill>
        <p:spPr>
          <a:xfrm>
            <a:off x="1524000" y="1504950"/>
            <a:ext cx="6096000" cy="2971800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39"/>
          <p:cNvSpPr/>
          <p:nvPr/>
        </p:nvSpPr>
        <p:spPr>
          <a:xfrm>
            <a:off x="1519238" y="1233488"/>
            <a:ext cx="6105600" cy="3248100"/>
          </a:xfrm>
          <a:prstGeom prst="roundRect">
            <a:avLst>
              <a:gd fmla="val 1759" name="adj"/>
            </a:avLst>
          </a:prstGeom>
          <a:solidFill>
            <a:srgbClr val="000000">
              <a:alpha val="0"/>
            </a:srgbClr>
          </a:solidFill>
          <a:ln cap="flat" cmpd="sng" w="14300">
            <a:solidFill>
              <a:srgbClr val="2C3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12" name="Google Shape;512;p39">
            <a:hlinkClick r:id="rId4"/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9250" y="1501750"/>
            <a:ext cx="6095999" cy="3013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" name="Google Shape;513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53302" y="1263936"/>
            <a:ext cx="1960025" cy="134600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39"/>
          <p:cNvSpPr/>
          <p:nvPr/>
        </p:nvSpPr>
        <p:spPr>
          <a:xfrm>
            <a:off x="2801750" y="1305625"/>
            <a:ext cx="3031800" cy="134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5E7492"/>
              </a:gs>
              <a:gs pos="100000">
                <a:srgbClr val="2F363F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u="sng">
                <a:solidFill>
                  <a:schemeClr val="hlink"/>
                </a:solidFill>
                <a:hlinkClick r:id="rId6"/>
              </a:rPr>
              <a:t>https://repocoder-studio-ufasjxwf2q-uc.a.run.app/</a:t>
            </a:r>
            <a:endParaRPr sz="900">
              <a:solidFill>
                <a:srgbClr val="E9EFFA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11E"/>
        </a:solidFill>
      </p:bgPr>
    </p:bg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40"/>
          <p:cNvSpPr/>
          <p:nvPr/>
        </p:nvSpPr>
        <p:spPr>
          <a:xfrm>
            <a:off x="411475" y="1271550"/>
            <a:ext cx="6388800" cy="366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EFFA"/>
              </a:buClr>
              <a:buSzPts val="1700"/>
              <a:buFont typeface="Calibri"/>
              <a:buNone/>
            </a:pPr>
            <a:r>
              <a:rPr b="1" i="0" lang="en" sz="1700" u="none" cap="none" strike="noStrike">
                <a:solidFill>
                  <a:srgbClr val="E9EFFA"/>
                </a:solidFill>
                <a:latin typeface="Calibri"/>
                <a:ea typeface="Calibri"/>
                <a:cs typeface="Calibri"/>
                <a:sym typeface="Calibri"/>
              </a:rPr>
              <a:t>Thank you — Questions &amp; Discussion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40"/>
          <p:cNvSpPr/>
          <p:nvPr/>
        </p:nvSpPr>
        <p:spPr>
          <a:xfrm>
            <a:off x="330180" y="4879685"/>
            <a:ext cx="7886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9C7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AA9C7"/>
                </a:solidFill>
                <a:latin typeface="Calibri"/>
                <a:ea typeface="Calibri"/>
                <a:cs typeface="Calibri"/>
                <a:sym typeface="Calibri"/>
              </a:rPr>
              <a:t>RepoCoder Studio </a:t>
            </a:r>
            <a:r>
              <a:rPr b="0" i="0" lang="en" sz="800" u="none" cap="none" strike="noStrike">
                <a:solidFill>
                  <a:srgbClr val="9AA9C7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b="0" i="0" lang="en" sz="800" u="none" cap="none" strike="noStrike">
                <a:solidFill>
                  <a:srgbClr val="9AA9C7"/>
                </a:solidFill>
                <a:latin typeface="Calibri"/>
                <a:ea typeface="Calibri"/>
                <a:cs typeface="Calibri"/>
                <a:sym typeface="Calibri"/>
              </a:rPr>
              <a:t> Group 46 • IIIT Hyderabad AIML Certification Program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