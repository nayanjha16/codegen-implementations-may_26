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 snapToObjects="1">
      <p:cViewPr>
        <p:scale>
          <a:sx n="75" d="100"/>
          <a:sy n="75" d="100"/>
        </p:scale>
        <p:origin x="926" y="-1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IIIT HYDERABAD CAPSTONE PROJECT  —  GROUP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CodeGen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332720" cy="703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 dirty="0">
                <a:solidFill>
                  <a:srgbClr val="C7D9E2"/>
                </a:solidFill>
                <a:latin typeface="Calibri"/>
              </a:rPr>
              <a:t>Cross-Language Code Generation with Fine-Tuned LLMs</a:t>
            </a:r>
            <a:br>
              <a:rPr dirty="0"/>
            </a:br>
            <a:r>
              <a:rPr sz="1900" b="0" i="1" dirty="0">
                <a:solidFill>
                  <a:srgbClr val="C7D9E2"/>
                </a:solidFill>
                <a:latin typeface="Calibri"/>
              </a:rPr>
              <a:t>Natural Language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→ </a:t>
            </a:r>
            <a:r>
              <a:rPr sz="1900" b="0" i="1" dirty="0">
                <a:solidFill>
                  <a:srgbClr val="C7D9E2"/>
                </a:solidFill>
                <a:latin typeface="Calibri"/>
              </a:rPr>
              <a:t>Python </a:t>
            </a:r>
            <a:r>
              <a:rPr lang="en-US" sz="1900" b="0" i="1" dirty="0">
                <a:solidFill>
                  <a:srgbClr val="C7D9E2"/>
                </a:solidFill>
                <a:latin typeface="Calibri"/>
              </a:rPr>
              <a:t> or C++ and C++ -&gt; Python with Voice-Enabled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5120640" cy="1359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Taran Tripathi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Prakhar Nigam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Ki</a:t>
            </a:r>
            <a:r>
              <a:rPr lang="en-US" sz="1600" b="0" i="0">
                <a:solidFill>
                  <a:srgbClr val="FFFFFF"/>
                </a:solidFill>
                <a:latin typeface="Calibri"/>
              </a:rPr>
              <a:t>l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im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Lohitha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6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Tushnik Chakrabarty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PROJECT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5896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sz="15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Prof. Anil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Neelkanti</a:t>
            </a:r>
            <a:endParaRPr sz="1500" b="0" i="0" dirty="0">
              <a:solidFill>
                <a:srgbClr val="FFFFFF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Pawan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Baswani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, Nayan Anand Jha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 dirty="0">
                <a:solidFill>
                  <a:schemeClr val="bg1"/>
                </a:solidFill>
                <a:latin typeface="Calibri"/>
              </a:rPr>
              <a:t>PG Certification Program in Artificial Intelligence and Machine Learning — Cohort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A4A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73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 dirty="0">
                <a:solidFill>
                  <a:srgbClr val="1A1F2B"/>
                </a:solidFill>
                <a:latin typeface="Calibri"/>
              </a:rPr>
              <a:t>LLMs increasingly understand and synthesize code, not just natural language. This project applies and fine-tunes an LLM to translate between natural language and two programming languages (Python, C++)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and C++ to Python translation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— demonstrating a path to extend code-generation support to languages </a:t>
            </a:r>
            <a:r>
              <a:rPr lang="en-US" sz="1350" b="0" i="0" dirty="0">
                <a:solidFill>
                  <a:srgbClr val="1A1F2B"/>
                </a:solidFill>
                <a:latin typeface="Calibri"/>
              </a:rPr>
              <a:t>or tasks </a:t>
            </a:r>
            <a:r>
              <a:rPr sz="1350" b="0" i="0" dirty="0">
                <a:solidFill>
                  <a:srgbClr val="1A1F2B"/>
                </a:solidFill>
                <a:latin typeface="Calibri"/>
              </a:rPr>
              <a:t>an LLM was not originally trained on.</a:t>
            </a:r>
            <a:endParaRPr lang="en-US" sz="135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5440680" cy="35661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440680" cy="3566160"/>
          </a:xfrm>
          <a:prstGeom prst="rect">
            <a:avLst/>
          </a:prstGeom>
          <a:solidFill>
            <a:srgbClr val="FC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5440680" cy="50292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440680" cy="5029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BASE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STRETCH GOAL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4892040" cy="2663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Baseline accuracy for NL → 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and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→ </a:t>
            </a:r>
            <a:r>
              <a:rPr lang="en-US" sz="1300" dirty="0">
                <a:solidFill>
                  <a:srgbClr val="1A1F2B"/>
                </a:solidFill>
              </a:rPr>
              <a:t>Python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translation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using Qwen2.5-Coder-7B-Instruct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fine-tuning in two phases: NL → PL1 (Python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/C++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) and PL1 → PL2 (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 -&gt; Python)</a:t>
            </a:r>
            <a:endParaRPr lang="en-US" sz="1300" b="0" i="0" dirty="0">
              <a:solidFill>
                <a:srgbClr val="1A1F2B"/>
              </a:solidFill>
              <a:highlight>
                <a:srgbClr val="FFFF00"/>
              </a:highlight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 </a:t>
            </a:r>
            <a:r>
              <a:rPr lang="en-US" sz="1300" dirty="0">
                <a:solidFill>
                  <a:srgbClr val="1A1F2B"/>
                </a:solidFill>
              </a:rPr>
              <a:t>PL1-&gt; PL2. PL1-&gt; Documentation-&gt; PL2 Code -&gt; Translate to PL1 -&gt; Compare with ground truth PL1</a:t>
            </a:r>
          </a:p>
          <a:p>
            <a:pPr marL="571500" lvl="1" indent="-114300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</a:t>
            </a:r>
            <a:r>
              <a:rPr lang="en-US" sz="1300" dirty="0">
                <a:solidFill>
                  <a:srgbClr val="1A1F2B"/>
                </a:solidFill>
              </a:rPr>
              <a:t>PL1-&gt; Documentation-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Best documentation selected from 3 generation iterations, scored per record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pPr lvl="1"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</a:rPr>
              <a:t>▪ </a:t>
            </a:r>
            <a:r>
              <a:rPr lang="en-US" sz="1300" dirty="0">
                <a:solidFill>
                  <a:srgbClr val="1A1F2B"/>
                </a:solidFill>
              </a:rPr>
              <a:t>Documentation-&gt; PL2 Code: LLM-as-judge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Evaluation via AST similarity +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4892040" cy="15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ASR (Whisper) — speak a natural-language prompt → transcribed → code generated (NL → PL)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Text interface for PL → PL — paste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convert directly to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Python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Auto task-detection — LLM classifier routes input to the correct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adapter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Delivered as a live, voice-enabled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Gradio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End-to-End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the-stack-dedup
Dataset
(Python + C++)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60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Documentation
Generator
(Qwen2.5-Coder)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3534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77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Code Generator
+ LoRA Adapters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108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6751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AST +
GraphCodeBERT
Scoring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682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7325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Best-of-3
Selection →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Three-Phase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Baseline Phase
(base model accuracy)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3336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LoRA Fine-Tuning Phase
(NL→PL1, PL1→PL2)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1100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5820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 Phase
(held-out evaluation)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Design Pattern: Singleton Model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1155680" cy="1690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SingletonMeta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Every heavyweight component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: 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lang="en-US" sz="1300" b="1" dirty="0">
                <a:solidFill>
                  <a:srgbClr val="1F7A8C"/>
                </a:solidFill>
                <a:latin typeface="Calibri"/>
              </a:rPr>
              <a:t>	</a:t>
            </a: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QwenModelBase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CodeDocumentationGenerator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QwenCodeGenerator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LLMJudge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AST,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GraphCodeBERTScorer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FilteredDataset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BaselineData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— is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				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implemented as a singleton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Prevents redundant model reloads across pipeline stages — critical for GPU memory efficiency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BaselineData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orchestrates the full workflow: loads/unloads models, runs baseline + validation, computes summary statistics</a:t>
            </a:r>
            <a:endParaRPr lang="en-US" sz="1300" b="0" i="0" dirty="0">
              <a:solidFill>
                <a:srgbClr val="1A1F2B"/>
              </a:solidFill>
              <a:latin typeface="Calibri"/>
            </a:endParaRPr>
          </a:p>
          <a:p>
            <a:r>
              <a:rPr lang="en-US" sz="1300" b="1" dirty="0">
                <a:solidFill>
                  <a:srgbClr val="1F7A8C"/>
                </a:solidFill>
              </a:rPr>
              <a:t>▪ </a:t>
            </a:r>
            <a:r>
              <a:rPr lang="en-US" sz="1300" b="1" dirty="0">
                <a:solidFill>
                  <a:srgbClr val="1A1F2B"/>
                </a:solidFill>
                <a:latin typeface="Calibri"/>
              </a:rPr>
              <a:t>LLM Judge</a:t>
            </a:r>
            <a:r>
              <a:rPr lang="en-US" sz="1300" dirty="0">
                <a:solidFill>
                  <a:srgbClr val="1A1F2B"/>
                </a:solidFill>
                <a:latin typeface="Calibri"/>
              </a:rPr>
              <a:t>: Generates Score 0.0 -1.0 and metrics compiles (Y/N),  correct logic (Y/N), handling edge cases (Y/N), List of issues and explanation</a:t>
            </a:r>
            <a:endParaRPr sz="1300" b="0" i="0" dirty="0">
              <a:solidFill>
                <a:srgbClr val="1A1F2B"/>
              </a:solidFill>
              <a:latin typeface="Calibri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7CE622B-600D-0078-8A7E-8525BF4DC96A}"/>
              </a:ext>
            </a:extLst>
          </p:cNvPr>
          <p:cNvSpPr/>
          <p:nvPr/>
        </p:nvSpPr>
        <p:spPr>
          <a:xfrm>
            <a:off x="4904900" y="2395728"/>
            <a:ext cx="1244440" cy="34747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LLM Judge</a:t>
            </a:r>
          </a:p>
          <a:p>
            <a:pPr algn="ctr"/>
            <a:r>
              <a:rPr lang="en-US" sz="1200" dirty="0"/>
              <a:t>(doc-&gt;python)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486400" cy="123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 (</a:t>
            </a:r>
            <a:r>
              <a:rPr sz="1250" b="1" dirty="0" err="1">
                <a:solidFill>
                  <a:srgbClr val="0F2A4A"/>
                </a:solidFill>
                <a:latin typeface="Calibri"/>
              </a:rPr>
              <a:t>HuggingFace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) — deduplicated Python &amp; C++ source files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bigcode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/the-stack-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dedup</a:t>
            </a:r>
            <a:endParaRPr lang="en-US" sz="1250" b="0" i="0" dirty="0">
              <a:solidFill>
                <a:srgbClr val="1A1F2B"/>
              </a:solidFill>
              <a:latin typeface="Calibri"/>
            </a:endParaRP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002060"/>
                </a:solidFill>
                <a:latin typeface="Calibri"/>
              </a:rPr>
              <a:t>▪  </a:t>
            </a:r>
            <a:r>
              <a:rPr lang="en-US" sz="1250" b="1" dirty="0" err="1">
                <a:solidFill>
                  <a:srgbClr val="002060"/>
                </a:solidFill>
                <a:latin typeface="Calibri"/>
              </a:rPr>
              <a:t>Fileds</a:t>
            </a:r>
            <a:r>
              <a:rPr lang="en-US" sz="1250" b="1" dirty="0">
                <a:solidFill>
                  <a:srgbClr val="002060"/>
                </a:solidFill>
                <a:latin typeface="Calibri"/>
              </a:rPr>
              <a:t> Used: </a:t>
            </a:r>
            <a:r>
              <a:rPr sz="1250" b="1" dirty="0" err="1">
                <a:solidFill>
                  <a:srgbClr val="002060"/>
                </a:solidFill>
                <a:latin typeface="Calibri"/>
              </a:rPr>
              <a:t>hexsha</a:t>
            </a:r>
            <a:r>
              <a:rPr sz="1250" b="1" dirty="0">
                <a:solidFill>
                  <a:srgbClr val="002060"/>
                </a:solidFill>
                <a:latin typeface="Calibri"/>
              </a:rPr>
              <a:t> (id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), content (code), lang, </a:t>
            </a:r>
            <a:r>
              <a:rPr sz="1250" b="1" dirty="0" err="1">
                <a:solidFill>
                  <a:srgbClr val="0F2A4A"/>
                </a:solidFill>
                <a:latin typeface="Calibri"/>
              </a:rPr>
              <a:t>max_stars_count</a:t>
            </a:r>
            <a:endParaRPr sz="1250" b="0" i="0" dirty="0">
              <a:solidFill>
                <a:srgbClr val="1A1F2B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Streamed, filtered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by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Python/C++, then enriched (language tag, documentation cache, score placeholders)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F2A4A"/>
                </a:solidFill>
                <a:latin typeface="Calibri"/>
              </a:rPr>
              <a:t>Why Caching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5486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Streaming from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HuggingFace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on every pass is slow — caching gives instant reloads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Baseline computation needs multiple passes over the same records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Guarantees consistent records across runs and experiments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257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F2A4A"/>
                </a:solidFill>
                <a:latin typeface="Calibri"/>
              </a:rPr>
              <a:t>Dataset Split</a:t>
            </a:r>
            <a:r>
              <a:rPr lang="en-US" sz="1500" b="1" i="0" dirty="0">
                <a:solidFill>
                  <a:srgbClr val="0F2A4A"/>
                </a:solidFill>
                <a:latin typeface="Calibri"/>
              </a:rPr>
              <a:t> </a:t>
            </a:r>
            <a:r>
              <a:rPr lang="en-US" sz="1000" b="1" dirty="0">
                <a:solidFill>
                  <a:srgbClr val="0F2A4A"/>
                </a:solidFill>
                <a:latin typeface="Calibri"/>
              </a:rPr>
              <a:t>Allocate more records for trainings</a:t>
            </a:r>
            <a:endParaRPr sz="1500" b="1" i="0" strike="sngStrike" dirty="0">
              <a:solidFill>
                <a:srgbClr val="0F2A4A"/>
              </a:solidFill>
              <a:latin typeface="Calibri"/>
            </a:endParaRP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076882"/>
              </p:ext>
            </p:extLst>
          </p:nvPr>
        </p:nvGraphicFramePr>
        <p:xfrm>
          <a:off x="6400800" y="1645920"/>
          <a:ext cx="5257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95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dirty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1/4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Base-model accuracy computation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LoRA Training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1/2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Fine-tuning the adapters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002060"/>
                          </a:solidFill>
                          <a:latin typeface="Calibri"/>
                        </a:rPr>
                        <a:t>1/4</a:t>
                      </a:r>
                      <a:endParaRPr sz="1200" dirty="0">
                        <a:solidFill>
                          <a:srgbClr val="002060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1A1F2B"/>
                          </a:solidFill>
                          <a:latin typeface="Calibri"/>
                        </a:rPr>
                        <a:t>Held-out evaluation of fine-tuned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352044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Run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257800" cy="10265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Baseline records processed: 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250</a:t>
            </a:r>
            <a:endParaRPr sz="1250" b="0" i="0" dirty="0">
              <a:solidFill>
                <a:srgbClr val="FF0000"/>
              </a:solidFill>
              <a:latin typeface="Calibri"/>
            </a:endParaRP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Language split: </a:t>
            </a:r>
            <a:r>
              <a:rPr lang="en-US" sz="1250" dirty="0">
                <a:solidFill>
                  <a:srgbClr val="1A1F2B"/>
                </a:solidFill>
                <a:latin typeface="Calibri"/>
              </a:rPr>
              <a:t>125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Python  / 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125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C++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GPU memory limits (see Issues &amp; Learnings) constrained full-dataset runs on available T4/L4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MODELS &amp;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Model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12899"/>
              </p:ext>
            </p:extLst>
          </p:nvPr>
        </p:nvGraphicFramePr>
        <p:xfrm>
          <a:off x="502920" y="1325880"/>
          <a:ext cx="11201400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65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Base LLM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Qwen/Qwen2.5-Coder-7B-Instruct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Documentation generation, code generation, LLM-judge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LoRA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  (r=16, α=32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, dropout=0.1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Two adapters: 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NL→Python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/C++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, </a:t>
                      </a:r>
                      <a:r>
                        <a:rPr lang="en-US" sz="1250" dirty="0">
                          <a:solidFill>
                            <a:srgbClr val="1A1F2B"/>
                          </a:solidFill>
                          <a:latin typeface="Calibri"/>
                        </a:rPr>
                        <a:t>C++ -&gt; </a:t>
                      </a:r>
                      <a:r>
                        <a:rPr sz="1250" dirty="0">
                          <a:solidFill>
                            <a:srgbClr val="002060"/>
                          </a:solidFill>
                          <a:latin typeface="Calibri"/>
                        </a:rPr>
                        <a:t>Python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Semantic similarity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microsoft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/</a:t>
                      </a:r>
                      <a:r>
                        <a:rPr sz="1250" dirty="0" err="1">
                          <a:solidFill>
                            <a:srgbClr val="1A1F2B"/>
                          </a:solidFill>
                          <a:latin typeface="Calibri"/>
                        </a:rPr>
                        <a:t>graphcodebert</a:t>
                      </a:r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-base</a:t>
                      </a:r>
                    </a:p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(via sentence-transformers)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Embedding cosine similarity between code pairs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Structural similarity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tree-sitter (Python &amp; C++ grammars)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AST generation + node-level similarity comparison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Speech-to-text (stretch)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openai/whisper-base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dirty="0">
                          <a:solidFill>
                            <a:srgbClr val="1A1F2B"/>
                          </a:solidFill>
                          <a:latin typeface="Calibri"/>
                        </a:rPr>
                        <a:t>Voice-prompt transcription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Key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5928360" cy="1491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PeftModel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Two adapters share one 4-bit quantized base model via PEFT's multi-adapter 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>
                <a:solidFill>
                  <a:srgbClr val="0F2A4A"/>
                </a:solidFill>
                <a:latin typeface="Calibri"/>
              </a:rPr>
              <a:t>Qwen model scores 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documentation for </a:t>
            </a:r>
            <a:r>
              <a:rPr sz="1300" b="1" dirty="0">
                <a:solidFill>
                  <a:srgbClr val="0F2A4A"/>
                </a:solidFill>
                <a:latin typeface="Calibri"/>
              </a:rPr>
              <a:t>generated C++ code 0–1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LLM-as-judge</a:t>
            </a:r>
            <a:r>
              <a:rPr sz="1300" b="1" dirty="0">
                <a:solidFill>
                  <a:srgbClr val="1F7A8C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against documentation + reference before it is accepted for back-translation (quality threshold = 0.3)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Tokenizer is shared from the base model — not bundled inside each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LoRA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adapter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1B6900-837A-3412-A818-A44345E5C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856635"/>
              </p:ext>
            </p:extLst>
          </p:nvPr>
        </p:nvGraphicFramePr>
        <p:xfrm>
          <a:off x="7299960" y="4220565"/>
          <a:ext cx="43586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6960">
                  <a:extLst>
                    <a:ext uri="{9D8B030D-6E8A-4147-A177-3AD203B41FA5}">
                      <a16:colId xmlns:a16="http://schemas.microsoft.com/office/drawing/2014/main" val="16598943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397747323"/>
                    </a:ext>
                  </a:extLst>
                </a:gridCol>
              </a:tblGrid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Training Arguments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6539619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Device 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305299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Gradient accumulation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36207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Num train 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3/30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28396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2e</a:t>
                      </a:r>
                      <a:r>
                        <a:rPr lang="en-US" sz="1200" baseline="30000" dirty="0"/>
                        <a:t>-4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40733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Logging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586060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Save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Epoch (save every epoch)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01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Save total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 (save the best)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669485"/>
                  </a:ext>
                </a:extLst>
              </a:tr>
              <a:tr h="254226">
                <a:tc>
                  <a:txBody>
                    <a:bodyPr/>
                    <a:lstStyle/>
                    <a:p>
                      <a:r>
                        <a:rPr lang="en-US" sz="1200" dirty="0"/>
                        <a:t>Fp16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True (save memory)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528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DEMO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Interaction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 Input  or
Voice Recording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6880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61488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Whisper ASR
(if voice)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35448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0056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Auto-Detect Task
(LLM classifier)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4016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78624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Load LoRA Adapter
(NL→PY  /  PY→CPP)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2584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37192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Generate + Syntax-
Highlighted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Modes 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5486400" cy="1162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NL → Python — generate code from a plain-English description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lang="en-US" sz="1300" dirty="0">
                <a:solidFill>
                  <a:srgbClr val="002060"/>
                </a:solidFill>
                <a:latin typeface="Calibri"/>
              </a:rPr>
              <a:t>C++ -&gt; P</a:t>
            </a:r>
            <a:r>
              <a:rPr sz="1300" b="0" i="0" dirty="0">
                <a:solidFill>
                  <a:srgbClr val="002060"/>
                </a:solidFill>
                <a:latin typeface="Calibri"/>
              </a:rPr>
              <a:t>ython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— paste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C++</a:t>
            </a:r>
            <a:r>
              <a:rPr lang="en-US" sz="1300" dirty="0">
                <a:solidFill>
                  <a:srgbClr val="1A1F2B"/>
                </a:solidFill>
                <a:latin typeface="Calibri"/>
              </a:rPr>
              <a:t> and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get an equivalent </a:t>
            </a:r>
            <a:r>
              <a:rPr lang="en-US" sz="1300" b="0" i="0" dirty="0">
                <a:solidFill>
                  <a:srgbClr val="1A1F2B"/>
                </a:solidFill>
                <a:latin typeface="Calibri"/>
              </a:rPr>
              <a:t>Python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implementation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Auto — system classifies intent and routes automatically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Voice input — microphone recording transcribed before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5257800" cy="1162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 dirty="0" err="1">
                <a:solidFill>
                  <a:srgbClr val="0F2A4A"/>
                </a:solidFill>
                <a:latin typeface="Calibri"/>
              </a:rPr>
              <a:t>Gradio</a:t>
            </a:r>
            <a:r>
              <a:rPr lang="en-US" sz="130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Built with shareable public web URL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Runs on Google </a:t>
            </a:r>
            <a:r>
              <a:rPr sz="1300" b="0" i="0" dirty="0" err="1">
                <a:solidFill>
                  <a:srgbClr val="1A1F2B"/>
                </a:solidFill>
                <a:latin typeface="Calibri"/>
              </a:rPr>
              <a:t>Colab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 with T4 / L4 GPU acceleration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Adapters + base model downloaded and 4-bit quantized at startup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30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 dirty="0">
                <a:solidFill>
                  <a:srgbClr val="1A1F2B"/>
                </a:solidFill>
                <a:latin typeface="Calibri"/>
              </a:rPr>
              <a:t>Generated code shown with syntax highlighting and a task-status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MEASURING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Scoring &amp;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AST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371600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tree-sitter parses generated &amp; ground-truth code; node-level tree similarity used (exact-match ASTs are too formatting-sensitive — e.g. spacing in a function signature changes the raw tree)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GraphCodeBERTScore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Cosine similarity between GraphCodeBERT embeddings of the two code snippets — captures semantic equivalence even when structure differs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Average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63824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Mean of AST Similarity and GraphCodeBERTScore — the primary per-record quality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6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LLM-as-Judge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242249"/>
            <a:ext cx="8046720" cy="4126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 dirty="0">
                <a:solidFill>
                  <a:srgbClr val="1A1F2B"/>
                </a:solidFill>
                <a:latin typeface="Calibri"/>
              </a:rPr>
              <a:t>Qwen2.5-Coder scores generated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Python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(0–1) against documentation + reference before it is accepted for Python back-translation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11185855" cy="1905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276088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Best-of-3 &amp; 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41848"/>
            <a:ext cx="11155680" cy="5084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 dirty="0">
                <a:solidFill>
                  <a:srgbClr val="0F2A4A"/>
                </a:solidFill>
                <a:latin typeface="Calibri"/>
              </a:rPr>
              <a:t>3 times</a:t>
            </a:r>
            <a:r>
              <a:rPr lang="en-US" sz="1250" b="1" dirty="0">
                <a:solidFill>
                  <a:srgbClr val="0F2A4A"/>
                </a:solidFill>
                <a:latin typeface="Calibri"/>
              </a:rPr>
              <a:t> 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Each generation step (documentation, code, PL1→PL2) is repeated; the highest-scoring attempt is retained per record</a:t>
            </a:r>
          </a:p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2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 dirty="0" err="1">
                <a:solidFill>
                  <a:srgbClr val="1A1F2B"/>
                </a:solidFill>
                <a:latin typeface="Calibri"/>
              </a:rPr>
              <a:t>compute_summary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() aggregates results by language (Python / C++) and by phase (NL→PL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1/PL2 and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 </a:t>
            </a:r>
            <a:r>
              <a:rPr lang="en-US" sz="1250" b="0" i="0" dirty="0">
                <a:solidFill>
                  <a:srgbClr val="1A1F2B"/>
                </a:solidFill>
                <a:latin typeface="Calibri"/>
              </a:rPr>
              <a:t>PL2-&gt;</a:t>
            </a:r>
            <a:r>
              <a:rPr sz="1250" b="0" i="0" dirty="0">
                <a:solidFill>
                  <a:srgbClr val="1A1F2B"/>
                </a:solidFill>
                <a:latin typeface="Calibri"/>
              </a:rPr>
              <a:t>NL→PL1→PL2)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Issues and Learnings from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713564"/>
              </p:ext>
            </p:extLst>
          </p:nvPr>
        </p:nvGraphicFramePr>
        <p:xfrm>
          <a:off x="411480" y="1234440"/>
          <a:ext cx="11384279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44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Issue Faced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No dataset had matching Python &amp; C++ code for the same intent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Generate PL2 from the PL1 documentation; treat the original PL1 as ground truth for the reverse check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Python code used packages with no C++ equivalent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Reversed the pipeline — generate documentation from C++, produce Python from it, then convert back to C++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is a completion model — kept repeating documentation instead of generating code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Wrong model choice for NL→PL; switched to Qwen/Qwen2.5-Coder-7B-Instruct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. Qwen/Qwen2.5-Coder-0.5B-Instruct had similar prompt </a:t>
                      </a:r>
                      <a:r>
                        <a:rPr lang="en-US" sz="1030" dirty="0" err="1">
                          <a:solidFill>
                            <a:srgbClr val="1A1F2B"/>
                          </a:solidFill>
                          <a:latin typeface="+mn-lt"/>
                        </a:rPr>
                        <a:t>reptition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 problem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30" dirty="0">
                          <a:solidFill>
                            <a:srgbClr val="1A1F2B"/>
                          </a:solidFill>
                          <a:latin typeface="Calibri"/>
                        </a:rPr>
                        <a:t>Moved to  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Qwen/Qwen2.5-Coder-0.5B-Instruct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Qwen/Qwen2.5-Coder-0.5B-Instruct had similar prompt </a:t>
                      </a:r>
                      <a:r>
                        <a:rPr lang="en-US" sz="1030" dirty="0" err="1">
                          <a:solidFill>
                            <a:srgbClr val="1A1F2B"/>
                          </a:solidFill>
                          <a:latin typeface="+mn-lt"/>
                        </a:rPr>
                        <a:t>reptition</a:t>
                      </a:r>
                      <a:r>
                        <a:rPr lang="en-US" sz="1030" dirty="0">
                          <a:solidFill>
                            <a:srgbClr val="1A1F2B"/>
                          </a:solidFill>
                          <a:latin typeface="+mn-lt"/>
                        </a:rPr>
                        <a:t> problem</a:t>
                      </a:r>
                      <a:endParaRPr sz="1030" dirty="0">
                        <a:solidFill>
                          <a:srgbClr val="1A1F2B"/>
                        </a:solidFill>
                        <a:latin typeface="Calibri"/>
                      </a:endParaRP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threw index-out-of-bounds errors; CUDA:1 tensors held garbage values — hooks, rope_scaling and token-limit fixes all failed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Pinned to a single GPU (CUDA_VISIBLE_DEVICES) with CUDA_LAUNCH_BLOCKING / TORCH_USE_CUDA_DSA for debugging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7B model's VRAM footprint too large for the available GPUs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4-bit quantization (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BitsAndBytes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) cut usage from ~14 GB to ~4 GB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One Qwen model overloaded with three roles — documentation generation, code generation, and LLM-judge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Accepted as a memory-driven design constraint; no alternative model was available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Judging code correctness without compiling or executing it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Used Qwen as an LLM-judge scoring compiles / 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logic_correct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 / </a:t>
                      </a:r>
                      <a:r>
                        <a:rPr sz="1030" dirty="0" err="1">
                          <a:solidFill>
                            <a:srgbClr val="1A1F2B"/>
                          </a:solidFill>
                          <a:latin typeface="Calibri"/>
                        </a:rPr>
                        <a:t>edge_cases</a:t>
                      </a:r>
                      <a:r>
                        <a:rPr sz="1030" dirty="0">
                          <a:solidFill>
                            <a:srgbClr val="1A1F2B"/>
                          </a:solidFill>
                          <a:latin typeface="Calibri"/>
                        </a:rPr>
                        <a:t> / verdict, plus a 0–1 score</a:t>
                      </a:r>
                    </a:p>
                  </a:txBody>
                  <a:tcPr marT="38100" marB="381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Curate a parallel Python–C++ dataset with shared intent/documentation for more reliable PL1→PL2 evaluation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Add execution-based validation — auto-generate test cases and run code in a sandbox to confirm functional equivalence, not just similarity scores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Scale baseline &amp; validation runs to the full dataset once GPU memory/fragmentation issues are resolved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Tune the relative weighting of AST, </a:t>
            </a:r>
            <a:r>
              <a:rPr sz="1550" b="0" i="0" dirty="0" err="1">
                <a:solidFill>
                  <a:srgbClr val="1A1F2B"/>
                </a:solidFill>
                <a:latin typeface="Calibri"/>
              </a:rPr>
              <a:t>GraphCodeBERTScore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, and execution accuracy in the final accuracy metric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Text-to-speech readout of generated documentation — extends the voice stretch goal end-to-end</a:t>
            </a:r>
          </a:p>
          <a:p>
            <a:pPr marL="0" indent="0" algn="l">
              <a:lnSpc>
                <a:spcPct val="108000"/>
              </a:lnSpc>
              <a:spcAft>
                <a:spcPts val="1800"/>
              </a:spcAft>
            </a:pPr>
            <a:r>
              <a:rPr sz="1550" b="1" dirty="0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 dirty="0">
                <a:solidFill>
                  <a:srgbClr val="1A1F2B"/>
                </a:solidFill>
                <a:latin typeface="Calibri"/>
              </a:rPr>
              <a:t>Extend beyond Python/C++ to lower-resource, legacy languages (e.g. Ada95) — real-world need given shrinking specialist workforces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2000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Execution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55F6E"/>
                </a:solidFill>
                <a:latin typeface="Calibri"/>
              </a:rPr>
              <a:t>Accuracy by model / fine-tuning duration, across the Baseline and Validation splits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290428"/>
              </p:ext>
            </p:extLst>
          </p:nvPr>
        </p:nvGraphicFramePr>
        <p:xfrm>
          <a:off x="502920" y="1691640"/>
          <a:ext cx="11201400" cy="4554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0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/ Metric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6200" marR="76200" marT="25400" marB="25400" anchor="ctr"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1" i="1" dirty="0">
                          <a:solidFill>
                            <a:srgbClr val="555F6E"/>
                          </a:solidFill>
                          <a:latin typeface="Calibri"/>
                        </a:rPr>
                        <a:t>codegen-350m</a:t>
                      </a:r>
                      <a:r>
                        <a:rPr lang="en-US" sz="1600" b="1" i="1" baseline="3000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  <a:endParaRPr sz="1100" b="1" i="1" dirty="0">
                        <a:solidFill>
                          <a:srgbClr val="FF0000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092156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1" i="1" dirty="0">
                          <a:solidFill>
                            <a:srgbClr val="555F6E"/>
                          </a:solidFill>
                          <a:latin typeface="Calibri"/>
                        </a:rPr>
                        <a:t>Qwen-0.5B</a:t>
                      </a:r>
                      <a:r>
                        <a:rPr lang="en-US" sz="1100" b="1" i="1" dirty="0">
                          <a:solidFill>
                            <a:srgbClr val="FF0000"/>
                          </a:solidFill>
                          <a:latin typeface="+mn-lt"/>
                        </a:rPr>
                        <a:t>*</a:t>
                      </a:r>
                      <a:endParaRPr sz="1100" b="1" i="1" dirty="0">
                        <a:solidFill>
                          <a:srgbClr val="FF0000"/>
                        </a:solidFill>
                        <a:latin typeface="Calibri"/>
                      </a:endParaRP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1" dirty="0">
                          <a:solidFill>
                            <a:srgbClr val="9AA3AE"/>
                          </a:solidFill>
                          <a:latin typeface="Calibri"/>
                        </a:rPr>
                        <a:t>NA</a:t>
                      </a:r>
                    </a:p>
                  </a:txBody>
                  <a:tcPr marL="76200" marR="76200" marT="25400" marB="25400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251">
                <a:tc gridSpan="3">
                  <a:txBody>
                    <a:bodyPr/>
                    <a:lstStyle/>
                    <a:p>
                      <a:pPr algn="l"/>
                      <a:r>
                        <a:rPr sz="1200" b="1" i="0" dirty="0">
                          <a:solidFill>
                            <a:srgbClr val="FFFFFF"/>
                          </a:solidFill>
                          <a:latin typeface="Calibri"/>
                        </a:rPr>
                        <a:t>Qwen-7B  —  3 Epochs</a:t>
                      </a:r>
                    </a:p>
                  </a:txBody>
                  <a:tcPr marL="76200" marR="76200" marT="25400" marB="25400" anchor="ctr">
                    <a:solidFill>
                      <a:srgbClr val="1F7A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PL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0.7223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0.6997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1A1F2B"/>
                          </a:solidFill>
                          <a:latin typeface="Calibri"/>
                        </a:rPr>
                        <a:t>AST Score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0.5308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0.4901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GCB Score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0.9138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0.9092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Py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0.7339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0.7449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C++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0.7104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0.6545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C++ -&gt; Python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0.6868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251">
                <a:tc gridSpan="3"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Qwen-7B  —  30 Epochs</a:t>
                      </a:r>
                    </a:p>
                  </a:txBody>
                  <a:tcPr marL="76200" marR="76200" marT="25400" marB="25400" anchor="ctr">
                    <a:solidFill>
                      <a:srgbClr val="1F7A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1A1F2B"/>
                          </a:solidFill>
                          <a:latin typeface="Calibri"/>
                        </a:rPr>
                        <a:t>NL -&gt; PL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0.6987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AST Score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0.5321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0.4565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GCB Score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0.9163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0.9406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Py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0.7359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0.7269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NL -&gt; C++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0.7123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6251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F2B"/>
                          </a:solidFill>
                          <a:latin typeface="Calibri"/>
                        </a:rPr>
                        <a:t>C++ -&gt; Python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A1F2B"/>
                          </a:solidFill>
                          <a:latin typeface="Calibri"/>
                        </a:rPr>
                        <a:t>0.6806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1A1F2B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6272784"/>
            <a:ext cx="1115568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b="1" i="1" baseline="30000" dirty="0">
                <a:solidFill>
                  <a:srgbClr val="FF0000"/>
                </a:solidFill>
              </a:rPr>
              <a:t>*</a:t>
            </a:r>
            <a:r>
              <a:rPr sz="950" b="0" i="1" dirty="0">
                <a:solidFill>
                  <a:srgbClr val="555F6E"/>
                </a:solidFill>
                <a:latin typeface="Calibri"/>
              </a:rPr>
              <a:t>codegen-350m and Qwen-0.5B were not evaluated for this comparison (NA) — see Issues &amp; Learnings for why codegen-350m was dropped.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2000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ABLATION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Execution Results — Visualized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3840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55F6E"/>
                </a:solidFill>
                <a:latin typeface="Calibri"/>
              </a:rPr>
              <a:t>More training epochs move every metric up, consistently, on both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72784"/>
            <a:ext cx="11155680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5F6E"/>
                </a:solidFill>
                <a:latin typeface="Calibri"/>
              </a:rPr>
              <a:t>Qwen2.5-Coder-7B + LoRA. Bars grouped by fine-tuning duration (3 vs. 30 epochs); left panel = Baseline split, right panel = Validation split.</a:t>
            </a:r>
          </a:p>
        </p:txBody>
      </p:sp>
      <p:pic>
        <p:nvPicPr>
          <p:cNvPr id="11" name="Picture 10" descr="epoch_compariso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880" y="1572768"/>
            <a:ext cx="8778240" cy="45903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7A3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C7D9E2"/>
                </a:solidFill>
                <a:latin typeface="Calibri"/>
              </a:rPr>
              <a:t>Taran Tripathi, Prakhar Nigam, Kihim Lohitha, Tushnik Chakrabarty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 dirty="0" err="1">
                <a:solidFill>
                  <a:schemeClr val="bg1"/>
                </a:solidFill>
                <a:latin typeface="Calibri"/>
              </a:rPr>
              <a:t>CodeGen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IIIT Hyderabad Capstone Project, Group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447dd6a-a4a1-440b-a6a3-9124ef1ee017}" enabled="1" method="Privileged" siteId="{7a18110d-ef9b-4274-acef-e62ab0fe28e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1957</Words>
  <Application>Microsoft Office PowerPoint</Application>
  <PresentationFormat>Widescreen</PresentationFormat>
  <Paragraphs>286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Tripathi, Taran (IND)</dc:creator>
  <cp:keywords/>
  <dc:description>generated using python-pptx</dc:description>
  <cp:lastModifiedBy>Tripathi, Taran (IND)</cp:lastModifiedBy>
  <cp:revision>8</cp:revision>
  <dcterms:created xsi:type="dcterms:W3CDTF">2013-01-27T09:14:16Z</dcterms:created>
  <dcterms:modified xsi:type="dcterms:W3CDTF">2026-08-02T03:03:56Z</dcterms:modified>
  <cp:category/>
</cp:coreProperties>
</file>