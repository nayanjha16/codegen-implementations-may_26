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46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My project fine-tunes Qwen2.5-Coder-1.5B into a two-stage code generator: stage one turns a natural-language request into Java, and stage two translates that Java into equivalent C#. The whole pipeline uses parameter-efficient LoRA fine-tuning and runs on a single 16 GB T4 GPU. Over the next ~12 minutes I'll cover the architecture, training, inference, evaluation results, representative examples, and conclusions with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business problem: organizations that ship on both the JVM and .NET re-implement identical logic in Java and C#, which is slow and error-prone. My objective was a self-hostable model that goes from plain English to Java to C# in one flow, trainable on a single commodity T4 using </a:t>
            </a:r>
            <a:r>
              <a:rPr dirty="0" err="1"/>
              <a:t>LoRA</a:t>
            </a:r>
            <a:r>
              <a:rPr dirty="0"/>
              <a:t>. The architecture is the crucial design decision on this slide: I use ONE shared, frozen, 4-bit Qwen base and attach TWO separate </a:t>
            </a:r>
            <a:r>
              <a:rPr dirty="0" err="1"/>
              <a:t>LoRA</a:t>
            </a:r>
            <a:r>
              <a:rPr dirty="0"/>
              <a:t> adapters. Stage 2 loads a fresh copy of the base, so training it never touches Stage 1. The adapters are applied sequentially at inference, not 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For data: Stage 1 uses </a:t>
            </a:r>
            <a:r>
              <a:rPr dirty="0" err="1"/>
              <a:t>code_search_net</a:t>
            </a:r>
            <a:r>
              <a:rPr dirty="0"/>
              <a:t> Java, mapping documentation to code on 5,000 samples. Stage 2 needs parallel Java-to-C#; I built an auto-fallback loader that tries </a:t>
            </a:r>
            <a:r>
              <a:rPr dirty="0" err="1"/>
              <a:t>XLCoST</a:t>
            </a:r>
            <a:r>
              <a:rPr dirty="0"/>
              <a:t>, then </a:t>
            </a:r>
            <a:r>
              <a:rPr dirty="0" err="1"/>
              <a:t>CodeTransOcean</a:t>
            </a:r>
            <a:r>
              <a:rPr dirty="0"/>
              <a:t>, then </a:t>
            </a:r>
            <a:r>
              <a:rPr dirty="0" err="1"/>
              <a:t>CodeXGLUE</a:t>
            </a:r>
            <a:r>
              <a:rPr dirty="0"/>
              <a:t> — </a:t>
            </a:r>
            <a:r>
              <a:rPr dirty="0" err="1"/>
              <a:t>CodeXGLUE</a:t>
            </a:r>
            <a:r>
              <a:rPr dirty="0"/>
              <a:t> was selected at run time. Pairs are filtered, de-duplicated, capped, and split 95/5. Crucially, the SAME prompt template is used for training and inference, and I append EOS so the model learns to stop. The model is Qwen2.5-Coder-1.5B loaded in 4-bit via </a:t>
            </a:r>
            <a:r>
              <a:rPr dirty="0" err="1"/>
              <a:t>Unsloth</a:t>
            </a:r>
            <a:r>
              <a:rPr dirty="0"/>
              <a:t>; </a:t>
            </a:r>
            <a:r>
              <a:rPr dirty="0" err="1"/>
              <a:t>LoRA</a:t>
            </a:r>
            <a:r>
              <a:rPr dirty="0"/>
              <a:t> adapters target the attention and MLP projections, training only about 1% of parameters. With FP16, gradient checkpointing, and an 8-bit paged optimizer it fits in 16 GB. Key hyperparameters are on the chips: rank 16, alpha 32 and 16, learning rates 2e-5 and 2e-4, 3 and 2 epochs, seed 3407 for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inference the user only supplies natural language. generate_csharp_from_nl internally chains the two stages: Stage 1 produces Java, which is fed straight into Stage 2 to produce C#, and both intermediates are returned. Prompt engineering is deliberate: the same instruction/response template is used for training and inference, and I add an explicit language hint because Qwen-Coder otherwise defaults to Python on generic prompts. The prompt echo is stripped at the response marker. For deployment, both adapters and the tokenizer are saved to a timestamped folder, then each stage is merged to FP16 and pushed to its own Hugging Face repo — they can't be fused because they run sequentially. Three clean public functions expose the whole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Evaluation is where the nuance matters. On Stage 1 I compare the fine-tuned adapter against the untuned base. The fine-tuned model clearly wins n-gram, weighted n-gram, and syntax match, and CodeBERTScore rises from 0.65 to 0.77. Interestingly the base model shows a HIGHER raw CodeBLEU — but that is a known artifact: CodeBLEU's dataflow term is normalized by the tiny number of edges in near-empty output, so a degenerate base scores 0.81 on dataflow. Excluding dataflow, the fine-tuned model wins 0.153 to 0.071. This is why I report the component breakdown, not just the aggregate. Stage 2 results are strong across the board: BLEU 81.8, CodeBLEU 0.75, AST similarity 0.99, and both syntax accuracy and the compilation proxy at 0.92. Note the compilation rate uses a tree-sitter syntax proxy because the eval image had no C# toolchain.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representative end-to-end example. The prompt is a plain-English request for a factorial function. Stage 1 emits clean, correct Java; Stage 2 translates it into idiomatic C# — note it uses PascalCase 'Factorial', which shows it learned C# conventions rather than copying the Java verbatim. Strengths: correct, compilable, idiomatic output on common algorithms, reliable language anchoring, and preserved semantics reflected in the 0.99 AST similarity. Honest limitations: a 1.5B model struggles on long or niche code; because the pipeline is sequential, a Stage 1 error can propagate into Stage 2; and my compilation metric is a tree-sitter syntax proxy rather than a real compiler on the eval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conclude: I delivered a working end-to-end NL-to-Java-to-C# generator on a single T4, built from two independent LoRA adapters over one shared frozen base, with measurable gains over the base model and strong Stage 2 translation quality. Beyond the model, the contributions are methodological: a reproducible, config-driven, fully-logged pipeline; a fair evaluation that surfaces and corrects the CodeBLEU dataflow artifact; an auto-fallback dataset loader; and strict train/inference prompt parity. Future work: scale the base model and data, put a real C# compiler and unit tests in the evaluation loop, explore a single multitask adapter, add retrieval for domain APIs, and extend to more languages. The takeaway is that disciplined PEFT plus artifact-aware evaluation yields a practical, self-hostable tool and a reusable template for reproducible fine-tuning research. Thank you —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94E21-1C03-0A47-551E-7BC1D9F5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6E926-E5BD-86AF-1F03-83A16E3BC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37A74-8A0C-4A23-DB1B-A7B667C55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conclude: I delivered a working end-to-end NL-to-Java-to-C# generator on a single T4, built from two independent LoRA adapters over one shared frozen base, with measurable gains over the base model and strong Stage 2 translation quality. Beyond the model, the contributions are methodological: a reproducible, config-driven, fully-logged pipeline; a fair evaluation that surfaces and corrects the CodeBLEU dataflow artifact; an auto-fallback dataset loader; and strict train/inference prompt parity. Future work: scale the base model and data, put a real C# compiler and unit tests in the evaluation loop, explore a single multitask adapter, add retrieval for domain APIs, and extend to more languages. The takeaway is that disciplined PEFT plus artifact-aware evaluation yields a practical, self-hostable tool and a reusable template for reproducible fine-tuning research. Thank you — I'm happy to take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02FA9-51A1-E0F8-C29E-9302A8A27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684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Presented By : Taruni Swathi, </a:t>
            </a:r>
            <a:r>
              <a:rPr lang="en-US" dirty="0" err="1"/>
              <a:t>Sattwik</a:t>
            </a:r>
            <a:r>
              <a:rPr lang="en-US" dirty="0"/>
              <a:t> Ayyagari, Shib Sankar, Dhruba Maiti</a:t>
            </a:r>
          </a:p>
          <a:p>
            <a:r>
              <a:rPr lang="en-US" dirty="0"/>
              <a:t>Date : Sunday, July 05, 2026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2800" b="1" i="0" dirty="0">
                <a:solidFill>
                  <a:srgbClr val="16A085"/>
                </a:solidFill>
                <a:latin typeface="Segoe UI"/>
              </a:rPr>
              <a:t>CODEGEN-2</a:t>
            </a:r>
            <a:endParaRPr sz="2800" b="1" i="0" dirty="0">
              <a:solidFill>
                <a:srgbClr val="16A085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 dirty="0">
                <a:solidFill>
                  <a:srgbClr val="FFFFFF"/>
                </a:solidFill>
                <a:latin typeface="Segoe UI"/>
              </a:rPr>
              <a:t>Two-Stage </a:t>
            </a:r>
            <a:r>
              <a:rPr sz="4000" b="1" i="0" dirty="0" err="1">
                <a:solidFill>
                  <a:srgbClr val="FFFFFF"/>
                </a:solidFill>
                <a:latin typeface="Segoe UI"/>
              </a:rPr>
              <a:t>LoRA</a:t>
            </a:r>
            <a:r>
              <a:rPr sz="4000" b="1" i="0" dirty="0">
                <a:solidFill>
                  <a:srgbClr val="FFFFFF"/>
                </a:solidFill>
                <a:latin typeface="Segoe UI"/>
              </a:rPr>
              <a:t> Fine-Tuning of Qwen2.5-Coder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0" i="0" dirty="0">
                <a:solidFill>
                  <a:srgbClr val="BFD7EA"/>
                </a:solidFill>
                <a:latin typeface="Segoe UI"/>
              </a:rPr>
              <a:t>for Natural Language → Java → C# Code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6070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 dirty="0">
                <a:solidFill>
                  <a:srgbClr val="D5DBDB"/>
                </a:solidFill>
                <a:latin typeface="Segoe UI"/>
              </a:rPr>
              <a:t>A parameter-efficient</a:t>
            </a:r>
            <a:r>
              <a:rPr lang="en-US" sz="1500" b="0" i="1" dirty="0">
                <a:solidFill>
                  <a:srgbClr val="D5DBDB"/>
                </a:solidFill>
                <a:latin typeface="Segoe UI"/>
              </a:rPr>
              <a:t> model</a:t>
            </a:r>
            <a:r>
              <a:rPr sz="1500" b="0" i="1" dirty="0">
                <a:solidFill>
                  <a:srgbClr val="D5DBDB"/>
                </a:solidFill>
                <a:latin typeface="Segoe UI"/>
              </a:rPr>
              <a:t> that turns plain-English intent into idiomatic Java and equivalent C#.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2468880" cy="685800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Segoe UI"/>
              </a:rPr>
              <a:t>Natural Language</a:t>
            </a:r>
          </a:p>
          <a:p>
            <a:pPr algn="ctr"/>
            <a:r>
              <a:rPr sz="900" dirty="0">
                <a:solidFill>
                  <a:srgbClr val="FFFFFF"/>
                </a:solidFill>
                <a:latin typeface="Segoe UI"/>
              </a:rPr>
              <a:t>user intent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01568" y="5001768"/>
            <a:ext cx="502920" cy="292608"/>
          </a:xfrm>
          <a:prstGeom prst="rightArrow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23360" y="4800600"/>
            <a:ext cx="2468880" cy="6858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Java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Stage 1 adapter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01968" y="5001768"/>
            <a:ext cx="502920" cy="292608"/>
          </a:xfrm>
          <a:prstGeom prst="rightArrow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23760" y="4800600"/>
            <a:ext cx="2468880" cy="6858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C#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Stage 2 adapter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01 · MOTIVATION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14884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Segoe U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749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300">
                <a:solidFill>
                  <a:srgbClr val="1C2833"/>
                </a:solidFill>
                <a:latin typeface="Segoe UI"/>
              </a:rPr>
              <a:t>Teams maintain the same logic twice — once in Java (JVM), once in C# (.NET).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300">
                <a:solidFill>
                  <a:srgbClr val="1C2833"/>
                </a:solidFill>
                <a:latin typeface="Segoe UI"/>
              </a:rPr>
              <a:t>Manual re-implementation is slow, costly, and drifts out of sync.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300">
                <a:solidFill>
                  <a:srgbClr val="1C2833"/>
                </a:solidFill>
                <a:latin typeface="Segoe UI"/>
              </a:rPr>
              <a:t>Large proprietary code LLMs are expensive and hard to self-host.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214884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74920" cy="107721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NL request → idiomatic Java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(PL1)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 → equivalent C#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(PL2)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.</a:t>
            </a:r>
            <a:endParaRPr lang="en-US" sz="1300" dirty="0">
              <a:solidFill>
                <a:srgbClr val="1C2833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Base Model - </a:t>
            </a:r>
            <a:r>
              <a:rPr lang="en-US" sz="1300" dirty="0" err="1">
                <a:solidFill>
                  <a:srgbClr val="1C2833"/>
                </a:solidFill>
                <a:latin typeface="Segoe UI"/>
              </a:rPr>
              <a:t>unsloth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/Qwen2.5-Coder-1.5B-Instruct-bnb-4bit.</a:t>
            </a:r>
            <a:endParaRPr sz="1300" dirty="0">
              <a:solidFill>
                <a:srgbClr val="1C2833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Parameter-efficient (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LoRA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)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 so it trains faster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.</a:t>
            </a:r>
            <a:endParaRPr lang="en-US" sz="1300" dirty="0">
              <a:solidFill>
                <a:srgbClr val="1C2833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lang="en-US" sz="1300" dirty="0">
                <a:solidFill>
                  <a:srgbClr val="1C2833"/>
                </a:solidFill>
                <a:latin typeface="Segoe UI"/>
              </a:rPr>
              <a:t>Catastrophic Forgetting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2A43"/>
                </a:solidFill>
                <a:latin typeface="Segoe UI"/>
              </a:rPr>
              <a:t>HIGH-LEVEL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1965960" cy="9144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Natural
Language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user prompt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42032" y="4407408"/>
            <a:ext cx="457200" cy="310896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35808" y="4114800"/>
            <a:ext cx="2468880" cy="9144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1 LoRA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Qwen base (frozen)
NL → Java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77840" y="4407408"/>
            <a:ext cx="457200" cy="310896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53328" y="4114800"/>
            <a:ext cx="2468880" cy="9144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2 LoRA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Qwen base (frozen)
Java → C#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95360" y="4407408"/>
            <a:ext cx="457200" cy="310896"/>
          </a:xfrm>
          <a:prstGeom prst="rightArrow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70848" y="4114800"/>
            <a:ext cx="2606040" cy="914400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Outputs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Java + C#
+ metrics +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dirty="0">
                <a:solidFill>
                  <a:srgbClr val="E67E22"/>
                </a:solidFill>
                <a:latin typeface="Segoe UI"/>
              </a:rPr>
              <a:t>Key idea:  </a:t>
            </a:r>
            <a:r>
              <a:rPr sz="1300" b="0" i="0" dirty="0">
                <a:solidFill>
                  <a:srgbClr val="1C2833"/>
                </a:solidFill>
                <a:latin typeface="Segoe UI"/>
              </a:rPr>
              <a:t>one shared frozen 4-bit base model + two independent, sequentially-applied </a:t>
            </a:r>
            <a:r>
              <a:rPr sz="1300" b="0" i="0" dirty="0" err="1">
                <a:solidFill>
                  <a:srgbClr val="1C2833"/>
                </a:solidFill>
                <a:latin typeface="Segoe UI"/>
              </a:rPr>
              <a:t>LoRA</a:t>
            </a:r>
            <a:r>
              <a:rPr sz="1300" b="0" i="0" dirty="0">
                <a:solidFill>
                  <a:srgbClr val="1C2833"/>
                </a:solidFill>
                <a:latin typeface="Segoe UI"/>
              </a:rPr>
              <a:t> adapters. Stage 1 is never modified when Stage 2 is trained, so the adapters cannot interfere.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02 · DATA, MODEL &amp;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Model Architecture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Segoe UI"/>
              </a:rPr>
              <a:t>DATASETS &amp;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5778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Stage 1: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code_search_net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 (Java) — doc → code, 5,000 samples.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95A5A6"/>
                </a:solidFill>
                <a:latin typeface="Segoe UI"/>
              </a:rPr>
              <a:t>–  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Clean 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javadoc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 → instruction; append "Write the solution in Java" hint.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Stage 2: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Java↔C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# corpus with auto-fallback loader.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95A5A6"/>
                </a:solidFill>
                <a:latin typeface="Segoe UI"/>
              </a:rPr>
              <a:t>–  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XLCoST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 → 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CodeTransOcean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 → 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CodeXGLUE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 (selected: 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CodeXGLUE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).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95A5A6"/>
                </a:solidFill>
                <a:latin typeface="Segoe UI"/>
              </a:rPr>
              <a:t>–  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Filter, de-duplicate, cap at 6k, 95/5 train/</a:t>
            </a:r>
            <a:r>
              <a:rPr sz="1200" dirty="0" err="1">
                <a:solidFill>
                  <a:srgbClr val="5D6D7E"/>
                </a:solidFill>
                <a:latin typeface="Segoe UI"/>
              </a:rPr>
              <a:t>val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 split.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Shared prompt template for train + inference (no format drift).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95A5A6"/>
                </a:solidFill>
                <a:latin typeface="Segoe UI"/>
              </a:rPr>
              <a:t>–  </a:t>
            </a:r>
            <a:r>
              <a:rPr sz="1200" dirty="0">
                <a:solidFill>
                  <a:srgbClr val="5D6D7E"/>
                </a:solidFill>
                <a:latin typeface="Segoe UI"/>
              </a:rPr>
              <a:t>EOS appended so the model learns where the answer 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303520" cy="278892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BASE MODEL &amp; PEFT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892040" cy="135421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Qwen2.5-Coder-1.5B-Instruct, 4-bit (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QLoRA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) via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Unsloth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LoRA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 on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q,k,v,o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 + gate/up/down projections.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Only ~1% of parameters trained; base weights frozen.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FP16 + gradient checkpointing + 8-bit paged </a:t>
            </a:r>
            <a:r>
              <a:rPr sz="1300" dirty="0" err="1">
                <a:solidFill>
                  <a:srgbClr val="1C2833"/>
                </a:solidFill>
                <a:latin typeface="Segoe UI"/>
              </a:rPr>
              <a:t>AdamW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C2833"/>
                </a:solidFill>
                <a:latin typeface="Segoe UI"/>
              </a:rPr>
              <a:t>Fits in ~16 GB.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F2A43"/>
                </a:solidFill>
                <a:latin typeface="Segoe UI"/>
              </a:rPr>
              <a:t>KEY HYPERPARAMETERS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709160"/>
            <a:ext cx="1600200" cy="8686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818888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2A43"/>
                </a:solidFill>
                <a:latin typeface="Segoe U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951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Segoe UI"/>
              </a:rPr>
              <a:t>LoRA rank (r)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4709160"/>
            <a:ext cx="2057400" cy="8686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0280" y="4818888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2A43"/>
                </a:solidFill>
                <a:latin typeface="Segoe UI"/>
              </a:rPr>
              <a:t>32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239512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Segoe UI"/>
              </a:rPr>
              <a:t>LoRA α  (S1 / S2)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709160"/>
            <a:ext cx="2148840" cy="8686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481888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2A43"/>
                </a:solidFill>
                <a:latin typeface="Segoe UI"/>
              </a:rPr>
              <a:t>2e-5 / 2e-4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239512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Segoe UI"/>
              </a:rPr>
              <a:t>LR  (S1 / S2)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709160"/>
            <a:ext cx="1783080" cy="86868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818888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2A43"/>
                </a:solidFill>
                <a:latin typeface="Segoe UI"/>
              </a:rPr>
              <a:t>3 /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39512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Segoe UI"/>
              </a:rPr>
              <a:t>Epochs S1 / S2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4709160"/>
            <a:ext cx="1463040" cy="86868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48188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F2A43"/>
                </a:solidFill>
                <a:latin typeface="Segoe UI"/>
              </a:rPr>
              <a:t>2048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52395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6D7E"/>
                </a:solidFill>
                <a:latin typeface="Segoe UI"/>
              </a:rPr>
              <a:t>Max seq 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67E22"/>
                </a:solidFill>
                <a:latin typeface="Segoe UI"/>
              </a:rPr>
              <a:t>Design decision:  </a:t>
            </a:r>
            <a:r>
              <a:rPr sz="1250" b="0" i="0">
                <a:solidFill>
                  <a:srgbClr val="1C2833"/>
                </a:solidFill>
                <a:latin typeface="Segoe UI"/>
              </a:rPr>
              <a:t>QLoRA + Unsloth cuts VRAM ~4× vs full fine-tuning; a version-tolerant SFTConfig builder keeps training portable across TRL/Transformers releases.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03 · CHAINED GENERATION &amp;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Inference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148840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NL Prompt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"factorial of n"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4912" y="1874519"/>
            <a:ext cx="502920" cy="310896"/>
          </a:xfrm>
          <a:prstGeom prst="rightArrow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743200" cy="105156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1 model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build_stage1_prompt()
+ Java hint · greedy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08192" y="1874519"/>
            <a:ext cx="502920" cy="310896"/>
          </a:xfrm>
          <a:prstGeom prst="rightArrow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5120" y="1508760"/>
            <a:ext cx="2743200" cy="105156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2 model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build_stage2_prompt()
+ C# hint · greedy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91472" y="1874519"/>
            <a:ext cx="502920" cy="310896"/>
          </a:xfrm>
          <a:prstGeom prst="rightArrow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0" y="1508760"/>
            <a:ext cx="1645920" cy="1051560"/>
          </a:xfrm>
          <a:prstGeom prst="roundRect">
            <a:avLst/>
          </a:prstGeom>
          <a:solidFill>
            <a:srgbClr val="16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C# Output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final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700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D6D7E"/>
                </a:solidFill>
                <a:latin typeface="Segoe UI"/>
              </a:rPr>
              <a:t>↳ intermediate 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700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D6D7E"/>
                </a:solidFill>
                <a:latin typeface="Segoe UI"/>
              </a:rPr>
              <a:t>↳ translated C#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5486400" cy="288036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735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Segoe UI"/>
              </a:rPr>
              <a:t>PROMPT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50749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### Instruction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  <a:latin typeface="Segoe UI"/>
              </a:rPr>
              <a:t>&lt;task&gt; + language hint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### Java / ### Response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  <a:latin typeface="Segoe UI"/>
              </a:rPr>
              <a:t>&lt;code&gt; + &lt;EOS&gt;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0292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Identical template at train + inference.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Explicit language hint stops Qwen defaulting to Python.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Prompt echo stripped at the response marker.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486400" cy="288036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2735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DEPLOYMENT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39312"/>
            <a:ext cx="50292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50">
                <a:solidFill>
                  <a:srgbClr val="1C2833"/>
                </a:solidFill>
                <a:latin typeface="Segoe UI"/>
              </a:rPr>
              <a:t>Adapters + tokenizer saved to timestamped run folder.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50">
                <a:solidFill>
                  <a:srgbClr val="1C2833"/>
                </a:solidFill>
                <a:latin typeface="Segoe UI"/>
              </a:rPr>
              <a:t>Each stage merged to FP16 and pushed to its own HF Hub repo.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50">
                <a:solidFill>
                  <a:srgbClr val="1C2833"/>
                </a:solidFill>
                <a:latin typeface="Segoe UI"/>
              </a:rPr>
              <a:t>Two adapters can't be fused → two published models.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50">
                <a:solidFill>
                  <a:srgbClr val="1C2833"/>
                </a:solidFill>
                <a:latin typeface="Segoe UI"/>
              </a:rPr>
              <a:t>Public API: generate_java_from_nl · generate_csharp_from_java · generate_csharp_from_nl.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50">
                <a:solidFill>
                  <a:srgbClr val="1C2833"/>
                </a:solidFill>
                <a:latin typeface="Segoe UI"/>
              </a:rPr>
              <a:t>Portable HF-token resolution (Kaggle → env → Colab → prompt).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04 · METRICS &amp; BASE VS FINE-TUNED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Evaluation &amp; Results</a:t>
            </a:r>
          </a:p>
        </p:txBody>
      </p:sp>
      <p:pic>
        <p:nvPicPr>
          <p:cNvPr id="7" name="Picture 6" descr="stage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989320" cy="2929812"/>
          </a:xfrm>
          <a:prstGeom prst="rect">
            <a:avLst/>
          </a:prstGeom>
        </p:spPr>
      </p:pic>
      <p:pic>
        <p:nvPicPr>
          <p:cNvPr id="8" name="Picture 7" descr="stage2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280160"/>
            <a:ext cx="5486400" cy="27844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526280"/>
            <a:ext cx="11292840" cy="160020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64515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7E22"/>
                </a:solidFill>
                <a:latin typeface="Segoe U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55778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Stage 1: fine-tuned wins n-gram, syntax &amp; CodeBERTScore (0.77 vs 0.65).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Base only "wins" raw CodeBLEU via inflated dataflow on near-empty output.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2E86C1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→ dataflow-excluded CodeBLEU: 0.153 vs 0.071 (fine-tuned).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029200"/>
            <a:ext cx="539496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Stage 2: BLEU 81.8 · CodeBLEU 0.75 · AST similarity 0.99.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Syntax accuracy &amp; compilation proxy both 0.92.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A085"/>
                </a:solidFill>
                <a:latin typeface="Segoe UI"/>
              </a:rPr>
              <a:t>▸  </a:t>
            </a:r>
            <a:r>
              <a:rPr sz="1200">
                <a:solidFill>
                  <a:srgbClr val="1C2833"/>
                </a:solidFill>
                <a:latin typeface="Segoe UI"/>
              </a:rPr>
              <a:t>Strong, faithful Java→C# translation on held-out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05 · QUALITATIVE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Generated Examples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7E22"/>
                </a:solidFill>
                <a:latin typeface="Segoe UI"/>
              </a:rPr>
              <a:t>Prompt:  </a:t>
            </a:r>
            <a:r>
              <a:rPr sz="1300" b="0" i="0">
                <a:solidFill>
                  <a:srgbClr val="1C2833"/>
                </a:solidFill>
                <a:latin typeface="Segoe UI"/>
              </a:rPr>
              <a:t>"write a function to compute the factorial of a number"  →  NL → Java → C#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486400" cy="2331720"/>
          </a:xfrm>
          <a:prstGeom prst="round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86400" cy="310896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7099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 STAGE 1 · Generated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75688"/>
            <a:ext cx="523036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public static long factorial(int n) {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if (n &lt;= 1) return 1;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long r = 1;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for (int i = 2; i &lt;= n; i++)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    r *= i;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return r;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532120" cy="2331720"/>
          </a:xfrm>
          <a:prstGeom prst="round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72200" y="1691640"/>
            <a:ext cx="5532120" cy="310896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709928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 STAGE 2 · Translated C#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075688"/>
            <a:ext cx="5276088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public static long Factorial(int n) {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if (n &lt;= 1) return 1;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long r = 1;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for (int i = 2; i &lt;= n; i++)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    r *= i;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    return r;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E8F0F7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02336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D6D7E"/>
                </a:solidFill>
                <a:latin typeface="Segoe UI"/>
              </a:rPr>
              <a:t>Note idiomatic C# casing (Factorial, PascalCase) — not a naive copy.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5486400" cy="173736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9472"/>
            <a:ext cx="50292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Correct, compilable, idiomatic translations on common algorithms.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Reliable Java-anchoring — no accidental Python fallback.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A085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Preserves control flow &amp; semantics (AST similarity 0.99).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434840"/>
            <a:ext cx="5532120" cy="173736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5445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7E22"/>
                </a:solidFill>
                <a:latin typeface="Segoe UI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19472"/>
            <a:ext cx="507492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1.5B model struggles with long / highly domain-specific code.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Errors can compound across the two-stage chain.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▸  </a:t>
            </a:r>
            <a:r>
              <a:rPr sz="1150">
                <a:solidFill>
                  <a:srgbClr val="1C2833"/>
                </a:solidFill>
                <a:latin typeface="Segoe UI"/>
              </a:rPr>
              <a:t>Compilation measured by syntax proxy, not a real C# compiler.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6A085"/>
                </a:solidFill>
                <a:latin typeface="Segoe UI"/>
              </a:rPr>
              <a:t>06 · CONTRIBUTIONS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331720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A085"/>
                </a:solidFill>
                <a:latin typeface="Segoe UI"/>
              </a:rPr>
              <a:t>KEY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74920" cy="1046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End-to-end NL → Java → C# pipeline.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Two independent </a:t>
            </a:r>
            <a:r>
              <a:rPr sz="1250" dirty="0" err="1">
                <a:solidFill>
                  <a:srgbClr val="1C2833"/>
                </a:solidFill>
                <a:latin typeface="Segoe UI"/>
              </a:rPr>
              <a:t>LoRA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 adapters on one shared frozen base.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Measurable gains over base (</a:t>
            </a:r>
            <a:r>
              <a:rPr sz="1250" dirty="0" err="1">
                <a:solidFill>
                  <a:srgbClr val="1C2833"/>
                </a:solidFill>
                <a:latin typeface="Segoe UI"/>
              </a:rPr>
              <a:t>CodeBERTScore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 0.65 → 0.77).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16A085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Strong Stage 2 translation (BLEU 81.8, AST 0.99).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233172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81328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b="1" i="0" dirty="0">
                <a:solidFill>
                  <a:srgbClr val="2E86C1"/>
                </a:solidFill>
                <a:latin typeface="Segoe UI"/>
              </a:rPr>
              <a:t>Challenges</a:t>
            </a:r>
            <a:endParaRPr sz="1200" b="1" i="0" dirty="0">
              <a:solidFill>
                <a:srgbClr val="2E86C1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74920" cy="184665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lang="en-US" sz="1400" dirty="0"/>
              <a:t>Finding the right dataset for code generation.</a:t>
            </a:r>
            <a:endParaRPr sz="1250" dirty="0">
              <a:solidFill>
                <a:srgbClr val="1C2833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lang="en-US" sz="1400" dirty="0"/>
              <a:t>Selecting optimal base model for the NL → Java → C# code gen.</a:t>
            </a:r>
            <a:endParaRPr sz="1250" dirty="0">
              <a:solidFill>
                <a:srgbClr val="1C2833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lang="en-US" sz="1250" dirty="0">
                <a:solidFill>
                  <a:srgbClr val="1C2833"/>
                </a:solidFill>
                <a:latin typeface="Segoe UI"/>
              </a:rPr>
              <a:t>Optimizing training configuration to achieve high-quality output.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2E86C1"/>
                </a:solidFill>
                <a:latin typeface="Segoe UI"/>
              </a:rPr>
              <a:t>▸ </a:t>
            </a:r>
            <a:r>
              <a:rPr lang="en-US" sz="1250" b="1" dirty="0">
                <a:solidFill>
                  <a:srgbClr val="2E86C1"/>
                </a:solidFill>
                <a:latin typeface="Segoe UI"/>
              </a:rPr>
              <a:t> </a:t>
            </a:r>
            <a:r>
              <a:rPr lang="en-US" sz="1400" dirty="0"/>
              <a:t>Training model efficiently with limited GPU &amp; compute resources</a:t>
            </a:r>
            <a:r>
              <a:rPr sz="1250" dirty="0">
                <a:solidFill>
                  <a:srgbClr val="1C2833"/>
                </a:solidFill>
                <a:latin typeface="Segoe UI"/>
              </a:rPr>
              <a:t>.</a:t>
            </a:r>
            <a:endParaRPr lang="en-US" sz="1250" dirty="0">
              <a:solidFill>
                <a:srgbClr val="1C2833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2E86C1"/>
                </a:solidFill>
                <a:latin typeface="Segoe UI"/>
              </a:rPr>
              <a:t>▸  </a:t>
            </a:r>
            <a:r>
              <a:rPr lang="en-US" sz="1250" dirty="0">
                <a:solidFill>
                  <a:srgbClr val="1C2833"/>
                </a:solidFill>
                <a:latin typeface="Segoe UI"/>
              </a:rPr>
              <a:t>Establishing meaningful evaluation metrics -</a:t>
            </a:r>
            <a:r>
              <a:rPr lang="en-US" sz="1250" dirty="0" err="1">
                <a:solidFill>
                  <a:srgbClr val="1C2833"/>
                </a:solidFill>
                <a:latin typeface="Segoe UI"/>
              </a:rPr>
              <a:t>CodeBLEU</a:t>
            </a:r>
            <a:r>
              <a:rPr lang="en-US" sz="1250" dirty="0">
                <a:solidFill>
                  <a:srgbClr val="1C2833"/>
                </a:solidFill>
                <a:latin typeface="Segoe UI"/>
              </a:rPr>
              <a:t>, </a:t>
            </a:r>
            <a:r>
              <a:rPr lang="en-US" sz="1250" dirty="0" err="1">
                <a:solidFill>
                  <a:srgbClr val="1C2833"/>
                </a:solidFill>
                <a:latin typeface="Segoe UI"/>
              </a:rPr>
              <a:t>CodeBERTScore</a:t>
            </a:r>
            <a:r>
              <a:rPr lang="en-US" sz="1250" dirty="0">
                <a:solidFill>
                  <a:srgbClr val="1C2833"/>
                </a:solidFill>
                <a:latin typeface="Segoe UI"/>
              </a:rPr>
              <a:t>, Compilation Rate.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sz="1250" dirty="0">
              <a:solidFill>
                <a:srgbClr val="1C2833"/>
              </a:solidFill>
              <a:latin typeface="Segoe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11201400" cy="1691640"/>
          </a:xfrm>
          <a:prstGeom prst="round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959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67E22"/>
                </a:solidFill>
                <a:latin typeface="Segoe UI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70832"/>
            <a:ext cx="5394960" cy="72840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 dirty="0">
                <a:solidFill>
                  <a:srgbClr val="E67E22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C2833"/>
                </a:solidFill>
                <a:latin typeface="Segoe UI"/>
              </a:rPr>
              <a:t>Scale to larger Qwen-Coder variants; more training data.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 dirty="0">
                <a:solidFill>
                  <a:srgbClr val="E67E22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C2833"/>
                </a:solidFill>
                <a:latin typeface="Segoe UI"/>
              </a:rPr>
              <a:t>Real C# compiler + unit-test execution in the loop.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 dirty="0">
                <a:solidFill>
                  <a:srgbClr val="E67E22"/>
                </a:solidFill>
                <a:latin typeface="Segoe UI"/>
              </a:rPr>
              <a:t>▸ </a:t>
            </a:r>
            <a:r>
              <a:rPr lang="en-US" sz="1200" b="1" dirty="0">
                <a:solidFill>
                  <a:srgbClr val="E67E22"/>
                </a:solidFill>
                <a:latin typeface="Segoe UI"/>
              </a:rPr>
              <a:t> </a:t>
            </a:r>
            <a:r>
              <a:rPr lang="en-US" sz="1200" dirty="0">
                <a:solidFill>
                  <a:srgbClr val="1C2833"/>
                </a:solidFill>
                <a:latin typeface="Segoe UI"/>
              </a:rPr>
              <a:t>Real Java compiler + unit-test execution in the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70832"/>
            <a:ext cx="5212080" cy="72840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 b="1" dirty="0">
                <a:solidFill>
                  <a:srgbClr val="E67E22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C2833"/>
                </a:solidFill>
                <a:latin typeface="Segoe UI"/>
              </a:rPr>
              <a:t>RAG / retrieval for domain-specific APIs.</a:t>
            </a:r>
            <a:endParaRPr lang="en-US" sz="1200" dirty="0">
              <a:solidFill>
                <a:srgbClr val="1C2833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200" b="1" dirty="0">
                <a:solidFill>
                  <a:srgbClr val="E67E22"/>
                </a:solidFill>
                <a:latin typeface="Segoe UI"/>
              </a:rPr>
              <a:t>▸  </a:t>
            </a:r>
            <a:r>
              <a:rPr lang="en-US" sz="1200" dirty="0">
                <a:solidFill>
                  <a:srgbClr val="1C2833"/>
                </a:solidFill>
                <a:latin typeface="Segoe UI"/>
              </a:rPr>
              <a:t>Documentation for generated code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endParaRPr sz="1200" dirty="0">
              <a:solidFill>
                <a:srgbClr val="1C2833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A8C50-E489-939D-F9AF-2046FB3A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4CB36F-D1A1-BF98-A7FD-61F6148997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48072-353B-C053-9316-AC5E17B8FC42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B7E0B-1EAD-DC9F-1EDF-8C52BEAABF41}"/>
              </a:ext>
            </a:extLst>
          </p:cNvPr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58FB0FA-385A-BF16-1717-0F6B0D3E5667}"/>
              </a:ext>
            </a:extLst>
          </p:cNvPr>
          <p:cNvSpPr/>
          <p:nvPr/>
        </p:nvSpPr>
        <p:spPr>
          <a:xfrm>
            <a:off x="1" y="1122926"/>
            <a:ext cx="12191694" cy="5652778"/>
          </a:xfrm>
          <a:prstGeom prst="round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2060"/>
                </a:solidFill>
              </a:rPr>
              <a:t>THANK YOU</a:t>
            </a:r>
            <a:endParaRPr sz="54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162D15-6217-461E-E2A0-F5CF277B29A7}"/>
              </a:ext>
            </a:extLst>
          </p:cNvPr>
          <p:cNvSpPr txBox="1"/>
          <p:nvPr/>
        </p:nvSpPr>
        <p:spPr>
          <a:xfrm>
            <a:off x="502920" y="6455664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5A5A6"/>
                </a:solidFill>
                <a:latin typeface="Segoe UI"/>
              </a:rPr>
              <a:t>Qwen2.5-Coder · NL → Java → C# · Two-Stage LoRA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4D1B9-0CFA-E242-6121-7A809FA74450}"/>
              </a:ext>
            </a:extLst>
          </p:cNvPr>
          <p:cNvSpPr txBox="1"/>
          <p:nvPr/>
        </p:nvSpPr>
        <p:spPr>
          <a:xfrm>
            <a:off x="10972800" y="64556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D6D7E"/>
                </a:solidFill>
                <a:latin typeface="Segoe UI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282BD-CD7E-B514-4B9E-EA2EE8440338}"/>
              </a:ext>
            </a:extLst>
          </p:cNvPr>
          <p:cNvSpPr txBox="1"/>
          <p:nvPr/>
        </p:nvSpPr>
        <p:spPr>
          <a:xfrm>
            <a:off x="502920" y="146304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>
                <a:solidFill>
                  <a:srgbClr val="16A085"/>
                </a:solidFill>
                <a:latin typeface="Segoe UI"/>
              </a:rPr>
              <a:t>0</a:t>
            </a:r>
            <a:r>
              <a:rPr lang="en-US" sz="1200" b="1" i="0" dirty="0">
                <a:solidFill>
                  <a:srgbClr val="16A085"/>
                </a:solidFill>
                <a:latin typeface="Segoe UI"/>
              </a:rPr>
              <a:t>7</a:t>
            </a:r>
            <a:r>
              <a:rPr sz="1200" b="1" i="0" dirty="0">
                <a:solidFill>
                  <a:srgbClr val="16A085"/>
                </a:solidFill>
                <a:latin typeface="Segoe UI"/>
              </a:rPr>
              <a:t> · </a:t>
            </a:r>
            <a:r>
              <a:rPr lang="en-US" sz="1200" b="1" i="0" dirty="0">
                <a:solidFill>
                  <a:srgbClr val="16A085"/>
                </a:solidFill>
                <a:latin typeface="Segoe UI"/>
              </a:rPr>
              <a:t>THANK YOU</a:t>
            </a:r>
            <a:endParaRPr sz="1200" b="1" i="0" dirty="0">
              <a:solidFill>
                <a:srgbClr val="16A085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351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2321</Words>
  <Application>Microsoft Office PowerPoint</Application>
  <PresentationFormat>Widescreen</PresentationFormat>
  <Paragraphs>167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Dhara, Shib</cp:lastModifiedBy>
  <cp:revision>3</cp:revision>
  <dcterms:created xsi:type="dcterms:W3CDTF">2013-01-27T09:14:16Z</dcterms:created>
  <dcterms:modified xsi:type="dcterms:W3CDTF">2026-07-05T02:42:46Z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b7b33ba-a38a-4d85-b6b0-cfe575e98d6e_Enabled">
    <vt:lpwstr>true</vt:lpwstr>
  </property>
  <property fmtid="{D5CDD505-2E9C-101B-9397-08002B2CF9AE}" pid="3" name="MSIP_Label_cb7b33ba-a38a-4d85-b6b0-cfe575e98d6e_SetDate">
    <vt:lpwstr>2026-07-04T05:59:00Z</vt:lpwstr>
  </property>
  <property fmtid="{D5CDD505-2E9C-101B-9397-08002B2CF9AE}" pid="4" name="MSIP_Label_cb7b33ba-a38a-4d85-b6b0-cfe575e98d6e_Method">
    <vt:lpwstr>Privileged</vt:lpwstr>
  </property>
  <property fmtid="{D5CDD505-2E9C-101B-9397-08002B2CF9AE}" pid="5" name="MSIP_Label_cb7b33ba-a38a-4d85-b6b0-cfe575e98d6e_Name">
    <vt:lpwstr>Non-business</vt:lpwstr>
  </property>
  <property fmtid="{D5CDD505-2E9C-101B-9397-08002B2CF9AE}" pid="6" name="MSIP_Label_cb7b33ba-a38a-4d85-b6b0-cfe575e98d6e_SiteId">
    <vt:lpwstr>5818bd20-bf25-47b1-b996-d419d7e6e8ba</vt:lpwstr>
  </property>
  <property fmtid="{D5CDD505-2E9C-101B-9397-08002B2CF9AE}" pid="7" name="MSIP_Label_cb7b33ba-a38a-4d85-b6b0-cfe575e98d6e_ActionId">
    <vt:lpwstr>ffade962-0b8f-4388-a1c6-b0cb538cdac6</vt:lpwstr>
  </property>
  <property fmtid="{D5CDD505-2E9C-101B-9397-08002B2CF9AE}" pid="8" name="MSIP_Label_cb7b33ba-a38a-4d85-b6b0-cfe575e98d6e_ContentBits">
    <vt:lpwstr>0</vt:lpwstr>
  </property>
  <property fmtid="{D5CDD505-2E9C-101B-9397-08002B2CF9AE}" pid="9" name="MSIP_Label_cb7b33ba-a38a-4d85-b6b0-cfe575e98d6e_Tag">
    <vt:lpwstr>10, 0, 1, 1</vt:lpwstr>
  </property>
</Properties>
</file>