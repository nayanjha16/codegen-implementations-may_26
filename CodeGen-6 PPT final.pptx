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6" r:id="rId5"/>
    <p:sldId id="260" r:id="rId6"/>
    <p:sldId id="261" r:id="rId7"/>
    <p:sldId id="275" r:id="rId8"/>
    <p:sldId id="267" r:id="rId9"/>
    <p:sldId id="268" r:id="rId10"/>
    <p:sldId id="262" r:id="rId11"/>
    <p:sldId id="263" r:id="rId12"/>
    <p:sldId id="264" r:id="rId13"/>
    <p:sldId id="274" r:id="rId14"/>
    <p:sldId id="269" r:id="rId15"/>
    <p:sldId id="266" r:id="rId16"/>
    <p:sldId id="270" r:id="rId17"/>
    <p:sldId id="271" r:id="rId18"/>
    <p:sldId id="272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59"/>
            <a:ext cx="777241" cy="77724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3"/>
          <p:cNvSpPr txBox="1"/>
          <p:nvPr/>
        </p:nvSpPr>
        <p:spPr>
          <a:xfrm>
            <a:off x="1600200" y="621791"/>
            <a:ext cx="54864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AGENTIC AI  •  CODE GENERATION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640080" y="1965960"/>
            <a:ext cx="10881360" cy="6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800" b="1">
                <a:solidFill>
                  <a:srgbClr val="F5F7FA"/>
                </a:solidFill>
              </a:defRPr>
            </a:lvl1pPr>
          </a:lstStyle>
          <a:p>
            <a:r>
              <a:t>CodeGen Agentic AI System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58368" y="2788920"/>
            <a:ext cx="1088136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94A3B8"/>
                </a:solidFill>
              </a:defRPr>
            </a:lvl1pPr>
          </a:lstStyle>
          <a:p>
            <a:r>
              <a:rPr dirty="0"/>
              <a:t>A conversational multi-agent </a:t>
            </a:r>
            <a:r>
              <a:rPr lang="en-US" dirty="0"/>
              <a:t>chatbot</a:t>
            </a:r>
            <a:r>
              <a:rPr dirty="0"/>
              <a:t> for code generation, translation &amp; explanation</a:t>
            </a:r>
          </a:p>
        </p:txBody>
      </p:sp>
      <p:grpSp>
        <p:nvGrpSpPr>
          <p:cNvPr id="101" name="Rounded Rectangle 6"/>
          <p:cNvGrpSpPr/>
          <p:nvPr/>
        </p:nvGrpSpPr>
        <p:grpSpPr>
          <a:xfrm>
            <a:off x="658368" y="3429000"/>
            <a:ext cx="1737361" cy="384048"/>
            <a:chOff x="0" y="0"/>
            <a:chExt cx="1737360" cy="384047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737361" cy="384048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0" name="AIML B26 - PGCP"/>
            <p:cNvSpPr txBox="1"/>
            <p:nvPr/>
          </p:nvSpPr>
          <p:spPr>
            <a:xfrm>
              <a:off x="376244" y="124890"/>
              <a:ext cx="984872" cy="134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 b="1">
                  <a:solidFill>
                    <a:srgbClr val="080C16"/>
                  </a:solidFill>
                </a:defRPr>
              </a:lvl1pPr>
            </a:lstStyle>
            <a:p>
              <a:r>
                <a:t>AIML B26 - PGCP</a:t>
              </a:r>
            </a:p>
          </p:txBody>
        </p:sp>
      </p:grpSp>
      <p:grpSp>
        <p:nvGrpSpPr>
          <p:cNvPr id="104" name="Rounded Rectangle 7"/>
          <p:cNvGrpSpPr/>
          <p:nvPr/>
        </p:nvGrpSpPr>
        <p:grpSpPr>
          <a:xfrm>
            <a:off x="2514600" y="3429000"/>
            <a:ext cx="1600200" cy="384048"/>
            <a:chOff x="0" y="0"/>
            <a:chExt cx="1600200" cy="384047"/>
          </a:xfrm>
        </p:grpSpPr>
        <p:sp>
          <p:nvSpPr>
            <p:cNvPr id="102" name="Rounded Rectangle"/>
            <p:cNvSpPr/>
            <p:nvPr/>
          </p:nvSpPr>
          <p:spPr>
            <a:xfrm>
              <a:off x="0" y="0"/>
              <a:ext cx="1600200" cy="384048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3" name="Group 19"/>
            <p:cNvSpPr txBox="1"/>
            <p:nvPr/>
          </p:nvSpPr>
          <p:spPr>
            <a:xfrm>
              <a:off x="526150" y="124890"/>
              <a:ext cx="547900" cy="134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 b="1">
                  <a:solidFill>
                    <a:srgbClr val="F5F7FA"/>
                  </a:solidFill>
                </a:defRPr>
              </a:lvl1pPr>
            </a:lstStyle>
            <a:p>
              <a:r>
                <a:t>Group 19</a:t>
              </a:r>
            </a:p>
          </p:txBody>
        </p:sp>
      </p:grpSp>
      <p:grpSp>
        <p:nvGrpSpPr>
          <p:cNvPr id="107" name="Rounded Rectangle 8"/>
          <p:cNvGrpSpPr/>
          <p:nvPr/>
        </p:nvGrpSpPr>
        <p:grpSpPr>
          <a:xfrm>
            <a:off x="4233671" y="3429000"/>
            <a:ext cx="1737361" cy="384048"/>
            <a:chOff x="0" y="0"/>
            <a:chExt cx="1737360" cy="384047"/>
          </a:xfrm>
        </p:grpSpPr>
        <p:sp>
          <p:nvSpPr>
            <p:cNvPr id="105" name="Rounded Rectangle"/>
            <p:cNvSpPr/>
            <p:nvPr/>
          </p:nvSpPr>
          <p:spPr>
            <a:xfrm>
              <a:off x="0" y="0"/>
              <a:ext cx="1737361" cy="384048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6" name="CodeGen - 6"/>
            <p:cNvSpPr txBox="1"/>
            <p:nvPr/>
          </p:nvSpPr>
          <p:spPr>
            <a:xfrm>
              <a:off x="509635" y="124890"/>
              <a:ext cx="718090" cy="134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100" b="1">
                  <a:solidFill>
                    <a:srgbClr val="F5F7FA"/>
                  </a:solidFill>
                </a:defRPr>
              </a:lvl1pPr>
            </a:lstStyle>
            <a:p>
              <a:r>
                <a:t>CodeGen - 6</a:t>
              </a:r>
            </a:p>
          </p:txBody>
        </p:sp>
      </p:grpSp>
      <p:sp>
        <p:nvSpPr>
          <p:cNvPr id="108" name="Rectangle 9"/>
          <p:cNvSpPr/>
          <p:nvPr/>
        </p:nvSpPr>
        <p:spPr>
          <a:xfrm>
            <a:off x="658368" y="4160520"/>
            <a:ext cx="10424160" cy="15241"/>
          </a:xfrm>
          <a:prstGeom prst="rect">
            <a:avLst/>
          </a:prstGeom>
          <a:solidFill>
            <a:srgbClr val="2430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" name="TextBox 10"/>
          <p:cNvSpPr txBox="1"/>
          <p:nvPr/>
        </p:nvSpPr>
        <p:spPr>
          <a:xfrm>
            <a:off x="658367" y="4370832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 b="1">
                <a:solidFill>
                  <a:srgbClr val="64748B"/>
                </a:solidFill>
              </a:defRPr>
            </a:lvl1pPr>
          </a:lstStyle>
          <a:p>
            <a:r>
              <a:t>TEAM</a:t>
            </a:r>
          </a:p>
        </p:txBody>
      </p:sp>
      <p:sp>
        <p:nvSpPr>
          <p:cNvPr id="110" name="TextBox 11"/>
          <p:cNvSpPr txBox="1"/>
          <p:nvPr/>
        </p:nvSpPr>
        <p:spPr>
          <a:xfrm>
            <a:off x="658367" y="4663440"/>
            <a:ext cx="5120642" cy="1383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 sz="1500" b="1">
                <a:solidFill>
                  <a:srgbClr val="22D3EE"/>
                </a:solidFill>
              </a:defRPr>
            </a:pPr>
            <a:r>
              <a:t>▸  </a:t>
            </a:r>
            <a:r>
              <a:rPr b="0">
                <a:solidFill>
                  <a:srgbClr val="F5F7FA"/>
                </a:solidFill>
              </a:rPr>
              <a:t>Sushmitha Minukuri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 b="1">
                <a:solidFill>
                  <a:srgbClr val="22D3EE"/>
                </a:solidFill>
              </a:defRPr>
            </a:pPr>
            <a:r>
              <a:t>▸  </a:t>
            </a:r>
            <a:r>
              <a:rPr b="0">
                <a:solidFill>
                  <a:srgbClr val="F5F7FA"/>
                </a:solidFill>
              </a:rPr>
              <a:t>Gopal Dhaked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 b="1">
                <a:solidFill>
                  <a:srgbClr val="22D3EE"/>
                </a:solidFill>
              </a:defRPr>
            </a:pPr>
            <a:r>
              <a:t>▸  </a:t>
            </a:r>
            <a:r>
              <a:rPr b="0">
                <a:solidFill>
                  <a:srgbClr val="F5F7FA"/>
                </a:solidFill>
              </a:rPr>
              <a:t>Venkata Sandhya Nerella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 b="1">
                <a:solidFill>
                  <a:srgbClr val="22D3EE"/>
                </a:solidFill>
              </a:defRPr>
            </a:pPr>
            <a:r>
              <a:t>▸  </a:t>
            </a:r>
            <a:r>
              <a:rPr b="0">
                <a:solidFill>
                  <a:srgbClr val="F5F7FA"/>
                </a:solidFill>
              </a:rPr>
              <a:t>Anup Guduru</a:t>
            </a:r>
          </a:p>
        </p:txBody>
      </p:sp>
      <p:sp>
        <p:nvSpPr>
          <p:cNvPr id="111" name="TextBox 12"/>
          <p:cNvSpPr txBox="1"/>
          <p:nvPr/>
        </p:nvSpPr>
        <p:spPr>
          <a:xfrm>
            <a:off x="6309359" y="4370832"/>
            <a:ext cx="5120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 b="1">
                <a:solidFill>
                  <a:srgbClr val="64748B"/>
                </a:solidFill>
              </a:defRPr>
            </a:lvl1pPr>
          </a:lstStyle>
          <a:p>
            <a:r>
              <a:t>GUIDANCE</a:t>
            </a:r>
          </a:p>
        </p:txBody>
      </p:sp>
      <p:sp>
        <p:nvSpPr>
          <p:cNvPr id="112" name="TextBox 13"/>
          <p:cNvSpPr txBox="1"/>
          <p:nvPr/>
        </p:nvSpPr>
        <p:spPr>
          <a:xfrm>
            <a:off x="6309359" y="4663440"/>
            <a:ext cx="5120641" cy="644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800"/>
              </a:spcBef>
              <a:defRPr sz="1500" b="1">
                <a:solidFill>
                  <a:srgbClr val="8B5CF6"/>
                </a:solidFill>
              </a:defRPr>
            </a:pPr>
            <a:r>
              <a:t>▸  </a:t>
            </a:r>
            <a:r>
              <a:rPr>
                <a:solidFill>
                  <a:srgbClr val="F5F7FA"/>
                </a:solidFill>
              </a:rPr>
              <a:t>Project Mentors:  </a:t>
            </a:r>
            <a:r>
              <a:rPr b="0">
                <a:solidFill>
                  <a:srgbClr val="94A3B8"/>
                </a:solidFill>
              </a:rPr>
              <a:t>Pawan &amp; Nayan</a:t>
            </a:r>
          </a:p>
          <a:p>
            <a:pPr>
              <a:lnSpc>
                <a:spcPct val="112000"/>
              </a:lnSpc>
              <a:spcBef>
                <a:spcPts val="800"/>
              </a:spcBef>
              <a:defRPr sz="1500" b="1">
                <a:solidFill>
                  <a:srgbClr val="8B5CF6"/>
                </a:solidFill>
              </a:defRPr>
            </a:pPr>
            <a:r>
              <a:t>▸  </a:t>
            </a:r>
            <a:r>
              <a:rPr>
                <a:solidFill>
                  <a:srgbClr val="F5F7FA"/>
                </a:solidFill>
              </a:rPr>
              <a:t>Project Supervisor:  </a:t>
            </a:r>
            <a:r>
              <a:rPr b="0">
                <a:solidFill>
                  <a:srgbClr val="94A3B8"/>
                </a:solidFill>
              </a:rPr>
              <a:t>Prof. Anil Neelkanti</a:t>
            </a:r>
          </a:p>
        </p:txBody>
      </p:sp>
      <p:sp>
        <p:nvSpPr>
          <p:cNvPr id="113" name="TextBox 14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14" name="TextBox 15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01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THE CHALLENGE</a:t>
            </a:r>
          </a:p>
        </p:txBody>
      </p:sp>
      <p:sp>
        <p:nvSpPr>
          <p:cNvPr id="118" name="TextBox 3"/>
          <p:cNvSpPr txBox="1"/>
          <p:nvPr/>
        </p:nvSpPr>
        <p:spPr>
          <a:xfrm>
            <a:off x="502919" y="676655"/>
            <a:ext cx="10607042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F5F7FA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119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0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84047"/>
            <a:ext cx="868681" cy="868682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extBox 6"/>
          <p:cNvSpPr txBox="1"/>
          <p:nvPr/>
        </p:nvSpPr>
        <p:spPr>
          <a:xfrm>
            <a:off x="502920" y="1600199"/>
            <a:ext cx="10881360" cy="312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2200"/>
              </a:spcBef>
              <a:defRPr b="1">
                <a:solidFill>
                  <a:srgbClr val="22D3EE"/>
                </a:solidFill>
              </a:defRPr>
            </a:pPr>
            <a:r>
              <a:t>•  </a:t>
            </a:r>
            <a:r>
              <a:rPr>
                <a:solidFill>
                  <a:srgbClr val="F5F7FA"/>
                </a:solidFill>
              </a:rPr>
              <a:t>Build an Agentic system </a:t>
            </a:r>
            <a:r>
              <a:rPr b="0">
                <a:solidFill>
                  <a:srgbClr val="94A3B8"/>
                </a:solidFill>
              </a:rPr>
              <a:t>to help software developers in their day-to-day life with code generation and code explanation.</a:t>
            </a:r>
          </a:p>
          <a:p>
            <a:pPr>
              <a:lnSpc>
                <a:spcPct val="120000"/>
              </a:lnSpc>
              <a:spcBef>
                <a:spcPts val="2200"/>
              </a:spcBef>
              <a:defRPr b="1">
                <a:solidFill>
                  <a:srgbClr val="22D3EE"/>
                </a:solidFill>
              </a:defRPr>
            </a:pPr>
            <a:r>
              <a:t>•  </a:t>
            </a:r>
            <a:r>
              <a:rPr>
                <a:solidFill>
                  <a:srgbClr val="F5F7FA"/>
                </a:solidFill>
              </a:rPr>
              <a:t>Natural-language input </a:t>
            </a:r>
            <a:r>
              <a:rPr b="0">
                <a:solidFill>
                  <a:srgbClr val="94A3B8"/>
                </a:solidFill>
              </a:rPr>
              <a:t>— developers enter a problem statement in plain English, and the system returns code with explanation, in Python or Java, per the developer's query.</a:t>
            </a:r>
          </a:p>
          <a:p>
            <a:pPr>
              <a:lnSpc>
                <a:spcPct val="120000"/>
              </a:lnSpc>
              <a:spcBef>
                <a:spcPts val="2200"/>
              </a:spcBef>
              <a:defRPr b="1">
                <a:solidFill>
                  <a:srgbClr val="22D3EE"/>
                </a:solidFill>
              </a:defRPr>
            </a:pPr>
            <a:r>
              <a:t>•  </a:t>
            </a:r>
            <a:r>
              <a:rPr>
                <a:solidFill>
                  <a:srgbClr val="F5F7FA"/>
                </a:solidFill>
              </a:rPr>
              <a:t>Cross-language migration </a:t>
            </a:r>
            <a:r>
              <a:rPr b="0">
                <a:solidFill>
                  <a:srgbClr val="94A3B8"/>
                </a:solidFill>
              </a:rPr>
              <a:t>— the system should also help migrate code from Python to Java or Java to Python.</a:t>
            </a:r>
          </a:p>
          <a:p>
            <a:pPr>
              <a:lnSpc>
                <a:spcPct val="120000"/>
              </a:lnSpc>
              <a:spcBef>
                <a:spcPts val="2200"/>
              </a:spcBef>
              <a:defRPr b="1">
                <a:solidFill>
                  <a:srgbClr val="22D3EE"/>
                </a:solidFill>
              </a:defRPr>
            </a:pPr>
            <a:r>
              <a:t>•  </a:t>
            </a:r>
            <a:r>
              <a:rPr>
                <a:solidFill>
                  <a:srgbClr val="F5F7FA"/>
                </a:solidFill>
              </a:rPr>
              <a:t>End goal: </a:t>
            </a:r>
            <a:r>
              <a:rPr b="0">
                <a:solidFill>
                  <a:srgbClr val="94A3B8"/>
                </a:solidFill>
              </a:rPr>
              <a:t>an Agentic AI System for Text-to-Python, Text-to-Java Generation, Java-to-Python, Python-to-Java Conversion, and Code Explanation.</a:t>
            </a:r>
          </a:p>
        </p:txBody>
      </p:sp>
      <p:sp>
        <p:nvSpPr>
          <p:cNvPr id="122" name="TextBox 7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23" name="TextBox 8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02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THE BIG PICTURE</a:t>
            </a:r>
          </a:p>
        </p:txBody>
      </p:sp>
      <p:sp>
        <p:nvSpPr>
          <p:cNvPr id="127" name="TextBox 3"/>
          <p:cNvSpPr txBox="1"/>
          <p:nvPr/>
        </p:nvSpPr>
        <p:spPr>
          <a:xfrm>
            <a:off x="502919" y="676655"/>
            <a:ext cx="10607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rgbClr val="F5F7FA"/>
                </a:solidFill>
              </a:defRPr>
            </a:lvl1pPr>
          </a:lstStyle>
          <a:p>
            <a:r>
              <a:t>Project Architecture at a Glance</a:t>
            </a:r>
          </a:p>
        </p:txBody>
      </p:sp>
      <p:sp>
        <p:nvSpPr>
          <p:cNvPr id="128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9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236" y="1029974"/>
            <a:ext cx="7101601" cy="5212081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Box 6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31" name="TextBox 7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04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CodeGen Agentic AI System  •  Group 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FEC881-1250-D8BE-5CEE-4A2D20825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2" y="0"/>
            <a:ext cx="93483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" descr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Box 3"/>
          <p:cNvSpPr txBox="1"/>
          <p:nvPr/>
        </p:nvSpPr>
        <p:spPr>
          <a:xfrm>
            <a:off x="88490" y="172719"/>
            <a:ext cx="11021471" cy="415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2700" b="1">
                <a:solidFill>
                  <a:srgbClr val="F5F7FA"/>
                </a:solidFill>
              </a:defRPr>
            </a:lvl1pPr>
          </a:lstStyle>
          <a:p>
            <a:r>
              <a:rPr lang="en-IN" dirty="0"/>
              <a:t>Demo — Video Walkthrough</a:t>
            </a:r>
          </a:p>
        </p:txBody>
      </p:sp>
      <p:sp>
        <p:nvSpPr>
          <p:cNvPr id="144" name="Rectangle 4"/>
          <p:cNvSpPr/>
          <p:nvPr/>
        </p:nvSpPr>
        <p:spPr>
          <a:xfrm>
            <a:off x="88490" y="628217"/>
            <a:ext cx="1420269" cy="79999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5" name="Picture 5" descr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6970" y="-33152"/>
            <a:ext cx="822961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Rounded Rectangle 6"/>
          <p:cNvSpPr/>
          <p:nvPr/>
        </p:nvSpPr>
        <p:spPr>
          <a:xfrm>
            <a:off x="1647832" y="1280160"/>
            <a:ext cx="8896033" cy="494244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7" name="demo_video.mp4" descr="demo_video.mp4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1935" y="760936"/>
            <a:ext cx="11021471" cy="5541663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Box 8"/>
          <p:cNvSpPr txBox="1"/>
          <p:nvPr/>
        </p:nvSpPr>
        <p:spPr>
          <a:xfrm>
            <a:off x="502919" y="6342600"/>
            <a:ext cx="111556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i="1">
                <a:solidFill>
                  <a:srgbClr val="94A3B8"/>
                </a:solidFill>
              </a:defRPr>
            </a:lvl1pPr>
          </a:lstStyle>
          <a:p>
            <a:r>
              <a:t>End-to-end recorded walkthrough of the Streamlit chat interface generating, explaining, and translating code.</a:t>
            </a:r>
          </a:p>
        </p:txBody>
      </p:sp>
      <p:sp>
        <p:nvSpPr>
          <p:cNvPr id="149" name="TextBox 9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50" name="TextBox 10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06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949" fill="hold"/>
                                        <p:tgtEl>
                                          <p:spTgt spid="1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7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CONTEXT AWARENESS</a:t>
            </a:r>
          </a:p>
        </p:txBody>
      </p:sp>
      <p:sp>
        <p:nvSpPr>
          <p:cNvPr id="154" name="TextBox 3"/>
          <p:cNvSpPr txBox="1"/>
          <p:nvPr/>
        </p:nvSpPr>
        <p:spPr>
          <a:xfrm>
            <a:off x="502919" y="676655"/>
            <a:ext cx="1060704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700" b="1">
                <a:solidFill>
                  <a:srgbClr val="F5F7FA"/>
                </a:solidFill>
              </a:defRPr>
            </a:lvl1pPr>
          </a:lstStyle>
          <a:p>
            <a:r>
              <a:t>Conversational / Multi-Turn Memory</a:t>
            </a:r>
          </a:p>
        </p:txBody>
      </p:sp>
      <p:sp>
        <p:nvSpPr>
          <p:cNvPr id="155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56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7"/>
            <a:ext cx="822961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Rounded Rectangle 6"/>
          <p:cNvSpPr/>
          <p:nvPr/>
        </p:nvSpPr>
        <p:spPr>
          <a:xfrm>
            <a:off x="502919" y="1463039"/>
            <a:ext cx="3657601" cy="502921"/>
          </a:xfrm>
          <a:prstGeom prst="roundRect">
            <a:avLst>
              <a:gd name="adj" fmla="val 15000"/>
            </a:avLst>
          </a:prstGeom>
          <a:solidFill>
            <a:srgbClr val="0B2530"/>
          </a:solidFill>
          <a:ln w="12700">
            <a:solidFill>
              <a:srgbClr val="22D3E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8" name="TextBox 7"/>
          <p:cNvSpPr txBox="1"/>
          <p:nvPr/>
        </p:nvSpPr>
        <p:spPr>
          <a:xfrm>
            <a:off x="685800" y="1631118"/>
            <a:ext cx="3383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Short-Term Memory: InMemorySaver</a:t>
            </a:r>
          </a:p>
        </p:txBody>
      </p:sp>
      <p:sp>
        <p:nvSpPr>
          <p:cNvPr id="159" name="TextBox 8"/>
          <p:cNvSpPr txBox="1"/>
          <p:nvPr/>
        </p:nvSpPr>
        <p:spPr>
          <a:xfrm>
            <a:off x="502920" y="2286000"/>
            <a:ext cx="10881360" cy="281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defRPr sz="17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b="0" dirty="0">
                <a:solidFill>
                  <a:srgbClr val="94A3B8"/>
                </a:solidFill>
              </a:rPr>
              <a:t>Stores recent conversation history during the current session.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7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dirty="0">
                <a:solidFill>
                  <a:srgbClr val="F5F7FA"/>
                </a:solidFill>
              </a:rPr>
              <a:t>Enables the Intent Extractor/Router Agent </a:t>
            </a:r>
            <a:r>
              <a:rPr b="0" dirty="0">
                <a:solidFill>
                  <a:srgbClr val="94A3B8"/>
                </a:solidFill>
              </a:rPr>
              <a:t>to infer user intent from previous interactions.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7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b="0" dirty="0">
                <a:solidFill>
                  <a:srgbClr val="94A3B8"/>
                </a:solidFill>
              </a:rPr>
              <a:t>Resolves context-dependent queries such as "convert the above code" or "explain the above code".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7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b="0" dirty="0">
                <a:solidFill>
                  <a:srgbClr val="94A3B8"/>
                </a:solidFill>
              </a:rPr>
              <a:t>Improves intent classification for follow-up requests without requiring the user to repeat the code.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7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b="0" dirty="0">
                <a:solidFill>
                  <a:srgbClr val="94A3B8"/>
                </a:solidFill>
              </a:rPr>
              <a:t>Session-based memory that is cleared when the application ends (non-persistent).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7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b="0" dirty="0">
                <a:solidFill>
                  <a:srgbClr val="94A3B8"/>
                </a:solidFill>
              </a:rPr>
              <a:t> context window size - 256k tokens</a:t>
            </a:r>
          </a:p>
        </p:txBody>
      </p:sp>
      <p:sp>
        <p:nvSpPr>
          <p:cNvPr id="160" name="TextBox 9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61" name="TextBox 10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07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96" y="93081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TextBox 3"/>
          <p:cNvSpPr txBox="1"/>
          <p:nvPr/>
        </p:nvSpPr>
        <p:spPr>
          <a:xfrm>
            <a:off x="176982" y="109467"/>
            <a:ext cx="1093298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2800" b="1">
                <a:solidFill>
                  <a:srgbClr val="F5F7FA"/>
                </a:solidFill>
              </a:defRPr>
            </a:lvl1pPr>
          </a:lstStyle>
          <a:p>
            <a:r>
              <a:rPr dirty="0" err="1"/>
              <a:t>LangSmith</a:t>
            </a:r>
            <a:r>
              <a:rPr dirty="0"/>
              <a:t> — Agent Call Tracing</a:t>
            </a:r>
          </a:p>
        </p:txBody>
      </p:sp>
      <p:sp>
        <p:nvSpPr>
          <p:cNvPr id="423" name="Rectangle 4"/>
          <p:cNvSpPr/>
          <p:nvPr/>
        </p:nvSpPr>
        <p:spPr>
          <a:xfrm>
            <a:off x="176982" y="556741"/>
            <a:ext cx="1331777" cy="58514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4" name="Rounded Rectangle 5"/>
          <p:cNvSpPr/>
          <p:nvPr/>
        </p:nvSpPr>
        <p:spPr>
          <a:xfrm>
            <a:off x="1541454" y="1371600"/>
            <a:ext cx="9108788" cy="4688191"/>
          </a:xfrm>
          <a:prstGeom prst="roundRect">
            <a:avLst>
              <a:gd name="adj" fmla="val 25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25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32" y="736313"/>
            <a:ext cx="11491640" cy="5140127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TextBox 7"/>
          <p:cNvSpPr txBox="1"/>
          <p:nvPr/>
        </p:nvSpPr>
        <p:spPr>
          <a:xfrm>
            <a:off x="1541454" y="6189791"/>
            <a:ext cx="9108788" cy="3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 i="1">
                <a:solidFill>
                  <a:srgbClr val="94A3B8"/>
                </a:solidFill>
              </a:defRPr>
            </a:lvl1pPr>
          </a:lstStyle>
          <a:p>
            <a:r>
              <a:rPr dirty="0"/>
              <a:t>Full </a:t>
            </a:r>
            <a:r>
              <a:rPr dirty="0" err="1"/>
              <a:t>LangGraph</a:t>
            </a:r>
            <a:r>
              <a:rPr dirty="0"/>
              <a:t> run trace: router → supervisor → generation → compiler → validation → explanation, each hop calling </a:t>
            </a:r>
            <a:r>
              <a:rPr dirty="0" err="1"/>
              <a:t>ChatGroq</a:t>
            </a:r>
            <a:r>
              <a:rPr dirty="0"/>
              <a:t> </a:t>
            </a:r>
            <a:r>
              <a:rPr dirty="0" err="1"/>
              <a:t>qwen</a:t>
            </a:r>
            <a:r>
              <a:rPr dirty="0"/>
              <a:t>/qwen3.6-27b with latency and token counts.</a:t>
            </a:r>
          </a:p>
        </p:txBody>
      </p:sp>
      <p:sp>
        <p:nvSpPr>
          <p:cNvPr id="427" name="TextBox 8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428" name="TextBox 9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20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EC4899"/>
                </a:solidFill>
              </a:defRPr>
            </a:lvl1pPr>
          </a:lstStyle>
          <a:p>
            <a:r>
              <a:t>TEACHING THE MODEL</a:t>
            </a:r>
          </a:p>
        </p:txBody>
      </p:sp>
      <p:sp>
        <p:nvSpPr>
          <p:cNvPr id="223" name="TextBox 3"/>
          <p:cNvSpPr txBox="1"/>
          <p:nvPr/>
        </p:nvSpPr>
        <p:spPr>
          <a:xfrm>
            <a:off x="502919" y="676655"/>
            <a:ext cx="10607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rgbClr val="F5F7FA"/>
                </a:solidFill>
              </a:defRPr>
            </a:lvl1pPr>
          </a:lstStyle>
          <a:p>
            <a:r>
              <a:t>Fine-Tuning Overview</a:t>
            </a:r>
          </a:p>
        </p:txBody>
      </p:sp>
      <p:sp>
        <p:nvSpPr>
          <p:cNvPr id="224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25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7"/>
            <a:ext cx="822961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Rounded Rectangle 6"/>
          <p:cNvSpPr/>
          <p:nvPr/>
        </p:nvSpPr>
        <p:spPr>
          <a:xfrm>
            <a:off x="502919" y="1600200"/>
            <a:ext cx="10881361" cy="932689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7" name="Rectangle 7"/>
          <p:cNvSpPr/>
          <p:nvPr/>
        </p:nvSpPr>
        <p:spPr>
          <a:xfrm>
            <a:off x="502919" y="1600200"/>
            <a:ext cx="82297" cy="932689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" name="TextBox 8"/>
          <p:cNvSpPr txBox="1"/>
          <p:nvPr/>
        </p:nvSpPr>
        <p:spPr>
          <a:xfrm>
            <a:off x="868679" y="1709927"/>
            <a:ext cx="3291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22D3EE"/>
                </a:solidFill>
              </a:defRPr>
            </a:lvl1pPr>
          </a:lstStyle>
          <a:p>
            <a:r>
              <a:t>Base Model</a:t>
            </a:r>
          </a:p>
        </p:txBody>
      </p:sp>
      <p:sp>
        <p:nvSpPr>
          <p:cNvPr id="229" name="TextBox 9"/>
          <p:cNvSpPr txBox="1"/>
          <p:nvPr/>
        </p:nvSpPr>
        <p:spPr>
          <a:xfrm>
            <a:off x="868679" y="2057400"/>
            <a:ext cx="9875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5F7FA"/>
                </a:solidFill>
              </a:defRPr>
            </a:lvl1pPr>
          </a:lstStyle>
          <a:p>
            <a:r>
              <a:t>StarCoder2-3B (BigCode)</a:t>
            </a:r>
          </a:p>
        </p:txBody>
      </p:sp>
      <p:sp>
        <p:nvSpPr>
          <p:cNvPr id="230" name="Rounded Rectangle 10"/>
          <p:cNvSpPr/>
          <p:nvPr/>
        </p:nvSpPr>
        <p:spPr>
          <a:xfrm>
            <a:off x="502919" y="2697479"/>
            <a:ext cx="10881361" cy="932689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1" name="Rectangle 11"/>
          <p:cNvSpPr/>
          <p:nvPr/>
        </p:nvSpPr>
        <p:spPr>
          <a:xfrm>
            <a:off x="502919" y="2697479"/>
            <a:ext cx="82297" cy="932689"/>
          </a:xfrm>
          <a:prstGeom prst="rect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2" name="TextBox 12"/>
          <p:cNvSpPr txBox="1"/>
          <p:nvPr/>
        </p:nvSpPr>
        <p:spPr>
          <a:xfrm>
            <a:off x="868679" y="2807207"/>
            <a:ext cx="3291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8B5CF6"/>
                </a:solidFill>
              </a:defRPr>
            </a:lvl1pPr>
          </a:lstStyle>
          <a:p>
            <a:r>
              <a:t>Fine-Tuning Technique</a:t>
            </a:r>
          </a:p>
        </p:txBody>
      </p:sp>
      <p:sp>
        <p:nvSpPr>
          <p:cNvPr id="233" name="TextBox 13"/>
          <p:cNvSpPr txBox="1"/>
          <p:nvPr/>
        </p:nvSpPr>
        <p:spPr>
          <a:xfrm>
            <a:off x="868679" y="3154679"/>
            <a:ext cx="987552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5F7FA"/>
                </a:solidFill>
              </a:defRPr>
            </a:lvl1pPr>
          </a:lstStyle>
          <a:p>
            <a:r>
              <a:t>Parameter-Efficient Fine-Tuning (PEFT) using QLoRA · Rank 16, Alpha 32</a:t>
            </a:r>
          </a:p>
        </p:txBody>
      </p:sp>
      <p:sp>
        <p:nvSpPr>
          <p:cNvPr id="234" name="Rounded Rectangle 14"/>
          <p:cNvSpPr/>
          <p:nvPr/>
        </p:nvSpPr>
        <p:spPr>
          <a:xfrm>
            <a:off x="502919" y="3794759"/>
            <a:ext cx="10881361" cy="932689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5" name="Rectangle 15"/>
          <p:cNvSpPr/>
          <p:nvPr/>
        </p:nvSpPr>
        <p:spPr>
          <a:xfrm>
            <a:off x="502919" y="3794759"/>
            <a:ext cx="82297" cy="932689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6" name="TextBox 16"/>
          <p:cNvSpPr txBox="1"/>
          <p:nvPr/>
        </p:nvSpPr>
        <p:spPr>
          <a:xfrm>
            <a:off x="868679" y="3904488"/>
            <a:ext cx="3291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EC4899"/>
                </a:solidFill>
              </a:defRPr>
            </a:lvl1pPr>
          </a:lstStyle>
          <a:p>
            <a:r>
              <a:t>Training Framework</a:t>
            </a:r>
          </a:p>
        </p:txBody>
      </p:sp>
      <p:sp>
        <p:nvSpPr>
          <p:cNvPr id="237" name="TextBox 17"/>
          <p:cNvSpPr txBox="1"/>
          <p:nvPr/>
        </p:nvSpPr>
        <p:spPr>
          <a:xfrm>
            <a:off x="868679" y="4251959"/>
            <a:ext cx="9875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5F7FA"/>
                </a:solidFill>
              </a:defRPr>
            </a:lvl1pPr>
          </a:lstStyle>
          <a:p>
            <a:r>
              <a:t>Hugging Face Transformers + TRL (SFTTrainer)</a:t>
            </a:r>
          </a:p>
        </p:txBody>
      </p:sp>
      <p:sp>
        <p:nvSpPr>
          <p:cNvPr id="238" name="Rounded Rectangle 18"/>
          <p:cNvSpPr/>
          <p:nvPr/>
        </p:nvSpPr>
        <p:spPr>
          <a:xfrm>
            <a:off x="502919" y="4892040"/>
            <a:ext cx="10881361" cy="932689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9" name="Rectangle 19"/>
          <p:cNvSpPr/>
          <p:nvPr/>
        </p:nvSpPr>
        <p:spPr>
          <a:xfrm>
            <a:off x="502919" y="4892040"/>
            <a:ext cx="82297" cy="932689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0" name="TextBox 20"/>
          <p:cNvSpPr txBox="1"/>
          <p:nvPr/>
        </p:nvSpPr>
        <p:spPr>
          <a:xfrm>
            <a:off x="868679" y="5001767"/>
            <a:ext cx="3291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 b="1">
                <a:solidFill>
                  <a:srgbClr val="34D399"/>
                </a:solidFill>
              </a:defRPr>
            </a:lvl1pPr>
          </a:lstStyle>
          <a:p>
            <a:r>
              <a:t>Execution Environment</a:t>
            </a:r>
          </a:p>
        </p:txBody>
      </p:sp>
      <p:sp>
        <p:nvSpPr>
          <p:cNvPr id="241" name="TextBox 21"/>
          <p:cNvSpPr txBox="1"/>
          <p:nvPr/>
        </p:nvSpPr>
        <p:spPr>
          <a:xfrm>
            <a:off x="868679" y="5349240"/>
            <a:ext cx="9875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5F7FA"/>
                </a:solidFill>
              </a:defRPr>
            </a:lvl1pPr>
          </a:lstStyle>
          <a:p>
            <a:r>
              <a:t>Google Colab GPU</a:t>
            </a:r>
          </a:p>
        </p:txBody>
      </p:sp>
      <p:sp>
        <p:nvSpPr>
          <p:cNvPr id="242" name="TextBox 22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243" name="TextBox 23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08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8B5CF6"/>
                </a:solidFill>
              </a:defRPr>
            </a:lvl1pPr>
          </a:lstStyle>
          <a:p>
            <a:r>
              <a:t>TRAINING DATA</a:t>
            </a:r>
          </a:p>
        </p:txBody>
      </p:sp>
      <p:sp>
        <p:nvSpPr>
          <p:cNvPr id="247" name="TextBox 3"/>
          <p:cNvSpPr txBox="1"/>
          <p:nvPr/>
        </p:nvSpPr>
        <p:spPr>
          <a:xfrm>
            <a:off x="502919" y="676655"/>
            <a:ext cx="1060704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700" b="1">
                <a:solidFill>
                  <a:srgbClr val="F5F7FA"/>
                </a:solidFill>
              </a:defRPr>
            </a:lvl1pPr>
          </a:lstStyle>
          <a:p>
            <a:r>
              <a:t>Custom Dataset &amp; Instruction Format</a:t>
            </a:r>
          </a:p>
        </p:txBody>
      </p:sp>
      <p:sp>
        <p:nvSpPr>
          <p:cNvPr id="248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9" name="TextBox 5"/>
          <p:cNvSpPr txBox="1"/>
          <p:nvPr/>
        </p:nvSpPr>
        <p:spPr>
          <a:xfrm>
            <a:off x="502918" y="1417319"/>
            <a:ext cx="10774681" cy="609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defRPr sz="14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b="0" dirty="0">
                <a:solidFill>
                  <a:srgbClr val="94A3B8"/>
                </a:solidFill>
              </a:rPr>
              <a:t>StarCoder2 base model is trained for code completion, not instruction following — so we fine-tune it to follow instructions.</a:t>
            </a:r>
          </a:p>
          <a:p>
            <a:pPr>
              <a:lnSpc>
                <a:spcPct val="115000"/>
              </a:lnSpc>
              <a:spcBef>
                <a:spcPts val="1000"/>
              </a:spcBef>
              <a:defRPr sz="14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dirty="0">
                <a:solidFill>
                  <a:srgbClr val="F5F7FA"/>
                </a:solidFill>
              </a:rPr>
              <a:t>Custom dataset: </a:t>
            </a:r>
            <a:r>
              <a:rPr b="0" dirty="0">
                <a:solidFill>
                  <a:srgbClr val="94A3B8"/>
                </a:solidFill>
              </a:rPr>
              <a:t>332 samples per problem type → 4 × 332 = 1,328 samples total.</a:t>
            </a:r>
          </a:p>
        </p:txBody>
      </p:sp>
      <p:sp>
        <p:nvSpPr>
          <p:cNvPr id="258" name="TextBox 19"/>
          <p:cNvSpPr txBox="1"/>
          <p:nvPr/>
        </p:nvSpPr>
        <p:spPr>
          <a:xfrm>
            <a:off x="502919" y="2203243"/>
            <a:ext cx="1088136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1100" b="1">
                <a:solidFill>
                  <a:srgbClr val="8B5CF6"/>
                </a:solidFill>
              </a:defRPr>
            </a:lvl1pPr>
          </a:lstStyle>
          <a:p>
            <a:r>
              <a:rPr dirty="0"/>
              <a:t>CUSTOM DATASET METRICS — JAVA ↔ PYTHON TRANSLATION PAIRS</a:t>
            </a:r>
          </a:p>
        </p:txBody>
      </p:sp>
      <p:sp>
        <p:nvSpPr>
          <p:cNvPr id="259" name="Rounded Rectangle 20"/>
          <p:cNvSpPr/>
          <p:nvPr/>
        </p:nvSpPr>
        <p:spPr>
          <a:xfrm>
            <a:off x="502918" y="2423767"/>
            <a:ext cx="2630341" cy="705924"/>
          </a:xfrm>
          <a:prstGeom prst="roundRect">
            <a:avLst>
              <a:gd name="adj" fmla="val 30699"/>
            </a:avLst>
          </a:prstGeom>
          <a:solidFill>
            <a:srgbClr val="141028"/>
          </a:solidFill>
          <a:ln w="12700">
            <a:solidFill>
              <a:srgbClr val="8B5CF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0" name="TextBox 21"/>
          <p:cNvSpPr txBox="1"/>
          <p:nvPr/>
        </p:nvSpPr>
        <p:spPr>
          <a:xfrm>
            <a:off x="502918" y="2472521"/>
            <a:ext cx="2630341" cy="651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22D3EE"/>
                </a:solidFill>
              </a:defRPr>
            </a:pPr>
            <a:r>
              <a:rPr dirty="0"/>
              <a:t>0.5424</a:t>
            </a:r>
          </a:p>
          <a:p>
            <a:pPr algn="ctr">
              <a:lnSpc>
                <a:spcPct val="100000"/>
              </a:lnSpc>
              <a:defRPr sz="800">
                <a:solidFill>
                  <a:srgbClr val="94A3B8"/>
                </a:solidFill>
              </a:defRPr>
            </a:pPr>
            <a:r>
              <a:rPr sz="1050" dirty="0"/>
              <a:t>Mean AST Similarity Score</a:t>
            </a:r>
          </a:p>
        </p:txBody>
      </p:sp>
      <p:sp>
        <p:nvSpPr>
          <p:cNvPr id="261" name="Rounded Rectangle 22"/>
          <p:cNvSpPr/>
          <p:nvPr/>
        </p:nvSpPr>
        <p:spPr>
          <a:xfrm>
            <a:off x="3253259" y="2433891"/>
            <a:ext cx="2630340" cy="695800"/>
          </a:xfrm>
          <a:prstGeom prst="roundRect">
            <a:avLst>
              <a:gd name="adj" fmla="val 2238"/>
            </a:avLst>
          </a:prstGeom>
          <a:solidFill>
            <a:srgbClr val="141028"/>
          </a:solidFill>
          <a:ln w="12700">
            <a:solidFill>
              <a:srgbClr val="8B5CF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2" name="TextBox 23"/>
          <p:cNvSpPr txBox="1"/>
          <p:nvPr/>
        </p:nvSpPr>
        <p:spPr>
          <a:xfrm>
            <a:off x="3253258" y="2423767"/>
            <a:ext cx="2630341" cy="651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34D399"/>
                </a:solidFill>
              </a:defRPr>
            </a:pPr>
            <a:r>
              <a:rPr dirty="0"/>
              <a:t>100%</a:t>
            </a:r>
          </a:p>
          <a:p>
            <a:pPr algn="ctr">
              <a:lnSpc>
                <a:spcPct val="100000"/>
              </a:lnSpc>
              <a:defRPr sz="800">
                <a:solidFill>
                  <a:srgbClr val="94A3B8"/>
                </a:solidFill>
              </a:defRPr>
            </a:pPr>
            <a:r>
              <a:rPr sz="1050" dirty="0"/>
              <a:t>Java Compilation Rate</a:t>
            </a:r>
          </a:p>
        </p:txBody>
      </p:sp>
      <p:sp>
        <p:nvSpPr>
          <p:cNvPr id="263" name="Rounded Rectangle 24"/>
          <p:cNvSpPr/>
          <p:nvPr/>
        </p:nvSpPr>
        <p:spPr>
          <a:xfrm>
            <a:off x="6003599" y="2433891"/>
            <a:ext cx="2630340" cy="695800"/>
          </a:xfrm>
          <a:prstGeom prst="roundRect">
            <a:avLst>
              <a:gd name="adj" fmla="val 10000"/>
            </a:avLst>
          </a:prstGeom>
          <a:solidFill>
            <a:srgbClr val="141028"/>
          </a:solidFill>
          <a:ln w="12700">
            <a:solidFill>
              <a:srgbClr val="8B5CF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4" name="TextBox 25"/>
          <p:cNvSpPr txBox="1"/>
          <p:nvPr/>
        </p:nvSpPr>
        <p:spPr>
          <a:xfrm>
            <a:off x="6003599" y="2423767"/>
            <a:ext cx="2630340" cy="651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34D399"/>
                </a:solidFill>
              </a:defRPr>
            </a:pPr>
            <a:r>
              <a:rPr dirty="0"/>
              <a:t>98.80% / 98.53%</a:t>
            </a:r>
          </a:p>
          <a:p>
            <a:pPr algn="ctr">
              <a:lnSpc>
                <a:spcPct val="100000"/>
              </a:lnSpc>
              <a:defRPr sz="800">
                <a:solidFill>
                  <a:srgbClr val="94A3B8"/>
                </a:solidFill>
              </a:defRPr>
            </a:pPr>
            <a:r>
              <a:rPr sz="1050" dirty="0"/>
              <a:t>Java Pass@1</a:t>
            </a:r>
          </a:p>
        </p:txBody>
      </p:sp>
      <p:sp>
        <p:nvSpPr>
          <p:cNvPr id="265" name="Rounded Rectangle 26"/>
          <p:cNvSpPr/>
          <p:nvPr/>
        </p:nvSpPr>
        <p:spPr>
          <a:xfrm>
            <a:off x="8753939" y="2472520"/>
            <a:ext cx="2630340" cy="657171"/>
          </a:xfrm>
          <a:prstGeom prst="roundRect">
            <a:avLst>
              <a:gd name="adj" fmla="val 10000"/>
            </a:avLst>
          </a:prstGeom>
          <a:solidFill>
            <a:srgbClr val="141028"/>
          </a:solidFill>
          <a:ln w="12700">
            <a:solidFill>
              <a:srgbClr val="8B5CF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6" name="TextBox 27"/>
          <p:cNvSpPr txBox="1"/>
          <p:nvPr/>
        </p:nvSpPr>
        <p:spPr>
          <a:xfrm>
            <a:off x="8753939" y="2469316"/>
            <a:ext cx="2630340" cy="65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defRPr sz="1700" b="1">
                <a:solidFill>
                  <a:srgbClr val="34D399"/>
                </a:solidFill>
              </a:defRPr>
            </a:pPr>
            <a:r>
              <a:rPr dirty="0"/>
              <a:t>100%</a:t>
            </a:r>
          </a:p>
          <a:p>
            <a:pPr algn="ctr">
              <a:lnSpc>
                <a:spcPct val="100000"/>
              </a:lnSpc>
              <a:defRPr sz="800">
                <a:solidFill>
                  <a:srgbClr val="94A3B8"/>
                </a:solidFill>
              </a:defRPr>
            </a:pPr>
            <a:r>
              <a:rPr sz="1050" dirty="0"/>
              <a:t>Python Pass@1</a:t>
            </a:r>
          </a:p>
        </p:txBody>
      </p:sp>
      <p:sp>
        <p:nvSpPr>
          <p:cNvPr id="250" name="Rounded Rectangle 6"/>
          <p:cNvSpPr/>
          <p:nvPr/>
        </p:nvSpPr>
        <p:spPr>
          <a:xfrm>
            <a:off x="502919" y="3209691"/>
            <a:ext cx="3520442" cy="1600201"/>
          </a:xfrm>
          <a:prstGeom prst="roundRect">
            <a:avLst>
              <a:gd name="adj" fmla="val 8000"/>
            </a:avLst>
          </a:prstGeom>
          <a:solidFill>
            <a:srgbClr val="141028"/>
          </a:solidFill>
          <a:ln w="12700">
            <a:solidFill>
              <a:srgbClr val="8B5CF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" name="TextBox 7"/>
          <p:cNvSpPr txBox="1"/>
          <p:nvPr/>
        </p:nvSpPr>
        <p:spPr>
          <a:xfrm>
            <a:off x="713231" y="3346852"/>
            <a:ext cx="31089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rgbClr val="8B5CF6"/>
                </a:solidFill>
              </a:defRPr>
            </a:lvl1pPr>
          </a:lstStyle>
          <a:p>
            <a:r>
              <a:t>TRAINING SAMPLE FORMAT</a:t>
            </a:r>
          </a:p>
        </p:txBody>
      </p:sp>
      <p:sp>
        <p:nvSpPr>
          <p:cNvPr id="252" name="TextBox 8"/>
          <p:cNvSpPr txBox="1"/>
          <p:nvPr/>
        </p:nvSpPr>
        <p:spPr>
          <a:xfrm>
            <a:off x="713231" y="3496490"/>
            <a:ext cx="2914873" cy="1230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### Instruction</a:t>
            </a:r>
          </a:p>
          <a:p>
            <a:pPr>
              <a:lnSpc>
                <a:spcPct val="125000"/>
              </a:lnSpc>
              <a:defRPr sz="13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&lt;input&gt;</a:t>
            </a:r>
          </a:p>
          <a:p>
            <a:pPr>
              <a:lnSpc>
                <a:spcPct val="125000"/>
              </a:lnSpc>
              <a:defRPr sz="13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 dirty="0"/>
          </a:p>
          <a:p>
            <a:pPr>
              <a:lnSpc>
                <a:spcPct val="125000"/>
              </a:lnSpc>
              <a:defRPr sz="13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### Response</a:t>
            </a:r>
          </a:p>
          <a:p>
            <a:pPr>
              <a:lnSpc>
                <a:spcPct val="125000"/>
              </a:lnSpc>
              <a:defRPr sz="13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dirty="0"/>
              <a:t>&lt;expected output&gt;</a:t>
            </a:r>
          </a:p>
        </p:txBody>
      </p:sp>
      <p:graphicFrame>
        <p:nvGraphicFramePr>
          <p:cNvPr id="253" name="Table 9"/>
          <p:cNvGraphicFramePr/>
          <p:nvPr/>
        </p:nvGraphicFramePr>
        <p:xfrm>
          <a:off x="4251959" y="3209691"/>
          <a:ext cx="7132320" cy="16002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5F7FA"/>
                          </a:solidFill>
                        </a:rPr>
                        <a:t>Task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E1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5F7FA"/>
                          </a:solidFill>
                        </a:rPr>
                        <a:t>Instruction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E1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5F7FA"/>
                          </a:solidFill>
                        </a:rPr>
                        <a:t>Response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E1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Text → Python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Natural Language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dirty="0">
                          <a:solidFill>
                            <a:srgbClr val="94A3B8"/>
                          </a:solidFill>
                        </a:rPr>
                        <a:t>Python Code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dirty="0">
                          <a:solidFill>
                            <a:srgbClr val="94A3B8"/>
                          </a:solidFill>
                        </a:rPr>
                        <a:t>Text → Java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Natural Language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Java Code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Java → Python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Java Code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Python Code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Python → Java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94A3B8"/>
                          </a:solidFill>
                        </a:rPr>
                        <a:t>Python Code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dirty="0">
                          <a:solidFill>
                            <a:srgbClr val="94A3B8"/>
                          </a:solidFill>
                        </a:rPr>
                        <a:t>Java Code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4" name="TextBox 10"/>
          <p:cNvSpPr txBox="1"/>
          <p:nvPr/>
        </p:nvSpPr>
        <p:spPr>
          <a:xfrm>
            <a:off x="502919" y="4992772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 b="1">
                <a:solidFill>
                  <a:srgbClr val="22D3EE"/>
                </a:solidFill>
              </a:defRPr>
            </a:lvl1pPr>
          </a:lstStyle>
          <a:p>
            <a:r>
              <a:t>SAMPLE DATASET ROWS</a:t>
            </a:r>
          </a:p>
        </p:txBody>
      </p:sp>
      <p:pic>
        <p:nvPicPr>
          <p:cNvPr id="255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5285380"/>
            <a:ext cx="10881361" cy="1151087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TextBox 12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257" name="TextBox 13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09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34D399"/>
                </a:solidFill>
              </a:defRPr>
            </a:lvl1pPr>
          </a:lstStyle>
          <a:p>
            <a:r>
              <a:t>BASE VS. FINE-TUNED</a:t>
            </a:r>
          </a:p>
        </p:txBody>
      </p:sp>
      <p:sp>
        <p:nvSpPr>
          <p:cNvPr id="165" name="TextBox 3"/>
          <p:cNvSpPr txBox="1"/>
          <p:nvPr/>
        </p:nvSpPr>
        <p:spPr>
          <a:xfrm>
            <a:off x="502919" y="676655"/>
            <a:ext cx="1060704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F5F7FA"/>
                </a:solidFill>
              </a:defRPr>
            </a:lvl1pPr>
          </a:lstStyle>
          <a:p>
            <a:r>
              <a:rPr dirty="0"/>
              <a:t>Evaluation Results — Pass@1 &amp; </a:t>
            </a:r>
            <a:r>
              <a:rPr dirty="0" err="1"/>
              <a:t>CodeBERT</a:t>
            </a:r>
            <a:r>
              <a:rPr dirty="0"/>
              <a:t> Similarity</a:t>
            </a:r>
          </a:p>
        </p:txBody>
      </p:sp>
      <p:sp>
        <p:nvSpPr>
          <p:cNvPr id="166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7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0"/>
            <a:ext cx="5806441" cy="34591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5806441" cy="3459156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TextBox 7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70" name="TextBox 8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FBBF24"/>
                </a:solidFill>
              </a:defRPr>
            </a:lvl1pPr>
          </a:lstStyle>
          <a:p>
            <a:r>
              <a:t>OVERALL GAIN</a:t>
            </a:r>
          </a:p>
        </p:txBody>
      </p:sp>
      <p:sp>
        <p:nvSpPr>
          <p:cNvPr id="174" name="TextBox 3"/>
          <p:cNvSpPr txBox="1"/>
          <p:nvPr/>
        </p:nvSpPr>
        <p:spPr>
          <a:xfrm>
            <a:off x="502919" y="676655"/>
            <a:ext cx="10607042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rgbClr val="F5F7FA"/>
                </a:solidFill>
              </a:defRPr>
            </a:lvl1pPr>
          </a:lstStyle>
          <a:p>
            <a:r>
              <a:t>Evaluation Results — Composite Score Improvement</a:t>
            </a:r>
          </a:p>
        </p:txBody>
      </p:sp>
      <p:sp>
        <p:nvSpPr>
          <p:cNvPr id="175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6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39" y="1371600"/>
            <a:ext cx="9692642" cy="5365570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Box 6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78" name="TextBox 7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8B5CF6"/>
                </a:solidFill>
              </a:defRPr>
            </a:lvl1pPr>
          </a:lstStyle>
          <a:p>
            <a:r>
              <a:t>DEEP DIVE</a:t>
            </a:r>
          </a:p>
        </p:txBody>
      </p:sp>
      <p:sp>
        <p:nvSpPr>
          <p:cNvPr id="182" name="TextBox 3"/>
          <p:cNvSpPr txBox="1"/>
          <p:nvPr/>
        </p:nvSpPr>
        <p:spPr>
          <a:xfrm>
            <a:off x="502919" y="676655"/>
            <a:ext cx="1060704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F5F7FA"/>
                </a:solidFill>
              </a:defRPr>
            </a:lvl1pPr>
          </a:lstStyle>
          <a:p>
            <a:r>
              <a:t>Evaluation Results — Full Metric Breakdown</a:t>
            </a:r>
          </a:p>
        </p:txBody>
      </p:sp>
      <p:sp>
        <p:nvSpPr>
          <p:cNvPr id="183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656" y="1320801"/>
            <a:ext cx="8270384" cy="5168990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extBox 16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196" name="TextBox 17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16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8B5CF6"/>
                </a:solidFill>
              </a:defRPr>
            </a:lvl1pPr>
          </a:lstStyle>
          <a:p>
            <a:r>
              <a:t>DEEP DIVE</a:t>
            </a:r>
          </a:p>
        </p:txBody>
      </p:sp>
      <p:sp>
        <p:nvSpPr>
          <p:cNvPr id="402" name="TextBox 3"/>
          <p:cNvSpPr txBox="1"/>
          <p:nvPr/>
        </p:nvSpPr>
        <p:spPr>
          <a:xfrm>
            <a:off x="502919" y="676655"/>
            <a:ext cx="1060704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 b="1">
                <a:solidFill>
                  <a:srgbClr val="F5F7FA"/>
                </a:solidFill>
              </a:defRPr>
            </a:lvl1pPr>
          </a:lstStyle>
          <a:p>
            <a:r>
              <a:t>MBPP Benchmark — Held-Out Dataset Results</a:t>
            </a:r>
          </a:p>
        </p:txBody>
      </p:sp>
      <p:sp>
        <p:nvSpPr>
          <p:cNvPr id="403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4" name="Rounded Rectangle 5"/>
          <p:cNvSpPr/>
          <p:nvPr/>
        </p:nvSpPr>
        <p:spPr>
          <a:xfrm>
            <a:off x="2095848" y="1405296"/>
            <a:ext cx="8000000" cy="50000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5" name="TextBox 7"/>
          <p:cNvSpPr txBox="1"/>
          <p:nvPr/>
        </p:nvSpPr>
        <p:spPr>
          <a:xfrm>
            <a:off x="2095848" y="1625296"/>
            <a:ext cx="8000000" cy="2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 b="1">
                <a:solidFill>
                  <a:srgbClr val="22D3EE"/>
                </a:solidFill>
              </a:defRPr>
            </a:lvl1pPr>
          </a:lstStyle>
          <a:p>
            <a:r>
              <a:t>MBPP BENCHMARK</a:t>
            </a:r>
          </a:p>
        </p:txBody>
      </p:sp>
      <p:sp>
        <p:nvSpPr>
          <p:cNvPr id="406" name="TextBox 8"/>
          <p:cNvSpPr txBox="1"/>
          <p:nvPr/>
        </p:nvSpPr>
        <p:spPr>
          <a:xfrm>
            <a:off x="2095848" y="1965296"/>
            <a:ext cx="8000000" cy="17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 i="1">
                <a:solidFill>
                  <a:srgbClr val="94A3B8"/>
                </a:solidFill>
              </a:defRPr>
            </a:lvl1pPr>
          </a:lstStyle>
          <a:p>
            <a:r>
              <a:t>(Text → Python)</a:t>
            </a:r>
          </a:p>
        </p:txBody>
      </p:sp>
      <p:sp>
        <p:nvSpPr>
          <p:cNvPr id="407" name="Rounded Rectangle 9"/>
          <p:cNvSpPr/>
          <p:nvPr/>
        </p:nvSpPr>
        <p:spPr>
          <a:xfrm>
            <a:off x="2395848" y="2355296"/>
            <a:ext cx="3500000" cy="2300000"/>
          </a:xfrm>
          <a:prstGeom prst="roundRect">
            <a:avLst>
              <a:gd name="adj" fmla="val 6000"/>
            </a:avLst>
          </a:prstGeom>
          <a:solidFill>
            <a:srgbClr val="0D1326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8" name="TextBox 10"/>
          <p:cNvSpPr txBox="1"/>
          <p:nvPr/>
        </p:nvSpPr>
        <p:spPr>
          <a:xfrm>
            <a:off x="2395848" y="2705296"/>
            <a:ext cx="3500000" cy="5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4400" b="1">
                <a:solidFill>
                  <a:srgbClr val="22D3EE"/>
                </a:solidFill>
              </a:defRPr>
            </a:lvl1pPr>
          </a:lstStyle>
          <a:p>
            <a:r>
              <a:t>44.05%</a:t>
            </a:r>
          </a:p>
        </p:txBody>
      </p:sp>
      <p:sp>
        <p:nvSpPr>
          <p:cNvPr id="409" name="TextBox 11"/>
          <p:cNvSpPr txBox="1"/>
          <p:nvPr/>
        </p:nvSpPr>
        <p:spPr>
          <a:xfrm>
            <a:off x="2395848" y="3355296"/>
            <a:ext cx="3500000" cy="2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500">
                <a:solidFill>
                  <a:srgbClr val="94A3B8"/>
                </a:solidFill>
              </a:defRPr>
            </a:lvl1pPr>
          </a:lstStyle>
          <a:p>
            <a:r>
              <a:t>Fine-Tuned Pass@1</a:t>
            </a:r>
          </a:p>
        </p:txBody>
      </p:sp>
      <p:sp>
        <p:nvSpPr>
          <p:cNvPr id="410" name="Rounded Rectangle 12"/>
          <p:cNvSpPr/>
          <p:nvPr/>
        </p:nvSpPr>
        <p:spPr>
          <a:xfrm>
            <a:off x="6295848" y="2355296"/>
            <a:ext cx="3500000" cy="2300000"/>
          </a:xfrm>
          <a:prstGeom prst="roundRect">
            <a:avLst>
              <a:gd name="adj" fmla="val 6000"/>
            </a:avLst>
          </a:prstGeom>
          <a:solidFill>
            <a:srgbClr val="0D1326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1" name="TextBox 13"/>
          <p:cNvSpPr txBox="1"/>
          <p:nvPr/>
        </p:nvSpPr>
        <p:spPr>
          <a:xfrm>
            <a:off x="6295848" y="2705296"/>
            <a:ext cx="3500000" cy="5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4400" b="1">
                <a:solidFill>
                  <a:srgbClr val="34D399"/>
                </a:solidFill>
              </a:defRPr>
            </a:lvl1pPr>
          </a:lstStyle>
          <a:p>
            <a:r>
              <a:t>71.00%</a:t>
            </a:r>
          </a:p>
        </p:txBody>
      </p:sp>
      <p:sp>
        <p:nvSpPr>
          <p:cNvPr id="412" name="TextBox 14"/>
          <p:cNvSpPr txBox="1"/>
          <p:nvPr/>
        </p:nvSpPr>
        <p:spPr>
          <a:xfrm>
            <a:off x="6295848" y="3355296"/>
            <a:ext cx="3500000" cy="2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500">
                <a:solidFill>
                  <a:srgbClr val="94A3B8"/>
                </a:solidFill>
              </a:defRPr>
            </a:lvl1pPr>
          </a:lstStyle>
          <a:p>
            <a:r>
              <a:t>Fine-Tuned Pass@10</a:t>
            </a:r>
          </a:p>
        </p:txBody>
      </p:sp>
      <p:sp>
        <p:nvSpPr>
          <p:cNvPr id="413" name="TextBox 15"/>
          <p:cNvSpPr txBox="1"/>
          <p:nvPr/>
        </p:nvSpPr>
        <p:spPr>
          <a:xfrm>
            <a:off x="2395848" y="4915296"/>
            <a:ext cx="7400000" cy="28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200" i="1">
                <a:solidFill>
                  <a:srgbClr val="94A3B8"/>
                </a:solidFill>
              </a:defRPr>
            </a:lvl1pPr>
          </a:lstStyle>
          <a:p>
            <a:r>
              <a:t>Note: MBPP is an unknown/held-out dataset relative to fine-tuning data.</a:t>
            </a:r>
          </a:p>
        </p:txBody>
      </p:sp>
      <p:sp>
        <p:nvSpPr>
          <p:cNvPr id="414" name="TextBox 16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415" name="TextBox 17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19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34D399"/>
                </a:solidFill>
              </a:defRPr>
            </a:lvl1pPr>
          </a:lstStyle>
          <a:p>
            <a:r>
              <a:t>MEMORY OPTIMIZATION</a:t>
            </a:r>
          </a:p>
        </p:txBody>
      </p:sp>
      <p:sp>
        <p:nvSpPr>
          <p:cNvPr id="261" name="TextBox 3"/>
          <p:cNvSpPr txBox="1"/>
          <p:nvPr/>
        </p:nvSpPr>
        <p:spPr>
          <a:xfrm>
            <a:off x="502919" y="676655"/>
            <a:ext cx="10607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rgbClr val="F5F7FA"/>
                </a:solidFill>
              </a:defRPr>
            </a:lvl1pPr>
          </a:lstStyle>
          <a:p>
            <a:r>
              <a:t>Model Quantization</a:t>
            </a:r>
          </a:p>
        </p:txBody>
      </p:sp>
      <p:sp>
        <p:nvSpPr>
          <p:cNvPr id="262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63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84047"/>
            <a:ext cx="822961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TextBox 6"/>
          <p:cNvSpPr txBox="1"/>
          <p:nvPr/>
        </p:nvSpPr>
        <p:spPr>
          <a:xfrm>
            <a:off x="502919" y="1508760"/>
            <a:ext cx="10058401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94A3B8"/>
                </a:solidFill>
              </a:defRPr>
            </a:lvl1pPr>
          </a:lstStyle>
          <a:p>
            <a:r>
              <a:t>To reduce GPU memory usage, 4-bit NF4 quantization was applied.</a:t>
            </a:r>
          </a:p>
        </p:txBody>
      </p:sp>
      <p:sp>
        <p:nvSpPr>
          <p:cNvPr id="265" name="Rounded Rectangle 7"/>
          <p:cNvSpPr/>
          <p:nvPr/>
        </p:nvSpPr>
        <p:spPr>
          <a:xfrm>
            <a:off x="502919" y="2194560"/>
            <a:ext cx="2606041" cy="1371601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6" name="TextBox 8"/>
          <p:cNvSpPr txBox="1"/>
          <p:nvPr/>
        </p:nvSpPr>
        <p:spPr>
          <a:xfrm>
            <a:off x="667512" y="2304288"/>
            <a:ext cx="2276857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solidFill>
                  <a:srgbClr val="34D399"/>
                </a:solidFill>
              </a:defRPr>
            </a:lvl1pPr>
          </a:lstStyle>
          <a:p>
            <a:r>
              <a:t>4-bit</a:t>
            </a:r>
          </a:p>
        </p:txBody>
      </p:sp>
      <p:sp>
        <p:nvSpPr>
          <p:cNvPr id="267" name="TextBox 9"/>
          <p:cNvSpPr txBox="1"/>
          <p:nvPr/>
        </p:nvSpPr>
        <p:spPr>
          <a:xfrm>
            <a:off x="667512" y="3182111"/>
            <a:ext cx="227685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r>
              <a:t>Quantization</a:t>
            </a:r>
          </a:p>
        </p:txBody>
      </p:sp>
      <p:sp>
        <p:nvSpPr>
          <p:cNvPr id="268" name="Rounded Rectangle 10"/>
          <p:cNvSpPr/>
          <p:nvPr/>
        </p:nvSpPr>
        <p:spPr>
          <a:xfrm>
            <a:off x="3246120" y="2194560"/>
            <a:ext cx="2606041" cy="1371601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9" name="TextBox 11"/>
          <p:cNvSpPr txBox="1"/>
          <p:nvPr/>
        </p:nvSpPr>
        <p:spPr>
          <a:xfrm>
            <a:off x="3410711" y="2304288"/>
            <a:ext cx="2276857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solidFill>
                  <a:srgbClr val="34D399"/>
                </a:solidFill>
              </a:defRPr>
            </a:lvl1pPr>
          </a:lstStyle>
          <a:p>
            <a:r>
              <a:t>NF4</a:t>
            </a:r>
          </a:p>
        </p:txBody>
      </p:sp>
      <p:sp>
        <p:nvSpPr>
          <p:cNvPr id="270" name="TextBox 12"/>
          <p:cNvSpPr txBox="1"/>
          <p:nvPr/>
        </p:nvSpPr>
        <p:spPr>
          <a:xfrm>
            <a:off x="3410711" y="3182111"/>
            <a:ext cx="227685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r>
              <a:t>Type</a:t>
            </a:r>
          </a:p>
        </p:txBody>
      </p:sp>
      <p:sp>
        <p:nvSpPr>
          <p:cNvPr id="271" name="Rounded Rectangle 13"/>
          <p:cNvSpPr/>
          <p:nvPr/>
        </p:nvSpPr>
        <p:spPr>
          <a:xfrm>
            <a:off x="5989320" y="2194560"/>
            <a:ext cx="2606041" cy="1371601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2" name="TextBox 14"/>
          <p:cNvSpPr txBox="1"/>
          <p:nvPr/>
        </p:nvSpPr>
        <p:spPr>
          <a:xfrm>
            <a:off x="6153911" y="2304288"/>
            <a:ext cx="2276857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solidFill>
                  <a:srgbClr val="34D399"/>
                </a:solidFill>
              </a:defRPr>
            </a:lvl1pPr>
          </a:lstStyle>
          <a:p>
            <a:r>
              <a:t>Enabled</a:t>
            </a:r>
          </a:p>
        </p:txBody>
      </p:sp>
      <p:sp>
        <p:nvSpPr>
          <p:cNvPr id="273" name="TextBox 15"/>
          <p:cNvSpPr txBox="1"/>
          <p:nvPr/>
        </p:nvSpPr>
        <p:spPr>
          <a:xfrm>
            <a:off x="6153911" y="3182111"/>
            <a:ext cx="227685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r>
              <a:t>Double Quantization</a:t>
            </a:r>
          </a:p>
        </p:txBody>
      </p:sp>
      <p:sp>
        <p:nvSpPr>
          <p:cNvPr id="274" name="Rounded Rectangle 16"/>
          <p:cNvSpPr/>
          <p:nvPr/>
        </p:nvSpPr>
        <p:spPr>
          <a:xfrm>
            <a:off x="8732519" y="2194560"/>
            <a:ext cx="2606041" cy="1371601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5" name="TextBox 17"/>
          <p:cNvSpPr txBox="1"/>
          <p:nvPr/>
        </p:nvSpPr>
        <p:spPr>
          <a:xfrm>
            <a:off x="8897111" y="2304288"/>
            <a:ext cx="2276857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solidFill>
                  <a:srgbClr val="34D399"/>
                </a:solidFill>
              </a:defRPr>
            </a:lvl1pPr>
          </a:lstStyle>
          <a:p>
            <a:r>
              <a:t>bfloat16</a:t>
            </a:r>
          </a:p>
        </p:txBody>
      </p:sp>
      <p:sp>
        <p:nvSpPr>
          <p:cNvPr id="276" name="TextBox 18"/>
          <p:cNvSpPr txBox="1"/>
          <p:nvPr/>
        </p:nvSpPr>
        <p:spPr>
          <a:xfrm>
            <a:off x="8897111" y="3182111"/>
            <a:ext cx="227685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r>
              <a:t>Compute Dtype</a:t>
            </a:r>
          </a:p>
        </p:txBody>
      </p:sp>
      <p:sp>
        <p:nvSpPr>
          <p:cNvPr id="277" name="TextBox 19"/>
          <p:cNvSpPr txBox="1"/>
          <p:nvPr/>
        </p:nvSpPr>
        <p:spPr>
          <a:xfrm>
            <a:off x="502919" y="397763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34D399"/>
                </a:solidFill>
              </a:defRPr>
            </a:lvl1pPr>
          </a:lstStyle>
          <a:p>
            <a:r>
              <a:t>BENEFITS</a:t>
            </a:r>
          </a:p>
        </p:txBody>
      </p:sp>
      <p:sp>
        <p:nvSpPr>
          <p:cNvPr id="278" name="TextBox 20"/>
          <p:cNvSpPr txBox="1"/>
          <p:nvPr/>
        </p:nvSpPr>
        <p:spPr>
          <a:xfrm>
            <a:off x="502919" y="4389120"/>
            <a:ext cx="10607042" cy="130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1400"/>
              </a:spcBef>
              <a:defRPr sz="17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Lower GPU memory consumption</a:t>
            </a:r>
          </a:p>
          <a:p>
            <a:pPr>
              <a:lnSpc>
                <a:spcPct val="112000"/>
              </a:lnSpc>
              <a:spcBef>
                <a:spcPts val="1400"/>
              </a:spcBef>
              <a:defRPr sz="17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Faster training</a:t>
            </a:r>
          </a:p>
          <a:p>
            <a:pPr>
              <a:lnSpc>
                <a:spcPct val="112000"/>
              </a:lnSpc>
              <a:spcBef>
                <a:spcPts val="1400"/>
              </a:spcBef>
              <a:defRPr sz="17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Enables fine-tuning large language models on limited hardware</a:t>
            </a:r>
          </a:p>
        </p:txBody>
      </p:sp>
      <p:sp>
        <p:nvSpPr>
          <p:cNvPr id="279" name="TextBox 21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280" name="TextBox 22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END-TO-END PIPELINE</a:t>
            </a:r>
          </a:p>
        </p:txBody>
      </p:sp>
      <p:sp>
        <p:nvSpPr>
          <p:cNvPr id="215" name="TextBox 3"/>
          <p:cNvSpPr txBox="1"/>
          <p:nvPr/>
        </p:nvSpPr>
        <p:spPr>
          <a:xfrm>
            <a:off x="502919" y="676655"/>
            <a:ext cx="10607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rgbClr val="F5F7FA"/>
                </a:solidFill>
              </a:defRPr>
            </a:lvl1pPr>
          </a:lstStyle>
          <a:p>
            <a:r>
              <a:t>Fine-Tuning Workflow</a:t>
            </a:r>
          </a:p>
        </p:txBody>
      </p:sp>
      <p:sp>
        <p:nvSpPr>
          <p:cNvPr id="216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17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34439"/>
            <a:ext cx="2570878" cy="5349242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TextBox 6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219" name="TextBox 7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EC4899"/>
                </a:solidFill>
              </a:defRPr>
            </a:lvl1pPr>
          </a:lstStyle>
          <a:p>
            <a:r>
              <a:t>EFFICIENT FINE-TUNING</a:t>
            </a:r>
          </a:p>
        </p:txBody>
      </p:sp>
      <p:sp>
        <p:nvSpPr>
          <p:cNvPr id="284" name="TextBox 3"/>
          <p:cNvSpPr txBox="1"/>
          <p:nvPr/>
        </p:nvSpPr>
        <p:spPr>
          <a:xfrm>
            <a:off x="502919" y="676655"/>
            <a:ext cx="1060704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700" b="1">
                <a:solidFill>
                  <a:srgbClr val="F5F7FA"/>
                </a:solidFill>
              </a:defRPr>
            </a:lvl1pPr>
          </a:lstStyle>
          <a:p>
            <a:r>
              <a:t>LoRA Configuration &amp; Advantages</a:t>
            </a:r>
          </a:p>
        </p:txBody>
      </p:sp>
      <p:sp>
        <p:nvSpPr>
          <p:cNvPr id="285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6" name="TextBox 5"/>
          <p:cNvSpPr txBox="1"/>
          <p:nvPr/>
        </p:nvSpPr>
        <p:spPr>
          <a:xfrm>
            <a:off x="502919" y="1417319"/>
            <a:ext cx="5486401" cy="394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94A3B8"/>
                </a:solidFill>
              </a:defRPr>
            </a:lvl1pPr>
          </a:lstStyle>
          <a:p>
            <a:r>
              <a:t>Instead of updating all model parameters, LoRA inserts trainable low-rank matrices into attention layers.</a:t>
            </a:r>
          </a:p>
        </p:txBody>
      </p:sp>
      <p:graphicFrame>
        <p:nvGraphicFramePr>
          <p:cNvPr id="287" name="Table 6"/>
          <p:cNvGraphicFramePr/>
          <p:nvPr/>
        </p:nvGraphicFramePr>
        <p:xfrm>
          <a:off x="502919" y="2194560"/>
          <a:ext cx="5394960" cy="22860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F5F7FA"/>
                          </a:solidFill>
                        </a:rPr>
                        <a:t>Parameter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2A10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F5F7FA"/>
                          </a:solidFill>
                        </a:rPr>
                        <a:t>Value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2A10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Rank (r)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Alpha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32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Dropout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0.05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Bias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None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Task Type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300">
                          <a:solidFill>
                            <a:srgbClr val="94A3B8"/>
                          </a:solidFill>
                        </a:rPr>
                        <a:t>Causal Language Modeling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8" name="TextBox 7"/>
          <p:cNvSpPr txBox="1"/>
          <p:nvPr/>
        </p:nvSpPr>
        <p:spPr>
          <a:xfrm>
            <a:off x="502919" y="4709159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 b="1">
                <a:solidFill>
                  <a:srgbClr val="EC4899"/>
                </a:solidFill>
              </a:defRPr>
            </a:lvl1pPr>
          </a:lstStyle>
          <a:p>
            <a:r>
              <a:t>TARGET LAYERS (Q · K · V · O)</a:t>
            </a:r>
          </a:p>
        </p:txBody>
      </p:sp>
      <p:sp>
        <p:nvSpPr>
          <p:cNvPr id="289" name="TextBox 8"/>
          <p:cNvSpPr txBox="1"/>
          <p:nvPr/>
        </p:nvSpPr>
        <p:spPr>
          <a:xfrm>
            <a:off x="502919" y="5074920"/>
            <a:ext cx="5486401" cy="403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94A3B8"/>
                </a:solidFill>
              </a:defRPr>
            </a:lvl1pPr>
          </a:lstStyle>
          <a:p>
            <a:r>
              <a:t>LoRA adapters are injected into the Query, Key, Value, and Output projection layers of the attention block.</a:t>
            </a:r>
          </a:p>
        </p:txBody>
      </p:sp>
      <p:sp>
        <p:nvSpPr>
          <p:cNvPr id="290" name="TextBox 9"/>
          <p:cNvSpPr txBox="1"/>
          <p:nvPr/>
        </p:nvSpPr>
        <p:spPr>
          <a:xfrm>
            <a:off x="6263640" y="1417319"/>
            <a:ext cx="51206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WHY LoRA — ADVANTAGES</a:t>
            </a:r>
          </a:p>
        </p:txBody>
      </p:sp>
      <p:sp>
        <p:nvSpPr>
          <p:cNvPr id="291" name="TextBox 10"/>
          <p:cNvSpPr txBox="1"/>
          <p:nvPr/>
        </p:nvSpPr>
        <p:spPr>
          <a:xfrm>
            <a:off x="6263640" y="1828800"/>
            <a:ext cx="5120641" cy="279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1500"/>
              </a:spcBef>
              <a:defRPr sz="16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Only adapter weights are trained</a:t>
            </a:r>
          </a:p>
          <a:p>
            <a:pPr>
              <a:lnSpc>
                <a:spcPct val="112000"/>
              </a:lnSpc>
              <a:spcBef>
                <a:spcPts val="1500"/>
              </a:spcBef>
              <a:defRPr sz="16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Original model weights remain frozen</a:t>
            </a:r>
          </a:p>
          <a:p>
            <a:pPr>
              <a:lnSpc>
                <a:spcPct val="112000"/>
              </a:lnSpc>
              <a:spcBef>
                <a:spcPts val="1500"/>
              </a:spcBef>
              <a:defRPr sz="16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Significantly lower GPU memory usage</a:t>
            </a:r>
          </a:p>
          <a:p>
            <a:pPr>
              <a:lnSpc>
                <a:spcPct val="112000"/>
              </a:lnSpc>
              <a:spcBef>
                <a:spcPts val="1500"/>
              </a:spcBef>
              <a:defRPr sz="16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Faster training time</a:t>
            </a:r>
          </a:p>
          <a:p>
            <a:pPr>
              <a:lnSpc>
                <a:spcPct val="112000"/>
              </a:lnSpc>
              <a:spcBef>
                <a:spcPts val="1500"/>
              </a:spcBef>
              <a:defRPr sz="16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Lightweight adapter — easy to deploy</a:t>
            </a:r>
          </a:p>
          <a:p>
            <a:pPr>
              <a:lnSpc>
                <a:spcPct val="112000"/>
              </a:lnSpc>
              <a:spcBef>
                <a:spcPts val="1500"/>
              </a:spcBef>
              <a:defRPr sz="1600" b="1">
                <a:solidFill>
                  <a:srgbClr val="34D39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F5F7FA"/>
                </a:solidFill>
              </a:rPr>
              <a:t>Comparable performance to full fine-tuning</a:t>
            </a:r>
          </a:p>
        </p:txBody>
      </p:sp>
      <p:sp>
        <p:nvSpPr>
          <p:cNvPr id="292" name="TextBox 11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293" name="TextBox 12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FBBF24"/>
                </a:solidFill>
              </a:defRPr>
            </a:lvl1pPr>
          </a:lstStyle>
          <a:p>
            <a:r>
              <a:t>HYPERPARAMETERS</a:t>
            </a:r>
          </a:p>
        </p:txBody>
      </p:sp>
      <p:sp>
        <p:nvSpPr>
          <p:cNvPr id="297" name="TextBox 3"/>
          <p:cNvSpPr txBox="1"/>
          <p:nvPr/>
        </p:nvSpPr>
        <p:spPr>
          <a:xfrm>
            <a:off x="502919" y="676655"/>
            <a:ext cx="10607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rgbClr val="F5F7FA"/>
                </a:solidFill>
              </a:defRPr>
            </a:lvl1pPr>
          </a:lstStyle>
          <a:p>
            <a:r>
              <a:t>Training Configuration</a:t>
            </a:r>
          </a:p>
        </p:txBody>
      </p:sp>
      <p:sp>
        <p:nvSpPr>
          <p:cNvPr id="298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aphicFrame>
        <p:nvGraphicFramePr>
          <p:cNvPr id="299" name="Table 5"/>
          <p:cNvGraphicFramePr/>
          <p:nvPr/>
        </p:nvGraphicFramePr>
        <p:xfrm>
          <a:off x="502919" y="1554480"/>
          <a:ext cx="5760720" cy="420624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F5F7FA"/>
                          </a:solidFill>
                        </a:rPr>
                        <a:t>Parameter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2E22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F5F7FA"/>
                          </a:solidFill>
                        </a:rPr>
                        <a:t>Value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2E2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Epochs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3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Batch Size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1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Gradient Accumulation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16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Effective Batch Size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16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Learning Rate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2 × 10⁻⁴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Precision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BF16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Optimizer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500">
                          <a:solidFill>
                            <a:srgbClr val="94A3B8"/>
                          </a:solidFill>
                        </a:rPr>
                        <a:t>AdamW (default)</a:t>
                      </a:r>
                    </a:p>
                  </a:txBody>
                  <a:tcPr marL="76200" marR="76200" marT="76200" marB="76200" anchor="ctr" horzOverflow="overflow"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0" name="TextBox 6"/>
          <p:cNvSpPr txBox="1"/>
          <p:nvPr/>
        </p:nvSpPr>
        <p:spPr>
          <a:xfrm>
            <a:off x="6766559" y="1554480"/>
            <a:ext cx="493776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TRAINING FRAMEWORK</a:t>
            </a:r>
          </a:p>
        </p:txBody>
      </p:sp>
      <p:sp>
        <p:nvSpPr>
          <p:cNvPr id="301" name="TextBox 7"/>
          <p:cNvSpPr txBox="1"/>
          <p:nvPr/>
        </p:nvSpPr>
        <p:spPr>
          <a:xfrm>
            <a:off x="6766559" y="2011679"/>
            <a:ext cx="4937762" cy="1301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1400"/>
              </a:spcBef>
              <a:defRPr sz="1700" b="1">
                <a:solidFill>
                  <a:srgbClr val="22D3EE"/>
                </a:solidFill>
              </a:defRPr>
            </a:pPr>
            <a:r>
              <a:t>▸  </a:t>
            </a:r>
            <a:r>
              <a:rPr b="0">
                <a:solidFill>
                  <a:srgbClr val="F5F7FA"/>
                </a:solidFill>
              </a:rPr>
              <a:t>Hugging Face Transformers</a:t>
            </a:r>
          </a:p>
          <a:p>
            <a:pPr>
              <a:lnSpc>
                <a:spcPct val="112000"/>
              </a:lnSpc>
              <a:spcBef>
                <a:spcPts val="1400"/>
              </a:spcBef>
              <a:defRPr sz="1700" b="1">
                <a:solidFill>
                  <a:srgbClr val="22D3EE"/>
                </a:solidFill>
              </a:defRPr>
            </a:pPr>
            <a:r>
              <a:t>▸  </a:t>
            </a:r>
            <a:r>
              <a:rPr b="0">
                <a:solidFill>
                  <a:srgbClr val="F5F7FA"/>
                </a:solidFill>
              </a:rPr>
              <a:t>TRL — SFTTrainer</a:t>
            </a:r>
          </a:p>
          <a:p>
            <a:pPr>
              <a:lnSpc>
                <a:spcPct val="112000"/>
              </a:lnSpc>
              <a:spcBef>
                <a:spcPts val="1400"/>
              </a:spcBef>
              <a:defRPr sz="1700" b="1">
                <a:solidFill>
                  <a:srgbClr val="22D3EE"/>
                </a:solidFill>
              </a:defRPr>
            </a:pPr>
            <a:r>
              <a:t>▸  </a:t>
            </a:r>
            <a:r>
              <a:rPr b="0">
                <a:solidFill>
                  <a:srgbClr val="F5F7FA"/>
                </a:solidFill>
              </a:rPr>
              <a:t>PEFT</a:t>
            </a:r>
          </a:p>
        </p:txBody>
      </p:sp>
      <p:sp>
        <p:nvSpPr>
          <p:cNvPr id="302" name="TextBox 8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303" name="TextBox 9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TextBox 2"/>
          <p:cNvSpPr txBox="1"/>
          <p:nvPr/>
        </p:nvSpPr>
        <p:spPr>
          <a:xfrm>
            <a:off x="502919" y="384047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rgbClr val="22D3EE"/>
                </a:solidFill>
              </a:defRPr>
            </a:lvl1pPr>
          </a:lstStyle>
          <a:p>
            <a:r>
              <a:t>UNDER THE HOOD</a:t>
            </a:r>
          </a:p>
        </p:txBody>
      </p:sp>
      <p:sp>
        <p:nvSpPr>
          <p:cNvPr id="307" name="TextBox 3"/>
          <p:cNvSpPr txBox="1"/>
          <p:nvPr/>
        </p:nvSpPr>
        <p:spPr>
          <a:xfrm>
            <a:off x="502919" y="676655"/>
            <a:ext cx="10607042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>
                <a:solidFill>
                  <a:srgbClr val="F5F7FA"/>
                </a:solidFill>
              </a:defRPr>
            </a:lvl1pPr>
          </a:lstStyle>
          <a:p>
            <a:r>
              <a:t>Model Details &amp; Endpoints</a:t>
            </a:r>
          </a:p>
        </p:txBody>
      </p:sp>
      <p:sp>
        <p:nvSpPr>
          <p:cNvPr id="308" name="Rectangle 4"/>
          <p:cNvSpPr/>
          <p:nvPr/>
        </p:nvSpPr>
        <p:spPr>
          <a:xfrm>
            <a:off x="502919" y="1280160"/>
            <a:ext cx="1005840" cy="40641"/>
          </a:xfrm>
          <a:prstGeom prst="rect">
            <a:avLst/>
          </a:prstGeom>
          <a:solidFill>
            <a:srgbClr val="22D3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9" name="Rounded Rectangle 5"/>
          <p:cNvSpPr/>
          <p:nvPr/>
        </p:nvSpPr>
        <p:spPr>
          <a:xfrm>
            <a:off x="502919" y="1463039"/>
            <a:ext cx="5349242" cy="2331722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0" name="TextBox 6"/>
          <p:cNvSpPr txBox="1"/>
          <p:nvPr/>
        </p:nvSpPr>
        <p:spPr>
          <a:xfrm>
            <a:off x="731519" y="1600200"/>
            <a:ext cx="48463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8B5CF6"/>
                </a:solidFill>
              </a:defRPr>
            </a:lvl1pPr>
          </a:lstStyle>
          <a:p>
            <a:r>
              <a:t>Generation / Translation / Repair</a:t>
            </a:r>
          </a:p>
        </p:txBody>
      </p:sp>
      <p:sp>
        <p:nvSpPr>
          <p:cNvPr id="311" name="TextBox 7"/>
          <p:cNvSpPr txBox="1"/>
          <p:nvPr/>
        </p:nvSpPr>
        <p:spPr>
          <a:xfrm>
            <a:off x="731519" y="2057400"/>
            <a:ext cx="4846322" cy="867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1000"/>
              </a:spcBef>
              <a:defRPr sz="13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dirty="0">
                <a:solidFill>
                  <a:srgbClr val="F5F7FA"/>
                </a:solidFill>
              </a:rPr>
              <a:t>Base model: </a:t>
            </a:r>
            <a:r>
              <a:rPr b="0" dirty="0" err="1">
                <a:solidFill>
                  <a:srgbClr val="94A3B8"/>
                </a:solidFill>
              </a:rPr>
              <a:t>bigcode</a:t>
            </a:r>
            <a:r>
              <a:rPr b="0" dirty="0">
                <a:solidFill>
                  <a:srgbClr val="94A3B8"/>
                </a:solidFill>
              </a:rPr>
              <a:t>/starcoder2-3b</a:t>
            </a:r>
          </a:p>
          <a:p>
            <a:pPr>
              <a:lnSpc>
                <a:spcPct val="112000"/>
              </a:lnSpc>
              <a:spcBef>
                <a:spcPts val="1000"/>
              </a:spcBef>
              <a:defRPr sz="13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dirty="0">
                <a:solidFill>
                  <a:srgbClr val="F5F7FA"/>
                </a:solidFill>
              </a:rPr>
              <a:t>Dataset: </a:t>
            </a:r>
            <a:r>
              <a:rPr b="0" dirty="0">
                <a:solidFill>
                  <a:srgbClr val="94A3B8"/>
                </a:solidFill>
              </a:rPr>
              <a:t>custom dataset</a:t>
            </a:r>
          </a:p>
          <a:p>
            <a:pPr>
              <a:lnSpc>
                <a:spcPct val="112000"/>
              </a:lnSpc>
              <a:spcBef>
                <a:spcPts val="1000"/>
              </a:spcBef>
              <a:defRPr sz="1300" b="1">
                <a:solidFill>
                  <a:srgbClr val="22D3EE"/>
                </a:solidFill>
              </a:defRPr>
            </a:pPr>
            <a:r>
              <a:rPr dirty="0"/>
              <a:t>•  </a:t>
            </a:r>
            <a:r>
              <a:rPr dirty="0">
                <a:solidFill>
                  <a:srgbClr val="F5F7FA"/>
                </a:solidFill>
              </a:rPr>
              <a:t>Fine-tuned (</a:t>
            </a:r>
            <a:r>
              <a:rPr dirty="0" err="1">
                <a:solidFill>
                  <a:srgbClr val="F5F7FA"/>
                </a:solidFill>
              </a:rPr>
              <a:t>QLoRA</a:t>
            </a:r>
            <a:r>
              <a:rPr dirty="0">
                <a:solidFill>
                  <a:srgbClr val="F5F7FA"/>
                </a:solidFill>
              </a:rPr>
              <a:t>) </a:t>
            </a:r>
            <a:r>
              <a:rPr b="0" dirty="0">
                <a:solidFill>
                  <a:srgbClr val="94A3B8"/>
                </a:solidFill>
              </a:rPr>
              <a:t>to follow instructions</a:t>
            </a:r>
          </a:p>
        </p:txBody>
      </p:sp>
      <p:sp>
        <p:nvSpPr>
          <p:cNvPr id="312" name="Rounded Rectangle 8"/>
          <p:cNvSpPr/>
          <p:nvPr/>
        </p:nvSpPr>
        <p:spPr>
          <a:xfrm>
            <a:off x="6035040" y="1463039"/>
            <a:ext cx="5349241" cy="2331722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 w="12700">
            <a:solidFill>
              <a:srgbClr val="24304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3" name="TextBox 9"/>
          <p:cNvSpPr txBox="1"/>
          <p:nvPr/>
        </p:nvSpPr>
        <p:spPr>
          <a:xfrm>
            <a:off x="6263640" y="1600200"/>
            <a:ext cx="48463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 b="1">
                <a:solidFill>
                  <a:srgbClr val="EC4899"/>
                </a:solidFill>
              </a:defRPr>
            </a:lvl1pPr>
          </a:lstStyle>
          <a:p>
            <a:r>
              <a:t>Code Explanation, Router &amp; Validation</a:t>
            </a:r>
          </a:p>
        </p:txBody>
      </p:sp>
      <p:sp>
        <p:nvSpPr>
          <p:cNvPr id="314" name="TextBox 10"/>
          <p:cNvSpPr txBox="1"/>
          <p:nvPr/>
        </p:nvSpPr>
        <p:spPr>
          <a:xfrm>
            <a:off x="6263640" y="2057400"/>
            <a:ext cx="4846321" cy="867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1000"/>
              </a:spcBef>
              <a:defRPr sz="1300" b="1">
                <a:solidFill>
                  <a:srgbClr val="22D3EE"/>
                </a:solidFill>
              </a:defRPr>
            </a:pPr>
            <a:r>
              <a:t>•  </a:t>
            </a:r>
            <a:r>
              <a:rPr>
                <a:solidFill>
                  <a:srgbClr val="F5F7FA"/>
                </a:solidFill>
              </a:rPr>
              <a:t>Explanation: </a:t>
            </a:r>
            <a:r>
              <a:rPr b="0">
                <a:solidFill>
                  <a:srgbClr val="94A3B8"/>
                </a:solidFill>
              </a:rPr>
              <a:t>qwen/qwen3.6-27b</a:t>
            </a:r>
          </a:p>
          <a:p>
            <a:pPr>
              <a:lnSpc>
                <a:spcPct val="112000"/>
              </a:lnSpc>
              <a:spcBef>
                <a:spcPts val="1000"/>
              </a:spcBef>
              <a:defRPr sz="1300" b="1">
                <a:solidFill>
                  <a:srgbClr val="22D3EE"/>
                </a:solidFill>
              </a:defRPr>
            </a:pPr>
            <a:r>
              <a:t>•  </a:t>
            </a:r>
            <a:r>
              <a:rPr>
                <a:solidFill>
                  <a:srgbClr val="F5F7FA"/>
                </a:solidFill>
              </a:rPr>
              <a:t>Router: </a:t>
            </a:r>
            <a:r>
              <a:rPr b="0">
                <a:solidFill>
                  <a:srgbClr val="94A3B8"/>
                </a:solidFill>
              </a:rPr>
              <a:t>qwen/qwen3.6-27b</a:t>
            </a:r>
          </a:p>
          <a:p>
            <a:pPr>
              <a:lnSpc>
                <a:spcPct val="112000"/>
              </a:lnSpc>
              <a:spcBef>
                <a:spcPts val="1000"/>
              </a:spcBef>
              <a:defRPr sz="1300" b="1">
                <a:solidFill>
                  <a:srgbClr val="22D3EE"/>
                </a:solidFill>
              </a:defRPr>
            </a:pPr>
            <a:r>
              <a:t>•  </a:t>
            </a:r>
            <a:r>
              <a:rPr>
                <a:solidFill>
                  <a:srgbClr val="F5F7FA"/>
                </a:solidFill>
              </a:rPr>
              <a:t>Validation (Test Case Generator): </a:t>
            </a:r>
            <a:r>
              <a:rPr b="0">
                <a:solidFill>
                  <a:srgbClr val="94A3B8"/>
                </a:solidFill>
              </a:rPr>
              <a:t>qwen/qwen3.6-27b</a:t>
            </a:r>
          </a:p>
        </p:txBody>
      </p:sp>
      <p:sp>
        <p:nvSpPr>
          <p:cNvPr id="315" name="Rounded Rectangle 11"/>
          <p:cNvSpPr/>
          <p:nvPr/>
        </p:nvSpPr>
        <p:spPr>
          <a:xfrm>
            <a:off x="502919" y="4023359"/>
            <a:ext cx="10881361" cy="1183268"/>
          </a:xfrm>
          <a:prstGeom prst="roundRect">
            <a:avLst>
              <a:gd name="adj" fmla="val 15000"/>
            </a:avLst>
          </a:prstGeom>
          <a:solidFill>
            <a:srgbClr val="0B1B2E"/>
          </a:solidFill>
          <a:ln w="12700">
            <a:solidFill>
              <a:srgbClr val="22D3E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16" name="TextBox 12"/>
          <p:cNvSpPr txBox="1"/>
          <p:nvPr/>
        </p:nvSpPr>
        <p:spPr>
          <a:xfrm>
            <a:off x="731519" y="4142232"/>
            <a:ext cx="1828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 b="1">
                <a:solidFill>
                  <a:srgbClr val="22D3EE"/>
                </a:solidFill>
              </a:defRPr>
            </a:lvl1pPr>
          </a:lstStyle>
          <a:p>
            <a:r>
              <a:t>METRICS &amp; CODE</a:t>
            </a:r>
          </a:p>
        </p:txBody>
      </p:sp>
      <p:sp>
        <p:nvSpPr>
          <p:cNvPr id="317" name="TextBox 13"/>
          <p:cNvSpPr txBox="1"/>
          <p:nvPr/>
        </p:nvSpPr>
        <p:spPr>
          <a:xfrm>
            <a:off x="731519" y="4326627"/>
            <a:ext cx="1033272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b="1" dirty="0">
                <a:solidFill>
                  <a:srgbClr val="22D3EE"/>
                </a:solidFill>
              </a:rPr>
              <a:t>Finetuning &amp; Evaluation:</a:t>
            </a:r>
            <a:r>
              <a:rPr lang="en-US" b="1" dirty="0">
                <a:solidFill>
                  <a:srgbClr val="22D3EE"/>
                </a:solidFill>
              </a:rPr>
              <a:t> github.com/nayanjha16/CodeGen-Implementations-May_26/blob/Group-19-model-finetune/README.md</a:t>
            </a:r>
            <a:endParaRPr dirty="0"/>
          </a:p>
        </p:txBody>
      </p:sp>
      <p:sp>
        <p:nvSpPr>
          <p:cNvPr id="320" name="TextBox 20"/>
          <p:cNvSpPr txBox="1"/>
          <p:nvPr/>
        </p:nvSpPr>
        <p:spPr>
          <a:xfrm>
            <a:off x="731519" y="4531627"/>
            <a:ext cx="10332722" cy="16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b="1" dirty="0">
                <a:solidFill>
                  <a:srgbClr val="22D3EE"/>
                </a:solidFill>
              </a:rPr>
              <a:t>Frontend: </a:t>
            </a:r>
            <a:r>
              <a:rPr dirty="0"/>
              <a:t>github.com/nayanjha16/CodeGen-Implementations-May_26/blob/Group-19-frontend/README.md</a:t>
            </a:r>
          </a:p>
        </p:txBody>
      </p:sp>
      <p:sp>
        <p:nvSpPr>
          <p:cNvPr id="321" name="TextBox 21"/>
          <p:cNvSpPr txBox="1"/>
          <p:nvPr/>
        </p:nvSpPr>
        <p:spPr>
          <a:xfrm>
            <a:off x="731519" y="4736627"/>
            <a:ext cx="10332722" cy="16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b="1">
                <a:solidFill>
                  <a:srgbClr val="22D3EE"/>
                </a:solidFill>
              </a:rPr>
              <a:t>Agentic System: </a:t>
            </a:r>
            <a:r>
              <a:t>github.com/nayanjha16/CodeGen-Implementations-May_26/blob/Group-19-agentic-system-v1/README.md</a:t>
            </a:r>
          </a:p>
        </p:txBody>
      </p:sp>
      <p:sp>
        <p:nvSpPr>
          <p:cNvPr id="322" name="TextBox 22"/>
          <p:cNvSpPr txBox="1"/>
          <p:nvPr/>
        </p:nvSpPr>
        <p:spPr>
          <a:xfrm>
            <a:off x="731519" y="4941627"/>
            <a:ext cx="10332722" cy="16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F5F7F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rPr b="1">
                <a:solidFill>
                  <a:srgbClr val="22D3EE"/>
                </a:solidFill>
              </a:rPr>
              <a:t>Backend API (Fine-Tuned Model): </a:t>
            </a:r>
            <a:r>
              <a:t>github.com/nayanjha16/CodeGen-Implementations-May_26/blob/Group-19-backend-api-finetuned/README.md</a:t>
            </a:r>
          </a:p>
        </p:txBody>
      </p:sp>
      <p:sp>
        <p:nvSpPr>
          <p:cNvPr id="318" name="TextBox 14"/>
          <p:cNvSpPr txBox="1"/>
          <p:nvPr/>
        </p:nvSpPr>
        <p:spPr>
          <a:xfrm>
            <a:off x="502919" y="6519671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r>
              <a:t>CodeGen Agentic AI System  •  Group 19</a:t>
            </a:r>
          </a:p>
        </p:txBody>
      </p:sp>
      <p:sp>
        <p:nvSpPr>
          <p:cNvPr id="319" name="TextBox 15"/>
          <p:cNvSpPr txBox="1"/>
          <p:nvPr/>
        </p:nvSpPr>
        <p:spPr>
          <a:xfrm>
            <a:off x="10881359" y="6519671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900">
                <a:solidFill>
                  <a:srgbClr val="64748B"/>
                </a:solidFill>
              </a:defRPr>
            </a:lvl1pPr>
          </a:lstStyle>
          <a:p>
            <a:r>
              <a:t>17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8183</TotalTime>
  <Words>1041</Words>
  <Application>Microsoft Office PowerPoint</Application>
  <PresentationFormat>Custom</PresentationFormat>
  <Paragraphs>208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hrushikesh reddy</cp:lastModifiedBy>
  <cp:revision>13</cp:revision>
  <dcterms:modified xsi:type="dcterms:W3CDTF">2026-08-08T09:06:03Z</dcterms:modified>
</cp:coreProperties>
</file>