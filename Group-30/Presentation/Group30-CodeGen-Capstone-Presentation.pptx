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IIIT HYDERABAD CAPSTONE PROJECT  —  GROUP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CodeGen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332720" cy="703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 dirty="0">
                <a:solidFill>
                  <a:srgbClr val="C7D9E2"/>
                </a:solidFill>
                <a:latin typeface="Calibri"/>
              </a:rPr>
              <a:t>Cross-Language Code Generation with Fine-Tuned LLMs</a:t>
            </a:r>
            <a:br>
              <a:rPr dirty="0"/>
            </a:br>
            <a:r>
              <a:rPr sz="1900" b="0" i="1" dirty="0">
                <a:solidFill>
                  <a:srgbClr val="C7D9E2"/>
                </a:solidFill>
                <a:latin typeface="Calibri"/>
              </a:rPr>
              <a:t>Natural Language → Python </a:t>
            </a:r>
            <a:r>
              <a:rPr lang="en-US" sz="1900" b="0" i="1" dirty="0">
                <a:solidFill>
                  <a:srgbClr val="C7D9E2"/>
                </a:solidFill>
                <a:latin typeface="Calibri"/>
              </a:rPr>
              <a:t> or C++, Python </a:t>
            </a:r>
            <a:r>
              <a:rPr sz="1900" b="0" i="1" dirty="0">
                <a:solidFill>
                  <a:srgbClr val="C7D9E2"/>
                </a:solidFill>
                <a:latin typeface="Calibri"/>
              </a:rPr>
              <a:t>→ C++, with Voice-Enabled Interaction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977639"/>
            <a:ext cx="2194560" cy="2794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A3B"/>
                </a:solidFill>
                <a:latin typeface="Calibri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5120640" cy="1359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Taran Tripathi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Prakhar Nigam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Ki</a:t>
            </a:r>
            <a:r>
              <a:rPr lang="en-US" sz="1600" b="0" i="0">
                <a:solidFill>
                  <a:srgbClr val="FFFFFF"/>
                </a:solidFill>
                <a:latin typeface="Calibri"/>
              </a:rPr>
              <a:t>l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im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Lohitha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6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Tushnik Chakrabarty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A3B"/>
                </a:solidFill>
                <a:latin typeface="Calibri"/>
              </a:rPr>
              <a:t>PROJECT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720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1F7A8C"/>
                </a:solidFill>
                <a:latin typeface="Calibri"/>
              </a:rPr>
              <a:t>▪  </a:t>
            </a:r>
            <a:r>
              <a:rPr sz="1500" b="1">
                <a:solidFill>
                  <a:srgbClr val="0F2A4A"/>
                </a:solidFill>
                <a:latin typeface="Calibri"/>
              </a:rPr>
              <a:t>Supervisor: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Prof. Anil Neelkanti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1F7A8C"/>
                </a:solidFill>
                <a:latin typeface="Calibri"/>
              </a:rPr>
              <a:t>▪  </a:t>
            </a:r>
            <a:r>
              <a:rPr sz="1500" b="1">
                <a:solidFill>
                  <a:srgbClr val="0F2A4A"/>
                </a:solidFill>
                <a:latin typeface="Calibri"/>
              </a:rPr>
              <a:t>Mentors: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Pawan Baswani, Nayan Anand Jha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55F6E"/>
                </a:solidFill>
                <a:latin typeface="Calibri"/>
              </a:rPr>
              <a:t>PG Certification Program in Artificial Intelligence and Machine Learning — Cohort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MOTIVATION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A4A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11155680" cy="73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 dirty="0">
                <a:solidFill>
                  <a:srgbClr val="1A1F2B"/>
                </a:solidFill>
                <a:latin typeface="Calibri"/>
              </a:rPr>
              <a:t>LLMs increasingly understand and synthesize code, not just natural language. This project applies and fine-tunes an LLM to translate between natural language and two programming languages (Python, C++) </a:t>
            </a:r>
            <a:r>
              <a:rPr lang="en-US" sz="1350" b="0" i="0" dirty="0">
                <a:solidFill>
                  <a:srgbClr val="1A1F2B"/>
                </a:solidFill>
                <a:latin typeface="Calibri"/>
              </a:rPr>
              <a:t>and Python to C++ translation</a:t>
            </a:r>
            <a:r>
              <a:rPr sz="1350" b="0" i="0" dirty="0">
                <a:solidFill>
                  <a:srgbClr val="1A1F2B"/>
                </a:solidFill>
                <a:latin typeface="Calibri"/>
              </a:rPr>
              <a:t>— demonstrating a path to extend code-generation support to languages an LLM was not originally trained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440680" cy="35661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606040"/>
            <a:ext cx="5440680" cy="3566160"/>
          </a:xfrm>
          <a:prstGeom prst="rect">
            <a:avLst/>
          </a:prstGeom>
          <a:solidFill>
            <a:srgbClr val="FC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5440680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606040"/>
            <a:ext cx="5440680" cy="5029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STRETCH GOAL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4892040" cy="2345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Baseline accuracy for NL → Python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/C++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and Python → C++ generation using Qwen2.5-Coder-7B-Instruct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LoRA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fine-tuning in two phases: NL → PL1 (Python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/C++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) and PL1 → PL2 (Python  </a:t>
            </a:r>
            <a:r>
              <a:rPr lang="en-US" sz="1300" b="0" i="0" dirty="0">
                <a:solidFill>
                  <a:srgbClr val="1A1F2B"/>
                </a:solidFill>
                <a:latin typeface="Calibri"/>
              </a:rPr>
              <a:t>-&gt;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C++)</a:t>
            </a:r>
            <a:endParaRPr lang="en-US" sz="1300" b="0" i="0" dirty="0">
              <a:solidFill>
                <a:srgbClr val="1A1F2B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300" b="1" dirty="0">
                <a:solidFill>
                  <a:srgbClr val="1F7A8C"/>
                </a:solidFill>
              </a:rPr>
              <a:t>▪  </a:t>
            </a:r>
            <a:r>
              <a:rPr lang="en-US" sz="1300" dirty="0">
                <a:solidFill>
                  <a:srgbClr val="1A1F2B"/>
                </a:solidFill>
              </a:rPr>
              <a:t>PL1-&gt; PL2. PL1-&gt; Documentation-&gt; PL2 Code -&gt; Translate to PL1 -&gt; Compare with ground truth PL1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Best documentation selected from 3 generation iterations, scored per record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Evaluation via AST similarity + </a:t>
            </a:r>
            <a:r>
              <a:rPr sz="130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300" b="0" i="0" dirty="0">
                <a:solidFill>
                  <a:srgbClr val="1A1F2B"/>
                </a:solidFill>
                <a:latin typeface="Calibri"/>
              </a:rPr>
              <a:t> + LLM-as-judge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48920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ASR (Whisper) — speak a natural-language prompt → transcribed → code generated (NL → PL)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Text interface for PL → PL — paste Python, convert directly to C++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Auto task-detection — LLM classifier routes input to the correct LoRA adapter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Delivered as a live, voice-enabled Gradio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End-to-End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the-stack-dedup
Dataset
(Python + C++)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960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Documentation
Generator
(Qwen2.5-Coder)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534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177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Code Generator
+ LoRA Adapters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108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AST +
GraphCodeBERT
Scoring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68200" y="1961388"/>
            <a:ext cx="13716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32520" y="1627632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E87A3B"/>
          </a:solidFill>
          <a:ln w="9525">
            <a:solidFill>
              <a:srgbClr val="E8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Best-of-3
Selection →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Three-Phase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Baseline Phase
(base model accuracy)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33360" y="3438144"/>
            <a:ext cx="32004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LoRA Fine-Tuning Phase
(NL→PL1, PL1→PL2)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11000" y="3438144"/>
            <a:ext cx="320040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58200" y="3154680"/>
            <a:ext cx="3520440" cy="77724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Validation Phase
(held-out evaluation)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Design Pattern: Singleton Model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SingletonMeta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Every heavyweight component —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QwenModelBase, CodeDocumentationGenerator, QwenCodeGenerator, LLMJudge, AST, GraphCodeBERTScorer, FilteredDataset, BaselineData — is implemented as a singleton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Prevents redundant model reloads across pipeline stages — critical for GPU memory efficiency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BaselineData orchestrates the full workflow: loads/unloads models, runs baseline + validation, computes summary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Dataset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 (HuggingFace) — deduplicated Python &amp; C++ source files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bigcode/the-stack-dedup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hexsha (id), content (code), lang, max_stars_count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Fields used: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Streamed, filtered to Python/C++, then enriched (language tag, documentation cache, score placeholders)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Why Caching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Streaming from HuggingFace on every pass is slow — caching gives instant reloads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Baseline computation needs multiple passes over the same records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Guarantees consistent records across runs and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Dataset Split (equal thirds)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645920"/>
          <a:ext cx="5257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Base-model accuracy computation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LoRA Training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Fine-tuning the adapters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1/3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2B"/>
                          </a:solidFill>
                          <a:latin typeface="Calibri"/>
                        </a:rPr>
                        <a:t>Held-out evaluation of fine-tuned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352044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Run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257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Baseline records processed: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167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Language split: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84 Python  /  83 C++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GPU memory limits (see Issues &amp; Learnings) constrained full-dataset runs on available T4/L4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MODELS &amp;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Model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41260"/>
              </p:ext>
            </p:extLst>
          </p:nvPr>
        </p:nvGraphicFramePr>
        <p:xfrm>
          <a:off x="502920" y="1325880"/>
          <a:ext cx="11201400" cy="27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Base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Qwen/Qwen2.5-Coder-7B-Instruct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Documentation generation, code generation, LLM-judge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LoRA  (r=16, α=32)  +  4-bit NF4 quantization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Two adapters: </a:t>
                      </a:r>
                      <a:r>
                        <a:rPr sz="1250" dirty="0" err="1">
                          <a:solidFill>
                            <a:srgbClr val="1A1F2B"/>
                          </a:solidFill>
                          <a:latin typeface="Calibri"/>
                        </a:rPr>
                        <a:t>NL→Python</a:t>
                      </a: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/>
                        </a:rPr>
                        <a:t>/C++</a:t>
                      </a:r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, </a:t>
                      </a:r>
                      <a:r>
                        <a:rPr sz="1250" dirty="0" err="1">
                          <a:solidFill>
                            <a:srgbClr val="1A1F2B"/>
                          </a:solidFill>
                          <a:latin typeface="Calibri"/>
                        </a:rPr>
                        <a:t>Python→C</a:t>
                      </a:r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++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Semantic similarity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microsoft/graphcodebert-base</a:t>
                      </a:r>
                    </a:p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(via sentence-transformers)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Embedding cosine similarity between code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Structural similarity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tree-sitter (Python &amp; C++ grammars)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AST generation + node-level similarity comparison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Speech-to-text (stretch)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openai/whisper-base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dirty="0">
                          <a:solidFill>
                            <a:srgbClr val="1A1F2B"/>
                          </a:solidFill>
                          <a:latin typeface="Calibri"/>
                        </a:rPr>
                        <a:t>Voice-prompt transcription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Key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PeftModel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Two adapters share one 4-bit quantized base model via PEFT's multi-adapter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— hot-swapped at inference time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Qwen model scores generated C++ code 0–1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LLM-as-judge: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against documentation + reference before it is accepted for back-translation (quality threshold = 0.3)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Tokenizer is shared from the base model — not bundled inside each LoRA adapter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DEMO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A4A"/>
                </a:solidFill>
                <a:latin typeface="Calibri"/>
              </a:rPr>
              <a:t>Interaction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Text Input  or
Voice Recording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6880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61488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2C4A66"/>
          </a:solidFill>
          <a:ln w="9525">
            <a:solidFill>
              <a:srgbClr val="2C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Whisper ASR
(if voice)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35448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0056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 w="9525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Auto-Detect Task
(LLM classifier)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4016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78624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1F7A8C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Load LoRA Adapter
(NL→PY  /  PY→CPP)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2584" y="1933956"/>
            <a:ext cx="246888" cy="201168"/>
          </a:xfrm>
          <a:prstGeom prst="rightArrow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37192" y="160020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87A3B"/>
          </a:solidFill>
          <a:ln w="9525">
            <a:solidFill>
              <a:srgbClr val="E8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 + Syntax-
Highlighted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Modes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5468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NL → Python — generate code from a plain-English description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Python → C++ — paste Python, get an equivalent C++ implementation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Auto — system classifies intent and routes automatically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Voice input — microphone recording transcribed before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8892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A"/>
                </a:solidFill>
                <a:latin typeface="Calibri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257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1">
                <a:solidFill>
                  <a:srgbClr val="0F2A4A"/>
                </a:solidFill>
                <a:latin typeface="Calibri"/>
              </a:rPr>
              <a:t>Gradio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Built with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 — shareable public web URL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Runs on Google Colab with T4 / L4 GPU acceleration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Adapters + base model downloaded and 4-bit quantized at startup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F7A8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A1F2B"/>
                </a:solidFill>
                <a:latin typeface="Calibri"/>
              </a:rPr>
              <a:t>Generated code shown with syntax highlighting and a task-status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MEASURING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Scoring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AST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71600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tree-sitter parses generated &amp; ground-truth code; node-level tree similarity used (exact-match ASTs are too formatting-sensitive — e.g. spacing in a function signature changes the raw tree)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67712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67712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GraphCodeBERTScore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Cosine similarity between GraphCodeBERT embeddings of the two code snippets — captures semantic equivalence even when structure differs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63824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Average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63824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Mean of AST Similarity and GraphCodeBERTScore — the primary per-record quality 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59936"/>
            <a:ext cx="82296" cy="777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59936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LLM-as-Judge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59936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F2B"/>
                </a:solidFill>
                <a:latin typeface="Calibri"/>
              </a:rPr>
              <a:t>Qwen2.5-Coder scores generated C++ (0–1) against documentation + reference before it is accepted for Python back-translation; quality threshold =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47488"/>
            <a:ext cx="11185855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27608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Best-of-3 &amp; 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418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>
                <a:solidFill>
                  <a:srgbClr val="0F2A4A"/>
                </a:solidFill>
                <a:latin typeface="Calibri"/>
              </a:rPr>
              <a:t>3 times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Each generation step (documentation, code, PL1→PL2) is repeated 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; the highest-scoring attempt is retained per record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A1F2B"/>
                </a:solidFill>
                <a:latin typeface="Calibri"/>
              </a:rPr>
              <a:t>compute_summary() aggregates results by language (Python / C++) and by phase (NL→PL, NL→PL1→PL2)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BASELINE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Results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167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Records Processed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0.7250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NL → PL Avg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0.9127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GraphCodeBERT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25880"/>
            <a:ext cx="2606040" cy="11887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325880"/>
            <a:ext cx="73152" cy="118872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A"/>
                </a:solidFill>
                <a:latin typeface="Calibri"/>
              </a:rPr>
              <a:t>0.5374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03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55F6E"/>
                </a:solidFill>
                <a:latin typeface="Calibri"/>
              </a:rPr>
              <a:t>AST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Baseline Summary (n=167)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3200400"/>
          <a:ext cx="553211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Python records (n=84)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0.7357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C++ records (n=83)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0.7142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 AST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0.5374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 GraphCodeBERTScore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0.9127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NL → PL1 → PL2 round-trip (n=83)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2B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09360" y="283464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A4A"/>
                </a:solidFill>
                <a:latin typeface="Calibri"/>
              </a:rPr>
              <a:t>Reading the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46120"/>
            <a:ext cx="5349240" cy="1649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1" dirty="0">
                <a:solidFill>
                  <a:srgbClr val="0F2A4A"/>
                </a:solidFill>
                <a:latin typeface="Calibri"/>
              </a:rPr>
              <a:t>meaning-equivalent</a:t>
            </a:r>
            <a:r>
              <a:rPr lang="en-US" sz="1250" b="1" dirty="0">
                <a:solidFill>
                  <a:srgbClr val="0F2A4A"/>
                </a:solidFill>
                <a:latin typeface="Calibri"/>
              </a:rPr>
              <a:t>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High </a:t>
            </a:r>
            <a:r>
              <a:rPr sz="125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 (0.91) vs. lower AST score (0.54) → generated code is often </a:t>
            </a:r>
            <a:r>
              <a:rPr sz="1250" b="1" dirty="0">
                <a:solidFill>
                  <a:srgbClr val="0F2A4A"/>
                </a:solidFill>
                <a:latin typeface="Calibri"/>
              </a:rPr>
              <a:t>structurally divergent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 from ground truth (different idioms / formatting)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Python (0.7357) and C++ (0.7142) NL→PL scores are close — base model generalizes reasonably across both languages</a:t>
            </a:r>
          </a:p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2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A1F2B"/>
                </a:solidFill>
                <a:latin typeface="Calibri"/>
              </a:rPr>
              <a:t>Round-trip NL→PL1→PL2 (0.6857) is lower than single-hop NL→PL, as expected — errors compound across two generation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Issues and Learnings from the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34440"/>
          <a:ext cx="11384279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4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Faced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No dataset had matching Python &amp; C++ code for the same intent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Generate PL2 from the PL1 documentation; treat the original PL1 as ground truth for the reverse check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Python code used packages with no C++ equivalent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Reversed the pipeline — generate documentation from C++, produce Python from it, then convert back to C++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codegen-350M-multi is a completion model — kept repeating documentation instead of generating code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Wrong model choice for NL→PL; switched to Qwen/Qwen2.5-Coder-7B-Instruct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codegen-350M-multi threw index-out-of-bounds errors; CUDA:1 tensors held garbage values — hooks, rope_scaling and token-limit fixes all failed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Pinned to a single GPU (CUDA_VISIBLE_DEVICES) with CUDA_LAUNCH_BLOCKING / TORCH_USE_CUDA_DSA for debugging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7B model's VRAM footprint too large for the available GPUs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4-bit quantization (BitsAndBytes) cut usage from ~14 GB to ~4 GB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Fine-tuning still hit a hard OOM ceiling — only ~33 records could be processed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Cache-clearing + garbage collection helped marginally; no complete fix found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One Qwen model overloaded with three roles — documentation generation, code generation, and LLM-judge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Accepted as a memory-driven design constraint; no alternative model was available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Judging code correctness without compiling or executing it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30">
                          <a:solidFill>
                            <a:srgbClr val="1A1F2B"/>
                          </a:solidFill>
                          <a:latin typeface="Calibri"/>
                        </a:rPr>
                        <a:t>Used Qwen as an LLM-judge scoring compiles / logic_correct / edge_cases / verdict, plus a 0–1 score</a:t>
                      </a:r>
                    </a:p>
                  </a:txBody>
                  <a:tcPr marT="38100" marB="38100"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B4C6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3840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FB4C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F6E"/>
                </a:solidFill>
                <a:latin typeface="Calibri"/>
              </a:rPr>
              <a:t>IIIT Hyderabad Capstone Project — Group 30 : CodeGen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Curate a parallel Python–C++ dataset with shared intent/documentation for more reliable PL1→PL2 evaluation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Add execution-based validation — auto-generate test cases and run code in a sandbox to confirm functional equivalence, not just similarity scores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Scale baseline &amp; validation runs to the full dataset once GPU memory/fragmentation issues are resolved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Tune the relative weighting of AST, </a:t>
            </a:r>
            <a:r>
              <a:rPr sz="1550" b="0" i="0" dirty="0" err="1">
                <a:solidFill>
                  <a:srgbClr val="1A1F2B"/>
                </a:solidFill>
                <a:latin typeface="Calibri"/>
              </a:rPr>
              <a:t>GraphCodeBERTScore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, and execution accuracy in the final accuracy metric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Text-to-speech readout of generated documentation — extends the voice stretch goal end-to-end</a:t>
            </a:r>
          </a:p>
          <a:p>
            <a:pPr marL="0" indent="0" algn="l">
              <a:lnSpc>
                <a:spcPct val="108000"/>
              </a:lnSpc>
              <a:spcAft>
                <a:spcPts val="1800"/>
              </a:spcAft>
            </a:pPr>
            <a:r>
              <a:rPr sz="1550" b="1" dirty="0">
                <a:solidFill>
                  <a:srgbClr val="1F7A8C"/>
                </a:solidFill>
                <a:latin typeface="Calibri"/>
              </a:rPr>
              <a:t>▪  </a:t>
            </a:r>
            <a:r>
              <a:rPr sz="1550" b="0" i="0" dirty="0">
                <a:solidFill>
                  <a:srgbClr val="1A1F2B"/>
                </a:solidFill>
                <a:latin typeface="Calibri"/>
              </a:rPr>
              <a:t>Extend beyond Python/C++ to lower-resource, legacy languages (e.g. Ada95) — real-world need given shrinking specialist workforces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87A3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2194560" cy="27940"/>
          </a:xfrm>
          <a:prstGeom prst="rect">
            <a:avLst/>
          </a:prstGeom>
          <a:solidFill>
            <a:srgbClr val="E8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1F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C7D9E2"/>
                </a:solidFill>
                <a:latin typeface="Calibri"/>
              </a:rPr>
              <a:t>Taran Tripathi, Prakhar Nigam, Kihim Lohitha, Tushnik Chakrabarty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 dirty="0" err="1">
                <a:solidFill>
                  <a:srgbClr val="555F6E"/>
                </a:solidFill>
                <a:latin typeface="Calibri"/>
              </a:rPr>
              <a:t>CodeGen</a:t>
            </a:r>
            <a:r>
              <a:rPr sz="1200" b="0" i="1" dirty="0">
                <a:solidFill>
                  <a:srgbClr val="555F6E"/>
                </a:solidFill>
                <a:latin typeface="Calibri"/>
              </a:rPr>
              <a:t> — IIIT Hyderabad Capstone Project, Group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1671</Words>
  <Application>Microsoft Macintosh PowerPoint</Application>
  <PresentationFormat>Widescreen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Tushnik Chakrabarty</cp:lastModifiedBy>
  <cp:revision>4</cp:revision>
  <dcterms:created xsi:type="dcterms:W3CDTF">2013-01-27T09:14:16Z</dcterms:created>
  <dcterms:modified xsi:type="dcterms:W3CDTF">2026-08-01T14:38:19Z</dcterms:modified>
  <cp:category/>
</cp:coreProperties>
</file>