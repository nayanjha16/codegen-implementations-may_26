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6858000" cx="12192000"/>
  <p:notesSz cx="6858000" cy="12192000"/>
  <p:embeddedFontLst>
    <p:embeddedFont>
      <p:font typeface="Inter SemiBold"/>
      <p:regular r:id="rId21"/>
      <p:bold r:id="rId22"/>
      <p:italic r:id="rId23"/>
      <p:boldItalic r:id="rId24"/>
    </p:embeddedFont>
    <p:embeddedFont>
      <p:font typeface="Inter"/>
      <p:regular r:id="rId25"/>
      <p:bold r:id="rId26"/>
      <p:italic r:id="rId27"/>
      <p:boldItalic r:id="rId28"/>
    </p:embeddedFont>
    <p:embeddedFont>
      <p:font typeface="Outfit"/>
      <p:regular r:id="rId29"/>
      <p:bold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1" roundtripDataSignature="AMtx7mjb0oz4uyfSbjmv5/GNU4P8ipgpJ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font" Target="fonts/InterSemiBold-bold.fntdata"/><Relationship Id="rId21" Type="http://schemas.openxmlformats.org/officeDocument/2006/relationships/font" Target="fonts/InterSemiBold-regular.fntdata"/><Relationship Id="rId24" Type="http://schemas.openxmlformats.org/officeDocument/2006/relationships/font" Target="fonts/InterSemiBold-boldItalic.fntdata"/><Relationship Id="rId23" Type="http://schemas.openxmlformats.org/officeDocument/2006/relationships/font" Target="fonts/InterSemiBold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Inter-bold.fntdata"/><Relationship Id="rId25" Type="http://schemas.openxmlformats.org/officeDocument/2006/relationships/font" Target="fonts/Inter-regular.fntdata"/><Relationship Id="rId28" Type="http://schemas.openxmlformats.org/officeDocument/2006/relationships/font" Target="fonts/Inter-boldItalic.fntdata"/><Relationship Id="rId27" Type="http://schemas.openxmlformats.org/officeDocument/2006/relationships/font" Target="fonts/Inter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Outfit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customschemas.google.com/relationships/presentationmetadata" Target="metadata"/><Relationship Id="rId30" Type="http://schemas.openxmlformats.org/officeDocument/2006/relationships/font" Target="fonts/Outfit-bold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3f0cf9ddd64_0_190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g3f0cf9ddd64_0_190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3f0cf9ddd64_0_42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" name="Google Shape;44;g3f0cf9ddd64_0_42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this slide to orient the professor. Tell them every stage is shown through Aim, Approach, Learning. The Combined Stage is the integration milestone, and Stage 4 introduces repository context.</a:t>
            </a:r>
            <a:endParaRPr/>
          </a:p>
        </p:txBody>
      </p:sp>
      <p:sp>
        <p:nvSpPr>
          <p:cNvPr id="45" name="Google Shape;45;g3f0cf9ddd64_0_42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f0cf9ddd64_0_53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9" name="Google Shape;99;g3f0cf9ddd64_0_53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Stage 1 created the code-understanding capability. Focus on the learning: clean supervision and masking mattered more than volume.</a:t>
            </a:r>
            <a:endParaRPr/>
          </a:p>
        </p:txBody>
      </p:sp>
      <p:sp>
        <p:nvSpPr>
          <p:cNvPr id="100" name="Google Shape;100;g3f0cf9ddd64_0_53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f0cf9ddd64_0_6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9" name="Google Shape;129;g3f0cf9ddd64_0_6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Stage 2 introduced code synthesis and a stricter evaluation mindset. Mention that CodeAlpaca and APPS were removed after evidence showed cleaner executable supervision was more valuable.</a:t>
            </a:r>
            <a:endParaRPr/>
          </a:p>
        </p:txBody>
      </p:sp>
      <p:sp>
        <p:nvSpPr>
          <p:cNvPr id="130" name="Google Shape;130;g3f0cf9ddd64_0_6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f0cf9ddd64_0_72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1" name="Google Shape;161;g3f0cf9ddd64_0_72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Stage 3 produced the translation capability. Explain that TransCoder and mirror fallbacks were removed so the pipeline used one trustworthy multilingual source.</a:t>
            </a:r>
            <a:endParaRPr/>
          </a:p>
        </p:txBody>
      </p:sp>
      <p:sp>
        <p:nvSpPr>
          <p:cNvPr id="162" name="Google Shape;162;g3f0cf9ddd64_0_72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9" name="Google Shape;209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is the turning point. The problem was not that stages failed; it was that success remained fragmented. The Combined Stage unified capabilities, data engineering, prompts, training and evaluation.</a:t>
            </a:r>
            <a:endParaRPr/>
          </a:p>
        </p:txBody>
      </p:sp>
      <p:sp>
        <p:nvSpPr>
          <p:cNvPr id="210" name="Google Shape;210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f0cf9ddd64_0_98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9" name="Google Shape;239;g3f0cf9ddd64_0_98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Walk left to right. Emphasize the approved corpus boundary: no training example enters the model before alignment and validation. Then show that one model supports six tasks.</a:t>
            </a:r>
            <a:endParaRPr/>
          </a:p>
        </p:txBody>
      </p:sp>
      <p:sp>
        <p:nvSpPr>
          <p:cNvPr id="240" name="Google Shape;240;g3f0cf9ddd64_0_98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4" name="Google Shape;304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slide should feel like the project’s engineering novelty. Public datasets were candidates, not truth. Prompt Contract v2.6 acted as the interface that let six tasks coexist in one model.</a:t>
            </a:r>
            <a:endParaRPr/>
          </a:p>
        </p:txBody>
      </p:sp>
      <p:sp>
        <p:nvSpPr>
          <p:cNvPr id="305" name="Google Shape;305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f0cf9ddd64_0_112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4" name="Google Shape;344;g3f0cf9ddd64_0_112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Explain QLoRA in one sentence: keep the base model frozen and train small low-rank adapters through a 4-bit model. The key professor takeaway is efficiency: only 0.88% of parameters changed.</a:t>
            </a:r>
            <a:endParaRPr/>
          </a:p>
        </p:txBody>
      </p:sp>
      <p:sp>
        <p:nvSpPr>
          <p:cNvPr id="345" name="Google Shape;345;g3f0cf9ddd64_0_112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f0cf9ddd64_0_125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6" name="Google Shape;396;g3f0cf9ddd64_0_125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Stress evaluation rigor. Parse and compile are validity metrics; CSR and similarity capture semantic quality; natural-language tasks use ROUGE, BLEU and embeddings. The same pipeline was used for baseline and fine-tuned models.</a:t>
            </a:r>
            <a:endParaRPr/>
          </a:p>
        </p:txBody>
      </p:sp>
      <p:sp>
        <p:nvSpPr>
          <p:cNvPr id="397" name="Google Shape;397;g3f0cf9ddd64_0_125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9" name="Google Shape;449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Pause on this slide. The main message: the model improved generation, preserved strong translation performance, and improved explanation quality. T3 did not increase compile rate, but its semantic and CodeBLEU scores rose sharply.</a:t>
            </a:r>
            <a:endParaRPr/>
          </a:p>
        </p:txBody>
      </p:sp>
      <p:sp>
        <p:nvSpPr>
          <p:cNvPr id="450" name="Google Shape;450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3f0cf9ddd64_0_135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3" name="Google Shape;523;g3f0cf9ddd64_0_135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slide gives the professor the transferable knowledge. The project is valuable not only because of the model scores, but because it established a repeatable engineering method.</a:t>
            </a:r>
            <a:endParaRPr/>
          </a:p>
        </p:txBody>
      </p:sp>
      <p:sp>
        <p:nvSpPr>
          <p:cNvPr id="524" name="Google Shape;524;g3f0cf9ddd64_0_135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f0cf9ddd64_0_160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1" name="Google Shape;551;g3f0cf9ddd64_0_160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Stage 4 is complete as a repository explorer. Mention the five-file BFSI sample repository, cached artifacts and three query modes. Avoid emphasizing mock-embedding scores; emphasize the architecture and reusable retriever.</a:t>
            </a:r>
            <a:endParaRPr/>
          </a:p>
        </p:txBody>
      </p:sp>
      <p:sp>
        <p:nvSpPr>
          <p:cNvPr id="552" name="Google Shape;552;g3f0cf9ddd64_0_160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3f0cf9ddd64_0_150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6" name="Google Shape;606;g3f0cf9ddd64_0_150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Make the sequence explicit: first connect Stage 4 to the Combined Stage, then implement RAG, then orchestrate agents. This makes the roadmap credible rather than aspirational.</a:t>
            </a:r>
            <a:endParaRPr/>
          </a:p>
        </p:txBody>
      </p:sp>
      <p:sp>
        <p:nvSpPr>
          <p:cNvPr id="607" name="Google Shape;607;g3f0cf9ddd64_0_150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g3f0cf9ddd64_0_143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0" name="Google Shape;630;g3f0cf9ddd64_0_143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Close by summarizing the three contributions: trusted multitask learning, measurable improvement on six tasks, and repository awareness as the bridge to RAG and agents.</a:t>
            </a:r>
            <a:endParaRPr/>
          </a:p>
        </p:txBody>
      </p:sp>
      <p:sp>
        <p:nvSpPr>
          <p:cNvPr id="631" name="Google Shape;631;g3f0cf9ddd64_0_143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rgbClr val="6F829B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6F829B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rgbClr val="6F829B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6F829B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rgbClr val="6F829B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6F829B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rgbClr val="6F829B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6F829B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rgbClr val="6F829B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6F829B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rgbClr val="6F829B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6F829B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rgbClr val="6F829B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6F829B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rgbClr val="6F829B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6F829B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rgbClr val="6F829B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6F829B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">
  <p:cSld name="MASTER">
    <p:bg>
      <p:bgPr>
        <a:solidFill>
          <a:srgbClr val="0B1628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9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9C6F4"/>
          </a:solidFill>
          <a:ln cap="flat" cmpd="sng" w="12700">
            <a:solidFill>
              <a:srgbClr val="39C6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9"/>
          <p:cNvSpPr/>
          <p:nvPr/>
        </p:nvSpPr>
        <p:spPr>
          <a:xfrm>
            <a:off x="502920" y="6510528"/>
            <a:ext cx="4114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829B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6F829B"/>
                </a:solidFill>
                <a:latin typeface="Arial"/>
                <a:ea typeface="Arial"/>
                <a:cs typeface="Arial"/>
                <a:sym typeface="Arial"/>
              </a:rPr>
              <a:t>RepoCoder Studio  |  Group 46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9"/>
          <p:cNvSpPr/>
          <p:nvPr/>
        </p:nvSpPr>
        <p:spPr>
          <a:xfrm>
            <a:off x="7498080" y="6510528"/>
            <a:ext cx="4160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F829B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6F829B"/>
                </a:solidFill>
                <a:latin typeface="Arial"/>
                <a:ea typeface="Arial"/>
                <a:cs typeface="Arial"/>
                <a:sym typeface="Arial"/>
              </a:rPr>
              <a:t>IIIT Hyderabad AIML Certification Program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19"/>
          <p:cNvSpPr txBox="1"/>
          <p:nvPr>
            <p:ph idx="12" type="sldNum"/>
          </p:nvPr>
        </p:nvSpPr>
        <p:spPr>
          <a:xfrm>
            <a:off x="11704320" y="6483096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900" u="none" cap="none" strike="noStrike">
                <a:solidFill>
                  <a:srgbClr val="6F829B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buNone/>
              <a:defRPr b="0" i="0" sz="900" u="none" cap="none" strike="noStrike">
                <a:solidFill>
                  <a:srgbClr val="6F829B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buNone/>
              <a:defRPr b="0" i="0" sz="900" u="none" cap="none" strike="noStrike">
                <a:solidFill>
                  <a:srgbClr val="6F829B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buNone/>
              <a:defRPr b="0" i="0" sz="900" u="none" cap="none" strike="noStrike">
                <a:solidFill>
                  <a:srgbClr val="6F829B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buNone/>
              <a:defRPr b="0" i="0" sz="900" u="none" cap="none" strike="noStrike">
                <a:solidFill>
                  <a:srgbClr val="6F829B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buNone/>
              <a:defRPr b="0" i="0" sz="900" u="none" cap="none" strike="noStrike">
                <a:solidFill>
                  <a:srgbClr val="6F829B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buNone/>
              <a:defRPr b="0" i="0" sz="900" u="none" cap="none" strike="noStrike">
                <a:solidFill>
                  <a:srgbClr val="6F829B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buNone/>
              <a:defRPr b="0" i="0" sz="900" u="none" cap="none" strike="noStrike">
                <a:solidFill>
                  <a:srgbClr val="6F829B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buNone/>
              <a:defRPr b="0" i="0" sz="900" u="none" cap="none" strike="noStrike">
                <a:solidFill>
                  <a:srgbClr val="6F829B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/>
          <p:nvPr>
            <p:ph idx="12" type="sldNum"/>
          </p:nvPr>
        </p:nvSpPr>
        <p:spPr>
          <a:xfrm>
            <a:off x="11704320" y="6483096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900" u="none" cap="none" strike="noStrike">
                <a:solidFill>
                  <a:srgbClr val="6F829B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900" u="none" cap="none" strike="noStrike">
                <a:solidFill>
                  <a:srgbClr val="6F829B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900" u="none" cap="none" strike="noStrike">
                <a:solidFill>
                  <a:srgbClr val="6F829B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900" u="none" cap="none" strike="noStrike">
                <a:solidFill>
                  <a:srgbClr val="6F829B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900" u="none" cap="none" strike="noStrike">
                <a:solidFill>
                  <a:srgbClr val="6F829B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900" u="none" cap="none" strike="noStrike">
                <a:solidFill>
                  <a:srgbClr val="6F829B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900" u="none" cap="none" strike="noStrike">
                <a:solidFill>
                  <a:srgbClr val="6F829B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900" u="none" cap="none" strike="noStrike">
                <a:solidFill>
                  <a:srgbClr val="6F829B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900" u="none" cap="none" strike="noStrike">
                <a:solidFill>
                  <a:srgbClr val="6F829B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5" Type="http://schemas.openxmlformats.org/officeDocument/2006/relationships/image" Target="../media/image4.png"/><Relationship Id="rId6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" name="Google Shape;2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" name="Google Shape;22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08800" y="3966200"/>
            <a:ext cx="8046724" cy="184205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1"/>
          <p:cNvSpPr txBox="1"/>
          <p:nvPr/>
        </p:nvSpPr>
        <p:spPr>
          <a:xfrm>
            <a:off x="295225" y="2021279"/>
            <a:ext cx="11601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6000"/>
              <a:buFont typeface="Outfit"/>
              <a:buNone/>
            </a:pPr>
            <a:r>
              <a:rPr b="1" i="0" lang="en-US" sz="6000" u="none" cap="none" strike="noStrik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RepoCoder Studio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"/>
          <p:cNvSpPr txBox="1"/>
          <p:nvPr/>
        </p:nvSpPr>
        <p:spPr>
          <a:xfrm>
            <a:off x="295350" y="2853779"/>
            <a:ext cx="1160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2400"/>
              <a:buFont typeface="Outfit"/>
              <a:buNone/>
            </a:pPr>
            <a:r>
              <a:rPr b="0" i="0" lang="en-US" sz="24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Repository-Aware AI Analytics &amp; Development Assistant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1"/>
          <p:cNvSpPr txBox="1"/>
          <p:nvPr/>
        </p:nvSpPr>
        <p:spPr>
          <a:xfrm>
            <a:off x="2696850" y="4176355"/>
            <a:ext cx="58278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650"/>
              <a:buFont typeface="Inter SemiBold"/>
              <a:buNone/>
            </a:pPr>
            <a:r>
              <a:rPr b="0" i="0" lang="en-US" sz="165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IIIT Hyderabad AIML Certification Program • Group 46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"/>
          <p:cNvSpPr txBox="1"/>
          <p:nvPr/>
        </p:nvSpPr>
        <p:spPr>
          <a:xfrm>
            <a:off x="2369951" y="4486225"/>
            <a:ext cx="7528500" cy="12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AD1DC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EAD1DC"/>
                </a:solidFill>
                <a:latin typeface="Inter"/>
                <a:ea typeface="Inter"/>
                <a:cs typeface="Inter"/>
                <a:sym typeface="Inter"/>
              </a:rPr>
              <a:t>Professor</a:t>
            </a:r>
            <a:r>
              <a:rPr b="1" i="0" lang="en-US" sz="1350" u="none" cap="none" strike="noStrike">
                <a:solidFill>
                  <a:srgbClr val="FFD966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b="1" i="0" lang="en-US" sz="1350" u="none" cap="none" strike="noStrike">
                <a:solidFill>
                  <a:srgbClr val="6FA8DC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1350" u="none" cap="none" strike="noStrike">
                <a:solidFill>
                  <a:srgbClr val="00FFFF"/>
                </a:solidFill>
                <a:latin typeface="Inter"/>
                <a:ea typeface="Inter"/>
                <a:cs typeface="Inter"/>
                <a:sym typeface="Inter"/>
              </a:rPr>
              <a:t>Anil Nelakanti </a:t>
            </a:r>
            <a:br>
              <a:rPr b="0" i="0" lang="en-US" sz="1350" u="none" cap="none" strike="noStrike">
                <a:solidFill>
                  <a:srgbClr val="00FFF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i="0" lang="en-US" sz="1350" u="none" cap="none" strike="noStrike">
                <a:solidFill>
                  <a:srgbClr val="EAD1DC"/>
                </a:solidFill>
                <a:latin typeface="Inter"/>
                <a:ea typeface="Inter"/>
                <a:cs typeface="Inter"/>
                <a:sym typeface="Inter"/>
              </a:rPr>
              <a:t>Mentors: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1350" u="none" cap="none" strike="noStrike">
                <a:solidFill>
                  <a:srgbClr val="00FFFF"/>
                </a:solidFill>
                <a:latin typeface="Inter"/>
                <a:ea typeface="Inter"/>
                <a:cs typeface="Inter"/>
                <a:sym typeface="Inter"/>
              </a:rPr>
              <a:t>Nayan | Pavan </a:t>
            </a:r>
            <a:endParaRPr b="0" i="0" sz="1350" u="none" cap="none" strike="noStrike">
              <a:solidFill>
                <a:srgbClr val="00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EAD1DC"/>
                </a:solidFill>
                <a:latin typeface="Inter"/>
                <a:ea typeface="Inter"/>
                <a:cs typeface="Inter"/>
                <a:sym typeface="Inter"/>
              </a:rPr>
              <a:t>Team Members:</a:t>
            </a:r>
            <a:r>
              <a:rPr b="0" i="0" lang="en-US" sz="1350" u="none" cap="none" strike="noStrike">
                <a:solidFill>
                  <a:srgbClr val="00FFFF"/>
                </a:solidFill>
                <a:latin typeface="Inter"/>
                <a:ea typeface="Inter"/>
                <a:cs typeface="Inter"/>
                <a:sym typeface="Inter"/>
              </a:rPr>
              <a:t> Anupa Viswanath | Mohan Krishna M. | Praveen Kumar CH | Mohan Kumar</a:t>
            </a:r>
            <a:endParaRPr b="0" i="0" sz="1800" u="none" cap="none" strike="noStrike">
              <a:solidFill>
                <a:srgbClr val="00FF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rgbClr val="00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7" name="Google Shape;27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2425" y="154300"/>
            <a:ext cx="4036701" cy="1587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832673" y="154298"/>
            <a:ext cx="1842050" cy="184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" name="Google Shape;33;g3f0cf9ddd64_0_1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g3f0cf9ddd64_0_190"/>
          <p:cNvSpPr txBox="1"/>
          <p:nvPr/>
        </p:nvSpPr>
        <p:spPr>
          <a:xfrm>
            <a:off x="571500" y="571500"/>
            <a:ext cx="5550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Project Overview</a:t>
            </a:r>
            <a:endParaRPr/>
          </a:p>
        </p:txBody>
      </p:sp>
      <p:pic>
        <p:nvPicPr>
          <p:cNvPr descr="image.png" id="35" name="Google Shape;35;g3f0cf9ddd64_0_19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0"/>
            <a:ext cx="58578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g3f0cf9ddd64_0_190"/>
          <p:cNvSpPr txBox="1"/>
          <p:nvPr/>
        </p:nvSpPr>
        <p:spPr>
          <a:xfrm>
            <a:off x="571500" y="1476375"/>
            <a:ext cx="555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Bridging the Automation Gap</a:t>
            </a:r>
            <a:endParaRPr/>
          </a:p>
        </p:txBody>
      </p:sp>
      <p:sp>
        <p:nvSpPr>
          <p:cNvPr id="37" name="Google Shape;37;g3f0cf9ddd64_0_190"/>
          <p:cNvSpPr txBox="1"/>
          <p:nvPr/>
        </p:nvSpPr>
        <p:spPr>
          <a:xfrm>
            <a:off x="571500" y="2000250"/>
            <a:ext cx="52863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RepoCoder Studio solves modern software engineering bottlenecks. It automates documentation, translates between programming languages, and orchestrates multi-step workflows.</a:t>
            </a:r>
            <a:endParaRPr/>
          </a:p>
        </p:txBody>
      </p:sp>
      <p:sp>
        <p:nvSpPr>
          <p:cNvPr id="38" name="Google Shape;38;g3f0cf9ddd64_0_190"/>
          <p:cNvSpPr txBox="1"/>
          <p:nvPr/>
        </p:nvSpPr>
        <p:spPr>
          <a:xfrm>
            <a:off x="571500" y="3409950"/>
            <a:ext cx="52863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By leveraging Small Code Language Models alongside RAG and agentic AI, it provides a lightweight yet powerful repository-aware assistant.</a:t>
            </a:r>
            <a:endParaRPr/>
          </a:p>
        </p:txBody>
      </p:sp>
      <p:sp>
        <p:nvSpPr>
          <p:cNvPr id="39" name="Google Shape;39;g3f0cf9ddd64_0_190"/>
          <p:cNvSpPr/>
          <p:nvPr/>
        </p:nvSpPr>
        <p:spPr>
          <a:xfrm>
            <a:off x="351454" y="4686525"/>
            <a:ext cx="5726400" cy="1417200"/>
          </a:xfrm>
          <a:prstGeom prst="roundRect">
            <a:avLst>
              <a:gd fmla="val 7742" name="adj"/>
            </a:avLst>
          </a:prstGeom>
          <a:solidFill>
            <a:srgbClr val="39C6F4">
              <a:alpha val="12160"/>
            </a:srgbClr>
          </a:solidFill>
          <a:ln cap="flat" cmpd="sng" w="15225">
            <a:solidFill>
              <a:srgbClr val="39C6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ç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g3f0cf9ddd64_0_190"/>
          <p:cNvSpPr/>
          <p:nvPr/>
        </p:nvSpPr>
        <p:spPr>
          <a:xfrm>
            <a:off x="571500" y="4910332"/>
            <a:ext cx="1097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C6F4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39C6F4"/>
                </a:solidFill>
                <a:latin typeface="Arial"/>
                <a:ea typeface="Arial"/>
                <a:cs typeface="Arial"/>
                <a:sym typeface="Arial"/>
              </a:rPr>
              <a:t>GOAL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g3f0cf9ddd64_0_190"/>
          <p:cNvSpPr/>
          <p:nvPr/>
        </p:nvSpPr>
        <p:spPr>
          <a:xfrm>
            <a:off x="1783075" y="4910325"/>
            <a:ext cx="39549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rPr>
              <a:t>Build one lightweight, trustworthy assistant that can understand, generate, translate and explain code — then ground those capabilities in repository context.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f0cf9ddd64_0_428"/>
          <p:cNvSpPr/>
          <p:nvPr/>
        </p:nvSpPr>
        <p:spPr>
          <a:xfrm>
            <a:off x="619125" y="333375"/>
            <a:ext cx="5029200" cy="238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39C6F4"/>
                </a:solidFill>
                <a:latin typeface="Outfit"/>
                <a:ea typeface="Outfit"/>
                <a:cs typeface="Outfit"/>
                <a:sym typeface="Outfit"/>
              </a:rPr>
              <a:t>PROJECT ROADMAP</a:t>
            </a:r>
            <a:endParaRPr b="1" sz="1000">
              <a:solidFill>
                <a:srgbClr val="39C6F4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8" name="Google Shape;48;g3f0cf9ddd64_0_428"/>
          <p:cNvSpPr/>
          <p:nvPr/>
        </p:nvSpPr>
        <p:spPr>
          <a:xfrm>
            <a:off x="619125" y="619125"/>
            <a:ext cx="109539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60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A six-stage journey — each stage answered one harder question</a:t>
            </a:r>
            <a:endParaRPr b="1" sz="2960">
              <a:solidFill>
                <a:srgbClr val="F8FAFC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pSp>
        <p:nvGrpSpPr>
          <p:cNvPr id="49" name="Google Shape;49;g3f0cf9ddd64_0_428"/>
          <p:cNvGrpSpPr/>
          <p:nvPr/>
        </p:nvGrpSpPr>
        <p:grpSpPr>
          <a:xfrm>
            <a:off x="619125" y="1666875"/>
            <a:ext cx="10953675" cy="2667000"/>
            <a:chOff x="619125" y="1666875"/>
            <a:chExt cx="10953675" cy="2667000"/>
          </a:xfrm>
        </p:grpSpPr>
        <p:grpSp>
          <p:nvGrpSpPr>
            <p:cNvPr id="50" name="Google Shape;50;g3f0cf9ddd64_0_428"/>
            <p:cNvGrpSpPr/>
            <p:nvPr/>
          </p:nvGrpSpPr>
          <p:grpSpPr>
            <a:xfrm>
              <a:off x="619125" y="1666875"/>
              <a:ext cx="1666800" cy="2667000"/>
              <a:chOff x="0" y="0"/>
              <a:chExt cx="1666800" cy="2667000"/>
            </a:xfrm>
          </p:grpSpPr>
          <p:sp>
            <p:nvSpPr>
              <p:cNvPr id="51" name="Google Shape;51;g3f0cf9ddd64_0_428"/>
              <p:cNvSpPr/>
              <p:nvPr/>
            </p:nvSpPr>
            <p:spPr>
              <a:xfrm>
                <a:off x="0" y="0"/>
                <a:ext cx="1666800" cy="2667000"/>
              </a:xfrm>
              <a:prstGeom prst="roundRect">
                <a:avLst>
                  <a:gd fmla="val 9142" name="adj"/>
                </a:avLst>
              </a:prstGeom>
              <a:solidFill>
                <a:srgbClr val="14243A"/>
              </a:solidFill>
              <a:ln cap="flat" cmpd="sng" w="14300">
                <a:solidFill>
                  <a:srgbClr val="39C6F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" name="Google Shape;52;g3f0cf9ddd64_0_428"/>
              <p:cNvSpPr/>
              <p:nvPr/>
            </p:nvSpPr>
            <p:spPr>
              <a:xfrm>
                <a:off x="547688" y="238125"/>
                <a:ext cx="571500" cy="571500"/>
              </a:xfrm>
              <a:prstGeom prst="ellipse">
                <a:avLst/>
              </a:prstGeom>
              <a:solidFill>
                <a:srgbClr val="39C6F4">
                  <a:alpha val="15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g3f0cf9ddd64_0_428"/>
              <p:cNvSpPr txBox="1"/>
              <p:nvPr/>
            </p:nvSpPr>
            <p:spPr>
              <a:xfrm>
                <a:off x="547688" y="273177"/>
                <a:ext cx="5715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rgbClr val="39C6F4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description</a:t>
                </a:r>
                <a:endParaRPr sz="2400">
                  <a:solidFill>
                    <a:srgbClr val="39C6F4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54" name="Google Shape;54;g3f0cf9ddd64_0_428"/>
              <p:cNvSpPr txBox="1"/>
              <p:nvPr/>
            </p:nvSpPr>
            <p:spPr>
              <a:xfrm>
                <a:off x="142875" y="952500"/>
                <a:ext cx="1381200" cy="157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200">
                    <a:solidFill>
                      <a:srgbClr val="39C6F4"/>
                    </a:solidFill>
                    <a:latin typeface="Inter"/>
                    <a:ea typeface="Inter"/>
                    <a:cs typeface="Inter"/>
                    <a:sym typeface="Inter"/>
                  </a:rPr>
                  <a:t>STAGE 1</a:t>
                </a:r>
                <a:endParaRPr b="1" sz="1200">
                  <a:solidFill>
                    <a:srgbClr val="39C6F4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ctr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1" lang="en-US" sz="1600">
                    <a:solidFill>
                      <a:srgbClr val="F7FAFC"/>
                    </a:solidFill>
                    <a:latin typeface="Inter"/>
                    <a:ea typeface="Inter"/>
                    <a:cs typeface="Inter"/>
                    <a:sym typeface="Inter"/>
                  </a:rPr>
                  <a:t>Understand</a:t>
                </a:r>
                <a:endParaRPr b="1" sz="1600">
                  <a:solidFill>
                    <a:srgbClr val="F7FAFC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ctr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0" lang="en-US" sz="1050">
                    <a:solidFill>
                      <a:srgbClr val="A7B7CC"/>
                    </a:solidFill>
                    <a:latin typeface="Inter"/>
                    <a:ea typeface="Inter"/>
                    <a:cs typeface="Inter"/>
                    <a:sym typeface="Inter"/>
                  </a:rPr>
                  <a:t>Code → Documentation</a:t>
                </a:r>
                <a:endParaRPr b="0" sz="1050">
                  <a:solidFill>
                    <a:srgbClr val="A7B7CC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55" name="Google Shape;55;g3f0cf9ddd64_0_428"/>
            <p:cNvGrpSpPr/>
            <p:nvPr/>
          </p:nvGrpSpPr>
          <p:grpSpPr>
            <a:xfrm>
              <a:off x="2476500" y="1666875"/>
              <a:ext cx="1666800" cy="2667000"/>
              <a:chOff x="0" y="0"/>
              <a:chExt cx="1666800" cy="2667000"/>
            </a:xfrm>
          </p:grpSpPr>
          <p:sp>
            <p:nvSpPr>
              <p:cNvPr id="56" name="Google Shape;56;g3f0cf9ddd64_0_428"/>
              <p:cNvSpPr/>
              <p:nvPr/>
            </p:nvSpPr>
            <p:spPr>
              <a:xfrm>
                <a:off x="0" y="0"/>
                <a:ext cx="1666800" cy="2667000"/>
              </a:xfrm>
              <a:prstGeom prst="roundRect">
                <a:avLst>
                  <a:gd fmla="val 9142" name="adj"/>
                </a:avLst>
              </a:prstGeom>
              <a:solidFill>
                <a:srgbClr val="14243A"/>
              </a:solidFill>
              <a:ln cap="flat" cmpd="sng" w="14300">
                <a:solidFill>
                  <a:srgbClr val="21C7A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g3f0cf9ddd64_0_428"/>
              <p:cNvSpPr/>
              <p:nvPr/>
            </p:nvSpPr>
            <p:spPr>
              <a:xfrm>
                <a:off x="547688" y="238125"/>
                <a:ext cx="571500" cy="571500"/>
              </a:xfrm>
              <a:prstGeom prst="ellipse">
                <a:avLst/>
              </a:prstGeom>
              <a:solidFill>
                <a:srgbClr val="21C7A8">
                  <a:alpha val="15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" name="Google Shape;58;g3f0cf9ddd64_0_428"/>
              <p:cNvSpPr txBox="1"/>
              <p:nvPr/>
            </p:nvSpPr>
            <p:spPr>
              <a:xfrm>
                <a:off x="547688" y="273177"/>
                <a:ext cx="5715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rgbClr val="21C7A8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code</a:t>
                </a:r>
                <a:endParaRPr sz="2400">
                  <a:solidFill>
                    <a:srgbClr val="21C7A8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59" name="Google Shape;59;g3f0cf9ddd64_0_428"/>
              <p:cNvSpPr txBox="1"/>
              <p:nvPr/>
            </p:nvSpPr>
            <p:spPr>
              <a:xfrm>
                <a:off x="142875" y="952500"/>
                <a:ext cx="1381200" cy="157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200">
                    <a:solidFill>
                      <a:srgbClr val="21C7A8"/>
                    </a:solidFill>
                    <a:latin typeface="Inter"/>
                    <a:ea typeface="Inter"/>
                    <a:cs typeface="Inter"/>
                    <a:sym typeface="Inter"/>
                  </a:rPr>
                  <a:t>STAGE 2</a:t>
                </a:r>
                <a:endParaRPr b="1" sz="1200">
                  <a:solidFill>
                    <a:srgbClr val="21C7A8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ctr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1" lang="en-US" sz="1600">
                    <a:solidFill>
                      <a:srgbClr val="F7FAFC"/>
                    </a:solidFill>
                    <a:latin typeface="Inter"/>
                    <a:ea typeface="Inter"/>
                    <a:cs typeface="Inter"/>
                    <a:sym typeface="Inter"/>
                  </a:rPr>
                  <a:t>Generate</a:t>
                </a:r>
                <a:endParaRPr b="1" sz="1600">
                  <a:solidFill>
                    <a:srgbClr val="F7FAFC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ctr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0" lang="en-US" sz="1050">
                    <a:solidFill>
                      <a:srgbClr val="A7B7CC"/>
                    </a:solidFill>
                    <a:latin typeface="Inter"/>
                    <a:ea typeface="Inter"/>
                    <a:cs typeface="Inter"/>
                    <a:sym typeface="Inter"/>
                  </a:rPr>
                  <a:t>Natural Language → Python</a:t>
                </a:r>
                <a:endParaRPr b="0" sz="1050">
                  <a:solidFill>
                    <a:srgbClr val="A7B7CC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60" name="Google Shape;60;g3f0cf9ddd64_0_428"/>
            <p:cNvGrpSpPr/>
            <p:nvPr/>
          </p:nvGrpSpPr>
          <p:grpSpPr>
            <a:xfrm>
              <a:off x="4333875" y="1666875"/>
              <a:ext cx="1666800" cy="2667000"/>
              <a:chOff x="0" y="0"/>
              <a:chExt cx="1666800" cy="2667000"/>
            </a:xfrm>
          </p:grpSpPr>
          <p:sp>
            <p:nvSpPr>
              <p:cNvPr id="61" name="Google Shape;61;g3f0cf9ddd64_0_428"/>
              <p:cNvSpPr/>
              <p:nvPr/>
            </p:nvSpPr>
            <p:spPr>
              <a:xfrm>
                <a:off x="0" y="0"/>
                <a:ext cx="1666800" cy="2667000"/>
              </a:xfrm>
              <a:prstGeom prst="roundRect">
                <a:avLst>
                  <a:gd fmla="val 9142" name="adj"/>
                </a:avLst>
              </a:prstGeom>
              <a:solidFill>
                <a:srgbClr val="14243A"/>
              </a:solidFill>
              <a:ln cap="flat" cmpd="sng" w="14300">
                <a:solidFill>
                  <a:srgbClr val="F6C65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g3f0cf9ddd64_0_428"/>
              <p:cNvSpPr/>
              <p:nvPr/>
            </p:nvSpPr>
            <p:spPr>
              <a:xfrm>
                <a:off x="547688" y="238125"/>
                <a:ext cx="571500" cy="571500"/>
              </a:xfrm>
              <a:prstGeom prst="ellipse">
                <a:avLst/>
              </a:prstGeom>
              <a:solidFill>
                <a:srgbClr val="F6C65B">
                  <a:alpha val="15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" name="Google Shape;63;g3f0cf9ddd64_0_428"/>
              <p:cNvSpPr txBox="1"/>
              <p:nvPr/>
            </p:nvSpPr>
            <p:spPr>
              <a:xfrm>
                <a:off x="547688" y="273177"/>
                <a:ext cx="5715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rgbClr val="F6C65B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translate</a:t>
                </a:r>
                <a:endParaRPr sz="2400">
                  <a:solidFill>
                    <a:srgbClr val="F6C65B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64" name="Google Shape;64;g3f0cf9ddd64_0_428"/>
              <p:cNvSpPr txBox="1"/>
              <p:nvPr/>
            </p:nvSpPr>
            <p:spPr>
              <a:xfrm>
                <a:off x="142875" y="952500"/>
                <a:ext cx="1381200" cy="157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200">
                    <a:solidFill>
                      <a:srgbClr val="F6C65B"/>
                    </a:solidFill>
                    <a:latin typeface="Inter"/>
                    <a:ea typeface="Inter"/>
                    <a:cs typeface="Inter"/>
                    <a:sym typeface="Inter"/>
                  </a:rPr>
                  <a:t>STAGE 3</a:t>
                </a:r>
                <a:endParaRPr b="1" sz="1200">
                  <a:solidFill>
                    <a:srgbClr val="F6C65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ctr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1" lang="en-US" sz="1600">
                    <a:solidFill>
                      <a:srgbClr val="F7FAFC"/>
                    </a:solidFill>
                    <a:latin typeface="Inter"/>
                    <a:ea typeface="Inter"/>
                    <a:cs typeface="Inter"/>
                    <a:sym typeface="Inter"/>
                  </a:rPr>
                  <a:t>Translate</a:t>
                </a:r>
                <a:endParaRPr b="1" sz="1600">
                  <a:solidFill>
                    <a:srgbClr val="F7FAFC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ctr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0" lang="en-US" sz="1050">
                    <a:solidFill>
                      <a:srgbClr val="A7B7CC"/>
                    </a:solidFill>
                    <a:latin typeface="Inter"/>
                    <a:ea typeface="Inter"/>
                    <a:cs typeface="Inter"/>
                    <a:sym typeface="Inter"/>
                  </a:rPr>
                  <a:t>Python → Java</a:t>
                </a:r>
                <a:endParaRPr b="0" sz="1050">
                  <a:solidFill>
                    <a:srgbClr val="A7B7CC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65" name="Google Shape;65;g3f0cf9ddd64_0_428"/>
            <p:cNvGrpSpPr/>
            <p:nvPr/>
          </p:nvGrpSpPr>
          <p:grpSpPr>
            <a:xfrm>
              <a:off x="6191250" y="1666875"/>
              <a:ext cx="1666800" cy="2667000"/>
              <a:chOff x="0" y="0"/>
              <a:chExt cx="1666800" cy="2667000"/>
            </a:xfrm>
          </p:grpSpPr>
          <p:sp>
            <p:nvSpPr>
              <p:cNvPr id="66" name="Google Shape;66;g3f0cf9ddd64_0_428"/>
              <p:cNvSpPr/>
              <p:nvPr/>
            </p:nvSpPr>
            <p:spPr>
              <a:xfrm>
                <a:off x="0" y="0"/>
                <a:ext cx="1666800" cy="2667000"/>
              </a:xfrm>
              <a:prstGeom prst="roundRect">
                <a:avLst>
                  <a:gd fmla="val 9142" name="adj"/>
                </a:avLst>
              </a:prstGeom>
              <a:solidFill>
                <a:srgbClr val="14243A"/>
              </a:solidFill>
              <a:ln cap="flat" cmpd="sng" w="14300">
                <a:solidFill>
                  <a:srgbClr val="A88B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" name="Google Shape;67;g3f0cf9ddd64_0_428"/>
              <p:cNvSpPr/>
              <p:nvPr/>
            </p:nvSpPr>
            <p:spPr>
              <a:xfrm>
                <a:off x="547688" y="238125"/>
                <a:ext cx="571500" cy="571500"/>
              </a:xfrm>
              <a:prstGeom prst="ellipse">
                <a:avLst/>
              </a:prstGeom>
              <a:solidFill>
                <a:srgbClr val="A88BFF">
                  <a:alpha val="15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" name="Google Shape;68;g3f0cf9ddd64_0_428"/>
              <p:cNvSpPr txBox="1"/>
              <p:nvPr/>
            </p:nvSpPr>
            <p:spPr>
              <a:xfrm>
                <a:off x="547688" y="273177"/>
                <a:ext cx="5715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rgbClr val="A88BFF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layers</a:t>
                </a:r>
                <a:endParaRPr sz="2400">
                  <a:solidFill>
                    <a:srgbClr val="A88BFF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69" name="Google Shape;69;g3f0cf9ddd64_0_428"/>
              <p:cNvSpPr txBox="1"/>
              <p:nvPr/>
            </p:nvSpPr>
            <p:spPr>
              <a:xfrm>
                <a:off x="142875" y="952500"/>
                <a:ext cx="1381200" cy="157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200">
                    <a:solidFill>
                      <a:srgbClr val="A88BFF"/>
                    </a:solidFill>
                    <a:latin typeface="Inter"/>
                    <a:ea typeface="Inter"/>
                    <a:cs typeface="Inter"/>
                    <a:sym typeface="Inter"/>
                  </a:rPr>
                  <a:t>STAGE C</a:t>
                </a:r>
                <a:endParaRPr b="1" sz="1200">
                  <a:solidFill>
                    <a:srgbClr val="A88BFF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ctr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1" lang="en-US" sz="1600">
                    <a:solidFill>
                      <a:srgbClr val="F7FAFC"/>
                    </a:solidFill>
                    <a:latin typeface="Inter"/>
                    <a:ea typeface="Inter"/>
                    <a:cs typeface="Inter"/>
                    <a:sym typeface="Inter"/>
                  </a:rPr>
                  <a:t>Integrate</a:t>
                </a:r>
                <a:endParaRPr b="1" sz="1600">
                  <a:solidFill>
                    <a:srgbClr val="F7FAFC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ctr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0" lang="en-US" sz="1050">
                    <a:solidFill>
                      <a:srgbClr val="A7B7CC"/>
                    </a:solidFill>
                    <a:latin typeface="Inter"/>
                    <a:ea typeface="Inter"/>
                    <a:cs typeface="Inter"/>
                    <a:sym typeface="Inter"/>
                  </a:rPr>
                  <a:t>Six-task Multitask Model</a:t>
                </a:r>
                <a:endParaRPr b="0" sz="1050">
                  <a:solidFill>
                    <a:srgbClr val="A7B7CC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70" name="Google Shape;70;g3f0cf9ddd64_0_428"/>
            <p:cNvGrpSpPr/>
            <p:nvPr/>
          </p:nvGrpSpPr>
          <p:grpSpPr>
            <a:xfrm>
              <a:off x="8048625" y="1666875"/>
              <a:ext cx="1666800" cy="2667000"/>
              <a:chOff x="0" y="0"/>
              <a:chExt cx="1666800" cy="2667000"/>
            </a:xfrm>
          </p:grpSpPr>
          <p:sp>
            <p:nvSpPr>
              <p:cNvPr id="71" name="Google Shape;71;g3f0cf9ddd64_0_428"/>
              <p:cNvSpPr/>
              <p:nvPr/>
            </p:nvSpPr>
            <p:spPr>
              <a:xfrm>
                <a:off x="0" y="0"/>
                <a:ext cx="1666800" cy="2667000"/>
              </a:xfrm>
              <a:prstGeom prst="roundRect">
                <a:avLst>
                  <a:gd fmla="val 9142" name="adj"/>
                </a:avLst>
              </a:prstGeom>
              <a:solidFill>
                <a:srgbClr val="14243A"/>
              </a:solidFill>
              <a:ln cap="flat" cmpd="sng" w="14300">
                <a:solidFill>
                  <a:srgbClr val="39C6F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" name="Google Shape;72;g3f0cf9ddd64_0_428"/>
              <p:cNvSpPr/>
              <p:nvPr/>
            </p:nvSpPr>
            <p:spPr>
              <a:xfrm>
                <a:off x="547688" y="238125"/>
                <a:ext cx="571500" cy="571500"/>
              </a:xfrm>
              <a:prstGeom prst="ellipse">
                <a:avLst/>
              </a:prstGeom>
              <a:solidFill>
                <a:srgbClr val="39C6F4">
                  <a:alpha val="15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g3f0cf9ddd64_0_428"/>
              <p:cNvSpPr txBox="1"/>
              <p:nvPr/>
            </p:nvSpPr>
            <p:spPr>
              <a:xfrm>
                <a:off x="547688" y="273177"/>
                <a:ext cx="5715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rgbClr val="39C6F4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storage</a:t>
                </a:r>
                <a:endParaRPr sz="2400">
                  <a:solidFill>
                    <a:srgbClr val="39C6F4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74" name="Google Shape;74;g3f0cf9ddd64_0_428"/>
              <p:cNvSpPr txBox="1"/>
              <p:nvPr/>
            </p:nvSpPr>
            <p:spPr>
              <a:xfrm>
                <a:off x="142875" y="952500"/>
                <a:ext cx="1381200" cy="157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200">
                    <a:solidFill>
                      <a:srgbClr val="39C6F4"/>
                    </a:solidFill>
                    <a:latin typeface="Inter"/>
                    <a:ea typeface="Inter"/>
                    <a:cs typeface="Inter"/>
                    <a:sym typeface="Inter"/>
                  </a:rPr>
                  <a:t>STAGE 4</a:t>
                </a:r>
                <a:endParaRPr b="1" sz="1200">
                  <a:solidFill>
                    <a:srgbClr val="39C6F4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ctr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1" lang="en-US" sz="1600">
                    <a:solidFill>
                      <a:srgbClr val="F7FAFC"/>
                    </a:solidFill>
                    <a:latin typeface="Inter"/>
                    <a:ea typeface="Inter"/>
                    <a:cs typeface="Inter"/>
                    <a:sym typeface="Inter"/>
                  </a:rPr>
                  <a:t>Ground</a:t>
                </a:r>
                <a:endParaRPr b="1" sz="1600">
                  <a:solidFill>
                    <a:srgbClr val="F7FAFC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ctr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0" lang="en-US" sz="1050">
                    <a:solidFill>
                      <a:srgbClr val="A7B7CC"/>
                    </a:solidFill>
                    <a:latin typeface="Inter"/>
                    <a:ea typeface="Inter"/>
                    <a:cs typeface="Inter"/>
                    <a:sym typeface="Inter"/>
                  </a:rPr>
                  <a:t>Repository Awareness</a:t>
                </a:r>
                <a:endParaRPr b="0" sz="1050">
                  <a:solidFill>
                    <a:srgbClr val="A7B7CC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75" name="Google Shape;75;g3f0cf9ddd64_0_428"/>
            <p:cNvGrpSpPr/>
            <p:nvPr/>
          </p:nvGrpSpPr>
          <p:grpSpPr>
            <a:xfrm>
              <a:off x="9906000" y="1666875"/>
              <a:ext cx="1666800" cy="2667000"/>
              <a:chOff x="0" y="0"/>
              <a:chExt cx="1666800" cy="2667000"/>
            </a:xfrm>
          </p:grpSpPr>
          <p:sp>
            <p:nvSpPr>
              <p:cNvPr id="76" name="Google Shape;76;g3f0cf9ddd64_0_428"/>
              <p:cNvSpPr/>
              <p:nvPr/>
            </p:nvSpPr>
            <p:spPr>
              <a:xfrm>
                <a:off x="0" y="0"/>
                <a:ext cx="1666800" cy="2667000"/>
              </a:xfrm>
              <a:prstGeom prst="roundRect">
                <a:avLst>
                  <a:gd fmla="val 9142" name="adj"/>
                </a:avLst>
              </a:prstGeom>
              <a:solidFill>
                <a:srgbClr val="14243A"/>
              </a:solidFill>
              <a:ln cap="flat" cmpd="sng" w="14300">
                <a:solidFill>
                  <a:srgbClr val="53D17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" name="Google Shape;77;g3f0cf9ddd64_0_428"/>
              <p:cNvSpPr/>
              <p:nvPr/>
            </p:nvSpPr>
            <p:spPr>
              <a:xfrm>
                <a:off x="547688" y="238125"/>
                <a:ext cx="571500" cy="571500"/>
              </a:xfrm>
              <a:prstGeom prst="ellipse">
                <a:avLst/>
              </a:prstGeom>
              <a:solidFill>
                <a:srgbClr val="53D17A">
                  <a:alpha val="15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g3f0cf9ddd64_0_428"/>
              <p:cNvSpPr txBox="1"/>
              <p:nvPr/>
            </p:nvSpPr>
            <p:spPr>
              <a:xfrm>
                <a:off x="547688" y="273177"/>
                <a:ext cx="5715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rgbClr val="53D17A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bolt</a:t>
                </a:r>
                <a:endParaRPr sz="2400">
                  <a:solidFill>
                    <a:srgbClr val="53D17A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79" name="Google Shape;79;g3f0cf9ddd64_0_428"/>
              <p:cNvSpPr txBox="1"/>
              <p:nvPr/>
            </p:nvSpPr>
            <p:spPr>
              <a:xfrm>
                <a:off x="142875" y="952500"/>
                <a:ext cx="1381200" cy="157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200">
                    <a:solidFill>
                      <a:srgbClr val="53D17A"/>
                    </a:solidFill>
                    <a:latin typeface="Inter"/>
                    <a:ea typeface="Inter"/>
                    <a:cs typeface="Inter"/>
                    <a:sym typeface="Inter"/>
                  </a:rPr>
                  <a:t>STAGE 5–6</a:t>
                </a:r>
                <a:endParaRPr b="1" sz="1200">
                  <a:solidFill>
                    <a:srgbClr val="53D17A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ctr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1" lang="en-US" sz="1600">
                    <a:solidFill>
                      <a:srgbClr val="F7FAFC"/>
                    </a:solidFill>
                    <a:latin typeface="Inter"/>
                    <a:ea typeface="Inter"/>
                    <a:cs typeface="Inter"/>
                    <a:sym typeface="Inter"/>
                  </a:rPr>
                  <a:t>Act</a:t>
                </a:r>
                <a:endParaRPr b="1" sz="1600">
                  <a:solidFill>
                    <a:srgbClr val="F7FAFC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ctr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0" lang="en-US" sz="1050">
                    <a:solidFill>
                      <a:srgbClr val="A7B7CC"/>
                    </a:solidFill>
                    <a:latin typeface="Inter"/>
                    <a:ea typeface="Inter"/>
                    <a:cs typeface="Inter"/>
                    <a:sym typeface="Inter"/>
                  </a:rPr>
                  <a:t>RAG → Agentic Workflows</a:t>
                </a:r>
                <a:endParaRPr b="0" sz="1050">
                  <a:solidFill>
                    <a:srgbClr val="A7B7CC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80" name="Google Shape;80;g3f0cf9ddd64_0_428"/>
          <p:cNvGrpSpPr/>
          <p:nvPr/>
        </p:nvGrpSpPr>
        <p:grpSpPr>
          <a:xfrm>
            <a:off x="619125" y="4667250"/>
            <a:ext cx="10953900" cy="1428900"/>
            <a:chOff x="0" y="0"/>
            <a:chExt cx="10953900" cy="1428900"/>
          </a:xfrm>
        </p:grpSpPr>
        <p:sp>
          <p:nvSpPr>
            <p:cNvPr id="81" name="Google Shape;81;g3f0cf9ddd64_0_428"/>
            <p:cNvSpPr/>
            <p:nvPr/>
          </p:nvSpPr>
          <p:spPr>
            <a:xfrm>
              <a:off x="0" y="0"/>
              <a:ext cx="10953900" cy="1428900"/>
            </a:xfrm>
            <a:prstGeom prst="roundRect">
              <a:avLst>
                <a:gd fmla="val 10666" name="adj"/>
              </a:avLst>
            </a:prstGeom>
            <a:solidFill>
              <a:srgbClr val="14243A"/>
            </a:solidFill>
            <a:ln cap="flat" cmpd="sng" w="9525">
              <a:solidFill>
                <a:srgbClr val="1F2E4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g3f0cf9ddd64_0_428"/>
            <p:cNvSpPr txBox="1"/>
            <p:nvPr/>
          </p:nvSpPr>
          <p:spPr>
            <a:xfrm>
              <a:off x="285750" y="238125"/>
              <a:ext cx="2667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8FAFC"/>
                  </a:solidFill>
                  <a:latin typeface="Outfit"/>
                  <a:ea typeface="Outfit"/>
                  <a:cs typeface="Outfit"/>
                  <a:sym typeface="Outfit"/>
                </a:rPr>
                <a:t>Central theme across every stage</a:t>
              </a:r>
              <a:endParaRPr b="1" sz="1600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1150">
                  <a:solidFill>
                    <a:srgbClr val="A7B7CC"/>
                  </a:solidFill>
                  <a:latin typeface="Outfit"/>
                  <a:ea typeface="Outfit"/>
                  <a:cs typeface="Outfit"/>
                  <a:sym typeface="Outfit"/>
                </a:rPr>
                <a:t>Each stage created a capability and a lesson that shaped the next stage.</a:t>
              </a:r>
              <a:endParaRPr b="0" sz="1150">
                <a:solidFill>
                  <a:srgbClr val="A7B7CC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grpSp>
          <p:nvGrpSpPr>
            <p:cNvPr id="83" name="Google Shape;83;g3f0cf9ddd64_0_428"/>
            <p:cNvGrpSpPr/>
            <p:nvPr/>
          </p:nvGrpSpPr>
          <p:grpSpPr>
            <a:xfrm>
              <a:off x="3429000" y="457200"/>
              <a:ext cx="6000600" cy="514500"/>
              <a:chOff x="0" y="0"/>
              <a:chExt cx="6000600" cy="514500"/>
            </a:xfrm>
          </p:grpSpPr>
          <p:sp>
            <p:nvSpPr>
              <p:cNvPr id="84" name="Google Shape;84;g3f0cf9ddd64_0_428"/>
              <p:cNvSpPr/>
              <p:nvPr/>
            </p:nvSpPr>
            <p:spPr>
              <a:xfrm>
                <a:off x="0" y="0"/>
                <a:ext cx="1428900" cy="514500"/>
              </a:xfrm>
              <a:prstGeom prst="roundRect">
                <a:avLst>
                  <a:gd fmla="val 50000" name="adj"/>
                </a:avLst>
              </a:prstGeom>
              <a:solidFill>
                <a:srgbClr val="39C6F4">
                  <a:alpha val="11999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" name="Google Shape;85;g3f0cf9ddd64_0_428"/>
              <p:cNvSpPr txBox="1"/>
              <p:nvPr/>
            </p:nvSpPr>
            <p:spPr>
              <a:xfrm>
                <a:off x="0" y="0"/>
                <a:ext cx="1428900" cy="51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400">
                    <a:solidFill>
                      <a:srgbClr val="39C6F4"/>
                    </a:solidFill>
                    <a:latin typeface="Outfit"/>
                    <a:ea typeface="Outfit"/>
                    <a:cs typeface="Outfit"/>
                    <a:sym typeface="Outfit"/>
                  </a:rPr>
                  <a:t>AIM</a:t>
                </a:r>
                <a:endParaRPr b="1" sz="1400">
                  <a:solidFill>
                    <a:srgbClr val="39C6F4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grpSp>
            <p:nvGrpSpPr>
              <p:cNvPr id="86" name="Google Shape;86;g3f0cf9ddd64_0_428"/>
              <p:cNvGrpSpPr/>
              <p:nvPr/>
            </p:nvGrpSpPr>
            <p:grpSpPr>
              <a:xfrm>
                <a:off x="1619250" y="209550"/>
                <a:ext cx="285900" cy="95400"/>
                <a:chOff x="0" y="66675"/>
                <a:chExt cx="285900" cy="95400"/>
              </a:xfrm>
            </p:grpSpPr>
            <p:sp>
              <p:nvSpPr>
                <p:cNvPr id="87" name="Google Shape;87;g3f0cf9ddd64_0_428"/>
                <p:cNvSpPr/>
                <p:nvPr/>
              </p:nvSpPr>
              <p:spPr>
                <a:xfrm>
                  <a:off x="0" y="114300"/>
                  <a:ext cx="285900" cy="0"/>
                </a:xfrm>
                <a:custGeom>
                  <a:rect b="b" l="l" r="r" t="t"/>
                  <a:pathLst>
                    <a:path extrusionOk="0" h="120000" w="120000">
                      <a:moveTo>
                        <a:pt x="0" y="0"/>
                      </a:moveTo>
                      <a:lnTo>
                        <a:pt x="120000" y="0"/>
                      </a:lnTo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cap="flat" cmpd="sng" w="19050">
                  <a:solidFill>
                    <a:srgbClr val="6F829B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8" name="Google Shape;88;g3f0cf9ddd64_0_428"/>
                <p:cNvSpPr/>
                <p:nvPr/>
              </p:nvSpPr>
              <p:spPr>
                <a:xfrm>
                  <a:off x="209550" y="66675"/>
                  <a:ext cx="76200" cy="95400"/>
                </a:xfrm>
                <a:custGeom>
                  <a:rect b="b" l="l" r="r" t="t"/>
                  <a:pathLst>
                    <a:path extrusionOk="0" h="120000" w="120000">
                      <a:moveTo>
                        <a:pt x="120000" y="60000"/>
                      </a:moveTo>
                      <a:lnTo>
                        <a:pt x="0" y="0"/>
                      </a:lnTo>
                      <a:lnTo>
                        <a:pt x="0" y="120000"/>
                      </a:lnTo>
                      <a:close/>
                    </a:path>
                  </a:pathLst>
                </a:custGeom>
                <a:solidFill>
                  <a:srgbClr val="6F829B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89" name="Google Shape;89;g3f0cf9ddd64_0_428"/>
              <p:cNvSpPr/>
              <p:nvPr/>
            </p:nvSpPr>
            <p:spPr>
              <a:xfrm>
                <a:off x="2095500" y="0"/>
                <a:ext cx="1619100" cy="514500"/>
              </a:xfrm>
              <a:prstGeom prst="roundRect">
                <a:avLst>
                  <a:gd fmla="val 50000" name="adj"/>
                </a:avLst>
              </a:prstGeom>
              <a:solidFill>
                <a:srgbClr val="21C7A8">
                  <a:alpha val="11999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" name="Google Shape;90;g3f0cf9ddd64_0_428"/>
              <p:cNvSpPr txBox="1"/>
              <p:nvPr/>
            </p:nvSpPr>
            <p:spPr>
              <a:xfrm>
                <a:off x="2095500" y="0"/>
                <a:ext cx="1619100" cy="51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400">
                    <a:solidFill>
                      <a:srgbClr val="21C7A8"/>
                    </a:solidFill>
                    <a:latin typeface="Outfit"/>
                    <a:ea typeface="Outfit"/>
                    <a:cs typeface="Outfit"/>
                    <a:sym typeface="Outfit"/>
                  </a:rPr>
                  <a:t>APPROACH</a:t>
                </a:r>
                <a:endParaRPr b="1" sz="1400">
                  <a:solidFill>
                    <a:srgbClr val="21C7A8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grpSp>
            <p:nvGrpSpPr>
              <p:cNvPr id="91" name="Google Shape;91;g3f0cf9ddd64_0_428"/>
              <p:cNvGrpSpPr/>
              <p:nvPr/>
            </p:nvGrpSpPr>
            <p:grpSpPr>
              <a:xfrm>
                <a:off x="3905250" y="209550"/>
                <a:ext cx="285900" cy="95400"/>
                <a:chOff x="0" y="66675"/>
                <a:chExt cx="285900" cy="95400"/>
              </a:xfrm>
            </p:grpSpPr>
            <p:sp>
              <p:nvSpPr>
                <p:cNvPr id="92" name="Google Shape;92;g3f0cf9ddd64_0_428"/>
                <p:cNvSpPr/>
                <p:nvPr/>
              </p:nvSpPr>
              <p:spPr>
                <a:xfrm>
                  <a:off x="0" y="114300"/>
                  <a:ext cx="285900" cy="0"/>
                </a:xfrm>
                <a:custGeom>
                  <a:rect b="b" l="l" r="r" t="t"/>
                  <a:pathLst>
                    <a:path extrusionOk="0" h="120000" w="120000">
                      <a:moveTo>
                        <a:pt x="0" y="0"/>
                      </a:moveTo>
                      <a:lnTo>
                        <a:pt x="120000" y="0"/>
                      </a:lnTo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cap="flat" cmpd="sng" w="19050">
                  <a:solidFill>
                    <a:srgbClr val="6F829B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3" name="Google Shape;93;g3f0cf9ddd64_0_428"/>
                <p:cNvSpPr/>
                <p:nvPr/>
              </p:nvSpPr>
              <p:spPr>
                <a:xfrm>
                  <a:off x="209550" y="66675"/>
                  <a:ext cx="76200" cy="95400"/>
                </a:xfrm>
                <a:custGeom>
                  <a:rect b="b" l="l" r="r" t="t"/>
                  <a:pathLst>
                    <a:path extrusionOk="0" h="120000" w="120000">
                      <a:moveTo>
                        <a:pt x="120000" y="60000"/>
                      </a:moveTo>
                      <a:lnTo>
                        <a:pt x="0" y="0"/>
                      </a:lnTo>
                      <a:lnTo>
                        <a:pt x="0" y="120000"/>
                      </a:lnTo>
                      <a:close/>
                    </a:path>
                  </a:pathLst>
                </a:custGeom>
                <a:solidFill>
                  <a:srgbClr val="6F829B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94" name="Google Shape;94;g3f0cf9ddd64_0_428"/>
              <p:cNvSpPr/>
              <p:nvPr/>
            </p:nvSpPr>
            <p:spPr>
              <a:xfrm>
                <a:off x="4381500" y="0"/>
                <a:ext cx="1619100" cy="514500"/>
              </a:xfrm>
              <a:prstGeom prst="roundRect">
                <a:avLst>
                  <a:gd fmla="val 50000" name="adj"/>
                </a:avLst>
              </a:prstGeom>
              <a:solidFill>
                <a:srgbClr val="F6C65B">
                  <a:alpha val="11999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" name="Google Shape;95;g3f0cf9ddd64_0_428"/>
              <p:cNvSpPr txBox="1"/>
              <p:nvPr/>
            </p:nvSpPr>
            <p:spPr>
              <a:xfrm>
                <a:off x="4381500" y="0"/>
                <a:ext cx="1619100" cy="51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400">
                    <a:solidFill>
                      <a:srgbClr val="F6C65B"/>
                    </a:solidFill>
                    <a:latin typeface="Outfit"/>
                    <a:ea typeface="Outfit"/>
                    <a:cs typeface="Outfit"/>
                    <a:sym typeface="Outfit"/>
                  </a:rPr>
                  <a:t>LEARNING</a:t>
                </a:r>
                <a:endParaRPr b="1" sz="1400">
                  <a:solidFill>
                    <a:srgbClr val="F6C65B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</p:grpSp>
      <p:sp>
        <p:nvSpPr>
          <p:cNvPr id="96" name="Google Shape;96;g3f0cf9ddd64_0_428"/>
          <p:cNvSpPr txBox="1"/>
          <p:nvPr>
            <p:ph idx="4294967295" type="sldNum"/>
          </p:nvPr>
        </p:nvSpPr>
        <p:spPr>
          <a:xfrm>
            <a:off x="11704320" y="6483096"/>
            <a:ext cx="8001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900">
                <a:solidFill>
                  <a:srgbClr val="6F829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>
              <a:solidFill>
                <a:srgbClr val="6F829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f0cf9ddd64_0_535"/>
          <p:cNvSpPr/>
          <p:nvPr/>
        </p:nvSpPr>
        <p:spPr>
          <a:xfrm>
            <a:off x="548640" y="338328"/>
            <a:ext cx="1417200" cy="402300"/>
          </a:xfrm>
          <a:prstGeom prst="roundRect">
            <a:avLst>
              <a:gd fmla="val 18182" name="adj"/>
            </a:avLst>
          </a:prstGeom>
          <a:solidFill>
            <a:srgbClr val="39C6F4">
              <a:alpha val="87843"/>
            </a:srgbClr>
          </a:solidFill>
          <a:ln cap="flat" cmpd="sng" w="12700">
            <a:solidFill>
              <a:srgbClr val="39C6F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g3f0cf9ddd64_0_535"/>
          <p:cNvSpPr/>
          <p:nvPr/>
        </p:nvSpPr>
        <p:spPr>
          <a:xfrm>
            <a:off x="658368" y="448056"/>
            <a:ext cx="1188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628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B1628"/>
                </a:solidFill>
                <a:latin typeface="Arial"/>
                <a:ea typeface="Arial"/>
                <a:cs typeface="Arial"/>
                <a:sym typeface="Arial"/>
              </a:rPr>
              <a:t>STAGE 1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4" name="Google Shape;104;g3f0cf9ddd64_0_535"/>
          <p:cNvGrpSpPr/>
          <p:nvPr/>
        </p:nvGrpSpPr>
        <p:grpSpPr>
          <a:xfrm>
            <a:off x="571500" y="1295400"/>
            <a:ext cx="3429000" cy="4286400"/>
            <a:chOff x="0" y="0"/>
            <a:chExt cx="3429000" cy="4286400"/>
          </a:xfrm>
        </p:grpSpPr>
        <p:sp>
          <p:nvSpPr>
            <p:cNvPr id="105" name="Google Shape;105;g3f0cf9ddd64_0_535"/>
            <p:cNvSpPr/>
            <p:nvPr/>
          </p:nvSpPr>
          <p:spPr>
            <a:xfrm>
              <a:off x="0" y="0"/>
              <a:ext cx="3429000" cy="4286400"/>
            </a:xfrm>
            <a:prstGeom prst="roundRect">
              <a:avLst>
                <a:gd fmla="val 4444" name="adj"/>
              </a:avLst>
            </a:prstGeom>
            <a:solidFill>
              <a:srgbClr val="14243A"/>
            </a:solidFill>
            <a:ln cap="flat" cmpd="sng" w="19050">
              <a:solidFill>
                <a:srgbClr val="1B2E4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g3f0cf9ddd64_0_535"/>
            <p:cNvSpPr/>
            <p:nvPr/>
          </p:nvSpPr>
          <p:spPr>
            <a:xfrm>
              <a:off x="1371600" y="323850"/>
              <a:ext cx="685800" cy="685800"/>
            </a:xfrm>
            <a:prstGeom prst="ellipse">
              <a:avLst/>
            </a:prstGeom>
            <a:solidFill>
              <a:srgbClr val="39C6F4">
                <a:alpha val="11999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g3f0cf9ddd64_0_535"/>
            <p:cNvSpPr txBox="1"/>
            <p:nvPr/>
          </p:nvSpPr>
          <p:spPr>
            <a:xfrm>
              <a:off x="1371600" y="370586"/>
              <a:ext cx="6858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39C6F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gps_fixed</a:t>
              </a:r>
              <a:endParaRPr sz="3200">
                <a:solidFill>
                  <a:srgbClr val="39C6F4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08" name="Google Shape;108;g3f0cf9ddd64_0_535"/>
            <p:cNvSpPr txBox="1"/>
            <p:nvPr/>
          </p:nvSpPr>
          <p:spPr>
            <a:xfrm>
              <a:off x="190500" y="1238250"/>
              <a:ext cx="3048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39C6F4"/>
                  </a:solidFill>
                  <a:latin typeface="Outfit"/>
                  <a:ea typeface="Outfit"/>
                  <a:cs typeface="Outfit"/>
                  <a:sym typeface="Outfit"/>
                </a:rPr>
                <a:t>AIM</a:t>
              </a:r>
              <a:endParaRPr b="1" sz="1800">
                <a:solidFill>
                  <a:srgbClr val="39C6F4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09" name="Google Shape;109;g3f0cf9ddd64_0_535"/>
            <p:cNvSpPr txBox="1"/>
            <p:nvPr/>
          </p:nvSpPr>
          <p:spPr>
            <a:xfrm>
              <a:off x="285750" y="1714500"/>
              <a:ext cx="28575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5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Generate concise natural-language documentation from Python and Java code to reduce onboarding time and improve maintainability.</a:t>
              </a:r>
              <a:endParaRPr b="0" sz="125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0" name="Google Shape;110;g3f0cf9ddd64_0_535"/>
          <p:cNvGrpSpPr/>
          <p:nvPr/>
        </p:nvGrpSpPr>
        <p:grpSpPr>
          <a:xfrm>
            <a:off x="4381500" y="1295400"/>
            <a:ext cx="3429000" cy="4286400"/>
            <a:chOff x="0" y="0"/>
            <a:chExt cx="3429000" cy="4286400"/>
          </a:xfrm>
        </p:grpSpPr>
        <p:sp>
          <p:nvSpPr>
            <p:cNvPr id="111" name="Google Shape;111;g3f0cf9ddd64_0_535"/>
            <p:cNvSpPr/>
            <p:nvPr/>
          </p:nvSpPr>
          <p:spPr>
            <a:xfrm>
              <a:off x="0" y="0"/>
              <a:ext cx="3429000" cy="4286400"/>
            </a:xfrm>
            <a:prstGeom prst="roundRect">
              <a:avLst>
                <a:gd fmla="val 4444" name="adj"/>
              </a:avLst>
            </a:prstGeom>
            <a:solidFill>
              <a:srgbClr val="14243A"/>
            </a:solidFill>
            <a:ln cap="flat" cmpd="sng" w="19050">
              <a:solidFill>
                <a:srgbClr val="1B2E4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g3f0cf9ddd64_0_535"/>
            <p:cNvSpPr/>
            <p:nvPr/>
          </p:nvSpPr>
          <p:spPr>
            <a:xfrm>
              <a:off x="1371600" y="323850"/>
              <a:ext cx="685800" cy="685800"/>
            </a:xfrm>
            <a:prstGeom prst="ellipse">
              <a:avLst/>
            </a:prstGeom>
            <a:solidFill>
              <a:srgbClr val="39C6F4">
                <a:alpha val="11999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g3f0cf9ddd64_0_535"/>
            <p:cNvSpPr txBox="1"/>
            <p:nvPr/>
          </p:nvSpPr>
          <p:spPr>
            <a:xfrm>
              <a:off x="1371600" y="370586"/>
              <a:ext cx="6858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39C6F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alt_route</a:t>
              </a:r>
              <a:endParaRPr sz="3200">
                <a:solidFill>
                  <a:srgbClr val="39C6F4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14" name="Google Shape;114;g3f0cf9ddd64_0_535"/>
            <p:cNvSpPr txBox="1"/>
            <p:nvPr/>
          </p:nvSpPr>
          <p:spPr>
            <a:xfrm>
              <a:off x="190500" y="1238250"/>
              <a:ext cx="3048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39C6F4"/>
                  </a:solidFill>
                  <a:latin typeface="Outfit"/>
                  <a:ea typeface="Outfit"/>
                  <a:cs typeface="Outfit"/>
                  <a:sym typeface="Outfit"/>
                </a:rPr>
                <a:t>APPROACH</a:t>
              </a:r>
              <a:endParaRPr b="1" sz="1800">
                <a:solidFill>
                  <a:srgbClr val="39C6F4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15" name="Google Shape;115;g3f0cf9ddd64_0_535"/>
            <p:cNvSpPr txBox="1"/>
            <p:nvPr/>
          </p:nvSpPr>
          <p:spPr>
            <a:xfrm>
              <a:off x="285750" y="1714500"/>
              <a:ext cx="28575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5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Fine-tune CodeGen-350M-Multi with LoRA using docstring-only supervision, prompt masking and token-length analysis.</a:t>
              </a:r>
              <a:endParaRPr b="0" sz="125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5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5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Dataset: CodeSeachNet</a:t>
              </a:r>
              <a:endParaRPr sz="125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6" name="Google Shape;116;g3f0cf9ddd64_0_535"/>
          <p:cNvGrpSpPr/>
          <p:nvPr/>
        </p:nvGrpSpPr>
        <p:grpSpPr>
          <a:xfrm>
            <a:off x="8191500" y="1295400"/>
            <a:ext cx="3429000" cy="4286400"/>
            <a:chOff x="0" y="0"/>
            <a:chExt cx="3429000" cy="4286400"/>
          </a:xfrm>
        </p:grpSpPr>
        <p:sp>
          <p:nvSpPr>
            <p:cNvPr id="117" name="Google Shape;117;g3f0cf9ddd64_0_535"/>
            <p:cNvSpPr/>
            <p:nvPr/>
          </p:nvSpPr>
          <p:spPr>
            <a:xfrm>
              <a:off x="0" y="0"/>
              <a:ext cx="3429000" cy="4286400"/>
            </a:xfrm>
            <a:prstGeom prst="roundRect">
              <a:avLst>
                <a:gd fmla="val 4444" name="adj"/>
              </a:avLst>
            </a:prstGeom>
            <a:solidFill>
              <a:srgbClr val="14243A"/>
            </a:solidFill>
            <a:ln cap="flat" cmpd="sng" w="19050">
              <a:solidFill>
                <a:srgbClr val="1B2E4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g3f0cf9ddd64_0_535"/>
            <p:cNvSpPr/>
            <p:nvPr/>
          </p:nvSpPr>
          <p:spPr>
            <a:xfrm>
              <a:off x="1371600" y="323850"/>
              <a:ext cx="685800" cy="685800"/>
            </a:xfrm>
            <a:prstGeom prst="ellipse">
              <a:avLst/>
            </a:prstGeom>
            <a:solidFill>
              <a:srgbClr val="39C6F4">
                <a:alpha val="11999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g3f0cf9ddd64_0_535"/>
            <p:cNvSpPr txBox="1"/>
            <p:nvPr/>
          </p:nvSpPr>
          <p:spPr>
            <a:xfrm>
              <a:off x="1371600" y="370586"/>
              <a:ext cx="6858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39C6F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lightbulb</a:t>
              </a:r>
              <a:endParaRPr sz="3200">
                <a:solidFill>
                  <a:srgbClr val="39C6F4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20" name="Google Shape;120;g3f0cf9ddd64_0_535"/>
            <p:cNvSpPr txBox="1"/>
            <p:nvPr/>
          </p:nvSpPr>
          <p:spPr>
            <a:xfrm>
              <a:off x="190500" y="1238250"/>
              <a:ext cx="3048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39C6F4"/>
                  </a:solidFill>
                  <a:latin typeface="Outfit"/>
                  <a:ea typeface="Outfit"/>
                  <a:cs typeface="Outfit"/>
                  <a:sym typeface="Outfit"/>
                </a:rPr>
                <a:t>LEARNING</a:t>
              </a:r>
              <a:endParaRPr b="1" sz="1800">
                <a:solidFill>
                  <a:srgbClr val="39C6F4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21" name="Google Shape;121;g3f0cf9ddd64_0_535"/>
            <p:cNvSpPr txBox="1"/>
            <p:nvPr/>
          </p:nvSpPr>
          <p:spPr>
            <a:xfrm>
              <a:off x="285750" y="1714500"/>
              <a:ext cx="28575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5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Dataset quality outweighed dataset size. Prompt masking and context-window analysis were essential for stable learning.</a:t>
              </a:r>
              <a:endParaRPr b="0" sz="125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22" name="Google Shape;122;g3f0cf9ddd64_0_535"/>
          <p:cNvGrpSpPr/>
          <p:nvPr/>
        </p:nvGrpSpPr>
        <p:grpSpPr>
          <a:xfrm>
            <a:off x="4572000" y="5867400"/>
            <a:ext cx="3048000" cy="342900"/>
            <a:chOff x="0" y="0"/>
            <a:chExt cx="3048000" cy="342900"/>
          </a:xfrm>
        </p:grpSpPr>
        <p:sp>
          <p:nvSpPr>
            <p:cNvPr id="123" name="Google Shape;123;g3f0cf9ddd64_0_535"/>
            <p:cNvSpPr/>
            <p:nvPr/>
          </p:nvSpPr>
          <p:spPr>
            <a:xfrm>
              <a:off x="0" y="0"/>
              <a:ext cx="3048000" cy="342900"/>
            </a:xfrm>
            <a:prstGeom prst="roundRect">
              <a:avLst>
                <a:gd fmla="val 50000" name="adj"/>
              </a:avLst>
            </a:prstGeom>
            <a:solidFill>
              <a:srgbClr val="39C6F4">
                <a:alpha val="1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g3f0cf9ddd64_0_535"/>
            <p:cNvSpPr txBox="1"/>
            <p:nvPr/>
          </p:nvSpPr>
          <p:spPr>
            <a:xfrm>
              <a:off x="0" y="0"/>
              <a:ext cx="30480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39C6F4"/>
                  </a:solidFill>
                  <a:latin typeface="Outfit"/>
                  <a:ea typeface="Outfit"/>
                  <a:cs typeface="Outfit"/>
                  <a:sym typeface="Outfit"/>
                </a:rPr>
                <a:t>CODE → NATURAL LANGUAGE</a:t>
              </a:r>
              <a:endParaRPr b="1" sz="1100">
                <a:solidFill>
                  <a:srgbClr val="39C6F4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125" name="Google Shape;125;g3f0cf9ddd64_0_535"/>
          <p:cNvSpPr txBox="1"/>
          <p:nvPr>
            <p:ph idx="4294967295" type="sldNum"/>
          </p:nvPr>
        </p:nvSpPr>
        <p:spPr>
          <a:xfrm>
            <a:off x="11704320" y="6483096"/>
            <a:ext cx="8001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900">
                <a:solidFill>
                  <a:srgbClr val="6F829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>
              <a:solidFill>
                <a:srgbClr val="6F829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g3f0cf9ddd64_0_535"/>
          <p:cNvSpPr/>
          <p:nvPr/>
        </p:nvSpPr>
        <p:spPr>
          <a:xfrm>
            <a:off x="2148840" y="347472"/>
            <a:ext cx="9327000" cy="384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0">
                <a:solidFill>
                  <a:srgbClr val="F7FAFC"/>
                </a:solidFill>
                <a:latin typeface="Outfit"/>
                <a:ea typeface="Outfit"/>
                <a:cs typeface="Outfit"/>
                <a:sym typeface="Outfit"/>
              </a:rPr>
              <a:t>Code Understanding &amp; Documentation</a:t>
            </a:r>
            <a:endParaRPr b="1" sz="2380">
              <a:solidFill>
                <a:srgbClr val="F7FAFC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f0cf9ddd64_0_619"/>
          <p:cNvSpPr/>
          <p:nvPr/>
        </p:nvSpPr>
        <p:spPr>
          <a:xfrm>
            <a:off x="548640" y="338328"/>
            <a:ext cx="1417200" cy="402300"/>
          </a:xfrm>
          <a:prstGeom prst="roundRect">
            <a:avLst>
              <a:gd fmla="val 18182" name="adj"/>
            </a:avLst>
          </a:prstGeom>
          <a:solidFill>
            <a:srgbClr val="21C7A8">
              <a:alpha val="87843"/>
            </a:srgbClr>
          </a:solidFill>
          <a:ln cap="flat" cmpd="sng" w="12700">
            <a:solidFill>
              <a:srgbClr val="21C7A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g3f0cf9ddd64_0_619"/>
          <p:cNvSpPr/>
          <p:nvPr/>
        </p:nvSpPr>
        <p:spPr>
          <a:xfrm>
            <a:off x="658368" y="448056"/>
            <a:ext cx="1188600" cy="18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B1628"/>
                </a:solidFill>
                <a:latin typeface="Outfit"/>
                <a:ea typeface="Outfit"/>
                <a:cs typeface="Outfit"/>
                <a:sym typeface="Outfit"/>
              </a:rPr>
              <a:t>STAGE 2</a:t>
            </a:r>
            <a:endParaRPr b="1" sz="1200">
              <a:solidFill>
                <a:srgbClr val="0B1628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34" name="Google Shape;134;g3f0cf9ddd64_0_619"/>
          <p:cNvSpPr/>
          <p:nvPr/>
        </p:nvSpPr>
        <p:spPr>
          <a:xfrm>
            <a:off x="2148840" y="347472"/>
            <a:ext cx="9327000" cy="384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0">
                <a:solidFill>
                  <a:srgbClr val="F7FAFC"/>
                </a:solidFill>
                <a:latin typeface="Outfit"/>
                <a:ea typeface="Outfit"/>
                <a:cs typeface="Outfit"/>
                <a:sym typeface="Outfit"/>
              </a:rPr>
              <a:t>Natural Language → Python</a:t>
            </a:r>
            <a:endParaRPr b="1" sz="2380">
              <a:solidFill>
                <a:srgbClr val="F7FAFC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35" name="Google Shape;135;g3f0cf9ddd64_0_619"/>
          <p:cNvSpPr/>
          <p:nvPr/>
        </p:nvSpPr>
        <p:spPr>
          <a:xfrm>
            <a:off x="548640" y="1298448"/>
            <a:ext cx="3127200" cy="4316100"/>
          </a:xfrm>
          <a:prstGeom prst="roundRect">
            <a:avLst>
              <a:gd fmla="val 2339" name="adj"/>
            </a:avLst>
          </a:prstGeom>
          <a:solidFill>
            <a:srgbClr val="14243A"/>
          </a:solidFill>
          <a:ln cap="flat" cmpd="sng" w="12700">
            <a:solidFill>
              <a:srgbClr val="1B2E49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000000">
                <a:alpha val="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g3f0cf9ddd64_0_619"/>
          <p:cNvSpPr/>
          <p:nvPr/>
        </p:nvSpPr>
        <p:spPr>
          <a:xfrm>
            <a:off x="1664208" y="1627632"/>
            <a:ext cx="896100" cy="896100"/>
          </a:xfrm>
          <a:prstGeom prst="ellipse">
            <a:avLst/>
          </a:prstGeom>
          <a:solidFill>
            <a:srgbClr val="21C7A8">
              <a:alpha val="18039"/>
            </a:srgbClr>
          </a:solidFill>
          <a:ln cap="flat" cmpd="sng" w="12700">
            <a:solidFill>
              <a:srgbClr val="21C7A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7" name="Google Shape;137;g3f0cf9ddd64_0_619"/>
          <p:cNvGrpSpPr/>
          <p:nvPr/>
        </p:nvGrpSpPr>
        <p:grpSpPr>
          <a:xfrm>
            <a:off x="1664208" y="1627632"/>
            <a:ext cx="896100" cy="942836"/>
            <a:chOff x="0" y="0"/>
            <a:chExt cx="896100" cy="942836"/>
          </a:xfrm>
        </p:grpSpPr>
        <p:sp>
          <p:nvSpPr>
            <p:cNvPr id="138" name="Google Shape;138;g3f0cf9ddd64_0_619"/>
            <p:cNvSpPr/>
            <p:nvPr/>
          </p:nvSpPr>
          <p:spPr>
            <a:xfrm>
              <a:off x="0" y="0"/>
              <a:ext cx="896100" cy="896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g3f0cf9ddd64_0_619"/>
            <p:cNvSpPr txBox="1"/>
            <p:nvPr/>
          </p:nvSpPr>
          <p:spPr>
            <a:xfrm>
              <a:off x="0" y="46736"/>
              <a:ext cx="896100" cy="89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21C7A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gps_fixed</a:t>
              </a:r>
              <a:endParaRPr sz="3200">
                <a:solidFill>
                  <a:srgbClr val="21C7A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sp>
        <p:nvSpPr>
          <p:cNvPr id="140" name="Google Shape;140;g3f0cf9ddd64_0_619"/>
          <p:cNvSpPr/>
          <p:nvPr/>
        </p:nvSpPr>
        <p:spPr>
          <a:xfrm>
            <a:off x="777240" y="2670048"/>
            <a:ext cx="2670000" cy="310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21C7A8"/>
                </a:solidFill>
                <a:latin typeface="Outfit"/>
                <a:ea typeface="Outfit"/>
                <a:cs typeface="Outfit"/>
                <a:sym typeface="Outfit"/>
              </a:rPr>
              <a:t>AIM</a:t>
            </a:r>
            <a:endParaRPr b="1" sz="1600">
              <a:solidFill>
                <a:srgbClr val="21C7A8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41" name="Google Shape;141;g3f0cf9ddd64_0_619"/>
          <p:cNvSpPr/>
          <p:nvPr/>
        </p:nvSpPr>
        <p:spPr>
          <a:xfrm>
            <a:off x="859536" y="3154680"/>
            <a:ext cx="2505600" cy="2011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b="0" lang="en-US" sz="13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Generate functionally correct Python programs directly from natural-language task specifications.</a:t>
            </a:r>
            <a:endParaRPr b="0" sz="13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2" name="Google Shape;142;g3f0cf9ddd64_0_619"/>
          <p:cNvSpPr/>
          <p:nvPr/>
        </p:nvSpPr>
        <p:spPr>
          <a:xfrm>
            <a:off x="4069080" y="1298448"/>
            <a:ext cx="3127200" cy="4316100"/>
          </a:xfrm>
          <a:prstGeom prst="roundRect">
            <a:avLst>
              <a:gd fmla="val 2339" name="adj"/>
            </a:avLst>
          </a:prstGeom>
          <a:solidFill>
            <a:srgbClr val="14243A"/>
          </a:solidFill>
          <a:ln cap="flat" cmpd="sng" w="12700">
            <a:solidFill>
              <a:srgbClr val="1B2E49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000000">
                <a:alpha val="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g3f0cf9ddd64_0_619"/>
          <p:cNvSpPr/>
          <p:nvPr/>
        </p:nvSpPr>
        <p:spPr>
          <a:xfrm>
            <a:off x="5184648" y="1627632"/>
            <a:ext cx="896100" cy="896100"/>
          </a:xfrm>
          <a:prstGeom prst="ellipse">
            <a:avLst/>
          </a:prstGeom>
          <a:solidFill>
            <a:srgbClr val="21C7A8">
              <a:alpha val="18039"/>
            </a:srgbClr>
          </a:solidFill>
          <a:ln cap="flat" cmpd="sng" w="12700">
            <a:solidFill>
              <a:srgbClr val="21C7A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4" name="Google Shape;144;g3f0cf9ddd64_0_619"/>
          <p:cNvGrpSpPr/>
          <p:nvPr/>
        </p:nvGrpSpPr>
        <p:grpSpPr>
          <a:xfrm>
            <a:off x="5184648" y="1627632"/>
            <a:ext cx="896100" cy="942836"/>
            <a:chOff x="0" y="0"/>
            <a:chExt cx="896100" cy="942836"/>
          </a:xfrm>
        </p:grpSpPr>
        <p:sp>
          <p:nvSpPr>
            <p:cNvPr id="145" name="Google Shape;145;g3f0cf9ddd64_0_619"/>
            <p:cNvSpPr/>
            <p:nvPr/>
          </p:nvSpPr>
          <p:spPr>
            <a:xfrm>
              <a:off x="0" y="0"/>
              <a:ext cx="896100" cy="896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g3f0cf9ddd64_0_619"/>
            <p:cNvSpPr txBox="1"/>
            <p:nvPr/>
          </p:nvSpPr>
          <p:spPr>
            <a:xfrm>
              <a:off x="0" y="46736"/>
              <a:ext cx="896100" cy="89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21C7A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alt_route</a:t>
              </a:r>
              <a:endParaRPr sz="3200">
                <a:solidFill>
                  <a:srgbClr val="21C7A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sp>
        <p:nvSpPr>
          <p:cNvPr id="147" name="Google Shape;147;g3f0cf9ddd64_0_619"/>
          <p:cNvSpPr/>
          <p:nvPr/>
        </p:nvSpPr>
        <p:spPr>
          <a:xfrm>
            <a:off x="4297680" y="2670048"/>
            <a:ext cx="2670000" cy="310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21C7A8"/>
                </a:solidFill>
                <a:latin typeface="Outfit"/>
                <a:ea typeface="Outfit"/>
                <a:cs typeface="Outfit"/>
                <a:sym typeface="Outfit"/>
              </a:rPr>
              <a:t>APPROACH</a:t>
            </a:r>
            <a:endParaRPr b="1" sz="1600">
              <a:solidFill>
                <a:srgbClr val="21C7A8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48" name="Google Shape;148;g3f0cf9ddd64_0_619"/>
          <p:cNvSpPr/>
          <p:nvPr/>
        </p:nvSpPr>
        <p:spPr>
          <a:xfrm>
            <a:off x="4379976" y="3154680"/>
            <a:ext cx="2505600" cy="2011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b="0" lang="en-US" sz="13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Fine-tune Qwen2.5-Coder-0.5B on MBPP; validate on MBPP and evaluate generalization using HumanEval and EvalPlus when available.</a:t>
            </a:r>
            <a:endParaRPr b="0" sz="13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9" name="Google Shape;149;g3f0cf9ddd64_0_619"/>
          <p:cNvSpPr/>
          <p:nvPr/>
        </p:nvSpPr>
        <p:spPr>
          <a:xfrm>
            <a:off x="7589520" y="1298448"/>
            <a:ext cx="3127200" cy="4316100"/>
          </a:xfrm>
          <a:prstGeom prst="roundRect">
            <a:avLst>
              <a:gd fmla="val 2339" name="adj"/>
            </a:avLst>
          </a:prstGeom>
          <a:solidFill>
            <a:srgbClr val="14243A"/>
          </a:solidFill>
          <a:ln cap="flat" cmpd="sng" w="12700">
            <a:solidFill>
              <a:srgbClr val="1B2E49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000000">
                <a:alpha val="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g3f0cf9ddd64_0_619"/>
          <p:cNvSpPr/>
          <p:nvPr/>
        </p:nvSpPr>
        <p:spPr>
          <a:xfrm>
            <a:off x="8705088" y="1627632"/>
            <a:ext cx="896100" cy="896100"/>
          </a:xfrm>
          <a:prstGeom prst="ellipse">
            <a:avLst/>
          </a:prstGeom>
          <a:solidFill>
            <a:srgbClr val="21C7A8">
              <a:alpha val="18039"/>
            </a:srgbClr>
          </a:solidFill>
          <a:ln cap="flat" cmpd="sng" w="12700">
            <a:solidFill>
              <a:srgbClr val="21C7A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1" name="Google Shape;151;g3f0cf9ddd64_0_619"/>
          <p:cNvGrpSpPr/>
          <p:nvPr/>
        </p:nvGrpSpPr>
        <p:grpSpPr>
          <a:xfrm>
            <a:off x="8705088" y="1627632"/>
            <a:ext cx="896100" cy="942836"/>
            <a:chOff x="0" y="0"/>
            <a:chExt cx="896100" cy="942836"/>
          </a:xfrm>
        </p:grpSpPr>
        <p:sp>
          <p:nvSpPr>
            <p:cNvPr id="152" name="Google Shape;152;g3f0cf9ddd64_0_619"/>
            <p:cNvSpPr/>
            <p:nvPr/>
          </p:nvSpPr>
          <p:spPr>
            <a:xfrm>
              <a:off x="0" y="0"/>
              <a:ext cx="896100" cy="896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g3f0cf9ddd64_0_619"/>
            <p:cNvSpPr txBox="1"/>
            <p:nvPr/>
          </p:nvSpPr>
          <p:spPr>
            <a:xfrm>
              <a:off x="0" y="46736"/>
              <a:ext cx="896100" cy="89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21C7A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lightbulb</a:t>
              </a:r>
              <a:endParaRPr sz="3200">
                <a:solidFill>
                  <a:srgbClr val="21C7A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sp>
        <p:nvSpPr>
          <p:cNvPr id="154" name="Google Shape;154;g3f0cf9ddd64_0_619"/>
          <p:cNvSpPr/>
          <p:nvPr/>
        </p:nvSpPr>
        <p:spPr>
          <a:xfrm>
            <a:off x="7818120" y="2670048"/>
            <a:ext cx="2670000" cy="310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21C7A8"/>
                </a:solidFill>
                <a:latin typeface="Outfit"/>
                <a:ea typeface="Outfit"/>
                <a:cs typeface="Outfit"/>
                <a:sym typeface="Outfit"/>
              </a:rPr>
              <a:t>LEARNING</a:t>
            </a:r>
            <a:endParaRPr b="1" sz="1600">
              <a:solidFill>
                <a:srgbClr val="21C7A8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55" name="Google Shape;155;g3f0cf9ddd64_0_619"/>
          <p:cNvSpPr/>
          <p:nvPr/>
        </p:nvSpPr>
        <p:spPr>
          <a:xfrm>
            <a:off x="7900416" y="3154680"/>
            <a:ext cx="2505600" cy="2011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b="0" lang="en-US" sz="12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Execution-based testing is essential for evaluating code generation. Fine-tuning a strong pretrained coding model on a small task-specific dataset can reduce its general coding capability, highlighting the need for careful fine-tuning strategies.</a:t>
            </a:r>
            <a:endParaRPr b="0" sz="125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6" name="Google Shape;156;g3f0cf9ddd64_0_619"/>
          <p:cNvSpPr/>
          <p:nvPr/>
        </p:nvSpPr>
        <p:spPr>
          <a:xfrm>
            <a:off x="4526280" y="5897880"/>
            <a:ext cx="3154800" cy="310800"/>
          </a:xfrm>
          <a:prstGeom prst="roundRect">
            <a:avLst>
              <a:gd fmla="val 26471" name="adj"/>
            </a:avLst>
          </a:prstGeom>
          <a:solidFill>
            <a:srgbClr val="21C7A8">
              <a:alpha val="18039"/>
            </a:srgbClr>
          </a:solidFill>
          <a:ln cap="flat" cmpd="sng" w="12700">
            <a:solidFill>
              <a:srgbClr val="21C7A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g3f0cf9ddd64_0_619"/>
          <p:cNvSpPr/>
          <p:nvPr/>
        </p:nvSpPr>
        <p:spPr>
          <a:xfrm>
            <a:off x="4526280" y="5916168"/>
            <a:ext cx="3154800" cy="25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21C7A8"/>
                </a:solidFill>
                <a:latin typeface="Outfit"/>
                <a:ea typeface="Outfit"/>
                <a:cs typeface="Outfit"/>
                <a:sym typeface="Outfit"/>
              </a:rPr>
              <a:t>NATURAL LANGUAGE → PYTHON</a:t>
            </a:r>
            <a:endParaRPr b="1" sz="1100">
              <a:solidFill>
                <a:srgbClr val="21C7A8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58" name="Google Shape;158;g3f0cf9ddd64_0_619"/>
          <p:cNvSpPr txBox="1"/>
          <p:nvPr>
            <p:ph idx="4294967295" type="sldNum"/>
          </p:nvPr>
        </p:nvSpPr>
        <p:spPr>
          <a:xfrm>
            <a:off x="11704320" y="6483096"/>
            <a:ext cx="8001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900">
                <a:solidFill>
                  <a:srgbClr val="6F829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>
              <a:solidFill>
                <a:srgbClr val="6F829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f0cf9ddd64_0_721"/>
          <p:cNvSpPr/>
          <p:nvPr/>
        </p:nvSpPr>
        <p:spPr>
          <a:xfrm>
            <a:off x="548640" y="338328"/>
            <a:ext cx="1417200" cy="402300"/>
          </a:xfrm>
          <a:prstGeom prst="roundRect">
            <a:avLst>
              <a:gd fmla="val 18182" name="adj"/>
            </a:avLst>
          </a:prstGeom>
          <a:solidFill>
            <a:srgbClr val="F6C65B">
              <a:alpha val="87843"/>
            </a:srgbClr>
          </a:solidFill>
          <a:ln cap="flat" cmpd="sng" w="12700">
            <a:solidFill>
              <a:srgbClr val="F6C65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g3f0cf9ddd64_0_721"/>
          <p:cNvSpPr/>
          <p:nvPr/>
        </p:nvSpPr>
        <p:spPr>
          <a:xfrm>
            <a:off x="658368" y="448056"/>
            <a:ext cx="1188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628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B1628"/>
                </a:solidFill>
                <a:latin typeface="Arial"/>
                <a:ea typeface="Arial"/>
                <a:cs typeface="Arial"/>
                <a:sym typeface="Arial"/>
              </a:rPr>
              <a:t>STAGE 3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g3f0cf9ddd64_0_721"/>
          <p:cNvSpPr/>
          <p:nvPr/>
        </p:nvSpPr>
        <p:spPr>
          <a:xfrm>
            <a:off x="2148840" y="347472"/>
            <a:ext cx="9327000" cy="384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0">
                <a:solidFill>
                  <a:srgbClr val="F7FAFC"/>
                </a:solidFill>
                <a:latin typeface="Outfit"/>
                <a:ea typeface="Outfit"/>
                <a:cs typeface="Outfit"/>
                <a:sym typeface="Outfit"/>
              </a:rPr>
              <a:t>Python → Java Translation</a:t>
            </a:r>
            <a:endParaRPr b="1" sz="2380">
              <a:solidFill>
                <a:srgbClr val="F7FAFC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pSp>
        <p:nvGrpSpPr>
          <p:cNvPr id="167" name="Google Shape;167;g3f0cf9ddd64_0_721"/>
          <p:cNvGrpSpPr/>
          <p:nvPr/>
        </p:nvGrpSpPr>
        <p:grpSpPr>
          <a:xfrm>
            <a:off x="571500" y="1295400"/>
            <a:ext cx="3429000" cy="4286400"/>
            <a:chOff x="0" y="0"/>
            <a:chExt cx="3429000" cy="4286400"/>
          </a:xfrm>
        </p:grpSpPr>
        <p:sp>
          <p:nvSpPr>
            <p:cNvPr id="168" name="Google Shape;168;g3f0cf9ddd64_0_721"/>
            <p:cNvSpPr/>
            <p:nvPr/>
          </p:nvSpPr>
          <p:spPr>
            <a:xfrm>
              <a:off x="0" y="0"/>
              <a:ext cx="3429000" cy="4286400"/>
            </a:xfrm>
            <a:prstGeom prst="roundRect">
              <a:avLst>
                <a:gd fmla="val 4444" name="adj"/>
              </a:avLst>
            </a:prstGeom>
            <a:solidFill>
              <a:srgbClr val="14243A"/>
            </a:solidFill>
            <a:ln cap="flat" cmpd="sng" w="19050">
              <a:solidFill>
                <a:srgbClr val="1B2E4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g3f0cf9ddd64_0_721"/>
            <p:cNvSpPr/>
            <p:nvPr/>
          </p:nvSpPr>
          <p:spPr>
            <a:xfrm>
              <a:off x="1371600" y="323850"/>
              <a:ext cx="685800" cy="685800"/>
            </a:xfrm>
            <a:prstGeom prst="ellipse">
              <a:avLst/>
            </a:prstGeom>
            <a:solidFill>
              <a:srgbClr val="F6C65B">
                <a:alpha val="11999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70" name="Google Shape;170;g3f0cf9ddd64_0_721"/>
            <p:cNvGrpSpPr/>
            <p:nvPr/>
          </p:nvGrpSpPr>
          <p:grpSpPr>
            <a:xfrm>
              <a:off x="1371600" y="370586"/>
              <a:ext cx="685800" cy="732536"/>
              <a:chOff x="0" y="0"/>
              <a:chExt cx="685800" cy="732536"/>
            </a:xfrm>
          </p:grpSpPr>
          <p:sp>
            <p:nvSpPr>
              <p:cNvPr id="171" name="Google Shape;171;g3f0cf9ddd64_0_721"/>
              <p:cNvSpPr/>
              <p:nvPr/>
            </p:nvSpPr>
            <p:spPr>
              <a:xfrm>
                <a:off x="0" y="0"/>
                <a:ext cx="685800" cy="6858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g3f0cf9ddd64_0_721"/>
              <p:cNvSpPr txBox="1"/>
              <p:nvPr/>
            </p:nvSpPr>
            <p:spPr>
              <a:xfrm>
                <a:off x="0" y="46736"/>
                <a:ext cx="6858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>
                    <a:solidFill>
                      <a:srgbClr val="F6C65B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gps_fixed</a:t>
                </a:r>
                <a:endParaRPr sz="3200">
                  <a:solidFill>
                    <a:srgbClr val="F6C65B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</p:grpSp>
        <p:grpSp>
          <p:nvGrpSpPr>
            <p:cNvPr id="173" name="Google Shape;173;g3f0cf9ddd64_0_721"/>
            <p:cNvGrpSpPr/>
            <p:nvPr/>
          </p:nvGrpSpPr>
          <p:grpSpPr>
            <a:xfrm>
              <a:off x="190500" y="1238250"/>
              <a:ext cx="3048000" cy="381000"/>
              <a:chOff x="0" y="0"/>
              <a:chExt cx="3048000" cy="381000"/>
            </a:xfrm>
          </p:grpSpPr>
          <p:sp>
            <p:nvSpPr>
              <p:cNvPr id="174" name="Google Shape;174;g3f0cf9ddd64_0_721"/>
              <p:cNvSpPr/>
              <p:nvPr/>
            </p:nvSpPr>
            <p:spPr>
              <a:xfrm>
                <a:off x="0" y="0"/>
                <a:ext cx="3048000" cy="381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" name="Google Shape;175;g3f0cf9ddd64_0_721"/>
              <p:cNvSpPr txBox="1"/>
              <p:nvPr/>
            </p:nvSpPr>
            <p:spPr>
              <a:xfrm>
                <a:off x="0" y="0"/>
                <a:ext cx="3048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00">
                    <a:solidFill>
                      <a:srgbClr val="F6C65B"/>
                    </a:solidFill>
                    <a:latin typeface="Outfit"/>
                    <a:ea typeface="Outfit"/>
                    <a:cs typeface="Outfit"/>
                    <a:sym typeface="Outfit"/>
                  </a:rPr>
                  <a:t>AIM</a:t>
                </a:r>
                <a:endParaRPr b="1" sz="1800">
                  <a:solidFill>
                    <a:srgbClr val="F6C65B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grpSp>
          <p:nvGrpSpPr>
            <p:cNvPr id="176" name="Google Shape;176;g3f0cf9ddd64_0_721"/>
            <p:cNvGrpSpPr/>
            <p:nvPr/>
          </p:nvGrpSpPr>
          <p:grpSpPr>
            <a:xfrm>
              <a:off x="285750" y="1714500"/>
              <a:ext cx="2857500" cy="2190900"/>
              <a:chOff x="0" y="0"/>
              <a:chExt cx="2857500" cy="2190900"/>
            </a:xfrm>
          </p:grpSpPr>
          <p:sp>
            <p:nvSpPr>
              <p:cNvPr id="177" name="Google Shape;177;g3f0cf9ddd64_0_721"/>
              <p:cNvSpPr/>
              <p:nvPr/>
            </p:nvSpPr>
            <p:spPr>
              <a:xfrm>
                <a:off x="0" y="0"/>
                <a:ext cx="2857500" cy="21909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" name="Google Shape;178;g3f0cf9ddd64_0_721"/>
              <p:cNvSpPr txBox="1"/>
              <p:nvPr/>
            </p:nvSpPr>
            <p:spPr>
              <a:xfrm>
                <a:off x="0" y="0"/>
                <a:ext cx="2857500" cy="2190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50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Translate Python algorithms into semantically equivalent and compilable Java implementations.</a:t>
                </a:r>
                <a:endParaRPr sz="12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79" name="Google Shape;179;g3f0cf9ddd64_0_721"/>
          <p:cNvGrpSpPr/>
          <p:nvPr/>
        </p:nvGrpSpPr>
        <p:grpSpPr>
          <a:xfrm>
            <a:off x="4381500" y="1295400"/>
            <a:ext cx="3429000" cy="4286400"/>
            <a:chOff x="0" y="0"/>
            <a:chExt cx="3429000" cy="4286400"/>
          </a:xfrm>
        </p:grpSpPr>
        <p:sp>
          <p:nvSpPr>
            <p:cNvPr id="180" name="Google Shape;180;g3f0cf9ddd64_0_721"/>
            <p:cNvSpPr/>
            <p:nvPr/>
          </p:nvSpPr>
          <p:spPr>
            <a:xfrm>
              <a:off x="0" y="0"/>
              <a:ext cx="3429000" cy="4286400"/>
            </a:xfrm>
            <a:prstGeom prst="roundRect">
              <a:avLst>
                <a:gd fmla="val 4444" name="adj"/>
              </a:avLst>
            </a:prstGeom>
            <a:solidFill>
              <a:srgbClr val="14243A"/>
            </a:solidFill>
            <a:ln cap="flat" cmpd="sng" w="19050">
              <a:solidFill>
                <a:srgbClr val="1B2E4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g3f0cf9ddd64_0_721"/>
            <p:cNvSpPr/>
            <p:nvPr/>
          </p:nvSpPr>
          <p:spPr>
            <a:xfrm>
              <a:off x="1371600" y="323850"/>
              <a:ext cx="685800" cy="685800"/>
            </a:xfrm>
            <a:prstGeom prst="ellipse">
              <a:avLst/>
            </a:prstGeom>
            <a:solidFill>
              <a:srgbClr val="F6C65B">
                <a:alpha val="11999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82" name="Google Shape;182;g3f0cf9ddd64_0_721"/>
            <p:cNvGrpSpPr/>
            <p:nvPr/>
          </p:nvGrpSpPr>
          <p:grpSpPr>
            <a:xfrm>
              <a:off x="1371600" y="370586"/>
              <a:ext cx="685800" cy="732536"/>
              <a:chOff x="0" y="0"/>
              <a:chExt cx="685800" cy="732536"/>
            </a:xfrm>
          </p:grpSpPr>
          <p:sp>
            <p:nvSpPr>
              <p:cNvPr id="183" name="Google Shape;183;g3f0cf9ddd64_0_721"/>
              <p:cNvSpPr/>
              <p:nvPr/>
            </p:nvSpPr>
            <p:spPr>
              <a:xfrm>
                <a:off x="0" y="0"/>
                <a:ext cx="685800" cy="6858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" name="Google Shape;184;g3f0cf9ddd64_0_721"/>
              <p:cNvSpPr txBox="1"/>
              <p:nvPr/>
            </p:nvSpPr>
            <p:spPr>
              <a:xfrm>
                <a:off x="0" y="46736"/>
                <a:ext cx="6858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>
                    <a:solidFill>
                      <a:srgbClr val="F6C65B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alt_route</a:t>
                </a:r>
                <a:endParaRPr sz="3200">
                  <a:solidFill>
                    <a:srgbClr val="F6C65B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</p:grpSp>
        <p:grpSp>
          <p:nvGrpSpPr>
            <p:cNvPr id="185" name="Google Shape;185;g3f0cf9ddd64_0_721"/>
            <p:cNvGrpSpPr/>
            <p:nvPr/>
          </p:nvGrpSpPr>
          <p:grpSpPr>
            <a:xfrm>
              <a:off x="190500" y="1238250"/>
              <a:ext cx="3048000" cy="381000"/>
              <a:chOff x="0" y="0"/>
              <a:chExt cx="3048000" cy="381000"/>
            </a:xfrm>
          </p:grpSpPr>
          <p:sp>
            <p:nvSpPr>
              <p:cNvPr id="186" name="Google Shape;186;g3f0cf9ddd64_0_721"/>
              <p:cNvSpPr/>
              <p:nvPr/>
            </p:nvSpPr>
            <p:spPr>
              <a:xfrm>
                <a:off x="0" y="0"/>
                <a:ext cx="3048000" cy="381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g3f0cf9ddd64_0_721"/>
              <p:cNvSpPr txBox="1"/>
              <p:nvPr/>
            </p:nvSpPr>
            <p:spPr>
              <a:xfrm>
                <a:off x="0" y="0"/>
                <a:ext cx="3048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00">
                    <a:solidFill>
                      <a:srgbClr val="F6C65B"/>
                    </a:solidFill>
                    <a:latin typeface="Outfit"/>
                    <a:ea typeface="Outfit"/>
                    <a:cs typeface="Outfit"/>
                    <a:sym typeface="Outfit"/>
                  </a:rPr>
                  <a:t>APPROACH</a:t>
                </a:r>
                <a:endParaRPr b="1" sz="1800">
                  <a:solidFill>
                    <a:srgbClr val="F6C65B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grpSp>
          <p:nvGrpSpPr>
            <p:cNvPr id="188" name="Google Shape;188;g3f0cf9ddd64_0_721"/>
            <p:cNvGrpSpPr/>
            <p:nvPr/>
          </p:nvGrpSpPr>
          <p:grpSpPr>
            <a:xfrm>
              <a:off x="285750" y="1714500"/>
              <a:ext cx="2857500" cy="2190900"/>
              <a:chOff x="0" y="0"/>
              <a:chExt cx="2857500" cy="2190900"/>
            </a:xfrm>
          </p:grpSpPr>
          <p:sp>
            <p:nvSpPr>
              <p:cNvPr id="189" name="Google Shape;189;g3f0cf9ddd64_0_721"/>
              <p:cNvSpPr/>
              <p:nvPr/>
            </p:nvSpPr>
            <p:spPr>
              <a:xfrm>
                <a:off x="0" y="0"/>
                <a:ext cx="2857500" cy="21909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" name="Google Shape;190;g3f0cf9ddd64_0_721"/>
              <p:cNvSpPr txBox="1"/>
              <p:nvPr/>
            </p:nvSpPr>
            <p:spPr>
              <a:xfrm>
                <a:off x="0" y="0"/>
                <a:ext cx="2857500" cy="2190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50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Use XLCoST program-level Python and Java configurations, normalize code, align pairs, fine-tune Qwen with LoRA, and evaluate compilation plus semantic similarity.</a:t>
                </a:r>
                <a:endParaRPr sz="12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91" name="Google Shape;191;g3f0cf9ddd64_0_721"/>
          <p:cNvGrpSpPr/>
          <p:nvPr/>
        </p:nvGrpSpPr>
        <p:grpSpPr>
          <a:xfrm>
            <a:off x="8191500" y="1295400"/>
            <a:ext cx="3429000" cy="4286400"/>
            <a:chOff x="0" y="0"/>
            <a:chExt cx="3429000" cy="4286400"/>
          </a:xfrm>
        </p:grpSpPr>
        <p:sp>
          <p:nvSpPr>
            <p:cNvPr id="192" name="Google Shape;192;g3f0cf9ddd64_0_721"/>
            <p:cNvSpPr/>
            <p:nvPr/>
          </p:nvSpPr>
          <p:spPr>
            <a:xfrm>
              <a:off x="0" y="0"/>
              <a:ext cx="3429000" cy="4286400"/>
            </a:xfrm>
            <a:prstGeom prst="roundRect">
              <a:avLst>
                <a:gd fmla="val 4444" name="adj"/>
              </a:avLst>
            </a:prstGeom>
            <a:solidFill>
              <a:srgbClr val="14243A"/>
            </a:solidFill>
            <a:ln cap="flat" cmpd="sng" w="19050">
              <a:solidFill>
                <a:srgbClr val="1B2E4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g3f0cf9ddd64_0_721"/>
            <p:cNvSpPr/>
            <p:nvPr/>
          </p:nvSpPr>
          <p:spPr>
            <a:xfrm>
              <a:off x="1371600" y="323850"/>
              <a:ext cx="685800" cy="685800"/>
            </a:xfrm>
            <a:prstGeom prst="ellipse">
              <a:avLst/>
            </a:prstGeom>
            <a:solidFill>
              <a:srgbClr val="F6C65B">
                <a:alpha val="11999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94" name="Google Shape;194;g3f0cf9ddd64_0_721"/>
            <p:cNvGrpSpPr/>
            <p:nvPr/>
          </p:nvGrpSpPr>
          <p:grpSpPr>
            <a:xfrm>
              <a:off x="1371600" y="370586"/>
              <a:ext cx="685800" cy="732536"/>
              <a:chOff x="0" y="0"/>
              <a:chExt cx="685800" cy="732536"/>
            </a:xfrm>
          </p:grpSpPr>
          <p:sp>
            <p:nvSpPr>
              <p:cNvPr id="195" name="Google Shape;195;g3f0cf9ddd64_0_721"/>
              <p:cNvSpPr/>
              <p:nvPr/>
            </p:nvSpPr>
            <p:spPr>
              <a:xfrm>
                <a:off x="0" y="0"/>
                <a:ext cx="685800" cy="6858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g3f0cf9ddd64_0_721"/>
              <p:cNvSpPr txBox="1"/>
              <p:nvPr/>
            </p:nvSpPr>
            <p:spPr>
              <a:xfrm>
                <a:off x="0" y="46736"/>
                <a:ext cx="6858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>
                    <a:solidFill>
                      <a:srgbClr val="F6C65B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lightbulb</a:t>
                </a:r>
                <a:endParaRPr sz="3200">
                  <a:solidFill>
                    <a:srgbClr val="F6C65B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</p:grpSp>
        <p:grpSp>
          <p:nvGrpSpPr>
            <p:cNvPr id="197" name="Google Shape;197;g3f0cf9ddd64_0_721"/>
            <p:cNvGrpSpPr/>
            <p:nvPr/>
          </p:nvGrpSpPr>
          <p:grpSpPr>
            <a:xfrm>
              <a:off x="190500" y="1238250"/>
              <a:ext cx="3048000" cy="381000"/>
              <a:chOff x="0" y="0"/>
              <a:chExt cx="3048000" cy="381000"/>
            </a:xfrm>
          </p:grpSpPr>
          <p:sp>
            <p:nvSpPr>
              <p:cNvPr id="198" name="Google Shape;198;g3f0cf9ddd64_0_721"/>
              <p:cNvSpPr/>
              <p:nvPr/>
            </p:nvSpPr>
            <p:spPr>
              <a:xfrm>
                <a:off x="0" y="0"/>
                <a:ext cx="3048000" cy="381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" name="Google Shape;199;g3f0cf9ddd64_0_721"/>
              <p:cNvSpPr txBox="1"/>
              <p:nvPr/>
            </p:nvSpPr>
            <p:spPr>
              <a:xfrm>
                <a:off x="0" y="0"/>
                <a:ext cx="3048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00">
                    <a:solidFill>
                      <a:srgbClr val="F6C65B"/>
                    </a:solidFill>
                    <a:latin typeface="Outfit"/>
                    <a:ea typeface="Outfit"/>
                    <a:cs typeface="Outfit"/>
                    <a:sym typeface="Outfit"/>
                  </a:rPr>
                  <a:t>LEARNING</a:t>
                </a:r>
                <a:endParaRPr b="1" sz="1800">
                  <a:solidFill>
                    <a:srgbClr val="F6C65B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grpSp>
          <p:nvGrpSpPr>
            <p:cNvPr id="200" name="Google Shape;200;g3f0cf9ddd64_0_721"/>
            <p:cNvGrpSpPr/>
            <p:nvPr/>
          </p:nvGrpSpPr>
          <p:grpSpPr>
            <a:xfrm>
              <a:off x="285750" y="1714500"/>
              <a:ext cx="2857500" cy="2190900"/>
              <a:chOff x="0" y="0"/>
              <a:chExt cx="2857500" cy="2190900"/>
            </a:xfrm>
          </p:grpSpPr>
          <p:sp>
            <p:nvSpPr>
              <p:cNvPr id="201" name="Google Shape;201;g3f0cf9ddd64_0_721"/>
              <p:cNvSpPr/>
              <p:nvPr/>
            </p:nvSpPr>
            <p:spPr>
              <a:xfrm>
                <a:off x="0" y="0"/>
                <a:ext cx="2857500" cy="21909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g3f0cf9ddd64_0_721"/>
              <p:cNvSpPr txBox="1"/>
              <p:nvPr/>
            </p:nvSpPr>
            <p:spPr>
              <a:xfrm>
                <a:off x="0" y="0"/>
                <a:ext cx="2857500" cy="2190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50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Alignment quality dominated results. Strong semantic translations could still fail compilation because of small Java syntax defects.</a:t>
                </a:r>
                <a:endParaRPr sz="12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203" name="Google Shape;203;g3f0cf9ddd64_0_721"/>
          <p:cNvGrpSpPr/>
          <p:nvPr/>
        </p:nvGrpSpPr>
        <p:grpSpPr>
          <a:xfrm>
            <a:off x="4572000" y="5867400"/>
            <a:ext cx="3048000" cy="342900"/>
            <a:chOff x="0" y="0"/>
            <a:chExt cx="3048000" cy="342900"/>
          </a:xfrm>
        </p:grpSpPr>
        <p:sp>
          <p:nvSpPr>
            <p:cNvPr id="204" name="Google Shape;204;g3f0cf9ddd64_0_721"/>
            <p:cNvSpPr/>
            <p:nvPr/>
          </p:nvSpPr>
          <p:spPr>
            <a:xfrm>
              <a:off x="0" y="0"/>
              <a:ext cx="3048000" cy="342900"/>
            </a:xfrm>
            <a:prstGeom prst="roundRect">
              <a:avLst>
                <a:gd fmla="val 50000" name="adj"/>
              </a:avLst>
            </a:prstGeom>
            <a:solidFill>
              <a:srgbClr val="F6C65B">
                <a:alpha val="1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g3f0cf9ddd64_0_721"/>
            <p:cNvSpPr txBox="1"/>
            <p:nvPr/>
          </p:nvSpPr>
          <p:spPr>
            <a:xfrm>
              <a:off x="0" y="0"/>
              <a:ext cx="30480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F6C65B"/>
                  </a:solidFill>
                  <a:latin typeface="Outfit"/>
                  <a:ea typeface="Outfit"/>
                  <a:cs typeface="Outfit"/>
                  <a:sym typeface="Outfit"/>
                </a:rPr>
                <a:t>PYTHON → JAVA</a:t>
              </a:r>
              <a:endParaRPr b="1" sz="1100">
                <a:solidFill>
                  <a:srgbClr val="F6C65B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206" name="Google Shape;206;g3f0cf9ddd64_0_721"/>
          <p:cNvSpPr txBox="1"/>
          <p:nvPr>
            <p:ph idx="4294967295" type="sldNum"/>
          </p:nvPr>
        </p:nvSpPr>
        <p:spPr>
          <a:xfrm>
            <a:off x="11704320" y="6483096"/>
            <a:ext cx="8001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900">
                <a:solidFill>
                  <a:srgbClr val="6F829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>
              <a:solidFill>
                <a:srgbClr val="6F829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7"/>
          <p:cNvSpPr/>
          <p:nvPr/>
        </p:nvSpPr>
        <p:spPr>
          <a:xfrm>
            <a:off x="548640" y="310896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C6F4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39C6F4"/>
                </a:solidFill>
                <a:latin typeface="Arial"/>
                <a:ea typeface="Arial"/>
                <a:cs typeface="Arial"/>
                <a:sym typeface="Arial"/>
              </a:rPr>
              <a:t>WHY THE COMBINED STAGE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7"/>
          <p:cNvSpPr/>
          <p:nvPr/>
        </p:nvSpPr>
        <p:spPr>
          <a:xfrm>
            <a:off x="548640" y="585216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rPr>
              <a:t>Three successful capabilities — but still three isolated systems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7"/>
          <p:cNvSpPr/>
          <p:nvPr/>
        </p:nvSpPr>
        <p:spPr>
          <a:xfrm>
            <a:off x="685800" y="1463040"/>
            <a:ext cx="2057400" cy="1508760"/>
          </a:xfrm>
          <a:prstGeom prst="roundRect">
            <a:avLst>
              <a:gd fmla="val 6061" name="adj"/>
            </a:avLst>
          </a:prstGeom>
          <a:solidFill>
            <a:srgbClr val="14243A"/>
          </a:solidFill>
          <a:ln cap="flat" cmpd="sng" w="19050">
            <a:solidFill>
              <a:srgbClr val="39C6F4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000000">
                <a:alpha val="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822960" y="2395728"/>
            <a:ext cx="1783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9C6F4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39C6F4"/>
                </a:solidFill>
                <a:latin typeface="Arial"/>
                <a:ea typeface="Arial"/>
                <a:cs typeface="Arial"/>
                <a:sym typeface="Arial"/>
              </a:rPr>
              <a:t>Stage 1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7"/>
          <p:cNvSpPr/>
          <p:nvPr/>
        </p:nvSpPr>
        <p:spPr>
          <a:xfrm>
            <a:off x="822960" y="2615184"/>
            <a:ext cx="1783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rPr>
              <a:t>Explain code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7" name="Google Shape;217;p7"/>
          <p:cNvCxnSpPr/>
          <p:nvPr/>
        </p:nvCxnSpPr>
        <p:spPr>
          <a:xfrm>
            <a:off x="2760049" y="2943098"/>
            <a:ext cx="6117300" cy="1216200"/>
          </a:xfrm>
          <a:prstGeom prst="straightConnector1">
            <a:avLst/>
          </a:prstGeom>
          <a:noFill/>
          <a:ln cap="flat" cmpd="sng" w="17775">
            <a:solidFill>
              <a:srgbClr val="6F829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8" name="Google Shape;218;p7"/>
          <p:cNvSpPr/>
          <p:nvPr/>
        </p:nvSpPr>
        <p:spPr>
          <a:xfrm>
            <a:off x="3246120" y="1463040"/>
            <a:ext cx="2057400" cy="1508760"/>
          </a:xfrm>
          <a:prstGeom prst="roundRect">
            <a:avLst>
              <a:gd fmla="val 6061" name="adj"/>
            </a:avLst>
          </a:prstGeom>
          <a:solidFill>
            <a:srgbClr val="14243A"/>
          </a:solidFill>
          <a:ln cap="flat" cmpd="sng" w="19050">
            <a:solidFill>
              <a:srgbClr val="21C7A8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000000">
                <a:alpha val="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3383280" y="2395728"/>
            <a:ext cx="1783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C7A8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21C7A8"/>
                </a:solidFill>
                <a:latin typeface="Arial"/>
                <a:ea typeface="Arial"/>
                <a:cs typeface="Arial"/>
                <a:sym typeface="Arial"/>
              </a:rPr>
              <a:t>Stage 2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7"/>
          <p:cNvSpPr/>
          <p:nvPr/>
        </p:nvSpPr>
        <p:spPr>
          <a:xfrm>
            <a:off x="3383280" y="2615184"/>
            <a:ext cx="1783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rPr>
              <a:t>Generate Python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1" name="Google Shape;221;p7"/>
          <p:cNvCxnSpPr/>
          <p:nvPr/>
        </p:nvCxnSpPr>
        <p:spPr>
          <a:xfrm>
            <a:off x="5330952" y="2794931"/>
            <a:ext cx="3557100" cy="1216200"/>
          </a:xfrm>
          <a:prstGeom prst="straightConnector1">
            <a:avLst/>
          </a:prstGeom>
          <a:noFill/>
          <a:ln cap="flat" cmpd="sng" w="17775">
            <a:solidFill>
              <a:srgbClr val="6F829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22" name="Google Shape;222;p7"/>
          <p:cNvSpPr/>
          <p:nvPr/>
        </p:nvSpPr>
        <p:spPr>
          <a:xfrm>
            <a:off x="5838190" y="1463040"/>
            <a:ext cx="2057400" cy="1508700"/>
          </a:xfrm>
          <a:prstGeom prst="roundRect">
            <a:avLst>
              <a:gd fmla="val 6061" name="adj"/>
            </a:avLst>
          </a:prstGeom>
          <a:solidFill>
            <a:srgbClr val="14243A"/>
          </a:solidFill>
          <a:ln cap="flat" cmpd="sng" w="19050">
            <a:solidFill>
              <a:srgbClr val="F6C65B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000000">
                <a:alpha val="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7"/>
          <p:cNvSpPr/>
          <p:nvPr/>
        </p:nvSpPr>
        <p:spPr>
          <a:xfrm>
            <a:off x="5943600" y="2395728"/>
            <a:ext cx="1783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6C65B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F6C65B"/>
                </a:solidFill>
                <a:latin typeface="Arial"/>
                <a:ea typeface="Arial"/>
                <a:cs typeface="Arial"/>
                <a:sym typeface="Arial"/>
              </a:rPr>
              <a:t>Stage 3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7"/>
          <p:cNvSpPr/>
          <p:nvPr/>
        </p:nvSpPr>
        <p:spPr>
          <a:xfrm>
            <a:off x="5943600" y="2615184"/>
            <a:ext cx="1783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rPr>
              <a:t>Translate to Java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5" name="Google Shape;225;p7"/>
          <p:cNvCxnSpPr/>
          <p:nvPr/>
        </p:nvCxnSpPr>
        <p:spPr>
          <a:xfrm>
            <a:off x="7891272" y="2212848"/>
            <a:ext cx="996696" cy="1216152"/>
          </a:xfrm>
          <a:prstGeom prst="straightConnector1">
            <a:avLst/>
          </a:prstGeom>
          <a:noFill/>
          <a:ln cap="flat" cmpd="sng" w="17775">
            <a:solidFill>
              <a:srgbClr val="6F829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26" name="Google Shape;226;p7"/>
          <p:cNvSpPr/>
          <p:nvPr/>
        </p:nvSpPr>
        <p:spPr>
          <a:xfrm>
            <a:off x="8908627" y="2404872"/>
            <a:ext cx="2606100" cy="1965900"/>
          </a:xfrm>
          <a:prstGeom prst="roundRect">
            <a:avLst>
              <a:gd fmla="val 6512" name="adj"/>
            </a:avLst>
          </a:prstGeom>
          <a:solidFill>
            <a:srgbClr val="A88BFF">
              <a:alpha val="20000"/>
            </a:srgbClr>
          </a:solidFill>
          <a:ln cap="flat" cmpd="sng" w="25400">
            <a:solidFill>
              <a:srgbClr val="A88BFF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000000">
                <a:alpha val="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7"/>
          <p:cNvSpPr/>
          <p:nvPr/>
        </p:nvSpPr>
        <p:spPr>
          <a:xfrm>
            <a:off x="9137260" y="3369587"/>
            <a:ext cx="2148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8B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A88BFF"/>
                </a:solidFill>
                <a:latin typeface="Arial"/>
                <a:ea typeface="Arial"/>
                <a:cs typeface="Arial"/>
                <a:sym typeface="Arial"/>
              </a:rPr>
              <a:t>COMBINED STAGE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7"/>
          <p:cNvSpPr/>
          <p:nvPr/>
        </p:nvSpPr>
        <p:spPr>
          <a:xfrm>
            <a:off x="9137260" y="3707907"/>
            <a:ext cx="2148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rPr>
              <a:t>One model • Six tasks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7"/>
          <p:cNvSpPr/>
          <p:nvPr/>
        </p:nvSpPr>
        <p:spPr>
          <a:xfrm>
            <a:off x="731520" y="4800600"/>
            <a:ext cx="10698480" cy="960120"/>
          </a:xfrm>
          <a:prstGeom prst="roundRect">
            <a:avLst>
              <a:gd fmla="val 7619" name="adj"/>
            </a:avLst>
          </a:prstGeom>
          <a:solidFill>
            <a:srgbClr val="14243A"/>
          </a:solidFill>
          <a:ln cap="flat" cmpd="sng" w="12700">
            <a:solidFill>
              <a:srgbClr val="1B2E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7"/>
          <p:cNvSpPr/>
          <p:nvPr/>
        </p:nvSpPr>
        <p:spPr>
          <a:xfrm>
            <a:off x="1005840" y="5093208"/>
            <a:ext cx="1554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C6F4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39C6F4"/>
                </a:solidFill>
                <a:latin typeface="Arial"/>
                <a:ea typeface="Arial"/>
                <a:cs typeface="Arial"/>
                <a:sym typeface="Arial"/>
              </a:rPr>
              <a:t>Integration goal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7"/>
          <p:cNvSpPr/>
          <p:nvPr/>
        </p:nvSpPr>
        <p:spPr>
          <a:xfrm>
            <a:off x="2606040" y="4965192"/>
            <a:ext cx="83210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572"/>
              <a:buFont typeface="Arial"/>
              <a:buNone/>
            </a:pPr>
            <a:r>
              <a:rPr b="1" lang="en-US" sz="1573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rPr>
              <a:t>Replace separate adapters and inconsistent prompts with one validated corpus, one prompt contract, one training pipeline and one comparable evaluation framework.</a:t>
            </a:r>
            <a:endParaRPr sz="157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7"/>
          <p:cNvSpPr txBox="1"/>
          <p:nvPr>
            <p:ph idx="4294967295" type="sldNum"/>
          </p:nvPr>
        </p:nvSpPr>
        <p:spPr>
          <a:xfrm>
            <a:off x="11704320" y="6483096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900">
                <a:solidFill>
                  <a:srgbClr val="6F829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>
              <a:solidFill>
                <a:srgbClr val="6F829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7"/>
          <p:cNvSpPr txBox="1"/>
          <p:nvPr/>
        </p:nvSpPr>
        <p:spPr>
          <a:xfrm>
            <a:off x="1396365" y="1662303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39C6F4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description</a:t>
            </a:r>
            <a:endParaRPr sz="3600">
              <a:solidFill>
                <a:srgbClr val="39C6F4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  <p:sp>
        <p:nvSpPr>
          <p:cNvPr id="234" name="Google Shape;234;p7"/>
          <p:cNvSpPr txBox="1"/>
          <p:nvPr/>
        </p:nvSpPr>
        <p:spPr>
          <a:xfrm>
            <a:off x="3949065" y="1662303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21C7A8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terminal</a:t>
            </a:r>
            <a:endParaRPr sz="3600">
              <a:solidFill>
                <a:srgbClr val="21C7A8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  <p:sp>
        <p:nvSpPr>
          <p:cNvPr id="235" name="Google Shape;235;p7"/>
          <p:cNvSpPr txBox="1"/>
          <p:nvPr/>
        </p:nvSpPr>
        <p:spPr>
          <a:xfrm>
            <a:off x="6490335" y="1685163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F6C65B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translate</a:t>
            </a:r>
            <a:endParaRPr sz="3600">
              <a:solidFill>
                <a:srgbClr val="F6C65B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  <p:sp>
        <p:nvSpPr>
          <p:cNvPr id="236" name="Google Shape;236;p7"/>
          <p:cNvSpPr txBox="1"/>
          <p:nvPr/>
        </p:nvSpPr>
        <p:spPr>
          <a:xfrm>
            <a:off x="9784075" y="2683766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A88BFF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layers</a:t>
            </a:r>
            <a:endParaRPr sz="3600">
              <a:solidFill>
                <a:srgbClr val="A88BFF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f0cf9ddd64_0_989"/>
          <p:cNvSpPr/>
          <p:nvPr/>
        </p:nvSpPr>
        <p:spPr>
          <a:xfrm>
            <a:off x="548640" y="310896"/>
            <a:ext cx="5029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C6F4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39C6F4"/>
                </a:solidFill>
                <a:latin typeface="Arial"/>
                <a:ea typeface="Arial"/>
                <a:cs typeface="Arial"/>
                <a:sym typeface="Arial"/>
              </a:rPr>
              <a:t>COMBINED STAGE ARCHITECTURE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g3f0cf9ddd64_0_989"/>
          <p:cNvSpPr/>
          <p:nvPr/>
        </p:nvSpPr>
        <p:spPr>
          <a:xfrm>
            <a:off x="548640" y="585216"/>
            <a:ext cx="10972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rPr>
              <a:t>The Combined Stage turned experiments into one reusable system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4" name="Google Shape;244;g3f0cf9ddd64_0_989"/>
          <p:cNvGrpSpPr/>
          <p:nvPr/>
        </p:nvGrpSpPr>
        <p:grpSpPr>
          <a:xfrm>
            <a:off x="476250" y="1428750"/>
            <a:ext cx="11239350" cy="2000100"/>
            <a:chOff x="476250" y="1428750"/>
            <a:chExt cx="11239350" cy="2000100"/>
          </a:xfrm>
        </p:grpSpPr>
        <p:grpSp>
          <p:nvGrpSpPr>
            <p:cNvPr id="245" name="Google Shape;245;g3f0cf9ddd64_0_989"/>
            <p:cNvGrpSpPr/>
            <p:nvPr/>
          </p:nvGrpSpPr>
          <p:grpSpPr>
            <a:xfrm>
              <a:off x="476250" y="1428750"/>
              <a:ext cx="1619100" cy="2000100"/>
              <a:chOff x="0" y="0"/>
              <a:chExt cx="1619100" cy="2000100"/>
            </a:xfrm>
          </p:grpSpPr>
          <p:sp>
            <p:nvSpPr>
              <p:cNvPr id="246" name="Google Shape;246;g3f0cf9ddd64_0_989"/>
              <p:cNvSpPr/>
              <p:nvPr/>
            </p:nvSpPr>
            <p:spPr>
              <a:xfrm>
                <a:off x="0" y="0"/>
                <a:ext cx="1619100" cy="2000100"/>
              </a:xfrm>
              <a:prstGeom prst="roundRect">
                <a:avLst>
                  <a:gd fmla="val 7058" name="adj"/>
                </a:avLst>
              </a:prstGeom>
              <a:solidFill>
                <a:srgbClr val="14243A"/>
              </a:solidFill>
              <a:ln cap="flat" cmpd="sng" w="19050">
                <a:solidFill>
                  <a:srgbClr val="F6C65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g3f0cf9ddd64_0_989"/>
              <p:cNvSpPr/>
              <p:nvPr/>
            </p:nvSpPr>
            <p:spPr>
              <a:xfrm>
                <a:off x="542925" y="161925"/>
                <a:ext cx="533400" cy="533400"/>
              </a:xfrm>
              <a:prstGeom prst="ellipse">
                <a:avLst/>
              </a:prstGeom>
              <a:solidFill>
                <a:srgbClr val="F6C65B">
                  <a:alpha val="11999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g3f0cf9ddd64_0_989"/>
              <p:cNvSpPr txBox="1"/>
              <p:nvPr/>
            </p:nvSpPr>
            <p:spPr>
              <a:xfrm>
                <a:off x="619125" y="273177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rgbClr val="F6C65B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source</a:t>
                </a:r>
                <a:endParaRPr sz="2400">
                  <a:solidFill>
                    <a:srgbClr val="F6C65B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249" name="Google Shape;249;g3f0cf9ddd64_0_989"/>
              <p:cNvSpPr txBox="1"/>
              <p:nvPr/>
            </p:nvSpPr>
            <p:spPr>
              <a:xfrm>
                <a:off x="95250" y="809625"/>
                <a:ext cx="1428900" cy="1095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300">
                    <a:solidFill>
                      <a:srgbClr val="F7FAFC"/>
                    </a:solidFill>
                    <a:latin typeface="Arial"/>
                    <a:ea typeface="Arial"/>
                    <a:cs typeface="Arial"/>
                    <a:sym typeface="Arial"/>
                  </a:rPr>
                  <a:t>Raw sources</a:t>
                </a:r>
                <a:endParaRPr b="1" sz="1300">
                  <a:solidFill>
                    <a:srgbClr val="F7FAFC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ctr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US" sz="1000">
                    <a:solidFill>
                      <a:srgbClr val="A7B7CC"/>
                    </a:solidFill>
                    <a:latin typeface="Arial"/>
                    <a:ea typeface="Arial"/>
                    <a:cs typeface="Arial"/>
                    <a:sym typeface="Arial"/>
                  </a:rPr>
                  <a:t>XLCoST + CodeXGLUE</a:t>
                </a:r>
                <a:endParaRPr sz="1000">
                  <a:solidFill>
                    <a:srgbClr val="A7B7CC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0" name="Google Shape;250;g3f0cf9ddd64_0_989"/>
            <p:cNvGrpSpPr/>
            <p:nvPr/>
          </p:nvGrpSpPr>
          <p:grpSpPr>
            <a:xfrm>
              <a:off x="2400300" y="1428750"/>
              <a:ext cx="1619100" cy="2000100"/>
              <a:chOff x="0" y="0"/>
              <a:chExt cx="1619100" cy="2000100"/>
            </a:xfrm>
          </p:grpSpPr>
          <p:sp>
            <p:nvSpPr>
              <p:cNvPr id="251" name="Google Shape;251;g3f0cf9ddd64_0_989"/>
              <p:cNvSpPr/>
              <p:nvPr/>
            </p:nvSpPr>
            <p:spPr>
              <a:xfrm>
                <a:off x="0" y="0"/>
                <a:ext cx="1619100" cy="2000100"/>
              </a:xfrm>
              <a:prstGeom prst="roundRect">
                <a:avLst>
                  <a:gd fmla="val 7058" name="adj"/>
                </a:avLst>
              </a:prstGeom>
              <a:solidFill>
                <a:srgbClr val="14243A"/>
              </a:solidFill>
              <a:ln cap="flat" cmpd="sng" w="19050">
                <a:solidFill>
                  <a:srgbClr val="39C6F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g3f0cf9ddd64_0_989"/>
              <p:cNvSpPr/>
              <p:nvPr/>
            </p:nvSpPr>
            <p:spPr>
              <a:xfrm>
                <a:off x="542925" y="161925"/>
                <a:ext cx="533400" cy="533400"/>
              </a:xfrm>
              <a:prstGeom prst="ellipse">
                <a:avLst/>
              </a:prstGeom>
              <a:solidFill>
                <a:srgbClr val="39C6F4">
                  <a:alpha val="11999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g3f0cf9ddd64_0_989"/>
              <p:cNvSpPr txBox="1"/>
              <p:nvPr/>
            </p:nvSpPr>
            <p:spPr>
              <a:xfrm>
                <a:off x="619125" y="273177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rgbClr val="39C6F4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sync</a:t>
                </a:r>
                <a:endParaRPr sz="2400">
                  <a:solidFill>
                    <a:srgbClr val="39C6F4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254" name="Google Shape;254;g3f0cf9ddd64_0_989"/>
              <p:cNvSpPr txBox="1"/>
              <p:nvPr/>
            </p:nvSpPr>
            <p:spPr>
              <a:xfrm>
                <a:off x="95250" y="809625"/>
                <a:ext cx="1428900" cy="1095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300">
                    <a:solidFill>
                      <a:srgbClr val="F7FAFC"/>
                    </a:solidFill>
                    <a:latin typeface="Arial"/>
                    <a:ea typeface="Arial"/>
                    <a:cs typeface="Arial"/>
                    <a:sym typeface="Arial"/>
                  </a:rPr>
                  <a:t>Semantic alignment</a:t>
                </a:r>
                <a:endParaRPr b="1" sz="1300">
                  <a:solidFill>
                    <a:srgbClr val="F7FAFC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ctr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US" sz="1000">
                    <a:solidFill>
                      <a:srgbClr val="A7B7CC"/>
                    </a:solidFill>
                    <a:latin typeface="Arial"/>
                    <a:ea typeface="Arial"/>
                    <a:cs typeface="Arial"/>
                    <a:sym typeface="Arial"/>
                  </a:rPr>
                  <a:t>Embedding + structure</a:t>
                </a:r>
                <a:endParaRPr sz="1000">
                  <a:solidFill>
                    <a:srgbClr val="A7B7CC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5" name="Google Shape;255;g3f0cf9ddd64_0_989"/>
            <p:cNvGrpSpPr/>
            <p:nvPr/>
          </p:nvGrpSpPr>
          <p:grpSpPr>
            <a:xfrm>
              <a:off x="4324350" y="1428750"/>
              <a:ext cx="1619100" cy="2000100"/>
              <a:chOff x="0" y="0"/>
              <a:chExt cx="1619100" cy="2000100"/>
            </a:xfrm>
          </p:grpSpPr>
          <p:sp>
            <p:nvSpPr>
              <p:cNvPr id="256" name="Google Shape;256;g3f0cf9ddd64_0_989"/>
              <p:cNvSpPr/>
              <p:nvPr/>
            </p:nvSpPr>
            <p:spPr>
              <a:xfrm>
                <a:off x="0" y="0"/>
                <a:ext cx="1619100" cy="2000100"/>
              </a:xfrm>
              <a:prstGeom prst="roundRect">
                <a:avLst>
                  <a:gd fmla="val 7058" name="adj"/>
                </a:avLst>
              </a:prstGeom>
              <a:solidFill>
                <a:srgbClr val="14243A"/>
              </a:solidFill>
              <a:ln cap="flat" cmpd="sng" w="19050">
                <a:solidFill>
                  <a:srgbClr val="21C7A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g3f0cf9ddd64_0_989"/>
              <p:cNvSpPr/>
              <p:nvPr/>
            </p:nvSpPr>
            <p:spPr>
              <a:xfrm>
                <a:off x="542925" y="161925"/>
                <a:ext cx="533400" cy="533400"/>
              </a:xfrm>
              <a:prstGeom prst="ellipse">
                <a:avLst/>
              </a:prstGeom>
              <a:solidFill>
                <a:srgbClr val="21C7A8">
                  <a:alpha val="11999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g3f0cf9ddd64_0_989"/>
              <p:cNvSpPr txBox="1"/>
              <p:nvPr/>
            </p:nvSpPr>
            <p:spPr>
              <a:xfrm>
                <a:off x="619125" y="273177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rgbClr val="21C7A8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fact_check</a:t>
                </a:r>
                <a:endParaRPr sz="2400">
                  <a:solidFill>
                    <a:srgbClr val="21C7A8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259" name="Google Shape;259;g3f0cf9ddd64_0_989"/>
              <p:cNvSpPr txBox="1"/>
              <p:nvPr/>
            </p:nvSpPr>
            <p:spPr>
              <a:xfrm>
                <a:off x="95250" y="809625"/>
                <a:ext cx="1428900" cy="1095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300">
                    <a:solidFill>
                      <a:srgbClr val="F7FAFC"/>
                    </a:solidFill>
                    <a:latin typeface="Arial"/>
                    <a:ea typeface="Arial"/>
                    <a:cs typeface="Arial"/>
                    <a:sym typeface="Arial"/>
                  </a:rPr>
                  <a:t>Validation</a:t>
                </a:r>
                <a:endParaRPr b="1" sz="1300">
                  <a:solidFill>
                    <a:srgbClr val="F7FAFC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ctr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US" sz="1000">
                    <a:solidFill>
                      <a:srgbClr val="A7B7CC"/>
                    </a:solidFill>
                    <a:latin typeface="Arial"/>
                    <a:ea typeface="Arial"/>
                    <a:cs typeface="Arial"/>
                    <a:sym typeface="Arial"/>
                  </a:rPr>
                  <a:t>AST • javac • CSR</a:t>
                </a:r>
                <a:endParaRPr sz="1000">
                  <a:solidFill>
                    <a:srgbClr val="A7B7CC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60" name="Google Shape;260;g3f0cf9ddd64_0_989"/>
            <p:cNvGrpSpPr/>
            <p:nvPr/>
          </p:nvGrpSpPr>
          <p:grpSpPr>
            <a:xfrm>
              <a:off x="6248400" y="1428750"/>
              <a:ext cx="1619100" cy="2000100"/>
              <a:chOff x="0" y="0"/>
              <a:chExt cx="1619100" cy="2000100"/>
            </a:xfrm>
          </p:grpSpPr>
          <p:sp>
            <p:nvSpPr>
              <p:cNvPr id="261" name="Google Shape;261;g3f0cf9ddd64_0_989"/>
              <p:cNvSpPr/>
              <p:nvPr/>
            </p:nvSpPr>
            <p:spPr>
              <a:xfrm>
                <a:off x="0" y="0"/>
                <a:ext cx="1619100" cy="2000100"/>
              </a:xfrm>
              <a:prstGeom prst="roundRect">
                <a:avLst>
                  <a:gd fmla="val 7058" name="adj"/>
                </a:avLst>
              </a:prstGeom>
              <a:solidFill>
                <a:srgbClr val="14243A"/>
              </a:solidFill>
              <a:ln cap="flat" cmpd="sng" w="19050">
                <a:solidFill>
                  <a:srgbClr val="53D17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g3f0cf9ddd64_0_989"/>
              <p:cNvSpPr/>
              <p:nvPr/>
            </p:nvSpPr>
            <p:spPr>
              <a:xfrm>
                <a:off x="542925" y="161925"/>
                <a:ext cx="533400" cy="533400"/>
              </a:xfrm>
              <a:prstGeom prst="ellipse">
                <a:avLst/>
              </a:prstGeom>
              <a:solidFill>
                <a:srgbClr val="53D17A">
                  <a:alpha val="11999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3" name="Google Shape;263;g3f0cf9ddd64_0_989"/>
              <p:cNvSpPr txBox="1"/>
              <p:nvPr/>
            </p:nvSpPr>
            <p:spPr>
              <a:xfrm>
                <a:off x="619125" y="273177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rgbClr val="53D17A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playlist_add_check</a:t>
                </a:r>
                <a:endParaRPr sz="2400">
                  <a:solidFill>
                    <a:srgbClr val="53D17A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264" name="Google Shape;264;g3f0cf9ddd64_0_989"/>
              <p:cNvSpPr txBox="1"/>
              <p:nvPr/>
            </p:nvSpPr>
            <p:spPr>
              <a:xfrm>
                <a:off x="95250" y="809625"/>
                <a:ext cx="1428900" cy="1095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300">
                    <a:solidFill>
                      <a:srgbClr val="F7FAFC"/>
                    </a:solidFill>
                    <a:latin typeface="Arial"/>
                    <a:ea typeface="Arial"/>
                    <a:cs typeface="Arial"/>
                    <a:sym typeface="Arial"/>
                  </a:rPr>
                  <a:t>Approved corpus</a:t>
                </a:r>
                <a:endParaRPr b="1" sz="1300">
                  <a:solidFill>
                    <a:srgbClr val="F7FAFC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ctr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US" sz="1000">
                    <a:solidFill>
                      <a:srgbClr val="A7B7CC"/>
                    </a:solidFill>
                    <a:latin typeface="Arial"/>
                    <a:ea typeface="Arial"/>
                    <a:cs typeface="Arial"/>
                    <a:sym typeface="Arial"/>
                  </a:rPr>
                  <a:t>403 trusted rows</a:t>
                </a:r>
                <a:endParaRPr sz="1000">
                  <a:solidFill>
                    <a:srgbClr val="A7B7CC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65" name="Google Shape;265;g3f0cf9ddd64_0_989"/>
            <p:cNvGrpSpPr/>
            <p:nvPr/>
          </p:nvGrpSpPr>
          <p:grpSpPr>
            <a:xfrm>
              <a:off x="8172450" y="1428750"/>
              <a:ext cx="1619100" cy="2000100"/>
              <a:chOff x="0" y="0"/>
              <a:chExt cx="1619100" cy="2000100"/>
            </a:xfrm>
          </p:grpSpPr>
          <p:sp>
            <p:nvSpPr>
              <p:cNvPr id="266" name="Google Shape;266;g3f0cf9ddd64_0_989"/>
              <p:cNvSpPr/>
              <p:nvPr/>
            </p:nvSpPr>
            <p:spPr>
              <a:xfrm>
                <a:off x="0" y="0"/>
                <a:ext cx="1619100" cy="2000100"/>
              </a:xfrm>
              <a:prstGeom prst="roundRect">
                <a:avLst>
                  <a:gd fmla="val 7058" name="adj"/>
                </a:avLst>
              </a:prstGeom>
              <a:solidFill>
                <a:srgbClr val="14243A"/>
              </a:solidFill>
              <a:ln cap="flat" cmpd="sng" w="19050">
                <a:solidFill>
                  <a:srgbClr val="A88B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g3f0cf9ddd64_0_989"/>
              <p:cNvSpPr/>
              <p:nvPr/>
            </p:nvSpPr>
            <p:spPr>
              <a:xfrm>
                <a:off x="542925" y="161925"/>
                <a:ext cx="533400" cy="533400"/>
              </a:xfrm>
              <a:prstGeom prst="ellipse">
                <a:avLst/>
              </a:prstGeom>
              <a:solidFill>
                <a:srgbClr val="A88BFF">
                  <a:alpha val="11999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" name="Google Shape;268;g3f0cf9ddd64_0_989"/>
              <p:cNvSpPr txBox="1"/>
              <p:nvPr/>
            </p:nvSpPr>
            <p:spPr>
              <a:xfrm>
                <a:off x="619125" y="273177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rgbClr val="A88BFF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description</a:t>
                </a:r>
                <a:endParaRPr sz="2400">
                  <a:solidFill>
                    <a:srgbClr val="A88BFF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269" name="Google Shape;269;g3f0cf9ddd64_0_989"/>
              <p:cNvSpPr txBox="1"/>
              <p:nvPr/>
            </p:nvSpPr>
            <p:spPr>
              <a:xfrm>
                <a:off x="95250" y="809625"/>
                <a:ext cx="1428900" cy="1095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300">
                    <a:solidFill>
                      <a:srgbClr val="F7FAFC"/>
                    </a:solidFill>
                    <a:latin typeface="Arial"/>
                    <a:ea typeface="Arial"/>
                    <a:cs typeface="Arial"/>
                    <a:sym typeface="Arial"/>
                  </a:rPr>
                  <a:t>Prompt v2.6</a:t>
                </a:r>
                <a:endParaRPr b="1" sz="1300">
                  <a:solidFill>
                    <a:srgbClr val="F7FAFC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ctr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US" sz="1000">
                    <a:solidFill>
                      <a:srgbClr val="A7B7CC"/>
                    </a:solidFill>
                    <a:latin typeface="Arial"/>
                    <a:ea typeface="Arial"/>
                    <a:cs typeface="Arial"/>
                    <a:sym typeface="Arial"/>
                  </a:rPr>
                  <a:t>Six task contracts</a:t>
                </a:r>
                <a:endParaRPr sz="1000">
                  <a:solidFill>
                    <a:srgbClr val="A7B7CC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70" name="Google Shape;270;g3f0cf9ddd64_0_989"/>
            <p:cNvGrpSpPr/>
            <p:nvPr/>
          </p:nvGrpSpPr>
          <p:grpSpPr>
            <a:xfrm>
              <a:off x="10096500" y="1428750"/>
              <a:ext cx="1619100" cy="2000100"/>
              <a:chOff x="0" y="0"/>
              <a:chExt cx="1619100" cy="2000100"/>
            </a:xfrm>
          </p:grpSpPr>
          <p:sp>
            <p:nvSpPr>
              <p:cNvPr id="271" name="Google Shape;271;g3f0cf9ddd64_0_989"/>
              <p:cNvSpPr/>
              <p:nvPr/>
            </p:nvSpPr>
            <p:spPr>
              <a:xfrm>
                <a:off x="0" y="0"/>
                <a:ext cx="1619100" cy="2000100"/>
              </a:xfrm>
              <a:prstGeom prst="roundRect">
                <a:avLst>
                  <a:gd fmla="val 7058" name="adj"/>
                </a:avLst>
              </a:prstGeom>
              <a:solidFill>
                <a:srgbClr val="14243A"/>
              </a:solidFill>
              <a:ln cap="flat" cmpd="sng" w="19050">
                <a:solidFill>
                  <a:srgbClr val="39C6F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" name="Google Shape;272;g3f0cf9ddd64_0_989"/>
              <p:cNvSpPr/>
              <p:nvPr/>
            </p:nvSpPr>
            <p:spPr>
              <a:xfrm>
                <a:off x="542925" y="161925"/>
                <a:ext cx="533400" cy="533400"/>
              </a:xfrm>
              <a:prstGeom prst="ellipse">
                <a:avLst/>
              </a:prstGeom>
              <a:solidFill>
                <a:srgbClr val="39C6F4">
                  <a:alpha val="11999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" name="Google Shape;273;g3f0cf9ddd64_0_989"/>
              <p:cNvSpPr txBox="1"/>
              <p:nvPr/>
            </p:nvSpPr>
            <p:spPr>
              <a:xfrm>
                <a:off x="619125" y="273177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rgbClr val="39C6F4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analytics</a:t>
                </a:r>
                <a:endParaRPr sz="2400">
                  <a:solidFill>
                    <a:srgbClr val="39C6F4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274" name="Google Shape;274;g3f0cf9ddd64_0_989"/>
              <p:cNvSpPr txBox="1"/>
              <p:nvPr/>
            </p:nvSpPr>
            <p:spPr>
              <a:xfrm>
                <a:off x="95250" y="809625"/>
                <a:ext cx="1428900" cy="1095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300">
                    <a:solidFill>
                      <a:srgbClr val="F7FAFC"/>
                    </a:solidFill>
                    <a:latin typeface="Arial"/>
                    <a:ea typeface="Arial"/>
                    <a:cs typeface="Arial"/>
                    <a:sym typeface="Arial"/>
                  </a:rPr>
                  <a:t>QLoRA + Eval</a:t>
                </a:r>
                <a:endParaRPr b="1" sz="1300">
                  <a:solidFill>
                    <a:srgbClr val="F7FAFC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ctr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US" sz="1000">
                    <a:solidFill>
                      <a:srgbClr val="A7B7CC"/>
                    </a:solidFill>
                    <a:latin typeface="Arial"/>
                    <a:ea typeface="Arial"/>
                    <a:cs typeface="Arial"/>
                    <a:sym typeface="Arial"/>
                  </a:rPr>
                  <a:t>Train • compare • analyze</a:t>
                </a:r>
                <a:endParaRPr sz="1000">
                  <a:solidFill>
                    <a:srgbClr val="A7B7CC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75" name="Google Shape;275;g3f0cf9ddd64_0_989"/>
            <p:cNvGrpSpPr/>
            <p:nvPr/>
          </p:nvGrpSpPr>
          <p:grpSpPr>
            <a:xfrm>
              <a:off x="2181225" y="2400300"/>
              <a:ext cx="7877100" cy="57300"/>
              <a:chOff x="2181225" y="2400300"/>
              <a:chExt cx="7877100" cy="57300"/>
            </a:xfrm>
          </p:grpSpPr>
          <p:sp>
            <p:nvSpPr>
              <p:cNvPr id="276" name="Google Shape;276;g3f0cf9ddd64_0_989"/>
              <p:cNvSpPr/>
              <p:nvPr/>
            </p:nvSpPr>
            <p:spPr>
              <a:xfrm>
                <a:off x="2181225" y="2400300"/>
                <a:ext cx="180900" cy="57300"/>
              </a:xfrm>
              <a:custGeom>
                <a:rect b="b" l="l" r="r" t="t"/>
                <a:pathLst>
                  <a:path extrusionOk="0" h="120000" w="120000">
                    <a:moveTo>
                      <a:pt x="0" y="60000"/>
                    </a:moveTo>
                    <a:lnTo>
                      <a:pt x="88421" y="60000"/>
                    </a:lnTo>
                    <a:lnTo>
                      <a:pt x="88421" y="0"/>
                    </a:lnTo>
                    <a:lnTo>
                      <a:pt x="120000" y="60000"/>
                    </a:lnTo>
                    <a:lnTo>
                      <a:pt x="88421" y="120000"/>
                    </a:lnTo>
                    <a:lnTo>
                      <a:pt x="88421" y="60000"/>
                    </a:lnTo>
                    <a:close/>
                  </a:path>
                </a:pathLst>
              </a:custGeom>
              <a:solidFill>
                <a:srgbClr val="6F829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7" name="Google Shape;277;g3f0cf9ddd64_0_989"/>
              <p:cNvSpPr/>
              <p:nvPr/>
            </p:nvSpPr>
            <p:spPr>
              <a:xfrm>
                <a:off x="4105275" y="2400300"/>
                <a:ext cx="180900" cy="57300"/>
              </a:xfrm>
              <a:custGeom>
                <a:rect b="b" l="l" r="r" t="t"/>
                <a:pathLst>
                  <a:path extrusionOk="0" h="120000" w="120000">
                    <a:moveTo>
                      <a:pt x="0" y="60000"/>
                    </a:moveTo>
                    <a:lnTo>
                      <a:pt x="88421" y="60000"/>
                    </a:lnTo>
                    <a:lnTo>
                      <a:pt x="88421" y="0"/>
                    </a:lnTo>
                    <a:lnTo>
                      <a:pt x="120000" y="60000"/>
                    </a:lnTo>
                    <a:lnTo>
                      <a:pt x="88421" y="120000"/>
                    </a:lnTo>
                    <a:lnTo>
                      <a:pt x="88421" y="60000"/>
                    </a:lnTo>
                    <a:close/>
                  </a:path>
                </a:pathLst>
              </a:custGeom>
              <a:solidFill>
                <a:srgbClr val="6F829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" name="Google Shape;278;g3f0cf9ddd64_0_989"/>
              <p:cNvSpPr/>
              <p:nvPr/>
            </p:nvSpPr>
            <p:spPr>
              <a:xfrm>
                <a:off x="6029325" y="2400300"/>
                <a:ext cx="180900" cy="57300"/>
              </a:xfrm>
              <a:custGeom>
                <a:rect b="b" l="l" r="r" t="t"/>
                <a:pathLst>
                  <a:path extrusionOk="0" h="120000" w="120000">
                    <a:moveTo>
                      <a:pt x="0" y="60000"/>
                    </a:moveTo>
                    <a:lnTo>
                      <a:pt x="88421" y="60000"/>
                    </a:lnTo>
                    <a:lnTo>
                      <a:pt x="88421" y="0"/>
                    </a:lnTo>
                    <a:lnTo>
                      <a:pt x="120000" y="60000"/>
                    </a:lnTo>
                    <a:lnTo>
                      <a:pt x="88421" y="120000"/>
                    </a:lnTo>
                    <a:lnTo>
                      <a:pt x="88421" y="60000"/>
                    </a:lnTo>
                    <a:close/>
                  </a:path>
                </a:pathLst>
              </a:custGeom>
              <a:solidFill>
                <a:srgbClr val="6F829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" name="Google Shape;279;g3f0cf9ddd64_0_989"/>
              <p:cNvSpPr/>
              <p:nvPr/>
            </p:nvSpPr>
            <p:spPr>
              <a:xfrm>
                <a:off x="7953375" y="2400300"/>
                <a:ext cx="180900" cy="57300"/>
              </a:xfrm>
              <a:custGeom>
                <a:rect b="b" l="l" r="r" t="t"/>
                <a:pathLst>
                  <a:path extrusionOk="0" h="120000" w="120000">
                    <a:moveTo>
                      <a:pt x="0" y="60000"/>
                    </a:moveTo>
                    <a:lnTo>
                      <a:pt x="88421" y="60000"/>
                    </a:lnTo>
                    <a:lnTo>
                      <a:pt x="88421" y="0"/>
                    </a:lnTo>
                    <a:lnTo>
                      <a:pt x="120000" y="60000"/>
                    </a:lnTo>
                    <a:lnTo>
                      <a:pt x="88421" y="120000"/>
                    </a:lnTo>
                    <a:lnTo>
                      <a:pt x="88421" y="60000"/>
                    </a:lnTo>
                    <a:close/>
                  </a:path>
                </a:pathLst>
              </a:custGeom>
              <a:solidFill>
                <a:srgbClr val="6F829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0" name="Google Shape;280;g3f0cf9ddd64_0_989"/>
              <p:cNvSpPr/>
              <p:nvPr/>
            </p:nvSpPr>
            <p:spPr>
              <a:xfrm>
                <a:off x="9877425" y="2400300"/>
                <a:ext cx="180900" cy="57300"/>
              </a:xfrm>
              <a:custGeom>
                <a:rect b="b" l="l" r="r" t="t"/>
                <a:pathLst>
                  <a:path extrusionOk="0" h="120000" w="120000">
                    <a:moveTo>
                      <a:pt x="0" y="60000"/>
                    </a:moveTo>
                    <a:lnTo>
                      <a:pt x="88421" y="60000"/>
                    </a:lnTo>
                    <a:lnTo>
                      <a:pt x="88421" y="0"/>
                    </a:lnTo>
                    <a:lnTo>
                      <a:pt x="120000" y="60000"/>
                    </a:lnTo>
                    <a:lnTo>
                      <a:pt x="88421" y="120000"/>
                    </a:lnTo>
                    <a:lnTo>
                      <a:pt x="88421" y="60000"/>
                    </a:lnTo>
                    <a:close/>
                  </a:path>
                </a:pathLst>
              </a:custGeom>
              <a:solidFill>
                <a:srgbClr val="6F829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81" name="Google Shape;281;g3f0cf9ddd64_0_989"/>
          <p:cNvSpPr txBox="1"/>
          <p:nvPr/>
        </p:nvSpPr>
        <p:spPr>
          <a:xfrm>
            <a:off x="476250" y="3810000"/>
            <a:ext cx="1905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39C6F4"/>
                </a:solidFill>
                <a:latin typeface="Arial"/>
                <a:ea typeface="Arial"/>
                <a:cs typeface="Arial"/>
                <a:sym typeface="Arial"/>
              </a:rPr>
              <a:t>Outputs</a:t>
            </a:r>
            <a:endParaRPr b="1" sz="1400">
              <a:solidFill>
                <a:srgbClr val="39C6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2" name="Google Shape;282;g3f0cf9ddd64_0_989"/>
          <p:cNvGrpSpPr/>
          <p:nvPr/>
        </p:nvGrpSpPr>
        <p:grpSpPr>
          <a:xfrm>
            <a:off x="476250" y="4238625"/>
            <a:ext cx="11239350" cy="1000200"/>
            <a:chOff x="476250" y="4238625"/>
            <a:chExt cx="11239350" cy="1000200"/>
          </a:xfrm>
        </p:grpSpPr>
        <p:grpSp>
          <p:nvGrpSpPr>
            <p:cNvPr id="283" name="Google Shape;283;g3f0cf9ddd64_0_989"/>
            <p:cNvGrpSpPr/>
            <p:nvPr/>
          </p:nvGrpSpPr>
          <p:grpSpPr>
            <a:xfrm>
              <a:off x="476250" y="4238625"/>
              <a:ext cx="1619100" cy="1000200"/>
              <a:chOff x="0" y="0"/>
              <a:chExt cx="1619100" cy="1000200"/>
            </a:xfrm>
          </p:grpSpPr>
          <p:sp>
            <p:nvSpPr>
              <p:cNvPr id="284" name="Google Shape;284;g3f0cf9ddd64_0_989"/>
              <p:cNvSpPr/>
              <p:nvPr/>
            </p:nvSpPr>
            <p:spPr>
              <a:xfrm>
                <a:off x="0" y="0"/>
                <a:ext cx="1619100" cy="1000200"/>
              </a:xfrm>
              <a:prstGeom prst="roundRect">
                <a:avLst>
                  <a:gd fmla="val 9523" name="adj"/>
                </a:avLst>
              </a:prstGeom>
              <a:solidFill>
                <a:srgbClr val="14243A"/>
              </a:solidFill>
              <a:ln cap="flat" cmpd="sng" w="14300">
                <a:solidFill>
                  <a:srgbClr val="39C6F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5" name="Google Shape;285;g3f0cf9ddd64_0_989"/>
              <p:cNvSpPr txBox="1"/>
              <p:nvPr/>
            </p:nvSpPr>
            <p:spPr>
              <a:xfrm>
                <a:off x="142875" y="142875"/>
                <a:ext cx="1333500" cy="7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200">
                    <a:solidFill>
                      <a:srgbClr val="39C6F4"/>
                    </a:solidFill>
                    <a:latin typeface="Arial"/>
                    <a:ea typeface="Arial"/>
                    <a:cs typeface="Arial"/>
                    <a:sym typeface="Arial"/>
                  </a:rPr>
                  <a:t>T1 </a:t>
                </a:r>
                <a:r>
                  <a:rPr b="1" lang="en-US" sz="1200">
                    <a:solidFill>
                      <a:srgbClr val="F7FAFC"/>
                    </a:solidFill>
                    <a:latin typeface="Arial"/>
                    <a:ea typeface="Arial"/>
                    <a:cs typeface="Arial"/>
                    <a:sym typeface="Arial"/>
                  </a:rPr>
                  <a:t>NL → Python</a:t>
                </a:r>
                <a:endParaRPr b="1" sz="1200">
                  <a:solidFill>
                    <a:srgbClr val="F7FAFC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>
                    <a:solidFill>
                      <a:srgbClr val="A7B7CC"/>
                    </a:solidFill>
                    <a:latin typeface="Arial"/>
                    <a:ea typeface="Arial"/>
                    <a:cs typeface="Arial"/>
                    <a:sym typeface="Arial"/>
                  </a:rPr>
                  <a:t>One model</a:t>
                </a:r>
                <a:endParaRPr sz="1000">
                  <a:solidFill>
                    <a:srgbClr val="A7B7CC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86" name="Google Shape;286;g3f0cf9ddd64_0_989"/>
            <p:cNvGrpSpPr/>
            <p:nvPr/>
          </p:nvGrpSpPr>
          <p:grpSpPr>
            <a:xfrm>
              <a:off x="2400300" y="4238625"/>
              <a:ext cx="1619100" cy="1000200"/>
              <a:chOff x="0" y="0"/>
              <a:chExt cx="1619100" cy="1000200"/>
            </a:xfrm>
          </p:grpSpPr>
          <p:sp>
            <p:nvSpPr>
              <p:cNvPr id="287" name="Google Shape;287;g3f0cf9ddd64_0_989"/>
              <p:cNvSpPr/>
              <p:nvPr/>
            </p:nvSpPr>
            <p:spPr>
              <a:xfrm>
                <a:off x="0" y="0"/>
                <a:ext cx="1619100" cy="1000200"/>
              </a:xfrm>
              <a:prstGeom prst="roundRect">
                <a:avLst>
                  <a:gd fmla="val 9523" name="adj"/>
                </a:avLst>
              </a:prstGeom>
              <a:solidFill>
                <a:srgbClr val="14243A"/>
              </a:solidFill>
              <a:ln cap="flat" cmpd="sng" w="14300">
                <a:solidFill>
                  <a:srgbClr val="21C7A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8" name="Google Shape;288;g3f0cf9ddd64_0_989"/>
              <p:cNvSpPr txBox="1"/>
              <p:nvPr/>
            </p:nvSpPr>
            <p:spPr>
              <a:xfrm>
                <a:off x="142875" y="142875"/>
                <a:ext cx="1333500" cy="7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200">
                    <a:solidFill>
                      <a:srgbClr val="21C7A8"/>
                    </a:solidFill>
                    <a:latin typeface="Arial"/>
                    <a:ea typeface="Arial"/>
                    <a:cs typeface="Arial"/>
                    <a:sym typeface="Arial"/>
                  </a:rPr>
                  <a:t>T2 </a:t>
                </a:r>
                <a:r>
                  <a:rPr b="1" lang="en-US" sz="1200">
                    <a:solidFill>
                      <a:srgbClr val="F7FAFC"/>
                    </a:solidFill>
                    <a:latin typeface="Arial"/>
                    <a:ea typeface="Arial"/>
                    <a:cs typeface="Arial"/>
                    <a:sym typeface="Arial"/>
                  </a:rPr>
                  <a:t>NL → Java</a:t>
                </a:r>
                <a:endParaRPr b="1" sz="1200">
                  <a:solidFill>
                    <a:srgbClr val="F7FAFC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>
                    <a:solidFill>
                      <a:srgbClr val="A7B7CC"/>
                    </a:solidFill>
                    <a:latin typeface="Arial"/>
                    <a:ea typeface="Arial"/>
                    <a:cs typeface="Arial"/>
                    <a:sym typeface="Arial"/>
                  </a:rPr>
                  <a:t>One model</a:t>
                </a:r>
                <a:endParaRPr sz="1000">
                  <a:solidFill>
                    <a:srgbClr val="A7B7CC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89" name="Google Shape;289;g3f0cf9ddd64_0_989"/>
            <p:cNvGrpSpPr/>
            <p:nvPr/>
          </p:nvGrpSpPr>
          <p:grpSpPr>
            <a:xfrm>
              <a:off x="4324350" y="4238625"/>
              <a:ext cx="1619100" cy="1000200"/>
              <a:chOff x="0" y="0"/>
              <a:chExt cx="1619100" cy="1000200"/>
            </a:xfrm>
          </p:grpSpPr>
          <p:sp>
            <p:nvSpPr>
              <p:cNvPr id="290" name="Google Shape;290;g3f0cf9ddd64_0_989"/>
              <p:cNvSpPr/>
              <p:nvPr/>
            </p:nvSpPr>
            <p:spPr>
              <a:xfrm>
                <a:off x="0" y="0"/>
                <a:ext cx="1619100" cy="1000200"/>
              </a:xfrm>
              <a:prstGeom prst="roundRect">
                <a:avLst>
                  <a:gd fmla="val 9523" name="adj"/>
                </a:avLst>
              </a:prstGeom>
              <a:solidFill>
                <a:srgbClr val="14243A"/>
              </a:solidFill>
              <a:ln cap="flat" cmpd="sng" w="14300">
                <a:solidFill>
                  <a:srgbClr val="F6C65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1" name="Google Shape;291;g3f0cf9ddd64_0_989"/>
              <p:cNvSpPr txBox="1"/>
              <p:nvPr/>
            </p:nvSpPr>
            <p:spPr>
              <a:xfrm>
                <a:off x="142875" y="142875"/>
                <a:ext cx="1333500" cy="7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200">
                    <a:solidFill>
                      <a:srgbClr val="F6C65B"/>
                    </a:solidFill>
                    <a:latin typeface="Arial"/>
                    <a:ea typeface="Arial"/>
                    <a:cs typeface="Arial"/>
                    <a:sym typeface="Arial"/>
                  </a:rPr>
                  <a:t>T3 </a:t>
                </a:r>
                <a:r>
                  <a:rPr b="1" lang="en-US" sz="1200">
                    <a:solidFill>
                      <a:srgbClr val="F7FAFC"/>
                    </a:solidFill>
                    <a:latin typeface="Arial"/>
                    <a:ea typeface="Arial"/>
                    <a:cs typeface="Arial"/>
                    <a:sym typeface="Arial"/>
                  </a:rPr>
                  <a:t>P</a:t>
                </a:r>
                <a:r>
                  <a:rPr b="1" lang="en-US" sz="1200">
                    <a:solidFill>
                      <a:srgbClr val="F7FAFC"/>
                    </a:solidFill>
                    <a:latin typeface="Arial"/>
                    <a:ea typeface="Arial"/>
                    <a:cs typeface="Arial"/>
                    <a:sym typeface="Arial"/>
                  </a:rPr>
                  <a:t>ython → Java</a:t>
                </a:r>
                <a:endParaRPr b="1" sz="1200">
                  <a:solidFill>
                    <a:srgbClr val="F7FAFC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>
                    <a:solidFill>
                      <a:srgbClr val="A7B7CC"/>
                    </a:solidFill>
                    <a:latin typeface="Arial"/>
                    <a:ea typeface="Arial"/>
                    <a:cs typeface="Arial"/>
                    <a:sym typeface="Arial"/>
                  </a:rPr>
                  <a:t>One model</a:t>
                </a:r>
                <a:endParaRPr sz="1000">
                  <a:solidFill>
                    <a:srgbClr val="A7B7CC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92" name="Google Shape;292;g3f0cf9ddd64_0_989"/>
            <p:cNvGrpSpPr/>
            <p:nvPr/>
          </p:nvGrpSpPr>
          <p:grpSpPr>
            <a:xfrm>
              <a:off x="6248400" y="4238625"/>
              <a:ext cx="1619100" cy="1000200"/>
              <a:chOff x="0" y="0"/>
              <a:chExt cx="1619100" cy="1000200"/>
            </a:xfrm>
          </p:grpSpPr>
          <p:sp>
            <p:nvSpPr>
              <p:cNvPr id="293" name="Google Shape;293;g3f0cf9ddd64_0_989"/>
              <p:cNvSpPr/>
              <p:nvPr/>
            </p:nvSpPr>
            <p:spPr>
              <a:xfrm>
                <a:off x="0" y="0"/>
                <a:ext cx="1619100" cy="1000200"/>
              </a:xfrm>
              <a:prstGeom prst="roundRect">
                <a:avLst>
                  <a:gd fmla="val 9523" name="adj"/>
                </a:avLst>
              </a:prstGeom>
              <a:solidFill>
                <a:srgbClr val="14243A"/>
              </a:solidFill>
              <a:ln cap="flat" cmpd="sng" w="14300">
                <a:solidFill>
                  <a:srgbClr val="A88B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4" name="Google Shape;294;g3f0cf9ddd64_0_989"/>
              <p:cNvSpPr txBox="1"/>
              <p:nvPr/>
            </p:nvSpPr>
            <p:spPr>
              <a:xfrm>
                <a:off x="142875" y="142875"/>
                <a:ext cx="1333500" cy="7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200">
                    <a:solidFill>
                      <a:srgbClr val="A88BFF"/>
                    </a:solidFill>
                    <a:latin typeface="Arial"/>
                    <a:ea typeface="Arial"/>
                    <a:cs typeface="Arial"/>
                    <a:sym typeface="Arial"/>
                  </a:rPr>
                  <a:t>T4</a:t>
                </a:r>
                <a:r>
                  <a:rPr b="1" lang="en-US" sz="1200">
                    <a:solidFill>
                      <a:srgbClr val="F7FAFC"/>
                    </a:solidFill>
                    <a:latin typeface="Arial"/>
                    <a:ea typeface="Arial"/>
                    <a:cs typeface="Arial"/>
                    <a:sym typeface="Arial"/>
                  </a:rPr>
                  <a:t> J</a:t>
                </a:r>
                <a:r>
                  <a:rPr b="1" lang="en-US" sz="1200">
                    <a:solidFill>
                      <a:srgbClr val="F7FAFC"/>
                    </a:solidFill>
                    <a:latin typeface="Arial"/>
                    <a:ea typeface="Arial"/>
                    <a:cs typeface="Arial"/>
                    <a:sym typeface="Arial"/>
                  </a:rPr>
                  <a:t>ava → Python</a:t>
                </a:r>
                <a:endParaRPr b="1" sz="1200">
                  <a:solidFill>
                    <a:srgbClr val="F7FAFC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>
                    <a:solidFill>
                      <a:srgbClr val="A7B7CC"/>
                    </a:solidFill>
                    <a:latin typeface="Arial"/>
                    <a:ea typeface="Arial"/>
                    <a:cs typeface="Arial"/>
                    <a:sym typeface="Arial"/>
                  </a:rPr>
                  <a:t>One model</a:t>
                </a:r>
                <a:endParaRPr sz="1000">
                  <a:solidFill>
                    <a:srgbClr val="A7B7CC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95" name="Google Shape;295;g3f0cf9ddd64_0_989"/>
            <p:cNvGrpSpPr/>
            <p:nvPr/>
          </p:nvGrpSpPr>
          <p:grpSpPr>
            <a:xfrm>
              <a:off x="8172450" y="4238625"/>
              <a:ext cx="1619100" cy="1000200"/>
              <a:chOff x="0" y="0"/>
              <a:chExt cx="1619100" cy="1000200"/>
            </a:xfrm>
          </p:grpSpPr>
          <p:sp>
            <p:nvSpPr>
              <p:cNvPr id="296" name="Google Shape;296;g3f0cf9ddd64_0_989"/>
              <p:cNvSpPr/>
              <p:nvPr/>
            </p:nvSpPr>
            <p:spPr>
              <a:xfrm>
                <a:off x="0" y="0"/>
                <a:ext cx="1619100" cy="1000200"/>
              </a:xfrm>
              <a:prstGeom prst="roundRect">
                <a:avLst>
                  <a:gd fmla="val 9523" name="adj"/>
                </a:avLst>
              </a:prstGeom>
              <a:solidFill>
                <a:srgbClr val="14243A"/>
              </a:solidFill>
              <a:ln cap="flat" cmpd="sng" w="14300">
                <a:solidFill>
                  <a:srgbClr val="53D17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" name="Google Shape;297;g3f0cf9ddd64_0_989"/>
              <p:cNvSpPr txBox="1"/>
              <p:nvPr/>
            </p:nvSpPr>
            <p:spPr>
              <a:xfrm>
                <a:off x="142875" y="142875"/>
                <a:ext cx="1333500" cy="7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200">
                    <a:solidFill>
                      <a:srgbClr val="53D17A"/>
                    </a:solidFill>
                    <a:latin typeface="Arial"/>
                    <a:ea typeface="Arial"/>
                    <a:cs typeface="Arial"/>
                    <a:sym typeface="Arial"/>
                  </a:rPr>
                  <a:t>T5 </a:t>
                </a:r>
                <a:r>
                  <a:rPr b="1" lang="en-US" sz="1200">
                    <a:solidFill>
                      <a:srgbClr val="F7FAFC"/>
                    </a:solidFill>
                    <a:latin typeface="Arial"/>
                    <a:ea typeface="Arial"/>
                    <a:cs typeface="Arial"/>
                    <a:sym typeface="Arial"/>
                  </a:rPr>
                  <a:t>Python → NL</a:t>
                </a:r>
                <a:endParaRPr b="1" sz="1200">
                  <a:solidFill>
                    <a:srgbClr val="F7FAFC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>
                    <a:solidFill>
                      <a:srgbClr val="A7B7CC"/>
                    </a:solidFill>
                    <a:latin typeface="Arial"/>
                    <a:ea typeface="Arial"/>
                    <a:cs typeface="Arial"/>
                    <a:sym typeface="Arial"/>
                  </a:rPr>
                  <a:t>One model</a:t>
                </a:r>
                <a:endParaRPr sz="1000">
                  <a:solidFill>
                    <a:srgbClr val="A7B7CC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98" name="Google Shape;298;g3f0cf9ddd64_0_989"/>
            <p:cNvGrpSpPr/>
            <p:nvPr/>
          </p:nvGrpSpPr>
          <p:grpSpPr>
            <a:xfrm>
              <a:off x="10096500" y="4238625"/>
              <a:ext cx="1619100" cy="1000200"/>
              <a:chOff x="0" y="0"/>
              <a:chExt cx="1619100" cy="1000200"/>
            </a:xfrm>
          </p:grpSpPr>
          <p:sp>
            <p:nvSpPr>
              <p:cNvPr id="299" name="Google Shape;299;g3f0cf9ddd64_0_989"/>
              <p:cNvSpPr/>
              <p:nvPr/>
            </p:nvSpPr>
            <p:spPr>
              <a:xfrm>
                <a:off x="0" y="0"/>
                <a:ext cx="1619100" cy="1000200"/>
              </a:xfrm>
              <a:prstGeom prst="roundRect">
                <a:avLst>
                  <a:gd fmla="val 9523" name="adj"/>
                </a:avLst>
              </a:prstGeom>
              <a:solidFill>
                <a:srgbClr val="14243A"/>
              </a:solidFill>
              <a:ln cap="flat" cmpd="sng" w="14300">
                <a:solidFill>
                  <a:srgbClr val="FF7A7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" name="Google Shape;300;g3f0cf9ddd64_0_989"/>
              <p:cNvSpPr txBox="1"/>
              <p:nvPr/>
            </p:nvSpPr>
            <p:spPr>
              <a:xfrm>
                <a:off x="142875" y="142875"/>
                <a:ext cx="1333500" cy="7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200">
                    <a:solidFill>
                      <a:srgbClr val="FF7A7A"/>
                    </a:solidFill>
                    <a:latin typeface="Arial"/>
                    <a:ea typeface="Arial"/>
                    <a:cs typeface="Arial"/>
                    <a:sym typeface="Arial"/>
                  </a:rPr>
                  <a:t>T6 </a:t>
                </a:r>
                <a:r>
                  <a:rPr b="1" lang="en-US" sz="1200">
                    <a:solidFill>
                      <a:srgbClr val="F7FAFC"/>
                    </a:solidFill>
                    <a:latin typeface="Arial"/>
                    <a:ea typeface="Arial"/>
                    <a:cs typeface="Arial"/>
                    <a:sym typeface="Arial"/>
                  </a:rPr>
                  <a:t>Java → NL</a:t>
                </a:r>
                <a:endParaRPr b="1" sz="1200">
                  <a:solidFill>
                    <a:srgbClr val="F7FAFC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>
                    <a:solidFill>
                      <a:srgbClr val="A7B7CC"/>
                    </a:solidFill>
                    <a:latin typeface="Arial"/>
                    <a:ea typeface="Arial"/>
                    <a:cs typeface="Arial"/>
                    <a:sym typeface="Arial"/>
                  </a:rPr>
                  <a:t>One model</a:t>
                </a:r>
                <a:endParaRPr sz="1000">
                  <a:solidFill>
                    <a:srgbClr val="A7B7CC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01" name="Google Shape;301;g3f0cf9ddd64_0_989"/>
          <p:cNvSpPr txBox="1"/>
          <p:nvPr>
            <p:ph idx="4294967295" type="sldNum"/>
          </p:nvPr>
        </p:nvSpPr>
        <p:spPr>
          <a:xfrm>
            <a:off x="11704320" y="6483096"/>
            <a:ext cx="8001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900">
                <a:solidFill>
                  <a:srgbClr val="6F829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>
              <a:solidFill>
                <a:srgbClr val="6F829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9"/>
          <p:cNvSpPr/>
          <p:nvPr/>
        </p:nvSpPr>
        <p:spPr>
          <a:xfrm>
            <a:off x="548640" y="310896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C6F4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39C6F4"/>
                </a:solidFill>
                <a:latin typeface="Arial"/>
                <a:ea typeface="Arial"/>
                <a:cs typeface="Arial"/>
                <a:sym typeface="Arial"/>
              </a:rPr>
              <a:t>DATASET ENGINEERING &amp; PROMPT CONTRACT V2.6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9"/>
          <p:cNvSpPr/>
          <p:nvPr/>
        </p:nvSpPr>
        <p:spPr>
          <a:xfrm>
            <a:off x="548640" y="585216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rPr>
              <a:t>The main innovation was trustworthy supervision — not just model choice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9"/>
          <p:cNvSpPr/>
          <p:nvPr/>
        </p:nvSpPr>
        <p:spPr>
          <a:xfrm>
            <a:off x="731520" y="1417320"/>
            <a:ext cx="4206240" cy="512064"/>
          </a:xfrm>
          <a:prstGeom prst="chevron">
            <a:avLst>
              <a:gd fmla="val 50000" name="adj"/>
            </a:avLst>
          </a:prstGeom>
          <a:solidFill>
            <a:srgbClr val="F6C65B">
              <a:alpha val="81960"/>
            </a:srgbClr>
          </a:solidFill>
          <a:ln cap="flat" cmpd="sng" w="12700">
            <a:solidFill>
              <a:srgbClr val="F6C65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9"/>
          <p:cNvSpPr/>
          <p:nvPr/>
        </p:nvSpPr>
        <p:spPr>
          <a:xfrm>
            <a:off x="841248" y="1545336"/>
            <a:ext cx="398678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628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0B1628"/>
                </a:solidFill>
                <a:latin typeface="Arial"/>
                <a:ea typeface="Arial"/>
                <a:cs typeface="Arial"/>
                <a:sym typeface="Arial"/>
              </a:rPr>
              <a:t>Candidate records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9"/>
          <p:cNvSpPr/>
          <p:nvPr/>
        </p:nvSpPr>
        <p:spPr>
          <a:xfrm>
            <a:off x="1097280" y="2057400"/>
            <a:ext cx="3474720" cy="512064"/>
          </a:xfrm>
          <a:prstGeom prst="chevron">
            <a:avLst>
              <a:gd fmla="val 50000" name="adj"/>
            </a:avLst>
          </a:prstGeom>
          <a:solidFill>
            <a:srgbClr val="39C6F4">
              <a:alpha val="81960"/>
            </a:srgbClr>
          </a:solidFill>
          <a:ln cap="flat" cmpd="sng" w="12700">
            <a:solidFill>
              <a:srgbClr val="39C6F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9"/>
          <p:cNvSpPr/>
          <p:nvPr/>
        </p:nvSpPr>
        <p:spPr>
          <a:xfrm>
            <a:off x="1207008" y="2185416"/>
            <a:ext cx="325526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628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0B1628"/>
                </a:solidFill>
                <a:latin typeface="Arial"/>
                <a:ea typeface="Arial"/>
                <a:cs typeface="Arial"/>
                <a:sym typeface="Arial"/>
              </a:rPr>
              <a:t>Semantic + structural checks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9"/>
          <p:cNvSpPr/>
          <p:nvPr/>
        </p:nvSpPr>
        <p:spPr>
          <a:xfrm>
            <a:off x="1463040" y="2697480"/>
            <a:ext cx="2743200" cy="512064"/>
          </a:xfrm>
          <a:prstGeom prst="chevron">
            <a:avLst>
              <a:gd fmla="val 50000" name="adj"/>
            </a:avLst>
          </a:prstGeom>
          <a:solidFill>
            <a:srgbClr val="21C7A8">
              <a:alpha val="81960"/>
            </a:srgbClr>
          </a:solidFill>
          <a:ln cap="flat" cmpd="sng" w="12700">
            <a:solidFill>
              <a:srgbClr val="21C7A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9"/>
          <p:cNvSpPr/>
          <p:nvPr/>
        </p:nvSpPr>
        <p:spPr>
          <a:xfrm>
            <a:off x="1572768" y="2825496"/>
            <a:ext cx="252374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628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0B1628"/>
                </a:solidFill>
                <a:latin typeface="Arial"/>
                <a:ea typeface="Arial"/>
                <a:cs typeface="Arial"/>
                <a:sym typeface="Arial"/>
              </a:rPr>
              <a:t>Teacher repair where justified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9"/>
          <p:cNvSpPr/>
          <p:nvPr/>
        </p:nvSpPr>
        <p:spPr>
          <a:xfrm>
            <a:off x="1874520" y="3337560"/>
            <a:ext cx="1920240" cy="512064"/>
          </a:xfrm>
          <a:prstGeom prst="chevron">
            <a:avLst>
              <a:gd fmla="val 50000" name="adj"/>
            </a:avLst>
          </a:prstGeom>
          <a:solidFill>
            <a:srgbClr val="53D17A">
              <a:alpha val="81960"/>
            </a:srgbClr>
          </a:solidFill>
          <a:ln cap="flat" cmpd="sng" w="12700">
            <a:solidFill>
              <a:srgbClr val="53D17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9"/>
          <p:cNvSpPr/>
          <p:nvPr/>
        </p:nvSpPr>
        <p:spPr>
          <a:xfrm>
            <a:off x="1984248" y="3465576"/>
            <a:ext cx="170078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628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0B1628"/>
                </a:solidFill>
                <a:latin typeface="Arial"/>
                <a:ea typeface="Arial"/>
                <a:cs typeface="Arial"/>
                <a:sym typeface="Arial"/>
              </a:rPr>
              <a:t>403 approved rows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9"/>
          <p:cNvSpPr/>
          <p:nvPr/>
        </p:nvSpPr>
        <p:spPr>
          <a:xfrm>
            <a:off x="1783080" y="4069080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rPr>
              <a:t>Quality funnel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8" name="Google Shape;318;p9"/>
          <p:cNvCxnSpPr/>
          <p:nvPr/>
        </p:nvCxnSpPr>
        <p:spPr>
          <a:xfrm>
            <a:off x="5166360" y="1234440"/>
            <a:ext cx="0" cy="4160520"/>
          </a:xfrm>
          <a:prstGeom prst="straightConnector1">
            <a:avLst/>
          </a:prstGeom>
          <a:noFill/>
          <a:ln cap="flat" cmpd="sng" w="15225">
            <a:solidFill>
              <a:srgbClr val="1B2E4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9" name="Google Shape;319;p9"/>
          <p:cNvSpPr/>
          <p:nvPr/>
        </p:nvSpPr>
        <p:spPr>
          <a:xfrm>
            <a:off x="5532120" y="1298448"/>
            <a:ext cx="5897880" cy="4315968"/>
          </a:xfrm>
          <a:prstGeom prst="roundRect">
            <a:avLst>
              <a:gd fmla="val 2119" name="adj"/>
            </a:avLst>
          </a:prstGeom>
          <a:solidFill>
            <a:srgbClr val="14243A"/>
          </a:solidFill>
          <a:ln cap="flat" cmpd="sng" w="17775">
            <a:solidFill>
              <a:srgbClr val="A88BFF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000000">
                <a:alpha val="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9"/>
          <p:cNvSpPr/>
          <p:nvPr/>
        </p:nvSpPr>
        <p:spPr>
          <a:xfrm>
            <a:off x="5833872" y="1572768"/>
            <a:ext cx="2057400" cy="310896"/>
          </a:xfrm>
          <a:prstGeom prst="roundRect">
            <a:avLst>
              <a:gd fmla="val 26471" name="adj"/>
            </a:avLst>
          </a:prstGeom>
          <a:solidFill>
            <a:srgbClr val="A88BFF">
              <a:alpha val="18039"/>
            </a:srgbClr>
          </a:solidFill>
          <a:ln cap="flat" cmpd="sng" w="12700">
            <a:solidFill>
              <a:srgbClr val="A88B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9"/>
          <p:cNvSpPr/>
          <p:nvPr/>
        </p:nvSpPr>
        <p:spPr>
          <a:xfrm>
            <a:off x="5833872" y="1591056"/>
            <a:ext cx="2057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8BFF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A88BFF"/>
                </a:solidFill>
                <a:latin typeface="Arial"/>
                <a:ea typeface="Arial"/>
                <a:cs typeface="Arial"/>
                <a:sym typeface="Arial"/>
              </a:rPr>
              <a:t>PROMPT CONTRACT v2.6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9"/>
          <p:cNvSpPr/>
          <p:nvPr/>
        </p:nvSpPr>
        <p:spPr>
          <a:xfrm>
            <a:off x="5897880" y="2084832"/>
            <a:ext cx="2971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C6F4"/>
              </a:buClr>
              <a:buSzPts val="1300"/>
              <a:buFont typeface="Courier New"/>
              <a:buNone/>
            </a:pPr>
            <a:r>
              <a:rPr b="1" lang="en-US" sz="1300">
                <a:solidFill>
                  <a:srgbClr val="39C6F4"/>
                </a:solidFill>
                <a:latin typeface="Courier New"/>
                <a:ea typeface="Courier New"/>
                <a:cs typeface="Courier New"/>
                <a:sym typeface="Courier New"/>
              </a:rPr>
              <a:t>&lt;TASK_NL_TO_PYTHON&gt;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9"/>
          <p:cNvSpPr/>
          <p:nvPr/>
        </p:nvSpPr>
        <p:spPr>
          <a:xfrm>
            <a:off x="5897880" y="2514600"/>
            <a:ext cx="1325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8BFF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A88BFF"/>
                </a:solidFill>
                <a:latin typeface="Arial"/>
                <a:ea typeface="Arial"/>
                <a:cs typeface="Arial"/>
                <a:sym typeface="Arial"/>
              </a:rPr>
              <a:t>Role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9"/>
          <p:cNvSpPr/>
          <p:nvPr/>
        </p:nvSpPr>
        <p:spPr>
          <a:xfrm>
            <a:off x="7178040" y="2478024"/>
            <a:ext cx="37947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rPr>
              <a:t>You are a Python code generator.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9"/>
          <p:cNvSpPr/>
          <p:nvPr/>
        </p:nvSpPr>
        <p:spPr>
          <a:xfrm>
            <a:off x="5897880" y="3035808"/>
            <a:ext cx="1325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8BFF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A88BFF"/>
                </a:solidFill>
                <a:latin typeface="Arial"/>
                <a:ea typeface="Arial"/>
                <a:cs typeface="Arial"/>
                <a:sym typeface="Arial"/>
              </a:rPr>
              <a:t>Objective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9"/>
          <p:cNvSpPr/>
          <p:nvPr/>
        </p:nvSpPr>
        <p:spPr>
          <a:xfrm>
            <a:off x="7178040" y="2999232"/>
            <a:ext cx="37947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rPr>
              <a:t>Convert the task into executable source code.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9"/>
          <p:cNvSpPr/>
          <p:nvPr/>
        </p:nvSpPr>
        <p:spPr>
          <a:xfrm>
            <a:off x="5897880" y="3557016"/>
            <a:ext cx="1325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8BFF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A88BFF"/>
                </a:solidFill>
                <a:latin typeface="Arial"/>
                <a:ea typeface="Arial"/>
                <a:cs typeface="Arial"/>
                <a:sym typeface="Arial"/>
              </a:rPr>
              <a:t>Output contract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9"/>
          <p:cNvSpPr/>
          <p:nvPr/>
        </p:nvSpPr>
        <p:spPr>
          <a:xfrm>
            <a:off x="7178040" y="3520440"/>
            <a:ext cx="37947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rPr>
              <a:t>Return Python only — no prose, markdown or Java.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9"/>
          <p:cNvSpPr/>
          <p:nvPr/>
        </p:nvSpPr>
        <p:spPr>
          <a:xfrm>
            <a:off x="5897880" y="4078224"/>
            <a:ext cx="1325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8BFF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A88BFF"/>
                </a:solidFill>
                <a:latin typeface="Arial"/>
                <a:ea typeface="Arial"/>
                <a:cs typeface="Arial"/>
                <a:sym typeface="Arial"/>
              </a:rPr>
              <a:t>Quality checks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9"/>
          <p:cNvSpPr/>
          <p:nvPr/>
        </p:nvSpPr>
        <p:spPr>
          <a:xfrm>
            <a:off x="7178040" y="4041648"/>
            <a:ext cx="37947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rPr>
              <a:t>Must parse successfully and preserve behaviour.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9"/>
          <p:cNvSpPr/>
          <p:nvPr/>
        </p:nvSpPr>
        <p:spPr>
          <a:xfrm>
            <a:off x="5897880" y="4599432"/>
            <a:ext cx="1325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8BFF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A88BFF"/>
                </a:solidFill>
                <a:latin typeface="Arial"/>
                <a:ea typeface="Arial"/>
                <a:cs typeface="Arial"/>
                <a:sym typeface="Arial"/>
              </a:rPr>
              <a:t>Response header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9"/>
          <p:cNvSpPr/>
          <p:nvPr/>
        </p:nvSpPr>
        <p:spPr>
          <a:xfrm>
            <a:off x="7178040" y="4562856"/>
            <a:ext cx="37947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rPr>
              <a:t>### Python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9"/>
          <p:cNvSpPr/>
          <p:nvPr/>
        </p:nvSpPr>
        <p:spPr>
          <a:xfrm>
            <a:off x="960120" y="4983480"/>
            <a:ext cx="1600200" cy="310896"/>
          </a:xfrm>
          <a:prstGeom prst="roundRect">
            <a:avLst>
              <a:gd fmla="val 26471" name="adj"/>
            </a:avLst>
          </a:prstGeom>
          <a:solidFill>
            <a:srgbClr val="39C6F4">
              <a:alpha val="18039"/>
            </a:srgbClr>
          </a:solidFill>
          <a:ln cap="flat" cmpd="sng" w="12700">
            <a:solidFill>
              <a:srgbClr val="39C6F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9"/>
          <p:cNvSpPr/>
          <p:nvPr/>
        </p:nvSpPr>
        <p:spPr>
          <a:xfrm>
            <a:off x="960120" y="5001768"/>
            <a:ext cx="1600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9C6F4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39C6F4"/>
                </a:solidFill>
                <a:latin typeface="Arial"/>
                <a:ea typeface="Arial"/>
                <a:cs typeface="Arial"/>
                <a:sym typeface="Arial"/>
              </a:rPr>
              <a:t>2,418 examples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9"/>
          <p:cNvSpPr/>
          <p:nvPr/>
        </p:nvSpPr>
        <p:spPr>
          <a:xfrm>
            <a:off x="2724912" y="4983480"/>
            <a:ext cx="1417320" cy="310896"/>
          </a:xfrm>
          <a:prstGeom prst="roundRect">
            <a:avLst>
              <a:gd fmla="val 26471" name="adj"/>
            </a:avLst>
          </a:prstGeom>
          <a:solidFill>
            <a:srgbClr val="21C7A8">
              <a:alpha val="18039"/>
            </a:srgbClr>
          </a:solidFill>
          <a:ln cap="flat" cmpd="sng" w="12700">
            <a:solidFill>
              <a:srgbClr val="21C7A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9"/>
          <p:cNvSpPr/>
          <p:nvPr/>
        </p:nvSpPr>
        <p:spPr>
          <a:xfrm>
            <a:off x="2724912" y="5001768"/>
            <a:ext cx="1417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C7A8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21C7A8"/>
                </a:solidFill>
                <a:latin typeface="Arial"/>
                <a:ea typeface="Arial"/>
                <a:cs typeface="Arial"/>
                <a:sym typeface="Arial"/>
              </a:rPr>
              <a:t>1,776 train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9"/>
          <p:cNvSpPr/>
          <p:nvPr/>
        </p:nvSpPr>
        <p:spPr>
          <a:xfrm>
            <a:off x="4297680" y="4983480"/>
            <a:ext cx="1600200" cy="310896"/>
          </a:xfrm>
          <a:prstGeom prst="roundRect">
            <a:avLst>
              <a:gd fmla="val 26471" name="adj"/>
            </a:avLst>
          </a:prstGeom>
          <a:solidFill>
            <a:srgbClr val="F6C65B">
              <a:alpha val="18039"/>
            </a:srgbClr>
          </a:solidFill>
          <a:ln cap="flat" cmpd="sng" w="12700">
            <a:solidFill>
              <a:srgbClr val="F6C65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9"/>
          <p:cNvSpPr/>
          <p:nvPr/>
        </p:nvSpPr>
        <p:spPr>
          <a:xfrm>
            <a:off x="4297680" y="5001768"/>
            <a:ext cx="1600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6C65B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F6C65B"/>
                </a:solidFill>
                <a:latin typeface="Arial"/>
                <a:ea typeface="Arial"/>
                <a:cs typeface="Arial"/>
                <a:sym typeface="Arial"/>
              </a:rPr>
              <a:t>342 validation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9"/>
          <p:cNvSpPr/>
          <p:nvPr/>
        </p:nvSpPr>
        <p:spPr>
          <a:xfrm>
            <a:off x="5897880" y="4919472"/>
            <a:ext cx="1234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C6F4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39C6F4"/>
                </a:solidFill>
                <a:latin typeface="Arial"/>
                <a:ea typeface="Arial"/>
                <a:cs typeface="Arial"/>
                <a:sym typeface="Arial"/>
              </a:rPr>
              <a:t>Why it mattered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9"/>
          <p:cNvSpPr/>
          <p:nvPr/>
        </p:nvSpPr>
        <p:spPr>
          <a:xfrm>
            <a:off x="7068312" y="4837176"/>
            <a:ext cx="3749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156"/>
              <a:buFont typeface="Arial"/>
              <a:buNone/>
            </a:pPr>
            <a:r>
              <a:rPr b="1" lang="en-US" sz="1156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rPr>
              <a:t>Task tokens, output contracts and response headers reduced cross-task interference and eliminated empty or wrong-format outputs.</a:t>
            </a:r>
            <a:endParaRPr sz="1156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9"/>
          <p:cNvSpPr txBox="1"/>
          <p:nvPr>
            <p:ph idx="4294967295" type="sldNum"/>
          </p:nvPr>
        </p:nvSpPr>
        <p:spPr>
          <a:xfrm>
            <a:off x="11704320" y="6483096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900">
                <a:solidFill>
                  <a:srgbClr val="6F829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>
              <a:solidFill>
                <a:srgbClr val="6F829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f0cf9ddd64_0_1128"/>
          <p:cNvSpPr/>
          <p:nvPr/>
        </p:nvSpPr>
        <p:spPr>
          <a:xfrm>
            <a:off x="548640" y="310896"/>
            <a:ext cx="5029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C6F4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39C6F4"/>
                </a:solidFill>
                <a:latin typeface="Arial"/>
                <a:ea typeface="Arial"/>
                <a:cs typeface="Arial"/>
                <a:sym typeface="Arial"/>
              </a:rPr>
              <a:t>QLORA TRAINING PIPELINE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g3f0cf9ddd64_0_1128"/>
          <p:cNvSpPr/>
          <p:nvPr/>
        </p:nvSpPr>
        <p:spPr>
          <a:xfrm>
            <a:off x="548640" y="585216"/>
            <a:ext cx="10972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rPr>
              <a:t>Efficient specialization: update less than 1% of the model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49" name="Google Shape;349;g3f0cf9ddd64_0_1128"/>
          <p:cNvGrpSpPr/>
          <p:nvPr/>
        </p:nvGrpSpPr>
        <p:grpSpPr>
          <a:xfrm>
            <a:off x="571500" y="1428750"/>
            <a:ext cx="4953000" cy="4057800"/>
            <a:chOff x="571500" y="1428750"/>
            <a:chExt cx="4953000" cy="4057800"/>
          </a:xfrm>
        </p:grpSpPr>
        <p:grpSp>
          <p:nvGrpSpPr>
            <p:cNvPr id="350" name="Google Shape;350;g3f0cf9ddd64_0_1128"/>
            <p:cNvGrpSpPr/>
            <p:nvPr/>
          </p:nvGrpSpPr>
          <p:grpSpPr>
            <a:xfrm>
              <a:off x="571500" y="1428750"/>
              <a:ext cx="4953000" cy="857400"/>
              <a:chOff x="0" y="0"/>
              <a:chExt cx="4953000" cy="857400"/>
            </a:xfrm>
          </p:grpSpPr>
          <p:sp>
            <p:nvSpPr>
              <p:cNvPr id="351" name="Google Shape;351;g3f0cf9ddd64_0_1128"/>
              <p:cNvSpPr/>
              <p:nvPr/>
            </p:nvSpPr>
            <p:spPr>
              <a:xfrm>
                <a:off x="0" y="0"/>
                <a:ext cx="4953000" cy="857400"/>
              </a:xfrm>
              <a:prstGeom prst="roundRect">
                <a:avLst>
                  <a:gd fmla="val 13333" name="adj"/>
                </a:avLst>
              </a:prstGeom>
              <a:solidFill>
                <a:srgbClr val="14243A"/>
              </a:solidFill>
              <a:ln cap="flat" cmpd="sng" w="14300">
                <a:solidFill>
                  <a:srgbClr val="39C6F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" name="Google Shape;352;g3f0cf9ddd64_0_1128"/>
              <p:cNvSpPr txBox="1"/>
              <p:nvPr/>
            </p:nvSpPr>
            <p:spPr>
              <a:xfrm>
                <a:off x="190500" y="254127"/>
                <a:ext cx="4191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rgbClr val="39C6F4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memory</a:t>
                </a:r>
                <a:endParaRPr sz="2400">
                  <a:solidFill>
                    <a:srgbClr val="39C6F4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353" name="Google Shape;353;g3f0cf9ddd64_0_1128"/>
              <p:cNvSpPr txBox="1"/>
              <p:nvPr/>
            </p:nvSpPr>
            <p:spPr>
              <a:xfrm>
                <a:off x="800100" y="171450"/>
                <a:ext cx="3962400" cy="51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600">
                    <a:solidFill>
                      <a:srgbClr val="F7FAFC"/>
                    </a:solidFill>
                    <a:latin typeface="Arial"/>
                    <a:ea typeface="Arial"/>
                    <a:cs typeface="Arial"/>
                    <a:sym typeface="Arial"/>
                  </a:rPr>
                  <a:t>Qwen2.5-Coder-0.5B</a:t>
                </a:r>
                <a:endParaRPr b="1" sz="1600">
                  <a:solidFill>
                    <a:srgbClr val="F7FAFC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-US" sz="1150">
                    <a:solidFill>
                      <a:srgbClr val="A7B7CC"/>
                    </a:solidFill>
                    <a:latin typeface="Arial"/>
                    <a:ea typeface="Arial"/>
                    <a:cs typeface="Arial"/>
                    <a:sym typeface="Arial"/>
                  </a:rPr>
                  <a:t>Pretrained code model</a:t>
                </a:r>
                <a:endParaRPr sz="1150">
                  <a:solidFill>
                    <a:srgbClr val="A7B7CC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54" name="Google Shape;354;g3f0cf9ddd64_0_1128"/>
            <p:cNvGrpSpPr/>
            <p:nvPr/>
          </p:nvGrpSpPr>
          <p:grpSpPr>
            <a:xfrm>
              <a:off x="3009900" y="2286000"/>
              <a:ext cx="76200" cy="209700"/>
              <a:chOff x="-38100" y="0"/>
              <a:chExt cx="76200" cy="209700"/>
            </a:xfrm>
          </p:grpSpPr>
          <p:pic>
            <p:nvPicPr>
              <p:cNvPr id="355" name="Google Shape;355;g3f0cf9ddd64_0_1128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-9525" y="0"/>
                <a:ext cx="19200" cy="1905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56" name="Google Shape;356;g3f0cf9ddd64_0_1128"/>
              <p:cNvSpPr/>
              <p:nvPr/>
            </p:nvSpPr>
            <p:spPr>
              <a:xfrm>
                <a:off x="-38100" y="152400"/>
                <a:ext cx="76200" cy="573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60000" y="120000"/>
                    </a:lnTo>
                    <a:lnTo>
                      <a:pt x="120000" y="0"/>
                    </a:lnTo>
                    <a:close/>
                  </a:path>
                </a:pathLst>
              </a:custGeom>
              <a:solidFill>
                <a:srgbClr val="6F829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57" name="Google Shape;357;g3f0cf9ddd64_0_1128"/>
            <p:cNvGrpSpPr/>
            <p:nvPr/>
          </p:nvGrpSpPr>
          <p:grpSpPr>
            <a:xfrm>
              <a:off x="571500" y="2495550"/>
              <a:ext cx="4953000" cy="857400"/>
              <a:chOff x="0" y="0"/>
              <a:chExt cx="4953000" cy="857400"/>
            </a:xfrm>
          </p:grpSpPr>
          <p:sp>
            <p:nvSpPr>
              <p:cNvPr id="358" name="Google Shape;358;g3f0cf9ddd64_0_1128"/>
              <p:cNvSpPr/>
              <p:nvPr/>
            </p:nvSpPr>
            <p:spPr>
              <a:xfrm>
                <a:off x="0" y="0"/>
                <a:ext cx="4953000" cy="857400"/>
              </a:xfrm>
              <a:prstGeom prst="roundRect">
                <a:avLst>
                  <a:gd fmla="val 13333" name="adj"/>
                </a:avLst>
              </a:prstGeom>
              <a:solidFill>
                <a:srgbClr val="14243A"/>
              </a:solidFill>
              <a:ln cap="flat" cmpd="sng" w="14300">
                <a:solidFill>
                  <a:srgbClr val="21C7A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9" name="Google Shape;359;g3f0cf9ddd64_0_1128"/>
              <p:cNvSpPr txBox="1"/>
              <p:nvPr/>
            </p:nvSpPr>
            <p:spPr>
              <a:xfrm>
                <a:off x="190500" y="254127"/>
                <a:ext cx="4191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rgbClr val="21C7A8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layers</a:t>
                </a:r>
                <a:endParaRPr sz="2400">
                  <a:solidFill>
                    <a:srgbClr val="21C7A8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360" name="Google Shape;360;g3f0cf9ddd64_0_1128"/>
              <p:cNvSpPr txBox="1"/>
              <p:nvPr/>
            </p:nvSpPr>
            <p:spPr>
              <a:xfrm>
                <a:off x="800100" y="171450"/>
                <a:ext cx="3962400" cy="51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600">
                    <a:solidFill>
                      <a:srgbClr val="F7FAFC"/>
                    </a:solidFill>
                    <a:latin typeface="Arial"/>
                    <a:ea typeface="Arial"/>
                    <a:cs typeface="Arial"/>
                    <a:sym typeface="Arial"/>
                  </a:rPr>
                  <a:t>4-bit quantization</a:t>
                </a:r>
                <a:endParaRPr b="1" sz="1600">
                  <a:solidFill>
                    <a:srgbClr val="F7FAFC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-US" sz="1150">
                    <a:solidFill>
                      <a:srgbClr val="A7B7CC"/>
                    </a:solidFill>
                    <a:latin typeface="Arial"/>
                    <a:ea typeface="Arial"/>
                    <a:cs typeface="Arial"/>
                    <a:sym typeface="Arial"/>
                  </a:rPr>
                  <a:t>Frozen base weights</a:t>
                </a:r>
                <a:endParaRPr sz="1150">
                  <a:solidFill>
                    <a:srgbClr val="A7B7CC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61" name="Google Shape;361;g3f0cf9ddd64_0_1128"/>
            <p:cNvGrpSpPr/>
            <p:nvPr/>
          </p:nvGrpSpPr>
          <p:grpSpPr>
            <a:xfrm>
              <a:off x="3009900" y="3352800"/>
              <a:ext cx="76200" cy="209700"/>
              <a:chOff x="-38100" y="0"/>
              <a:chExt cx="76200" cy="209700"/>
            </a:xfrm>
          </p:grpSpPr>
          <p:pic>
            <p:nvPicPr>
              <p:cNvPr id="362" name="Google Shape;362;g3f0cf9ddd64_0_1128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-9525" y="0"/>
                <a:ext cx="19200" cy="1905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63" name="Google Shape;363;g3f0cf9ddd64_0_1128"/>
              <p:cNvSpPr/>
              <p:nvPr/>
            </p:nvSpPr>
            <p:spPr>
              <a:xfrm>
                <a:off x="-38100" y="152400"/>
                <a:ext cx="76200" cy="573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60000" y="120000"/>
                    </a:lnTo>
                    <a:lnTo>
                      <a:pt x="120000" y="0"/>
                    </a:lnTo>
                    <a:close/>
                  </a:path>
                </a:pathLst>
              </a:custGeom>
              <a:solidFill>
                <a:srgbClr val="6F829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64" name="Google Shape;364;g3f0cf9ddd64_0_1128"/>
            <p:cNvGrpSpPr/>
            <p:nvPr/>
          </p:nvGrpSpPr>
          <p:grpSpPr>
            <a:xfrm>
              <a:off x="571500" y="3562350"/>
              <a:ext cx="4953000" cy="857400"/>
              <a:chOff x="0" y="0"/>
              <a:chExt cx="4953000" cy="857400"/>
            </a:xfrm>
          </p:grpSpPr>
          <p:sp>
            <p:nvSpPr>
              <p:cNvPr id="365" name="Google Shape;365;g3f0cf9ddd64_0_1128"/>
              <p:cNvSpPr/>
              <p:nvPr/>
            </p:nvSpPr>
            <p:spPr>
              <a:xfrm>
                <a:off x="0" y="0"/>
                <a:ext cx="4953000" cy="857400"/>
              </a:xfrm>
              <a:prstGeom prst="roundRect">
                <a:avLst>
                  <a:gd fmla="val 13333" name="adj"/>
                </a:avLst>
              </a:prstGeom>
              <a:solidFill>
                <a:srgbClr val="14243A"/>
              </a:solidFill>
              <a:ln cap="flat" cmpd="sng" w="14300">
                <a:solidFill>
                  <a:srgbClr val="A88B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6" name="Google Shape;366;g3f0cf9ddd64_0_1128"/>
              <p:cNvSpPr txBox="1"/>
              <p:nvPr/>
            </p:nvSpPr>
            <p:spPr>
              <a:xfrm>
                <a:off x="190500" y="254127"/>
                <a:ext cx="4191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rgbClr val="A88BFF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extension</a:t>
                </a:r>
                <a:endParaRPr sz="2400">
                  <a:solidFill>
                    <a:srgbClr val="A88BFF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367" name="Google Shape;367;g3f0cf9ddd64_0_1128"/>
              <p:cNvSpPr txBox="1"/>
              <p:nvPr/>
            </p:nvSpPr>
            <p:spPr>
              <a:xfrm>
                <a:off x="800100" y="171450"/>
                <a:ext cx="3962400" cy="51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600">
                    <a:solidFill>
                      <a:srgbClr val="F7FAFC"/>
                    </a:solidFill>
                    <a:latin typeface="Arial"/>
                    <a:ea typeface="Arial"/>
                    <a:cs typeface="Arial"/>
                    <a:sym typeface="Arial"/>
                  </a:rPr>
                  <a:t>LoRA adapters</a:t>
                </a:r>
                <a:endParaRPr b="1" sz="1600">
                  <a:solidFill>
                    <a:srgbClr val="F7FAFC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-US" sz="1150">
                    <a:solidFill>
                      <a:srgbClr val="A7B7CC"/>
                    </a:solidFill>
                    <a:latin typeface="Arial"/>
                    <a:ea typeface="Arial"/>
                    <a:cs typeface="Arial"/>
                    <a:sym typeface="Arial"/>
                  </a:rPr>
                  <a:t>Low-rank trainable matrices</a:t>
                </a:r>
                <a:endParaRPr sz="1150">
                  <a:solidFill>
                    <a:srgbClr val="A7B7CC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68" name="Google Shape;368;g3f0cf9ddd64_0_1128"/>
            <p:cNvGrpSpPr/>
            <p:nvPr/>
          </p:nvGrpSpPr>
          <p:grpSpPr>
            <a:xfrm>
              <a:off x="3009900" y="4419600"/>
              <a:ext cx="76200" cy="209700"/>
              <a:chOff x="-38100" y="0"/>
              <a:chExt cx="76200" cy="209700"/>
            </a:xfrm>
          </p:grpSpPr>
          <p:pic>
            <p:nvPicPr>
              <p:cNvPr id="369" name="Google Shape;369;g3f0cf9ddd64_0_1128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-9525" y="0"/>
                <a:ext cx="19200" cy="1905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70" name="Google Shape;370;g3f0cf9ddd64_0_1128"/>
              <p:cNvSpPr/>
              <p:nvPr/>
            </p:nvSpPr>
            <p:spPr>
              <a:xfrm>
                <a:off x="-38100" y="152400"/>
                <a:ext cx="76200" cy="573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60000" y="120000"/>
                    </a:lnTo>
                    <a:lnTo>
                      <a:pt x="120000" y="0"/>
                    </a:lnTo>
                    <a:close/>
                  </a:path>
                </a:pathLst>
              </a:custGeom>
              <a:solidFill>
                <a:srgbClr val="6F829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71" name="Google Shape;371;g3f0cf9ddd64_0_1128"/>
            <p:cNvGrpSpPr/>
            <p:nvPr/>
          </p:nvGrpSpPr>
          <p:grpSpPr>
            <a:xfrm>
              <a:off x="571500" y="4629150"/>
              <a:ext cx="4953000" cy="857400"/>
              <a:chOff x="0" y="0"/>
              <a:chExt cx="4953000" cy="857400"/>
            </a:xfrm>
          </p:grpSpPr>
          <p:sp>
            <p:nvSpPr>
              <p:cNvPr id="372" name="Google Shape;372;g3f0cf9ddd64_0_1128"/>
              <p:cNvSpPr/>
              <p:nvPr/>
            </p:nvSpPr>
            <p:spPr>
              <a:xfrm>
                <a:off x="0" y="0"/>
                <a:ext cx="4953000" cy="857400"/>
              </a:xfrm>
              <a:prstGeom prst="roundRect">
                <a:avLst>
                  <a:gd fmla="val 13333" name="adj"/>
                </a:avLst>
              </a:prstGeom>
              <a:solidFill>
                <a:srgbClr val="14243A"/>
              </a:solidFill>
              <a:ln cap="flat" cmpd="sng" w="14300">
                <a:solidFill>
                  <a:srgbClr val="53D17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3" name="Google Shape;373;g3f0cf9ddd64_0_1128"/>
              <p:cNvSpPr txBox="1"/>
              <p:nvPr/>
            </p:nvSpPr>
            <p:spPr>
              <a:xfrm>
                <a:off x="190500" y="254127"/>
                <a:ext cx="4191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rgbClr val="53D17A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psychology</a:t>
                </a:r>
                <a:endParaRPr sz="2400">
                  <a:solidFill>
                    <a:srgbClr val="53D17A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374" name="Google Shape;374;g3f0cf9ddd64_0_1128"/>
              <p:cNvSpPr txBox="1"/>
              <p:nvPr/>
            </p:nvSpPr>
            <p:spPr>
              <a:xfrm>
                <a:off x="800100" y="171450"/>
                <a:ext cx="3962400" cy="51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600">
                    <a:solidFill>
                      <a:srgbClr val="F7FAFC"/>
                    </a:solidFill>
                    <a:latin typeface="Arial"/>
                    <a:ea typeface="Arial"/>
                    <a:cs typeface="Arial"/>
                    <a:sym typeface="Arial"/>
                  </a:rPr>
                  <a:t>Fine-tuned multitask model</a:t>
                </a:r>
                <a:endParaRPr b="1" sz="1600">
                  <a:solidFill>
                    <a:srgbClr val="F7FAFC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-US" sz="1150">
                    <a:solidFill>
                      <a:srgbClr val="A7B7CC"/>
                    </a:solidFill>
                    <a:latin typeface="Arial"/>
                    <a:ea typeface="Arial"/>
                    <a:cs typeface="Arial"/>
                    <a:sym typeface="Arial"/>
                  </a:rPr>
                  <a:t>Six capabilities, one adapter</a:t>
                </a:r>
                <a:endParaRPr sz="1150">
                  <a:solidFill>
                    <a:srgbClr val="A7B7CC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75" name="Google Shape;375;g3f0cf9ddd64_0_1128"/>
          <p:cNvGrpSpPr/>
          <p:nvPr/>
        </p:nvGrpSpPr>
        <p:grpSpPr>
          <a:xfrm>
            <a:off x="6096000" y="1333500"/>
            <a:ext cx="5524500" cy="4191000"/>
            <a:chOff x="6096000" y="1333500"/>
            <a:chExt cx="5524500" cy="4191000"/>
          </a:xfrm>
        </p:grpSpPr>
        <p:sp>
          <p:nvSpPr>
            <p:cNvPr id="376" name="Google Shape;376;g3f0cf9ddd64_0_1128"/>
            <p:cNvSpPr/>
            <p:nvPr/>
          </p:nvSpPr>
          <p:spPr>
            <a:xfrm>
              <a:off x="6096000" y="1333500"/>
              <a:ext cx="5524500" cy="4191000"/>
            </a:xfrm>
            <a:prstGeom prst="roundRect">
              <a:avLst>
                <a:gd fmla="val 3636" name="adj"/>
              </a:avLst>
            </a:prstGeom>
            <a:solidFill>
              <a:srgbClr val="14243A"/>
            </a:solidFill>
            <a:ln cap="flat" cmpd="sng" w="14300">
              <a:solidFill>
                <a:srgbClr val="1B2E4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g3f0cf9ddd64_0_1128"/>
            <p:cNvSpPr txBox="1"/>
            <p:nvPr/>
          </p:nvSpPr>
          <p:spPr>
            <a:xfrm>
              <a:off x="6381750" y="1619250"/>
              <a:ext cx="4953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39C6F4"/>
                  </a:solidFill>
                  <a:latin typeface="Arial"/>
                  <a:ea typeface="Arial"/>
                  <a:cs typeface="Arial"/>
                  <a:sym typeface="Arial"/>
                </a:rPr>
                <a:t>TRAINING SNAPSHOT</a:t>
              </a:r>
              <a:endParaRPr b="1" sz="1100">
                <a:solidFill>
                  <a:srgbClr val="39C6F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78" name="Google Shape;378;g3f0cf9ddd64_0_1128"/>
            <p:cNvGrpSpPr/>
            <p:nvPr/>
          </p:nvGrpSpPr>
          <p:grpSpPr>
            <a:xfrm>
              <a:off x="6381750" y="2000250"/>
              <a:ext cx="2286000" cy="952500"/>
              <a:chOff x="0" y="0"/>
              <a:chExt cx="2286000" cy="952500"/>
            </a:xfrm>
          </p:grpSpPr>
          <p:sp>
            <p:nvSpPr>
              <p:cNvPr id="379" name="Google Shape;379;g3f0cf9ddd64_0_1128"/>
              <p:cNvSpPr/>
              <p:nvPr/>
            </p:nvSpPr>
            <p:spPr>
              <a:xfrm>
                <a:off x="0" y="0"/>
                <a:ext cx="2286000" cy="952500"/>
              </a:xfrm>
              <a:prstGeom prst="roundRect">
                <a:avLst>
                  <a:gd fmla="val 10000" name="adj"/>
                </a:avLst>
              </a:prstGeom>
              <a:solidFill>
                <a:srgbClr val="0E1B2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" name="Google Shape;380;g3f0cf9ddd64_0_1128"/>
              <p:cNvSpPr txBox="1"/>
              <p:nvPr/>
            </p:nvSpPr>
            <p:spPr>
              <a:xfrm>
                <a:off x="190500" y="142875"/>
                <a:ext cx="19050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400">
                    <a:solidFill>
                      <a:srgbClr val="F7FAFC"/>
                    </a:solidFill>
                    <a:latin typeface="Arial"/>
                    <a:ea typeface="Arial"/>
                    <a:cs typeface="Arial"/>
                    <a:sym typeface="Arial"/>
                  </a:rPr>
                  <a:t>498.4M</a:t>
                </a:r>
                <a:r>
                  <a:rPr lang="en-US" sz="1050">
                    <a:solidFill>
                      <a:srgbClr val="A7B7CC"/>
                    </a:solidFill>
                    <a:latin typeface="Arial"/>
                    <a:ea typeface="Arial"/>
                    <a:cs typeface="Arial"/>
                    <a:sym typeface="Arial"/>
                  </a:rPr>
                  <a:t>total parameters</a:t>
                </a:r>
                <a:endParaRPr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81" name="Google Shape;381;g3f0cf9ddd64_0_1128"/>
            <p:cNvGrpSpPr/>
            <p:nvPr/>
          </p:nvGrpSpPr>
          <p:grpSpPr>
            <a:xfrm>
              <a:off x="9048750" y="2000250"/>
              <a:ext cx="2286000" cy="952500"/>
              <a:chOff x="0" y="0"/>
              <a:chExt cx="2286000" cy="952500"/>
            </a:xfrm>
          </p:grpSpPr>
          <p:sp>
            <p:nvSpPr>
              <p:cNvPr id="382" name="Google Shape;382;g3f0cf9ddd64_0_1128"/>
              <p:cNvSpPr/>
              <p:nvPr/>
            </p:nvSpPr>
            <p:spPr>
              <a:xfrm>
                <a:off x="0" y="0"/>
                <a:ext cx="2286000" cy="952500"/>
              </a:xfrm>
              <a:prstGeom prst="roundRect">
                <a:avLst>
                  <a:gd fmla="val 10000" name="adj"/>
                </a:avLst>
              </a:prstGeom>
              <a:solidFill>
                <a:srgbClr val="0E1B2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3" name="Google Shape;383;g3f0cf9ddd64_0_1128"/>
              <p:cNvSpPr txBox="1"/>
              <p:nvPr/>
            </p:nvSpPr>
            <p:spPr>
              <a:xfrm>
                <a:off x="190500" y="142875"/>
                <a:ext cx="19050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400">
                    <a:solidFill>
                      <a:srgbClr val="21C7A8"/>
                    </a:solidFill>
                    <a:latin typeface="Arial"/>
                    <a:ea typeface="Arial"/>
                    <a:cs typeface="Arial"/>
                    <a:sym typeface="Arial"/>
                  </a:rPr>
                  <a:t>4.40M</a:t>
                </a:r>
                <a:r>
                  <a:rPr lang="en-US" sz="1050">
                    <a:solidFill>
                      <a:srgbClr val="A7B7CC"/>
                    </a:solidFill>
                    <a:latin typeface="Arial"/>
                    <a:ea typeface="Arial"/>
                    <a:cs typeface="Arial"/>
                    <a:sym typeface="Arial"/>
                  </a:rPr>
                  <a:t>trainable parameters</a:t>
                </a:r>
                <a:endParaRPr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84" name="Google Shape;384;g3f0cf9ddd64_0_1128"/>
            <p:cNvGrpSpPr/>
            <p:nvPr/>
          </p:nvGrpSpPr>
          <p:grpSpPr>
            <a:xfrm>
              <a:off x="6381750" y="3095625"/>
              <a:ext cx="2286000" cy="952500"/>
              <a:chOff x="0" y="0"/>
              <a:chExt cx="2286000" cy="952500"/>
            </a:xfrm>
          </p:grpSpPr>
          <p:sp>
            <p:nvSpPr>
              <p:cNvPr id="385" name="Google Shape;385;g3f0cf9ddd64_0_1128"/>
              <p:cNvSpPr/>
              <p:nvPr/>
            </p:nvSpPr>
            <p:spPr>
              <a:xfrm>
                <a:off x="0" y="0"/>
                <a:ext cx="2286000" cy="952500"/>
              </a:xfrm>
              <a:prstGeom prst="roundRect">
                <a:avLst>
                  <a:gd fmla="val 10000" name="adj"/>
                </a:avLst>
              </a:prstGeom>
              <a:solidFill>
                <a:srgbClr val="0E1B2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6" name="Google Shape;386;g3f0cf9ddd64_0_1128"/>
              <p:cNvSpPr txBox="1"/>
              <p:nvPr/>
            </p:nvSpPr>
            <p:spPr>
              <a:xfrm>
                <a:off x="190500" y="142875"/>
                <a:ext cx="19050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400">
                    <a:solidFill>
                      <a:srgbClr val="53D17A"/>
                    </a:solidFill>
                    <a:latin typeface="Arial"/>
                    <a:ea typeface="Arial"/>
                    <a:cs typeface="Arial"/>
                    <a:sym typeface="Arial"/>
                  </a:rPr>
                  <a:t>0.8826%</a:t>
                </a:r>
                <a:r>
                  <a:rPr lang="en-US" sz="1050">
                    <a:solidFill>
                      <a:srgbClr val="A7B7CC"/>
                    </a:solidFill>
                    <a:latin typeface="Arial"/>
                    <a:ea typeface="Arial"/>
                    <a:cs typeface="Arial"/>
                    <a:sym typeface="Arial"/>
                  </a:rPr>
                  <a:t>weights updated</a:t>
                </a:r>
                <a:endParaRPr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87" name="Google Shape;387;g3f0cf9ddd64_0_1128"/>
            <p:cNvGrpSpPr/>
            <p:nvPr/>
          </p:nvGrpSpPr>
          <p:grpSpPr>
            <a:xfrm>
              <a:off x="9048750" y="3095625"/>
              <a:ext cx="2286000" cy="952500"/>
              <a:chOff x="0" y="0"/>
              <a:chExt cx="2286000" cy="952500"/>
            </a:xfrm>
          </p:grpSpPr>
          <p:sp>
            <p:nvSpPr>
              <p:cNvPr id="388" name="Google Shape;388;g3f0cf9ddd64_0_1128"/>
              <p:cNvSpPr/>
              <p:nvPr/>
            </p:nvSpPr>
            <p:spPr>
              <a:xfrm>
                <a:off x="0" y="0"/>
                <a:ext cx="2286000" cy="952500"/>
              </a:xfrm>
              <a:prstGeom prst="roundRect">
                <a:avLst>
                  <a:gd fmla="val 10000" name="adj"/>
                </a:avLst>
              </a:prstGeom>
              <a:solidFill>
                <a:srgbClr val="0E1B2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9" name="Google Shape;389;g3f0cf9ddd64_0_1128"/>
              <p:cNvSpPr txBox="1"/>
              <p:nvPr/>
            </p:nvSpPr>
            <p:spPr>
              <a:xfrm>
                <a:off x="190500" y="142875"/>
                <a:ext cx="19050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400">
                    <a:solidFill>
                      <a:srgbClr val="F6C65B"/>
                    </a:solidFill>
                    <a:latin typeface="Arial"/>
                    <a:ea typeface="Arial"/>
                    <a:cs typeface="Arial"/>
                    <a:sym typeface="Arial"/>
                  </a:rPr>
                  <a:t>1 epoch</a:t>
                </a:r>
                <a:r>
                  <a:rPr lang="en-US" sz="1050">
                    <a:solidFill>
                      <a:srgbClr val="A7B7CC"/>
                    </a:solidFill>
                    <a:latin typeface="Arial"/>
                    <a:ea typeface="Arial"/>
                    <a:cs typeface="Arial"/>
                    <a:sym typeface="Arial"/>
                  </a:rPr>
                  <a:t>15m 40s demo run</a:t>
                </a:r>
                <a:endParaRPr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90" name="Google Shape;390;g3f0cf9ddd64_0_1128"/>
            <p:cNvGrpSpPr/>
            <p:nvPr/>
          </p:nvGrpSpPr>
          <p:grpSpPr>
            <a:xfrm>
              <a:off x="6381750" y="4238625"/>
              <a:ext cx="4953000" cy="952500"/>
              <a:chOff x="0" y="0"/>
              <a:chExt cx="4953000" cy="952500"/>
            </a:xfrm>
          </p:grpSpPr>
          <p:sp>
            <p:nvSpPr>
              <p:cNvPr id="391" name="Google Shape;391;g3f0cf9ddd64_0_1128"/>
              <p:cNvSpPr/>
              <p:nvPr/>
            </p:nvSpPr>
            <p:spPr>
              <a:xfrm>
                <a:off x="0" y="0"/>
                <a:ext cx="4953000" cy="952500"/>
              </a:xfrm>
              <a:prstGeom prst="roundRect">
                <a:avLst>
                  <a:gd fmla="val 10000" name="adj"/>
                </a:avLst>
              </a:prstGeom>
              <a:solidFill>
                <a:srgbClr val="1A2F4C"/>
              </a:solidFill>
              <a:ln cap="flat" cmpd="sng" w="9525">
                <a:solidFill>
                  <a:srgbClr val="25426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2" name="Google Shape;392;g3f0cf9ddd64_0_1128"/>
              <p:cNvSpPr txBox="1"/>
              <p:nvPr/>
            </p:nvSpPr>
            <p:spPr>
              <a:xfrm>
                <a:off x="190500" y="142875"/>
                <a:ext cx="45720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250">
                    <a:solidFill>
                      <a:srgbClr val="F7FAFC"/>
                    </a:solidFill>
                    <a:latin typeface="Arial"/>
                    <a:ea typeface="Arial"/>
                    <a:cs typeface="Arial"/>
                    <a:sym typeface="Arial"/>
                  </a:rPr>
                  <a:t>Training loss stabilized around 0.36–0.40 after the initial learning phase.</a:t>
                </a:r>
                <a:endParaRPr b="1" sz="1250">
                  <a:solidFill>
                    <a:srgbClr val="F7FAFC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93" name="Google Shape;393;g3f0cf9ddd64_0_1128"/>
          <p:cNvSpPr txBox="1"/>
          <p:nvPr>
            <p:ph idx="4294967295" type="sldNum"/>
          </p:nvPr>
        </p:nvSpPr>
        <p:spPr>
          <a:xfrm>
            <a:off x="11704320" y="6483096"/>
            <a:ext cx="8001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900">
                <a:solidFill>
                  <a:srgbClr val="6F829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>
              <a:solidFill>
                <a:srgbClr val="6F829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f0cf9ddd64_0_1255"/>
          <p:cNvSpPr/>
          <p:nvPr/>
        </p:nvSpPr>
        <p:spPr>
          <a:xfrm>
            <a:off x="548640" y="310896"/>
            <a:ext cx="5029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C6F4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39C6F4"/>
                </a:solidFill>
                <a:latin typeface="Arial"/>
                <a:ea typeface="Arial"/>
                <a:cs typeface="Arial"/>
                <a:sym typeface="Arial"/>
              </a:rPr>
              <a:t>EVALUATION PIPELINE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g3f0cf9ddd64_0_1255"/>
          <p:cNvSpPr/>
          <p:nvPr/>
        </p:nvSpPr>
        <p:spPr>
          <a:xfrm>
            <a:off x="548640" y="585216"/>
            <a:ext cx="10972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rPr>
              <a:t>Different tasks need different definitions of “correct”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1" name="Google Shape;401;g3f0cf9ddd64_0_1255"/>
          <p:cNvGrpSpPr/>
          <p:nvPr/>
        </p:nvGrpSpPr>
        <p:grpSpPr>
          <a:xfrm>
            <a:off x="571500" y="1333500"/>
            <a:ext cx="11049000" cy="714300"/>
            <a:chOff x="571500" y="1333500"/>
            <a:chExt cx="11049000" cy="714300"/>
          </a:xfrm>
        </p:grpSpPr>
        <p:grpSp>
          <p:nvGrpSpPr>
            <p:cNvPr id="402" name="Google Shape;402;g3f0cf9ddd64_0_1255"/>
            <p:cNvGrpSpPr/>
            <p:nvPr/>
          </p:nvGrpSpPr>
          <p:grpSpPr>
            <a:xfrm>
              <a:off x="571500" y="1333500"/>
              <a:ext cx="1476300" cy="714300"/>
              <a:chOff x="0" y="0"/>
              <a:chExt cx="1476300" cy="714300"/>
            </a:xfrm>
          </p:grpSpPr>
          <p:sp>
            <p:nvSpPr>
              <p:cNvPr id="403" name="Google Shape;403;g3f0cf9ddd64_0_1255"/>
              <p:cNvSpPr/>
              <p:nvPr/>
            </p:nvSpPr>
            <p:spPr>
              <a:xfrm>
                <a:off x="0" y="0"/>
                <a:ext cx="1476300" cy="714300"/>
              </a:xfrm>
              <a:prstGeom prst="roundRect">
                <a:avLst>
                  <a:gd fmla="val 8000" name="adj"/>
                </a:avLst>
              </a:prstGeom>
              <a:solidFill>
                <a:srgbClr val="14243A"/>
              </a:solidFill>
              <a:ln cap="flat" cmpd="sng" w="14300">
                <a:solidFill>
                  <a:srgbClr val="A88B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4" name="Google Shape;404;g3f0cf9ddd64_0_1255"/>
              <p:cNvSpPr txBox="1"/>
              <p:nvPr/>
            </p:nvSpPr>
            <p:spPr>
              <a:xfrm>
                <a:off x="0" y="0"/>
                <a:ext cx="1476300" cy="7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5250" lIns="95250" spcFirstLastPara="1" rIns="95250" wrap="square" tIns="9525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A88BFF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vpn_key</a:t>
                </a:r>
                <a:r>
                  <a:rPr b="1" lang="en-US" sz="1000">
                    <a:solidFill>
                      <a:srgbClr val="F7FAFC"/>
                    </a:solidFill>
                    <a:latin typeface="Arial"/>
                    <a:ea typeface="Arial"/>
                    <a:cs typeface="Arial"/>
                    <a:sym typeface="Arial"/>
                  </a:rPr>
                  <a:t>Prompt + Token</a:t>
                </a:r>
                <a:endParaRPr/>
              </a:p>
            </p:txBody>
          </p:sp>
        </p:grpSp>
        <p:sp>
          <p:nvSpPr>
            <p:cNvPr id="405" name="Google Shape;405;g3f0cf9ddd64_0_1255"/>
            <p:cNvSpPr txBox="1"/>
            <p:nvPr/>
          </p:nvSpPr>
          <p:spPr>
            <a:xfrm>
              <a:off x="2143125" y="1571625"/>
              <a:ext cx="285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6F829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chevron_right</a:t>
              </a:r>
              <a:endParaRPr/>
            </a:p>
          </p:txBody>
        </p:sp>
        <p:grpSp>
          <p:nvGrpSpPr>
            <p:cNvPr id="406" name="Google Shape;406;g3f0cf9ddd64_0_1255"/>
            <p:cNvGrpSpPr/>
            <p:nvPr/>
          </p:nvGrpSpPr>
          <p:grpSpPr>
            <a:xfrm>
              <a:off x="2476500" y="1333500"/>
              <a:ext cx="1476300" cy="714300"/>
              <a:chOff x="0" y="0"/>
              <a:chExt cx="1476300" cy="714300"/>
            </a:xfrm>
          </p:grpSpPr>
          <p:sp>
            <p:nvSpPr>
              <p:cNvPr id="407" name="Google Shape;407;g3f0cf9ddd64_0_1255"/>
              <p:cNvSpPr/>
              <p:nvPr/>
            </p:nvSpPr>
            <p:spPr>
              <a:xfrm>
                <a:off x="0" y="0"/>
                <a:ext cx="1476300" cy="714300"/>
              </a:xfrm>
              <a:prstGeom prst="roundRect">
                <a:avLst>
                  <a:gd fmla="val 8000" name="adj"/>
                </a:avLst>
              </a:prstGeom>
              <a:solidFill>
                <a:srgbClr val="14243A"/>
              </a:solidFill>
              <a:ln cap="flat" cmpd="sng" w="14300">
                <a:solidFill>
                  <a:srgbClr val="39C6F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8" name="Google Shape;408;g3f0cf9ddd64_0_1255"/>
              <p:cNvSpPr txBox="1"/>
              <p:nvPr/>
            </p:nvSpPr>
            <p:spPr>
              <a:xfrm>
                <a:off x="0" y="0"/>
                <a:ext cx="1476300" cy="7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5250" lIns="95250" spcFirstLastPara="1" rIns="95250" wrap="square" tIns="9525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39C6F4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auto_awesome</a:t>
                </a:r>
                <a:r>
                  <a:rPr b="1" lang="en-US" sz="1000">
                    <a:solidFill>
                      <a:srgbClr val="F7FAFC"/>
                    </a:solidFill>
                    <a:latin typeface="Arial"/>
                    <a:ea typeface="Arial"/>
                    <a:cs typeface="Arial"/>
                    <a:sym typeface="Arial"/>
                  </a:rPr>
                  <a:t>Generation</a:t>
                </a:r>
                <a:endParaRPr/>
              </a:p>
            </p:txBody>
          </p:sp>
        </p:grpSp>
        <p:sp>
          <p:nvSpPr>
            <p:cNvPr id="409" name="Google Shape;409;g3f0cf9ddd64_0_1255"/>
            <p:cNvSpPr txBox="1"/>
            <p:nvPr/>
          </p:nvSpPr>
          <p:spPr>
            <a:xfrm>
              <a:off x="4048125" y="1571625"/>
              <a:ext cx="285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6F829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chevron_right</a:t>
              </a:r>
              <a:endParaRPr/>
            </a:p>
          </p:txBody>
        </p:sp>
        <p:grpSp>
          <p:nvGrpSpPr>
            <p:cNvPr id="410" name="Google Shape;410;g3f0cf9ddd64_0_1255"/>
            <p:cNvGrpSpPr/>
            <p:nvPr/>
          </p:nvGrpSpPr>
          <p:grpSpPr>
            <a:xfrm>
              <a:off x="4381500" y="1333500"/>
              <a:ext cx="1476300" cy="714300"/>
              <a:chOff x="0" y="0"/>
              <a:chExt cx="1476300" cy="714300"/>
            </a:xfrm>
          </p:grpSpPr>
          <p:sp>
            <p:nvSpPr>
              <p:cNvPr id="411" name="Google Shape;411;g3f0cf9ddd64_0_1255"/>
              <p:cNvSpPr/>
              <p:nvPr/>
            </p:nvSpPr>
            <p:spPr>
              <a:xfrm>
                <a:off x="0" y="0"/>
                <a:ext cx="1476300" cy="714300"/>
              </a:xfrm>
              <a:prstGeom prst="roundRect">
                <a:avLst>
                  <a:gd fmla="val 8000" name="adj"/>
                </a:avLst>
              </a:prstGeom>
              <a:solidFill>
                <a:srgbClr val="14243A"/>
              </a:solidFill>
              <a:ln cap="flat" cmpd="sng" w="14300">
                <a:solidFill>
                  <a:srgbClr val="21C7A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2" name="Google Shape;412;g3f0cf9ddd64_0_1255"/>
              <p:cNvSpPr txBox="1"/>
              <p:nvPr/>
            </p:nvSpPr>
            <p:spPr>
              <a:xfrm>
                <a:off x="0" y="0"/>
                <a:ext cx="1476300" cy="7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5250" lIns="95250" spcFirstLastPara="1" rIns="95250" wrap="square" tIns="9525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21C7A8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content_cut</a:t>
                </a:r>
                <a:r>
                  <a:rPr b="1" lang="en-US" sz="1000">
                    <a:solidFill>
                      <a:srgbClr val="F7FAFC"/>
                    </a:solidFill>
                    <a:latin typeface="Arial"/>
                    <a:ea typeface="Arial"/>
                    <a:cs typeface="Arial"/>
                    <a:sym typeface="Arial"/>
                  </a:rPr>
                  <a:t>Extract Response</a:t>
                </a:r>
                <a:endParaRPr/>
              </a:p>
            </p:txBody>
          </p:sp>
        </p:grpSp>
        <p:sp>
          <p:nvSpPr>
            <p:cNvPr id="413" name="Google Shape;413;g3f0cf9ddd64_0_1255"/>
            <p:cNvSpPr txBox="1"/>
            <p:nvPr/>
          </p:nvSpPr>
          <p:spPr>
            <a:xfrm>
              <a:off x="5953125" y="1571625"/>
              <a:ext cx="285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6F829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chevron_right</a:t>
              </a:r>
              <a:endParaRPr/>
            </a:p>
          </p:txBody>
        </p:sp>
        <p:grpSp>
          <p:nvGrpSpPr>
            <p:cNvPr id="414" name="Google Shape;414;g3f0cf9ddd64_0_1255"/>
            <p:cNvGrpSpPr/>
            <p:nvPr/>
          </p:nvGrpSpPr>
          <p:grpSpPr>
            <a:xfrm>
              <a:off x="6286500" y="1333500"/>
              <a:ext cx="1476300" cy="714300"/>
              <a:chOff x="0" y="0"/>
              <a:chExt cx="1476300" cy="714300"/>
            </a:xfrm>
          </p:grpSpPr>
          <p:sp>
            <p:nvSpPr>
              <p:cNvPr id="415" name="Google Shape;415;g3f0cf9ddd64_0_1255"/>
              <p:cNvSpPr/>
              <p:nvPr/>
            </p:nvSpPr>
            <p:spPr>
              <a:xfrm>
                <a:off x="0" y="0"/>
                <a:ext cx="1476300" cy="714300"/>
              </a:xfrm>
              <a:prstGeom prst="roundRect">
                <a:avLst>
                  <a:gd fmla="val 8000" name="adj"/>
                </a:avLst>
              </a:prstGeom>
              <a:solidFill>
                <a:srgbClr val="14243A"/>
              </a:solidFill>
              <a:ln cap="flat" cmpd="sng" w="14300">
                <a:solidFill>
                  <a:srgbClr val="F6C65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" name="Google Shape;416;g3f0cf9ddd64_0_1255"/>
              <p:cNvSpPr txBox="1"/>
              <p:nvPr/>
            </p:nvSpPr>
            <p:spPr>
              <a:xfrm>
                <a:off x="0" y="0"/>
                <a:ext cx="1476300" cy="7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5250" lIns="95250" spcFirstLastPara="1" rIns="95250" wrap="square" tIns="9525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F6C65B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rule</a:t>
                </a:r>
                <a:r>
                  <a:rPr b="1" lang="en-US" sz="1000">
                    <a:solidFill>
                      <a:srgbClr val="F7FAFC"/>
                    </a:solidFill>
                    <a:latin typeface="Arial"/>
                    <a:ea typeface="Arial"/>
                    <a:cs typeface="Arial"/>
                    <a:sym typeface="Arial"/>
                  </a:rPr>
                  <a:t>Task Metrics</a:t>
                </a:r>
                <a:endParaRPr/>
              </a:p>
            </p:txBody>
          </p:sp>
        </p:grpSp>
        <p:sp>
          <p:nvSpPr>
            <p:cNvPr id="417" name="Google Shape;417;g3f0cf9ddd64_0_1255"/>
            <p:cNvSpPr txBox="1"/>
            <p:nvPr/>
          </p:nvSpPr>
          <p:spPr>
            <a:xfrm>
              <a:off x="7858125" y="1571625"/>
              <a:ext cx="285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6F829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chevron_right</a:t>
              </a:r>
              <a:endParaRPr/>
            </a:p>
          </p:txBody>
        </p:sp>
        <p:grpSp>
          <p:nvGrpSpPr>
            <p:cNvPr id="418" name="Google Shape;418;g3f0cf9ddd64_0_1255"/>
            <p:cNvGrpSpPr/>
            <p:nvPr/>
          </p:nvGrpSpPr>
          <p:grpSpPr>
            <a:xfrm>
              <a:off x="8191500" y="1333500"/>
              <a:ext cx="1476300" cy="714300"/>
              <a:chOff x="0" y="0"/>
              <a:chExt cx="1476300" cy="714300"/>
            </a:xfrm>
          </p:grpSpPr>
          <p:sp>
            <p:nvSpPr>
              <p:cNvPr id="419" name="Google Shape;419;g3f0cf9ddd64_0_1255"/>
              <p:cNvSpPr/>
              <p:nvPr/>
            </p:nvSpPr>
            <p:spPr>
              <a:xfrm>
                <a:off x="0" y="0"/>
                <a:ext cx="1476300" cy="714300"/>
              </a:xfrm>
              <a:prstGeom prst="roundRect">
                <a:avLst>
                  <a:gd fmla="val 8000" name="adj"/>
                </a:avLst>
              </a:prstGeom>
              <a:solidFill>
                <a:srgbClr val="14243A"/>
              </a:solidFill>
              <a:ln cap="flat" cmpd="sng" w="14300">
                <a:solidFill>
                  <a:srgbClr val="53D17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0" name="Google Shape;420;g3f0cf9ddd64_0_1255"/>
              <p:cNvSpPr txBox="1"/>
              <p:nvPr/>
            </p:nvSpPr>
            <p:spPr>
              <a:xfrm>
                <a:off x="0" y="0"/>
                <a:ext cx="1476300" cy="7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5250" lIns="95250" spcFirstLastPara="1" rIns="95250" wrap="square" tIns="9525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53D17A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compare_arrows</a:t>
                </a:r>
                <a:r>
                  <a:rPr b="1" lang="en-US" sz="1000">
                    <a:solidFill>
                      <a:srgbClr val="F7FAFC"/>
                    </a:solidFill>
                    <a:latin typeface="Arial"/>
                    <a:ea typeface="Arial"/>
                    <a:cs typeface="Arial"/>
                    <a:sym typeface="Arial"/>
                  </a:rPr>
                  <a:t>Compare</a:t>
                </a:r>
                <a:endParaRPr/>
              </a:p>
            </p:txBody>
          </p:sp>
        </p:grpSp>
        <p:sp>
          <p:nvSpPr>
            <p:cNvPr id="421" name="Google Shape;421;g3f0cf9ddd64_0_1255"/>
            <p:cNvSpPr txBox="1"/>
            <p:nvPr/>
          </p:nvSpPr>
          <p:spPr>
            <a:xfrm>
              <a:off x="9763125" y="1571625"/>
              <a:ext cx="285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6F829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chevron_right</a:t>
              </a:r>
              <a:endParaRPr/>
            </a:p>
          </p:txBody>
        </p:sp>
        <p:grpSp>
          <p:nvGrpSpPr>
            <p:cNvPr id="422" name="Google Shape;422;g3f0cf9ddd64_0_1255"/>
            <p:cNvGrpSpPr/>
            <p:nvPr/>
          </p:nvGrpSpPr>
          <p:grpSpPr>
            <a:xfrm>
              <a:off x="10096500" y="1333500"/>
              <a:ext cx="1524000" cy="714300"/>
              <a:chOff x="0" y="0"/>
              <a:chExt cx="1524000" cy="714300"/>
            </a:xfrm>
          </p:grpSpPr>
          <p:sp>
            <p:nvSpPr>
              <p:cNvPr id="423" name="Google Shape;423;g3f0cf9ddd64_0_1255"/>
              <p:cNvSpPr/>
              <p:nvPr/>
            </p:nvSpPr>
            <p:spPr>
              <a:xfrm>
                <a:off x="0" y="0"/>
                <a:ext cx="1524000" cy="714300"/>
              </a:xfrm>
              <a:prstGeom prst="roundRect">
                <a:avLst>
                  <a:gd fmla="val 8000" name="adj"/>
                </a:avLst>
              </a:prstGeom>
              <a:solidFill>
                <a:srgbClr val="14243A"/>
              </a:solidFill>
              <a:ln cap="flat" cmpd="sng" w="14300">
                <a:solidFill>
                  <a:srgbClr val="FF7A7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4" name="Google Shape;424;g3f0cf9ddd64_0_1255"/>
              <p:cNvSpPr txBox="1"/>
              <p:nvPr/>
            </p:nvSpPr>
            <p:spPr>
              <a:xfrm>
                <a:off x="0" y="0"/>
                <a:ext cx="1524000" cy="7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5250" lIns="95250" spcFirstLastPara="1" rIns="95250" wrap="square" tIns="9525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FF7A7A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analytics</a:t>
                </a:r>
                <a:r>
                  <a:rPr b="1" lang="en-US" sz="1000">
                    <a:solidFill>
                      <a:srgbClr val="F7FAFC"/>
                    </a:solidFill>
                    <a:latin typeface="Arial"/>
                    <a:ea typeface="Arial"/>
                    <a:cs typeface="Arial"/>
                    <a:sym typeface="Arial"/>
                  </a:rPr>
                  <a:t>Failure Analytics</a:t>
                </a:r>
                <a:endParaRPr/>
              </a:p>
            </p:txBody>
          </p:sp>
        </p:grpSp>
      </p:grpSp>
      <p:grpSp>
        <p:nvGrpSpPr>
          <p:cNvPr id="425" name="Google Shape;425;g3f0cf9ddd64_0_1255"/>
          <p:cNvGrpSpPr/>
          <p:nvPr/>
        </p:nvGrpSpPr>
        <p:grpSpPr>
          <a:xfrm>
            <a:off x="571500" y="2333625"/>
            <a:ext cx="11049000" cy="2857500"/>
            <a:chOff x="571500" y="2333625"/>
            <a:chExt cx="11049000" cy="2857500"/>
          </a:xfrm>
        </p:grpSpPr>
        <p:grpSp>
          <p:nvGrpSpPr>
            <p:cNvPr id="426" name="Google Shape;426;g3f0cf9ddd64_0_1255"/>
            <p:cNvGrpSpPr/>
            <p:nvPr/>
          </p:nvGrpSpPr>
          <p:grpSpPr>
            <a:xfrm>
              <a:off x="571500" y="2333625"/>
              <a:ext cx="2571900" cy="2857500"/>
              <a:chOff x="0" y="0"/>
              <a:chExt cx="2571900" cy="2857500"/>
            </a:xfrm>
          </p:grpSpPr>
          <p:sp>
            <p:nvSpPr>
              <p:cNvPr id="427" name="Google Shape;427;g3f0cf9ddd64_0_1255"/>
              <p:cNvSpPr/>
              <p:nvPr/>
            </p:nvSpPr>
            <p:spPr>
              <a:xfrm>
                <a:off x="0" y="0"/>
                <a:ext cx="2571900" cy="2857500"/>
              </a:xfrm>
              <a:prstGeom prst="roundRect">
                <a:avLst>
                  <a:gd fmla="val 2962" name="adj"/>
                </a:avLst>
              </a:prstGeom>
              <a:solidFill>
                <a:srgbClr val="14243A"/>
              </a:solidFill>
              <a:ln cap="flat" cmpd="sng" w="14300">
                <a:solidFill>
                  <a:srgbClr val="1B2E4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8" name="Google Shape;428;g3f0cf9ddd64_0_1255"/>
              <p:cNvSpPr/>
              <p:nvPr/>
            </p:nvSpPr>
            <p:spPr>
              <a:xfrm>
                <a:off x="0" y="0"/>
                <a:ext cx="2571900" cy="57300"/>
              </a:xfrm>
              <a:prstGeom prst="roundRect">
                <a:avLst>
                  <a:gd fmla="val 50000" name="adj"/>
                </a:avLst>
              </a:prstGeom>
              <a:solidFill>
                <a:srgbClr val="39C6F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9" name="Google Shape;429;g3f0cf9ddd64_0_1255"/>
              <p:cNvSpPr txBox="1"/>
              <p:nvPr/>
            </p:nvSpPr>
            <p:spPr>
              <a:xfrm>
                <a:off x="0" y="0"/>
                <a:ext cx="2571900" cy="2857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90500" lIns="228600" spcFirstLastPara="1" rIns="228600" wrap="square" tIns="1905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200">
                    <a:solidFill>
                      <a:srgbClr val="39C6F4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code</a:t>
                </a:r>
                <a:r>
                  <a:rPr b="1" lang="en-US" sz="1400">
                    <a:solidFill>
                      <a:srgbClr val="F7FAFC"/>
                    </a:solidFill>
                    <a:latin typeface="Arial"/>
                    <a:ea typeface="Arial"/>
                    <a:cs typeface="Arial"/>
                    <a:sym typeface="Arial"/>
                  </a:rPr>
                  <a:t>Python targets</a:t>
                </a:r>
                <a:endParaRPr/>
              </a:p>
              <a:p>
                <a:pPr indent="-301625" lvl="0" marL="457200" rtl="0" algn="l">
                  <a:spcBef>
                    <a:spcPts val="1500"/>
                  </a:spcBef>
                  <a:spcAft>
                    <a:spcPts val="0"/>
                  </a:spcAft>
                  <a:buClr>
                    <a:srgbClr val="A7B7CC"/>
                  </a:buClr>
                  <a:buSzPts val="1150"/>
                  <a:buFont typeface="Arial"/>
                  <a:buChar char="●"/>
                </a:pPr>
                <a:r>
                  <a:rPr lang="en-US" sz="1150">
                    <a:solidFill>
                      <a:srgbClr val="A7B7CC"/>
                    </a:solidFill>
                    <a:latin typeface="Arial"/>
                    <a:ea typeface="Arial"/>
                    <a:cs typeface="Arial"/>
                    <a:sym typeface="Arial"/>
                  </a:rPr>
                  <a:t>AST parse success</a:t>
                </a:r>
                <a:endParaRPr sz="1150">
                  <a:solidFill>
                    <a:srgbClr val="A7B7CC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-301625" lvl="0" marL="457200" rtl="0" algn="l">
                  <a:spcBef>
                    <a:spcPts val="900"/>
                  </a:spcBef>
                  <a:spcAft>
                    <a:spcPts val="0"/>
                  </a:spcAft>
                  <a:buClr>
                    <a:srgbClr val="A7B7CC"/>
                  </a:buClr>
                  <a:buSzPts val="1150"/>
                  <a:buFont typeface="Arial"/>
                  <a:buChar char="●"/>
                </a:pPr>
                <a:r>
                  <a:rPr lang="en-US" sz="1150">
                    <a:solidFill>
                      <a:srgbClr val="A7B7CC"/>
                    </a:solidFill>
                    <a:latin typeface="Arial"/>
                    <a:ea typeface="Arial"/>
                    <a:cs typeface="Arial"/>
                    <a:sym typeface="Arial"/>
                  </a:rPr>
                  <a:t>CodeBLEU-lite</a:t>
                </a:r>
                <a:endParaRPr sz="1150">
                  <a:solidFill>
                    <a:srgbClr val="A7B7CC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-301625" lvl="0" marL="457200" rtl="0" algn="l">
                  <a:spcBef>
                    <a:spcPts val="900"/>
                  </a:spcBef>
                  <a:spcAft>
                    <a:spcPts val="900"/>
                  </a:spcAft>
                  <a:buClr>
                    <a:srgbClr val="A7B7CC"/>
                  </a:buClr>
                  <a:buSzPts val="1150"/>
                  <a:buFont typeface="Arial"/>
                  <a:buChar char="●"/>
                </a:pPr>
                <a:r>
                  <a:rPr lang="en-US" sz="1150">
                    <a:solidFill>
                      <a:srgbClr val="A7B7CC"/>
                    </a:solidFill>
                    <a:latin typeface="Arial"/>
                    <a:ea typeface="Arial"/>
                    <a:cs typeface="Arial"/>
                    <a:sym typeface="Arial"/>
                  </a:rPr>
                  <a:t>CSR similarity</a:t>
                </a:r>
                <a:endParaRPr sz="1150">
                  <a:solidFill>
                    <a:srgbClr val="A7B7CC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30" name="Google Shape;430;g3f0cf9ddd64_0_1255"/>
            <p:cNvGrpSpPr/>
            <p:nvPr/>
          </p:nvGrpSpPr>
          <p:grpSpPr>
            <a:xfrm>
              <a:off x="3390900" y="2333625"/>
              <a:ext cx="2571900" cy="2857500"/>
              <a:chOff x="0" y="0"/>
              <a:chExt cx="2571900" cy="2857500"/>
            </a:xfrm>
          </p:grpSpPr>
          <p:sp>
            <p:nvSpPr>
              <p:cNvPr id="431" name="Google Shape;431;g3f0cf9ddd64_0_1255"/>
              <p:cNvSpPr/>
              <p:nvPr/>
            </p:nvSpPr>
            <p:spPr>
              <a:xfrm>
                <a:off x="0" y="0"/>
                <a:ext cx="2571900" cy="2857500"/>
              </a:xfrm>
              <a:prstGeom prst="roundRect">
                <a:avLst>
                  <a:gd fmla="val 2962" name="adj"/>
                </a:avLst>
              </a:prstGeom>
              <a:solidFill>
                <a:srgbClr val="14243A"/>
              </a:solidFill>
              <a:ln cap="flat" cmpd="sng" w="14300">
                <a:solidFill>
                  <a:srgbClr val="1B2E4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2" name="Google Shape;432;g3f0cf9ddd64_0_1255"/>
              <p:cNvSpPr/>
              <p:nvPr/>
            </p:nvSpPr>
            <p:spPr>
              <a:xfrm>
                <a:off x="0" y="0"/>
                <a:ext cx="2571900" cy="57300"/>
              </a:xfrm>
              <a:prstGeom prst="roundRect">
                <a:avLst>
                  <a:gd fmla="val 50000" name="adj"/>
                </a:avLst>
              </a:prstGeom>
              <a:solidFill>
                <a:srgbClr val="21C7A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3" name="Google Shape;433;g3f0cf9ddd64_0_1255"/>
              <p:cNvSpPr txBox="1"/>
              <p:nvPr/>
            </p:nvSpPr>
            <p:spPr>
              <a:xfrm>
                <a:off x="0" y="0"/>
                <a:ext cx="2571900" cy="2857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90500" lIns="228600" spcFirstLastPara="1" rIns="228600" wrap="square" tIns="1905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200">
                    <a:solidFill>
                      <a:srgbClr val="21C7A8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integration_instructions</a:t>
                </a:r>
                <a:r>
                  <a:rPr b="1" lang="en-US" sz="1400">
                    <a:solidFill>
                      <a:srgbClr val="F7FAFC"/>
                    </a:solidFill>
                    <a:latin typeface="Arial"/>
                    <a:ea typeface="Arial"/>
                    <a:cs typeface="Arial"/>
                    <a:sym typeface="Arial"/>
                  </a:rPr>
                  <a:t>Java targets</a:t>
                </a:r>
                <a:endParaRPr/>
              </a:p>
              <a:p>
                <a:pPr indent="-301625" lvl="0" marL="457200" rtl="0" algn="l">
                  <a:spcBef>
                    <a:spcPts val="1500"/>
                  </a:spcBef>
                  <a:spcAft>
                    <a:spcPts val="0"/>
                  </a:spcAft>
                  <a:buClr>
                    <a:srgbClr val="A7B7CC"/>
                  </a:buClr>
                  <a:buSzPts val="1150"/>
                  <a:buFont typeface="Arial"/>
                  <a:buChar char="●"/>
                </a:pPr>
                <a:r>
                  <a:rPr lang="en-US" sz="1150">
                    <a:solidFill>
                      <a:srgbClr val="A7B7CC"/>
                    </a:solidFill>
                    <a:latin typeface="Arial"/>
                    <a:ea typeface="Arial"/>
                    <a:cs typeface="Arial"/>
                    <a:sym typeface="Arial"/>
                  </a:rPr>
                  <a:t>Compilation success</a:t>
                </a:r>
                <a:endParaRPr sz="1150">
                  <a:solidFill>
                    <a:srgbClr val="A7B7CC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-301625" lvl="0" marL="457200" rtl="0" algn="l">
                  <a:spcBef>
                    <a:spcPts val="900"/>
                  </a:spcBef>
                  <a:spcAft>
                    <a:spcPts val="0"/>
                  </a:spcAft>
                  <a:buClr>
                    <a:srgbClr val="A7B7CC"/>
                  </a:buClr>
                  <a:buSzPts val="1150"/>
                  <a:buFont typeface="Arial"/>
                  <a:buChar char="●"/>
                </a:pPr>
                <a:r>
                  <a:rPr lang="en-US" sz="1150">
                    <a:solidFill>
                      <a:srgbClr val="A7B7CC"/>
                    </a:solidFill>
                    <a:latin typeface="Arial"/>
                    <a:ea typeface="Arial"/>
                    <a:cs typeface="Arial"/>
                    <a:sym typeface="Arial"/>
                  </a:rPr>
                  <a:t>CodeBLEU-lite</a:t>
                </a:r>
                <a:endParaRPr sz="1150">
                  <a:solidFill>
                    <a:srgbClr val="A7B7CC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-301625" lvl="0" marL="457200" rtl="0" algn="l">
                  <a:spcBef>
                    <a:spcPts val="900"/>
                  </a:spcBef>
                  <a:spcAft>
                    <a:spcPts val="900"/>
                  </a:spcAft>
                  <a:buClr>
                    <a:srgbClr val="A7B7CC"/>
                  </a:buClr>
                  <a:buSzPts val="1150"/>
                  <a:buFont typeface="Arial"/>
                  <a:buChar char="●"/>
                </a:pPr>
                <a:r>
                  <a:rPr lang="en-US" sz="1150">
                    <a:solidFill>
                      <a:srgbClr val="A7B7CC"/>
                    </a:solidFill>
                    <a:latin typeface="Arial"/>
                    <a:ea typeface="Arial"/>
                    <a:cs typeface="Arial"/>
                    <a:sym typeface="Arial"/>
                  </a:rPr>
                  <a:t>CSR similarity</a:t>
                </a:r>
                <a:endParaRPr sz="1150">
                  <a:solidFill>
                    <a:srgbClr val="A7B7CC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34" name="Google Shape;434;g3f0cf9ddd64_0_1255"/>
            <p:cNvGrpSpPr/>
            <p:nvPr/>
          </p:nvGrpSpPr>
          <p:grpSpPr>
            <a:xfrm>
              <a:off x="6210300" y="2333625"/>
              <a:ext cx="2571900" cy="2857500"/>
              <a:chOff x="0" y="0"/>
              <a:chExt cx="2571900" cy="2857500"/>
            </a:xfrm>
          </p:grpSpPr>
          <p:sp>
            <p:nvSpPr>
              <p:cNvPr id="435" name="Google Shape;435;g3f0cf9ddd64_0_1255"/>
              <p:cNvSpPr/>
              <p:nvPr/>
            </p:nvSpPr>
            <p:spPr>
              <a:xfrm>
                <a:off x="0" y="0"/>
                <a:ext cx="2571900" cy="2857500"/>
              </a:xfrm>
              <a:prstGeom prst="roundRect">
                <a:avLst>
                  <a:gd fmla="val 2962" name="adj"/>
                </a:avLst>
              </a:prstGeom>
              <a:solidFill>
                <a:srgbClr val="14243A"/>
              </a:solidFill>
              <a:ln cap="flat" cmpd="sng" w="14300">
                <a:solidFill>
                  <a:srgbClr val="1B2E4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6" name="Google Shape;436;g3f0cf9ddd64_0_1255"/>
              <p:cNvSpPr/>
              <p:nvPr/>
            </p:nvSpPr>
            <p:spPr>
              <a:xfrm>
                <a:off x="0" y="0"/>
                <a:ext cx="2571900" cy="57300"/>
              </a:xfrm>
              <a:prstGeom prst="roundRect">
                <a:avLst>
                  <a:gd fmla="val 50000" name="adj"/>
                </a:avLst>
              </a:prstGeom>
              <a:solidFill>
                <a:srgbClr val="F6C65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7" name="Google Shape;437;g3f0cf9ddd64_0_1255"/>
              <p:cNvSpPr txBox="1"/>
              <p:nvPr/>
            </p:nvSpPr>
            <p:spPr>
              <a:xfrm>
                <a:off x="0" y="0"/>
                <a:ext cx="2571900" cy="2857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90500" lIns="228600" spcFirstLastPara="1" rIns="228600" wrap="square" tIns="1905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200">
                    <a:solidFill>
                      <a:srgbClr val="F6C65B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translate</a:t>
                </a:r>
                <a:r>
                  <a:rPr b="1" lang="en-US" sz="1400">
                    <a:solidFill>
                      <a:srgbClr val="F7FAFC"/>
                    </a:solidFill>
                    <a:latin typeface="Arial"/>
                    <a:ea typeface="Arial"/>
                    <a:cs typeface="Arial"/>
                    <a:sym typeface="Arial"/>
                  </a:rPr>
                  <a:t>NL targets</a:t>
                </a:r>
                <a:endParaRPr/>
              </a:p>
              <a:p>
                <a:pPr indent="-301625" lvl="0" marL="457200" rtl="0" algn="l">
                  <a:spcBef>
                    <a:spcPts val="1500"/>
                  </a:spcBef>
                  <a:spcAft>
                    <a:spcPts val="0"/>
                  </a:spcAft>
                  <a:buClr>
                    <a:srgbClr val="A7B7CC"/>
                  </a:buClr>
                  <a:buSzPts val="1150"/>
                  <a:buFont typeface="Arial"/>
                  <a:buChar char="●"/>
                </a:pPr>
                <a:r>
                  <a:rPr lang="en-US" sz="1150">
                    <a:solidFill>
                      <a:srgbClr val="A7B7CC"/>
                    </a:solidFill>
                    <a:latin typeface="Arial"/>
                    <a:ea typeface="Arial"/>
                    <a:cs typeface="Arial"/>
                    <a:sym typeface="Arial"/>
                  </a:rPr>
                  <a:t>ROUGE-L</a:t>
                </a:r>
                <a:endParaRPr sz="1150">
                  <a:solidFill>
                    <a:srgbClr val="A7B7CC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-301625" lvl="0" marL="457200" rtl="0" algn="l">
                  <a:spcBef>
                    <a:spcPts val="900"/>
                  </a:spcBef>
                  <a:spcAft>
                    <a:spcPts val="0"/>
                  </a:spcAft>
                  <a:buClr>
                    <a:srgbClr val="A7B7CC"/>
                  </a:buClr>
                  <a:buSzPts val="1150"/>
                  <a:buFont typeface="Arial"/>
                  <a:buChar char="●"/>
                </a:pPr>
                <a:r>
                  <a:rPr lang="en-US" sz="1150">
                    <a:solidFill>
                      <a:srgbClr val="A7B7CC"/>
                    </a:solidFill>
                    <a:latin typeface="Arial"/>
                    <a:ea typeface="Arial"/>
                    <a:cs typeface="Arial"/>
                    <a:sym typeface="Arial"/>
                  </a:rPr>
                  <a:t>SacreBLEU</a:t>
                </a:r>
                <a:endParaRPr sz="1150">
                  <a:solidFill>
                    <a:srgbClr val="A7B7CC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-301625" lvl="0" marL="457200" rtl="0" algn="l">
                  <a:spcBef>
                    <a:spcPts val="900"/>
                  </a:spcBef>
                  <a:spcAft>
                    <a:spcPts val="900"/>
                  </a:spcAft>
                  <a:buClr>
                    <a:srgbClr val="A7B7CC"/>
                  </a:buClr>
                  <a:buSzPts val="1150"/>
                  <a:buFont typeface="Arial"/>
                  <a:buChar char="●"/>
                </a:pPr>
                <a:r>
                  <a:rPr lang="en-US" sz="1150">
                    <a:solidFill>
                      <a:srgbClr val="A7B7CC"/>
                    </a:solidFill>
                    <a:latin typeface="Arial"/>
                    <a:ea typeface="Arial"/>
                    <a:cs typeface="Arial"/>
                    <a:sym typeface="Arial"/>
                  </a:rPr>
                  <a:t>Semantic similarity</a:t>
                </a:r>
                <a:endParaRPr sz="1150">
                  <a:solidFill>
                    <a:srgbClr val="A7B7CC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38" name="Google Shape;438;g3f0cf9ddd64_0_1255"/>
            <p:cNvGrpSpPr/>
            <p:nvPr/>
          </p:nvGrpSpPr>
          <p:grpSpPr>
            <a:xfrm>
              <a:off x="9029700" y="2333625"/>
              <a:ext cx="2590800" cy="2857500"/>
              <a:chOff x="0" y="0"/>
              <a:chExt cx="2590800" cy="2857500"/>
            </a:xfrm>
          </p:grpSpPr>
          <p:sp>
            <p:nvSpPr>
              <p:cNvPr id="439" name="Google Shape;439;g3f0cf9ddd64_0_1255"/>
              <p:cNvSpPr/>
              <p:nvPr/>
            </p:nvSpPr>
            <p:spPr>
              <a:xfrm>
                <a:off x="0" y="0"/>
                <a:ext cx="2590800" cy="2857500"/>
              </a:xfrm>
              <a:prstGeom prst="roundRect">
                <a:avLst>
                  <a:gd fmla="val 2941" name="adj"/>
                </a:avLst>
              </a:prstGeom>
              <a:solidFill>
                <a:srgbClr val="14243A"/>
              </a:solidFill>
              <a:ln cap="flat" cmpd="sng" w="14300">
                <a:solidFill>
                  <a:srgbClr val="1B2E4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0" name="Google Shape;440;g3f0cf9ddd64_0_1255"/>
              <p:cNvSpPr/>
              <p:nvPr/>
            </p:nvSpPr>
            <p:spPr>
              <a:xfrm>
                <a:off x="0" y="0"/>
                <a:ext cx="2590800" cy="57300"/>
              </a:xfrm>
              <a:prstGeom prst="roundRect">
                <a:avLst>
                  <a:gd fmla="val 50000" name="adj"/>
                </a:avLst>
              </a:prstGeom>
              <a:solidFill>
                <a:srgbClr val="FF7A7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1" name="Google Shape;441;g3f0cf9ddd64_0_1255"/>
              <p:cNvSpPr txBox="1"/>
              <p:nvPr/>
            </p:nvSpPr>
            <p:spPr>
              <a:xfrm>
                <a:off x="0" y="0"/>
                <a:ext cx="2590800" cy="2857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90500" lIns="228600" spcFirstLastPara="1" rIns="228600" wrap="square" tIns="1905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200">
                    <a:solidFill>
                      <a:srgbClr val="FF7A7A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troubleshoot</a:t>
                </a:r>
                <a:r>
                  <a:rPr b="1" lang="en-US" sz="1400">
                    <a:solidFill>
                      <a:srgbClr val="F7FAFC"/>
                    </a:solidFill>
                    <a:latin typeface="Arial"/>
                    <a:ea typeface="Arial"/>
                    <a:cs typeface="Arial"/>
                    <a:sym typeface="Arial"/>
                  </a:rPr>
                  <a:t>Diagnostics</a:t>
                </a:r>
                <a:endParaRPr/>
              </a:p>
              <a:p>
                <a:pPr indent="-301625" lvl="0" marL="457200" rtl="0" algn="l">
                  <a:spcBef>
                    <a:spcPts val="1500"/>
                  </a:spcBef>
                  <a:spcAft>
                    <a:spcPts val="0"/>
                  </a:spcAft>
                  <a:buClr>
                    <a:srgbClr val="A7B7CC"/>
                  </a:buClr>
                  <a:buSzPts val="1150"/>
                  <a:buFont typeface="Arial"/>
                  <a:buChar char="●"/>
                </a:pPr>
                <a:r>
                  <a:rPr lang="en-US" sz="1150">
                    <a:solidFill>
                      <a:srgbClr val="A7B7CC"/>
                    </a:solidFill>
                    <a:latin typeface="Arial"/>
                    <a:ea typeface="Arial"/>
                    <a:cs typeface="Arial"/>
                    <a:sym typeface="Arial"/>
                  </a:rPr>
                  <a:t>Empty outputs</a:t>
                </a:r>
                <a:endParaRPr sz="1150">
                  <a:solidFill>
                    <a:srgbClr val="A7B7CC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-301625" lvl="0" marL="457200" rtl="0" algn="l">
                  <a:spcBef>
                    <a:spcPts val="900"/>
                  </a:spcBef>
                  <a:spcAft>
                    <a:spcPts val="0"/>
                  </a:spcAft>
                  <a:buClr>
                    <a:srgbClr val="A7B7CC"/>
                  </a:buClr>
                  <a:buSzPts val="1150"/>
                  <a:buFont typeface="Arial"/>
                  <a:buChar char="●"/>
                </a:pPr>
                <a:r>
                  <a:rPr lang="en-US" sz="1150">
                    <a:solidFill>
                      <a:srgbClr val="A7B7CC"/>
                    </a:solidFill>
                    <a:latin typeface="Arial"/>
                    <a:ea typeface="Arial"/>
                    <a:cs typeface="Arial"/>
                    <a:sym typeface="Arial"/>
                  </a:rPr>
                  <a:t>Failure category</a:t>
                </a:r>
                <a:endParaRPr sz="1150">
                  <a:solidFill>
                    <a:srgbClr val="A7B7CC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-301625" lvl="0" marL="457200" rtl="0" algn="l">
                  <a:spcBef>
                    <a:spcPts val="900"/>
                  </a:spcBef>
                  <a:spcAft>
                    <a:spcPts val="900"/>
                  </a:spcAft>
                  <a:buClr>
                    <a:srgbClr val="A7B7CC"/>
                  </a:buClr>
                  <a:buSzPts val="1150"/>
                  <a:buFont typeface="Arial"/>
                  <a:buChar char="●"/>
                </a:pPr>
                <a:r>
                  <a:rPr lang="en-US" sz="1150">
                    <a:solidFill>
                      <a:srgbClr val="A7B7CC"/>
                    </a:solidFill>
                    <a:latin typeface="Arial"/>
                    <a:ea typeface="Arial"/>
                    <a:cs typeface="Arial"/>
                    <a:sym typeface="Arial"/>
                  </a:rPr>
                  <a:t>Prompt + corpus traceability</a:t>
                </a:r>
                <a:endParaRPr sz="1150">
                  <a:solidFill>
                    <a:srgbClr val="A7B7CC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42" name="Google Shape;442;g3f0cf9ddd64_0_1255"/>
          <p:cNvGrpSpPr/>
          <p:nvPr/>
        </p:nvGrpSpPr>
        <p:grpSpPr>
          <a:xfrm>
            <a:off x="571500" y="5381625"/>
            <a:ext cx="11049000" cy="666900"/>
            <a:chOff x="0" y="0"/>
            <a:chExt cx="11049000" cy="666900"/>
          </a:xfrm>
        </p:grpSpPr>
        <p:sp>
          <p:nvSpPr>
            <p:cNvPr id="443" name="Google Shape;443;g3f0cf9ddd64_0_1255"/>
            <p:cNvSpPr/>
            <p:nvPr/>
          </p:nvSpPr>
          <p:spPr>
            <a:xfrm>
              <a:off x="0" y="0"/>
              <a:ext cx="11049000" cy="666900"/>
            </a:xfrm>
            <a:prstGeom prst="roundRect">
              <a:avLst>
                <a:gd fmla="val 8571" name="adj"/>
              </a:avLst>
            </a:prstGeom>
            <a:solidFill>
              <a:srgbClr val="14243A"/>
            </a:solidFill>
            <a:ln cap="flat" cmpd="sng" w="14300">
              <a:solidFill>
                <a:srgbClr val="2542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g3f0cf9ddd64_0_1255"/>
            <p:cNvSpPr/>
            <p:nvPr/>
          </p:nvSpPr>
          <p:spPr>
            <a:xfrm>
              <a:off x="0" y="0"/>
              <a:ext cx="57300" cy="666900"/>
            </a:xfrm>
            <a:prstGeom prst="roundRect">
              <a:avLst>
                <a:gd fmla="val 50000" name="adj"/>
              </a:avLst>
            </a:prstGeom>
            <a:solidFill>
              <a:srgbClr val="39C6F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g3f0cf9ddd64_0_1255"/>
            <p:cNvSpPr txBox="1"/>
            <p:nvPr/>
          </p:nvSpPr>
          <p:spPr>
            <a:xfrm>
              <a:off x="142875" y="0"/>
              <a:ext cx="107634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142875" spcFirstLastPara="1" rIns="142875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39C6F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info</a:t>
              </a:r>
              <a:r>
                <a:rPr lang="en-US" sz="1100">
                  <a:solidFill>
                    <a:srgbClr val="A7B7CC"/>
                  </a:solidFill>
                  <a:latin typeface="Arial"/>
                  <a:ea typeface="Arial"/>
                  <a:cs typeface="Arial"/>
                  <a:sym typeface="Arial"/>
                </a:rPr>
                <a:t>Official CodeBLEU was attempted; Python 3.12 incompatibility triggered a consistent CodeBLEU-lite fallback for both baseline and fine-tuned runs.</a:t>
              </a:r>
              <a:endParaRPr/>
            </a:p>
          </p:txBody>
        </p:sp>
      </p:grpSp>
      <p:sp>
        <p:nvSpPr>
          <p:cNvPr id="446" name="Google Shape;446;g3f0cf9ddd64_0_1255"/>
          <p:cNvSpPr txBox="1"/>
          <p:nvPr>
            <p:ph idx="4294967295" type="sldNum"/>
          </p:nvPr>
        </p:nvSpPr>
        <p:spPr>
          <a:xfrm>
            <a:off x="11704320" y="6483096"/>
            <a:ext cx="8001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900">
                <a:solidFill>
                  <a:srgbClr val="6F829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>
              <a:solidFill>
                <a:srgbClr val="6F829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2"/>
          <p:cNvSpPr/>
          <p:nvPr/>
        </p:nvSpPr>
        <p:spPr>
          <a:xfrm>
            <a:off x="548640" y="310896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C6F4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39C6F4"/>
                </a:solidFill>
                <a:latin typeface="Arial"/>
                <a:ea typeface="Arial"/>
                <a:cs typeface="Arial"/>
                <a:sym typeface="Arial"/>
              </a:rPr>
              <a:t>COMBINED STAGE RESULTS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12"/>
          <p:cNvSpPr/>
          <p:nvPr/>
        </p:nvSpPr>
        <p:spPr>
          <a:xfrm>
            <a:off x="548640" y="585216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rPr>
              <a:t>Fine-tuning improved every task family without task interference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12"/>
          <p:cNvSpPr/>
          <p:nvPr/>
        </p:nvSpPr>
        <p:spPr>
          <a:xfrm>
            <a:off x="640080" y="1234440"/>
            <a:ext cx="3474720" cy="1188720"/>
          </a:xfrm>
          <a:prstGeom prst="roundRect">
            <a:avLst>
              <a:gd fmla="val 9231" name="adj"/>
            </a:avLst>
          </a:prstGeom>
          <a:solidFill>
            <a:srgbClr val="39C6F4">
              <a:alpha val="14117"/>
            </a:srgbClr>
          </a:solidFill>
          <a:ln cap="flat" cmpd="sng" w="16500">
            <a:solidFill>
              <a:srgbClr val="39C6F4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000000">
                <a:alpha val="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12"/>
          <p:cNvSpPr/>
          <p:nvPr/>
        </p:nvSpPr>
        <p:spPr>
          <a:xfrm>
            <a:off x="777240" y="1481328"/>
            <a:ext cx="3200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9C6F4"/>
              </a:buClr>
              <a:buSzPts val="2500"/>
              <a:buFont typeface="Arial"/>
              <a:buNone/>
            </a:pPr>
            <a:r>
              <a:rPr b="1" lang="en-US" sz="2500">
                <a:solidFill>
                  <a:srgbClr val="39C6F4"/>
                </a:solidFill>
                <a:latin typeface="Arial"/>
                <a:ea typeface="Arial"/>
                <a:cs typeface="Arial"/>
                <a:sym typeface="Arial"/>
              </a:rPr>
              <a:t>70% → 100%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12"/>
          <p:cNvSpPr/>
          <p:nvPr/>
        </p:nvSpPr>
        <p:spPr>
          <a:xfrm>
            <a:off x="822960" y="1965960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rPr>
              <a:t>NL → Python parse success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12"/>
          <p:cNvSpPr/>
          <p:nvPr/>
        </p:nvSpPr>
        <p:spPr>
          <a:xfrm>
            <a:off x="4434840" y="1234440"/>
            <a:ext cx="3474720" cy="1188720"/>
          </a:xfrm>
          <a:prstGeom prst="roundRect">
            <a:avLst>
              <a:gd fmla="val 9231" name="adj"/>
            </a:avLst>
          </a:prstGeom>
          <a:solidFill>
            <a:srgbClr val="21C7A8">
              <a:alpha val="14117"/>
            </a:srgbClr>
          </a:solidFill>
          <a:ln cap="flat" cmpd="sng" w="16500">
            <a:solidFill>
              <a:srgbClr val="21C7A8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000000">
                <a:alpha val="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12"/>
          <p:cNvSpPr/>
          <p:nvPr/>
        </p:nvSpPr>
        <p:spPr>
          <a:xfrm>
            <a:off x="4572000" y="1481328"/>
            <a:ext cx="3200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C7A8"/>
              </a:buClr>
              <a:buSzPts val="2500"/>
              <a:buFont typeface="Arial"/>
              <a:buNone/>
            </a:pPr>
            <a:r>
              <a:rPr b="1" lang="en-US" sz="2500">
                <a:solidFill>
                  <a:srgbClr val="21C7A8"/>
                </a:solidFill>
                <a:latin typeface="Arial"/>
                <a:ea typeface="Arial"/>
                <a:cs typeface="Arial"/>
                <a:sym typeface="Arial"/>
              </a:rPr>
              <a:t>40% → 80%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12"/>
          <p:cNvSpPr/>
          <p:nvPr/>
        </p:nvSpPr>
        <p:spPr>
          <a:xfrm>
            <a:off x="4617720" y="1965960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rPr>
              <a:t>NL → Java compile success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12"/>
          <p:cNvSpPr/>
          <p:nvPr/>
        </p:nvSpPr>
        <p:spPr>
          <a:xfrm>
            <a:off x="8229600" y="1234440"/>
            <a:ext cx="3474720" cy="1188720"/>
          </a:xfrm>
          <a:prstGeom prst="roundRect">
            <a:avLst>
              <a:gd fmla="val 9231" name="adj"/>
            </a:avLst>
          </a:prstGeom>
          <a:solidFill>
            <a:srgbClr val="53D17A">
              <a:alpha val="14117"/>
            </a:srgbClr>
          </a:solidFill>
          <a:ln cap="flat" cmpd="sng" w="16500">
            <a:solidFill>
              <a:srgbClr val="53D17A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000000">
                <a:alpha val="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12"/>
          <p:cNvSpPr/>
          <p:nvPr/>
        </p:nvSpPr>
        <p:spPr>
          <a:xfrm>
            <a:off x="8366760" y="1481328"/>
            <a:ext cx="3200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3D17A"/>
              </a:buClr>
              <a:buSzPts val="2500"/>
              <a:buFont typeface="Arial"/>
              <a:buNone/>
            </a:pPr>
            <a:r>
              <a:rPr b="1" lang="en-US" sz="2500">
                <a:solidFill>
                  <a:srgbClr val="53D17A"/>
                </a:solidFill>
                <a:latin typeface="Arial"/>
                <a:ea typeface="Arial"/>
                <a:cs typeface="Arial"/>
                <a:sym typeface="Arial"/>
              </a:rPr>
              <a:t>0.88%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12"/>
          <p:cNvSpPr/>
          <p:nvPr/>
        </p:nvSpPr>
        <p:spPr>
          <a:xfrm>
            <a:off x="8412480" y="1965960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rPr>
              <a:t>of model parameters trained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12"/>
          <p:cNvSpPr/>
          <p:nvPr/>
        </p:nvSpPr>
        <p:spPr>
          <a:xfrm>
            <a:off x="640080" y="2788920"/>
            <a:ext cx="2286000" cy="438912"/>
          </a:xfrm>
          <a:prstGeom prst="rect">
            <a:avLst/>
          </a:prstGeom>
          <a:solidFill>
            <a:srgbClr val="39C6F4">
              <a:alpha val="90196"/>
            </a:srgbClr>
          </a:solidFill>
          <a:ln cap="flat" cmpd="sng" w="10150">
            <a:solidFill>
              <a:srgbClr val="0B16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12"/>
          <p:cNvSpPr/>
          <p:nvPr/>
        </p:nvSpPr>
        <p:spPr>
          <a:xfrm>
            <a:off x="713232" y="2889504"/>
            <a:ext cx="213969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628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0B1628"/>
                </a:solidFill>
                <a:latin typeface="Arial"/>
                <a:ea typeface="Arial"/>
                <a:cs typeface="Arial"/>
                <a:sym typeface="Arial"/>
              </a:rPr>
              <a:t>Task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12"/>
          <p:cNvSpPr/>
          <p:nvPr/>
        </p:nvSpPr>
        <p:spPr>
          <a:xfrm>
            <a:off x="2926080" y="2788920"/>
            <a:ext cx="1691640" cy="438912"/>
          </a:xfrm>
          <a:prstGeom prst="rect">
            <a:avLst/>
          </a:prstGeom>
          <a:solidFill>
            <a:srgbClr val="39C6F4">
              <a:alpha val="90196"/>
            </a:srgbClr>
          </a:solidFill>
          <a:ln cap="flat" cmpd="sng" w="10150">
            <a:solidFill>
              <a:srgbClr val="0B16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12"/>
          <p:cNvSpPr/>
          <p:nvPr/>
        </p:nvSpPr>
        <p:spPr>
          <a:xfrm>
            <a:off x="2999232" y="2889504"/>
            <a:ext cx="15453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628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0B1628"/>
                </a:solidFill>
                <a:latin typeface="Arial"/>
                <a:ea typeface="Arial"/>
                <a:cs typeface="Arial"/>
                <a:sym typeface="Arial"/>
              </a:rPr>
              <a:t>Baseline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12"/>
          <p:cNvSpPr/>
          <p:nvPr/>
        </p:nvSpPr>
        <p:spPr>
          <a:xfrm>
            <a:off x="4617720" y="2788920"/>
            <a:ext cx="1691640" cy="438912"/>
          </a:xfrm>
          <a:prstGeom prst="rect">
            <a:avLst/>
          </a:prstGeom>
          <a:solidFill>
            <a:srgbClr val="39C6F4">
              <a:alpha val="90196"/>
            </a:srgbClr>
          </a:solidFill>
          <a:ln cap="flat" cmpd="sng" w="10150">
            <a:solidFill>
              <a:srgbClr val="0B16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12"/>
          <p:cNvSpPr/>
          <p:nvPr/>
        </p:nvSpPr>
        <p:spPr>
          <a:xfrm>
            <a:off x="4690872" y="2889504"/>
            <a:ext cx="15453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628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0B1628"/>
                </a:solidFill>
                <a:latin typeface="Arial"/>
                <a:ea typeface="Arial"/>
                <a:cs typeface="Arial"/>
                <a:sym typeface="Arial"/>
              </a:rPr>
              <a:t>Fine-tuned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12"/>
          <p:cNvSpPr/>
          <p:nvPr/>
        </p:nvSpPr>
        <p:spPr>
          <a:xfrm>
            <a:off x="6309360" y="2788920"/>
            <a:ext cx="5212080" cy="438912"/>
          </a:xfrm>
          <a:prstGeom prst="rect">
            <a:avLst/>
          </a:prstGeom>
          <a:solidFill>
            <a:srgbClr val="39C6F4">
              <a:alpha val="90196"/>
            </a:srgbClr>
          </a:solidFill>
          <a:ln cap="flat" cmpd="sng" w="10150">
            <a:solidFill>
              <a:srgbClr val="0B16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12"/>
          <p:cNvSpPr/>
          <p:nvPr/>
        </p:nvSpPr>
        <p:spPr>
          <a:xfrm>
            <a:off x="6382512" y="2889504"/>
            <a:ext cx="506577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628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0B1628"/>
                </a:solidFill>
                <a:latin typeface="Arial"/>
                <a:ea typeface="Arial"/>
                <a:cs typeface="Arial"/>
                <a:sym typeface="Arial"/>
              </a:rPr>
              <a:t>Interpretation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12"/>
          <p:cNvSpPr/>
          <p:nvPr/>
        </p:nvSpPr>
        <p:spPr>
          <a:xfrm>
            <a:off x="640080" y="3227832"/>
            <a:ext cx="2286000" cy="438912"/>
          </a:xfrm>
          <a:prstGeom prst="rect">
            <a:avLst/>
          </a:prstGeom>
          <a:solidFill>
            <a:srgbClr val="1B2E49"/>
          </a:solidFill>
          <a:ln cap="flat" cmpd="sng" w="10150">
            <a:solidFill>
              <a:srgbClr val="0B16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12"/>
          <p:cNvSpPr/>
          <p:nvPr/>
        </p:nvSpPr>
        <p:spPr>
          <a:xfrm>
            <a:off x="713232" y="3328416"/>
            <a:ext cx="213969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080"/>
              <a:buFont typeface="Arial"/>
              <a:buNone/>
            </a:pPr>
            <a:r>
              <a:rPr b="1" lang="en-US" sz="1080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rPr>
              <a:t>T1  NL → Python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12"/>
          <p:cNvSpPr/>
          <p:nvPr/>
        </p:nvSpPr>
        <p:spPr>
          <a:xfrm>
            <a:off x="2926080" y="3227832"/>
            <a:ext cx="1691640" cy="438912"/>
          </a:xfrm>
          <a:prstGeom prst="rect">
            <a:avLst/>
          </a:prstGeom>
          <a:solidFill>
            <a:srgbClr val="1B2E49"/>
          </a:solidFill>
          <a:ln cap="flat" cmpd="sng" w="10150">
            <a:solidFill>
              <a:srgbClr val="0B16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12"/>
          <p:cNvSpPr/>
          <p:nvPr/>
        </p:nvSpPr>
        <p:spPr>
          <a:xfrm>
            <a:off x="2999232" y="3328416"/>
            <a:ext cx="15453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080"/>
              <a:buFont typeface="Arial"/>
              <a:buNone/>
            </a:pPr>
            <a:r>
              <a:rPr lang="en-US" sz="1080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rPr>
              <a:t>70% parse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12"/>
          <p:cNvSpPr/>
          <p:nvPr/>
        </p:nvSpPr>
        <p:spPr>
          <a:xfrm>
            <a:off x="4617720" y="3227832"/>
            <a:ext cx="1691640" cy="438912"/>
          </a:xfrm>
          <a:prstGeom prst="rect">
            <a:avLst/>
          </a:prstGeom>
          <a:solidFill>
            <a:srgbClr val="1B2E49"/>
          </a:solidFill>
          <a:ln cap="flat" cmpd="sng" w="10150">
            <a:solidFill>
              <a:srgbClr val="0B16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12"/>
          <p:cNvSpPr/>
          <p:nvPr/>
        </p:nvSpPr>
        <p:spPr>
          <a:xfrm>
            <a:off x="4690872" y="3328416"/>
            <a:ext cx="15453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3D17A"/>
              </a:buClr>
              <a:buSzPts val="1080"/>
              <a:buFont typeface="Arial"/>
              <a:buNone/>
            </a:pPr>
            <a:r>
              <a:rPr lang="en-US" sz="1080">
                <a:solidFill>
                  <a:srgbClr val="53D17A"/>
                </a:solidFill>
                <a:latin typeface="Arial"/>
                <a:ea typeface="Arial"/>
                <a:cs typeface="Arial"/>
                <a:sym typeface="Arial"/>
              </a:rPr>
              <a:t>100% parse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12"/>
          <p:cNvSpPr/>
          <p:nvPr/>
        </p:nvSpPr>
        <p:spPr>
          <a:xfrm>
            <a:off x="6309360" y="3227832"/>
            <a:ext cx="5212080" cy="438912"/>
          </a:xfrm>
          <a:prstGeom prst="rect">
            <a:avLst/>
          </a:prstGeom>
          <a:solidFill>
            <a:srgbClr val="1B2E49"/>
          </a:solidFill>
          <a:ln cap="flat" cmpd="sng" w="10150">
            <a:solidFill>
              <a:srgbClr val="0B16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12"/>
          <p:cNvSpPr/>
          <p:nvPr/>
        </p:nvSpPr>
        <p:spPr>
          <a:xfrm>
            <a:off x="6382512" y="3328416"/>
            <a:ext cx="506577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080"/>
              <a:buFont typeface="Arial"/>
              <a:buNone/>
            </a:pPr>
            <a:r>
              <a:rPr lang="en-US" sz="1080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rPr>
              <a:t>Syntax failures eliminated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12"/>
          <p:cNvSpPr/>
          <p:nvPr/>
        </p:nvSpPr>
        <p:spPr>
          <a:xfrm>
            <a:off x="640080" y="3666744"/>
            <a:ext cx="2286000" cy="438912"/>
          </a:xfrm>
          <a:prstGeom prst="rect">
            <a:avLst/>
          </a:prstGeom>
          <a:solidFill>
            <a:srgbClr val="14243A"/>
          </a:solidFill>
          <a:ln cap="flat" cmpd="sng" w="10150">
            <a:solidFill>
              <a:srgbClr val="0B16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12"/>
          <p:cNvSpPr/>
          <p:nvPr/>
        </p:nvSpPr>
        <p:spPr>
          <a:xfrm>
            <a:off x="713232" y="3767328"/>
            <a:ext cx="213969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080"/>
              <a:buFont typeface="Arial"/>
              <a:buNone/>
            </a:pPr>
            <a:r>
              <a:rPr b="1" lang="en-US" sz="1080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rPr>
              <a:t>T2  NL → Java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12"/>
          <p:cNvSpPr/>
          <p:nvPr/>
        </p:nvSpPr>
        <p:spPr>
          <a:xfrm>
            <a:off x="2926080" y="3666744"/>
            <a:ext cx="1691640" cy="438912"/>
          </a:xfrm>
          <a:prstGeom prst="rect">
            <a:avLst/>
          </a:prstGeom>
          <a:solidFill>
            <a:srgbClr val="14243A"/>
          </a:solidFill>
          <a:ln cap="flat" cmpd="sng" w="10150">
            <a:solidFill>
              <a:srgbClr val="0B16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12"/>
          <p:cNvSpPr/>
          <p:nvPr/>
        </p:nvSpPr>
        <p:spPr>
          <a:xfrm>
            <a:off x="2999232" y="3767328"/>
            <a:ext cx="15453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080"/>
              <a:buFont typeface="Arial"/>
              <a:buNone/>
            </a:pPr>
            <a:r>
              <a:rPr lang="en-US" sz="1080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rPr>
              <a:t>40% compile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12"/>
          <p:cNvSpPr/>
          <p:nvPr/>
        </p:nvSpPr>
        <p:spPr>
          <a:xfrm>
            <a:off x="4617720" y="3666744"/>
            <a:ext cx="1691640" cy="438912"/>
          </a:xfrm>
          <a:prstGeom prst="rect">
            <a:avLst/>
          </a:prstGeom>
          <a:solidFill>
            <a:srgbClr val="14243A"/>
          </a:solidFill>
          <a:ln cap="flat" cmpd="sng" w="10150">
            <a:solidFill>
              <a:srgbClr val="0B16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12"/>
          <p:cNvSpPr/>
          <p:nvPr/>
        </p:nvSpPr>
        <p:spPr>
          <a:xfrm>
            <a:off x="4690872" y="3767328"/>
            <a:ext cx="15453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3D17A"/>
              </a:buClr>
              <a:buSzPts val="1080"/>
              <a:buFont typeface="Arial"/>
              <a:buNone/>
            </a:pPr>
            <a:r>
              <a:rPr lang="en-US" sz="1080">
                <a:solidFill>
                  <a:srgbClr val="53D17A"/>
                </a:solidFill>
                <a:latin typeface="Arial"/>
                <a:ea typeface="Arial"/>
                <a:cs typeface="Arial"/>
                <a:sym typeface="Arial"/>
              </a:rPr>
              <a:t>80% compile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12"/>
          <p:cNvSpPr/>
          <p:nvPr/>
        </p:nvSpPr>
        <p:spPr>
          <a:xfrm>
            <a:off x="6309360" y="3666744"/>
            <a:ext cx="5212080" cy="438912"/>
          </a:xfrm>
          <a:prstGeom prst="rect">
            <a:avLst/>
          </a:prstGeom>
          <a:solidFill>
            <a:srgbClr val="14243A"/>
          </a:solidFill>
          <a:ln cap="flat" cmpd="sng" w="10150">
            <a:solidFill>
              <a:srgbClr val="0B16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12"/>
          <p:cNvSpPr/>
          <p:nvPr/>
        </p:nvSpPr>
        <p:spPr>
          <a:xfrm>
            <a:off x="6382512" y="3767328"/>
            <a:ext cx="506577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080"/>
              <a:buFont typeface="Arial"/>
              <a:buNone/>
            </a:pPr>
            <a:r>
              <a:rPr lang="en-US" sz="1080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rPr>
              <a:t>Compilation doubled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12"/>
          <p:cNvSpPr/>
          <p:nvPr/>
        </p:nvSpPr>
        <p:spPr>
          <a:xfrm>
            <a:off x="640080" y="4105656"/>
            <a:ext cx="2286000" cy="438912"/>
          </a:xfrm>
          <a:prstGeom prst="rect">
            <a:avLst/>
          </a:prstGeom>
          <a:solidFill>
            <a:srgbClr val="1B2E49"/>
          </a:solidFill>
          <a:ln cap="flat" cmpd="sng" w="10150">
            <a:solidFill>
              <a:srgbClr val="0B16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12"/>
          <p:cNvSpPr/>
          <p:nvPr/>
        </p:nvSpPr>
        <p:spPr>
          <a:xfrm>
            <a:off x="713232" y="4206240"/>
            <a:ext cx="213969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080"/>
              <a:buFont typeface="Arial"/>
              <a:buNone/>
            </a:pPr>
            <a:r>
              <a:rPr b="1" lang="en-US" sz="1080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rPr>
              <a:t>T3  Python → Java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12"/>
          <p:cNvSpPr/>
          <p:nvPr/>
        </p:nvSpPr>
        <p:spPr>
          <a:xfrm>
            <a:off x="2926080" y="4105656"/>
            <a:ext cx="1691640" cy="438912"/>
          </a:xfrm>
          <a:prstGeom prst="rect">
            <a:avLst/>
          </a:prstGeom>
          <a:solidFill>
            <a:srgbClr val="1B2E49"/>
          </a:solidFill>
          <a:ln cap="flat" cmpd="sng" w="10150">
            <a:solidFill>
              <a:srgbClr val="0B16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12"/>
          <p:cNvSpPr/>
          <p:nvPr/>
        </p:nvSpPr>
        <p:spPr>
          <a:xfrm>
            <a:off x="2999232" y="4206240"/>
            <a:ext cx="15453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080"/>
              <a:buFont typeface="Arial"/>
              <a:buNone/>
            </a:pPr>
            <a:r>
              <a:rPr lang="en-US" sz="1080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rPr>
              <a:t>50% compile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12"/>
          <p:cNvSpPr/>
          <p:nvPr/>
        </p:nvSpPr>
        <p:spPr>
          <a:xfrm>
            <a:off x="4617720" y="4105656"/>
            <a:ext cx="1691640" cy="438912"/>
          </a:xfrm>
          <a:prstGeom prst="rect">
            <a:avLst/>
          </a:prstGeom>
          <a:solidFill>
            <a:srgbClr val="1B2E49"/>
          </a:solidFill>
          <a:ln cap="flat" cmpd="sng" w="10150">
            <a:solidFill>
              <a:srgbClr val="0B16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12"/>
          <p:cNvSpPr/>
          <p:nvPr/>
        </p:nvSpPr>
        <p:spPr>
          <a:xfrm>
            <a:off x="4690872" y="4206240"/>
            <a:ext cx="15453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3D17A"/>
              </a:buClr>
              <a:buSzPts val="1080"/>
              <a:buFont typeface="Arial"/>
              <a:buNone/>
            </a:pPr>
            <a:r>
              <a:rPr lang="en-US" sz="1080">
                <a:solidFill>
                  <a:srgbClr val="53D17A"/>
                </a:solidFill>
                <a:latin typeface="Arial"/>
                <a:ea typeface="Arial"/>
                <a:cs typeface="Arial"/>
                <a:sym typeface="Arial"/>
              </a:rPr>
              <a:t>50% compile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12"/>
          <p:cNvSpPr/>
          <p:nvPr/>
        </p:nvSpPr>
        <p:spPr>
          <a:xfrm>
            <a:off x="6309360" y="4105656"/>
            <a:ext cx="5212080" cy="438912"/>
          </a:xfrm>
          <a:prstGeom prst="rect">
            <a:avLst/>
          </a:prstGeom>
          <a:solidFill>
            <a:srgbClr val="1B2E49"/>
          </a:solidFill>
          <a:ln cap="flat" cmpd="sng" w="10150">
            <a:solidFill>
              <a:srgbClr val="0B16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12"/>
          <p:cNvSpPr/>
          <p:nvPr/>
        </p:nvSpPr>
        <p:spPr>
          <a:xfrm>
            <a:off x="6382512" y="4206240"/>
            <a:ext cx="506577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080"/>
              <a:buFont typeface="Arial"/>
              <a:buNone/>
            </a:pPr>
            <a:r>
              <a:rPr lang="en-US" sz="1080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rPr>
              <a:t>CodeBLEU 0.815 → 0.940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12"/>
          <p:cNvSpPr/>
          <p:nvPr/>
        </p:nvSpPr>
        <p:spPr>
          <a:xfrm>
            <a:off x="640080" y="4544568"/>
            <a:ext cx="2286000" cy="438912"/>
          </a:xfrm>
          <a:prstGeom prst="rect">
            <a:avLst/>
          </a:prstGeom>
          <a:solidFill>
            <a:srgbClr val="14243A"/>
          </a:solidFill>
          <a:ln cap="flat" cmpd="sng" w="10150">
            <a:solidFill>
              <a:srgbClr val="0B16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12"/>
          <p:cNvSpPr/>
          <p:nvPr/>
        </p:nvSpPr>
        <p:spPr>
          <a:xfrm>
            <a:off x="713232" y="4645152"/>
            <a:ext cx="213969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080"/>
              <a:buFont typeface="Arial"/>
              <a:buNone/>
            </a:pPr>
            <a:r>
              <a:rPr b="1" lang="en-US" sz="1080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rPr>
              <a:t>T4  Java → Python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12"/>
          <p:cNvSpPr/>
          <p:nvPr/>
        </p:nvSpPr>
        <p:spPr>
          <a:xfrm>
            <a:off x="2926080" y="4544568"/>
            <a:ext cx="1691640" cy="438912"/>
          </a:xfrm>
          <a:prstGeom prst="rect">
            <a:avLst/>
          </a:prstGeom>
          <a:solidFill>
            <a:srgbClr val="14243A"/>
          </a:solidFill>
          <a:ln cap="flat" cmpd="sng" w="10150">
            <a:solidFill>
              <a:srgbClr val="0B16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12"/>
          <p:cNvSpPr/>
          <p:nvPr/>
        </p:nvSpPr>
        <p:spPr>
          <a:xfrm>
            <a:off x="2999232" y="4645152"/>
            <a:ext cx="15453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080"/>
              <a:buFont typeface="Arial"/>
              <a:buNone/>
            </a:pPr>
            <a:r>
              <a:rPr lang="en-US" sz="1080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rPr>
              <a:t>90% parse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12"/>
          <p:cNvSpPr/>
          <p:nvPr/>
        </p:nvSpPr>
        <p:spPr>
          <a:xfrm>
            <a:off x="4617720" y="4544568"/>
            <a:ext cx="1691640" cy="438912"/>
          </a:xfrm>
          <a:prstGeom prst="rect">
            <a:avLst/>
          </a:prstGeom>
          <a:solidFill>
            <a:srgbClr val="14243A"/>
          </a:solidFill>
          <a:ln cap="flat" cmpd="sng" w="10150">
            <a:solidFill>
              <a:srgbClr val="0B16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12"/>
          <p:cNvSpPr/>
          <p:nvPr/>
        </p:nvSpPr>
        <p:spPr>
          <a:xfrm>
            <a:off x="4690872" y="4645152"/>
            <a:ext cx="15453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3D17A"/>
              </a:buClr>
              <a:buSzPts val="1080"/>
              <a:buFont typeface="Arial"/>
              <a:buNone/>
            </a:pPr>
            <a:r>
              <a:rPr lang="en-US" sz="1080">
                <a:solidFill>
                  <a:srgbClr val="53D17A"/>
                </a:solidFill>
                <a:latin typeface="Arial"/>
                <a:ea typeface="Arial"/>
                <a:cs typeface="Arial"/>
                <a:sym typeface="Arial"/>
              </a:rPr>
              <a:t>90% parse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12"/>
          <p:cNvSpPr/>
          <p:nvPr/>
        </p:nvSpPr>
        <p:spPr>
          <a:xfrm>
            <a:off x="6309360" y="4544568"/>
            <a:ext cx="5212080" cy="438912"/>
          </a:xfrm>
          <a:prstGeom prst="rect">
            <a:avLst/>
          </a:prstGeom>
          <a:solidFill>
            <a:srgbClr val="14243A"/>
          </a:solidFill>
          <a:ln cap="flat" cmpd="sng" w="10150">
            <a:solidFill>
              <a:srgbClr val="0B16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12"/>
          <p:cNvSpPr/>
          <p:nvPr/>
        </p:nvSpPr>
        <p:spPr>
          <a:xfrm>
            <a:off x="6382512" y="4645152"/>
            <a:ext cx="506577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080"/>
              <a:buFont typeface="Arial"/>
              <a:buNone/>
            </a:pPr>
            <a:r>
              <a:rPr lang="en-US" sz="1080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rPr>
              <a:t>CodeBLEU 0.812 → 0.925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12"/>
          <p:cNvSpPr/>
          <p:nvPr/>
        </p:nvSpPr>
        <p:spPr>
          <a:xfrm>
            <a:off x="640080" y="4983480"/>
            <a:ext cx="2286000" cy="438912"/>
          </a:xfrm>
          <a:prstGeom prst="rect">
            <a:avLst/>
          </a:prstGeom>
          <a:solidFill>
            <a:srgbClr val="1B2E49"/>
          </a:solidFill>
          <a:ln cap="flat" cmpd="sng" w="10150">
            <a:solidFill>
              <a:srgbClr val="0B16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12"/>
          <p:cNvSpPr/>
          <p:nvPr/>
        </p:nvSpPr>
        <p:spPr>
          <a:xfrm>
            <a:off x="713232" y="5084064"/>
            <a:ext cx="213969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080"/>
              <a:buFont typeface="Arial"/>
              <a:buNone/>
            </a:pPr>
            <a:r>
              <a:rPr b="1" lang="en-US" sz="1080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rPr>
              <a:t>T5  Python → NL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12"/>
          <p:cNvSpPr/>
          <p:nvPr/>
        </p:nvSpPr>
        <p:spPr>
          <a:xfrm>
            <a:off x="2926080" y="4983480"/>
            <a:ext cx="1691640" cy="438912"/>
          </a:xfrm>
          <a:prstGeom prst="rect">
            <a:avLst/>
          </a:prstGeom>
          <a:solidFill>
            <a:srgbClr val="1B2E49"/>
          </a:solidFill>
          <a:ln cap="flat" cmpd="sng" w="10150">
            <a:solidFill>
              <a:srgbClr val="0B16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12"/>
          <p:cNvSpPr/>
          <p:nvPr/>
        </p:nvSpPr>
        <p:spPr>
          <a:xfrm>
            <a:off x="2999232" y="5084064"/>
            <a:ext cx="15453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080"/>
              <a:buFont typeface="Arial"/>
              <a:buNone/>
            </a:pPr>
            <a:r>
              <a:rPr lang="en-US" sz="1080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rPr>
              <a:t>ROUGE-L 0.168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12"/>
          <p:cNvSpPr/>
          <p:nvPr/>
        </p:nvSpPr>
        <p:spPr>
          <a:xfrm>
            <a:off x="4617720" y="4983480"/>
            <a:ext cx="1691640" cy="438912"/>
          </a:xfrm>
          <a:prstGeom prst="rect">
            <a:avLst/>
          </a:prstGeom>
          <a:solidFill>
            <a:srgbClr val="1B2E49"/>
          </a:solidFill>
          <a:ln cap="flat" cmpd="sng" w="10150">
            <a:solidFill>
              <a:srgbClr val="0B16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12"/>
          <p:cNvSpPr/>
          <p:nvPr/>
        </p:nvSpPr>
        <p:spPr>
          <a:xfrm>
            <a:off x="4690872" y="5084064"/>
            <a:ext cx="15453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3D17A"/>
              </a:buClr>
              <a:buSzPts val="1080"/>
              <a:buFont typeface="Arial"/>
              <a:buNone/>
            </a:pPr>
            <a:r>
              <a:rPr lang="en-US" sz="1080">
                <a:solidFill>
                  <a:srgbClr val="53D17A"/>
                </a:solidFill>
                <a:latin typeface="Arial"/>
                <a:ea typeface="Arial"/>
                <a:cs typeface="Arial"/>
                <a:sym typeface="Arial"/>
              </a:rPr>
              <a:t>0.315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12"/>
          <p:cNvSpPr/>
          <p:nvPr/>
        </p:nvSpPr>
        <p:spPr>
          <a:xfrm>
            <a:off x="6309360" y="4983480"/>
            <a:ext cx="5212080" cy="438912"/>
          </a:xfrm>
          <a:prstGeom prst="rect">
            <a:avLst/>
          </a:prstGeom>
          <a:solidFill>
            <a:srgbClr val="1B2E49"/>
          </a:solidFill>
          <a:ln cap="flat" cmpd="sng" w="10150">
            <a:solidFill>
              <a:srgbClr val="0B16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12"/>
          <p:cNvSpPr/>
          <p:nvPr/>
        </p:nvSpPr>
        <p:spPr>
          <a:xfrm>
            <a:off x="6382512" y="5084064"/>
            <a:ext cx="506577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080"/>
              <a:buFont typeface="Arial"/>
              <a:buNone/>
            </a:pPr>
            <a:r>
              <a:rPr lang="en-US" sz="1080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rPr>
              <a:t>Semantic similarity improved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12"/>
          <p:cNvSpPr/>
          <p:nvPr/>
        </p:nvSpPr>
        <p:spPr>
          <a:xfrm>
            <a:off x="640080" y="5422392"/>
            <a:ext cx="2286000" cy="438912"/>
          </a:xfrm>
          <a:prstGeom prst="rect">
            <a:avLst/>
          </a:prstGeom>
          <a:solidFill>
            <a:srgbClr val="14243A"/>
          </a:solidFill>
          <a:ln cap="flat" cmpd="sng" w="10150">
            <a:solidFill>
              <a:srgbClr val="0B16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12"/>
          <p:cNvSpPr/>
          <p:nvPr/>
        </p:nvSpPr>
        <p:spPr>
          <a:xfrm>
            <a:off x="713232" y="5522976"/>
            <a:ext cx="213969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080"/>
              <a:buFont typeface="Arial"/>
              <a:buNone/>
            </a:pPr>
            <a:r>
              <a:rPr b="1" lang="en-US" sz="1080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rPr>
              <a:t>T6  Java → NL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12"/>
          <p:cNvSpPr/>
          <p:nvPr/>
        </p:nvSpPr>
        <p:spPr>
          <a:xfrm>
            <a:off x="2926080" y="5422392"/>
            <a:ext cx="1691640" cy="438912"/>
          </a:xfrm>
          <a:prstGeom prst="rect">
            <a:avLst/>
          </a:prstGeom>
          <a:solidFill>
            <a:srgbClr val="14243A"/>
          </a:solidFill>
          <a:ln cap="flat" cmpd="sng" w="10150">
            <a:solidFill>
              <a:srgbClr val="0B16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12"/>
          <p:cNvSpPr/>
          <p:nvPr/>
        </p:nvSpPr>
        <p:spPr>
          <a:xfrm>
            <a:off x="2999232" y="5522976"/>
            <a:ext cx="15453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080"/>
              <a:buFont typeface="Arial"/>
              <a:buNone/>
            </a:pPr>
            <a:r>
              <a:rPr lang="en-US" sz="1080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rPr>
              <a:t>ROUGE-L 0.160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12"/>
          <p:cNvSpPr/>
          <p:nvPr/>
        </p:nvSpPr>
        <p:spPr>
          <a:xfrm>
            <a:off x="4617720" y="5422392"/>
            <a:ext cx="1691640" cy="438912"/>
          </a:xfrm>
          <a:prstGeom prst="rect">
            <a:avLst/>
          </a:prstGeom>
          <a:solidFill>
            <a:srgbClr val="14243A"/>
          </a:solidFill>
          <a:ln cap="flat" cmpd="sng" w="10150">
            <a:solidFill>
              <a:srgbClr val="0B16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12"/>
          <p:cNvSpPr/>
          <p:nvPr/>
        </p:nvSpPr>
        <p:spPr>
          <a:xfrm>
            <a:off x="4690872" y="5522976"/>
            <a:ext cx="15453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3D17A"/>
              </a:buClr>
              <a:buSzPts val="1080"/>
              <a:buFont typeface="Arial"/>
              <a:buNone/>
            </a:pPr>
            <a:r>
              <a:rPr lang="en-US" sz="1080">
                <a:solidFill>
                  <a:srgbClr val="53D17A"/>
                </a:solidFill>
                <a:latin typeface="Arial"/>
                <a:ea typeface="Arial"/>
                <a:cs typeface="Arial"/>
                <a:sym typeface="Arial"/>
              </a:rPr>
              <a:t>0.317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12"/>
          <p:cNvSpPr/>
          <p:nvPr/>
        </p:nvSpPr>
        <p:spPr>
          <a:xfrm>
            <a:off x="6309360" y="5422392"/>
            <a:ext cx="5212080" cy="438912"/>
          </a:xfrm>
          <a:prstGeom prst="rect">
            <a:avLst/>
          </a:prstGeom>
          <a:solidFill>
            <a:srgbClr val="14243A"/>
          </a:solidFill>
          <a:ln cap="flat" cmpd="sng" w="10150">
            <a:solidFill>
              <a:srgbClr val="0B16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12"/>
          <p:cNvSpPr/>
          <p:nvPr/>
        </p:nvSpPr>
        <p:spPr>
          <a:xfrm>
            <a:off x="6382512" y="5522976"/>
            <a:ext cx="506577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080"/>
              <a:buFont typeface="Arial"/>
              <a:buNone/>
            </a:pPr>
            <a:r>
              <a:rPr lang="en-US" sz="1080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rPr>
              <a:t>Semantic similarity improved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12"/>
          <p:cNvSpPr/>
          <p:nvPr/>
        </p:nvSpPr>
        <p:spPr>
          <a:xfrm>
            <a:off x="1508760" y="6080760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F829B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6F829B"/>
                </a:solidFill>
                <a:latin typeface="Arial"/>
                <a:ea typeface="Arial"/>
                <a:cs typeface="Arial"/>
                <a:sym typeface="Arial"/>
              </a:rPr>
              <a:t>Evaluation subset: 10 examples per task. Larger evaluation is a planned next step for stronger statistical confidence.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12"/>
          <p:cNvSpPr txBox="1"/>
          <p:nvPr>
            <p:ph idx="4294967295" type="sldNum"/>
          </p:nvPr>
        </p:nvSpPr>
        <p:spPr>
          <a:xfrm>
            <a:off x="11704320" y="6483096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900">
                <a:solidFill>
                  <a:srgbClr val="6F829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>
              <a:solidFill>
                <a:srgbClr val="6F829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3f0cf9ddd64_0_1358"/>
          <p:cNvSpPr/>
          <p:nvPr/>
        </p:nvSpPr>
        <p:spPr>
          <a:xfrm>
            <a:off x="548640" y="310896"/>
            <a:ext cx="5029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C6F4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39C6F4"/>
                </a:solidFill>
                <a:latin typeface="Arial"/>
                <a:ea typeface="Arial"/>
                <a:cs typeface="Arial"/>
                <a:sym typeface="Arial"/>
              </a:rPr>
              <a:t>ENGINEERING LEARNINGS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g3f0cf9ddd64_0_1358"/>
          <p:cNvSpPr/>
          <p:nvPr/>
        </p:nvSpPr>
        <p:spPr>
          <a:xfrm>
            <a:off x="548640" y="585216"/>
            <a:ext cx="10972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rPr>
              <a:t>The project’s strongest outcome is an engineering doctrine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28" name="Google Shape;528;g3f0cf9ddd64_0_1358"/>
          <p:cNvGrpSpPr/>
          <p:nvPr/>
        </p:nvGrpSpPr>
        <p:grpSpPr>
          <a:xfrm>
            <a:off x="571500" y="1714500"/>
            <a:ext cx="2057400" cy="3619500"/>
            <a:chOff x="0" y="0"/>
            <a:chExt cx="2057400" cy="3619500"/>
          </a:xfrm>
        </p:grpSpPr>
        <p:sp>
          <p:nvSpPr>
            <p:cNvPr id="529" name="Google Shape;529;g3f0cf9ddd64_0_1358"/>
            <p:cNvSpPr/>
            <p:nvPr/>
          </p:nvSpPr>
          <p:spPr>
            <a:xfrm>
              <a:off x="0" y="0"/>
              <a:ext cx="2057400" cy="3619500"/>
            </a:xfrm>
            <a:prstGeom prst="roundRect">
              <a:avLst>
                <a:gd fmla="val 3703" name="adj"/>
              </a:avLst>
            </a:prstGeom>
            <a:solidFill>
              <a:srgbClr val="14243A"/>
            </a:solidFill>
            <a:ln cap="flat" cmpd="sng" w="14300">
              <a:solidFill>
                <a:srgbClr val="1B2E4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g3f0cf9ddd64_0_1358"/>
            <p:cNvSpPr/>
            <p:nvPr/>
          </p:nvSpPr>
          <p:spPr>
            <a:xfrm>
              <a:off x="0" y="0"/>
              <a:ext cx="2057400" cy="57300"/>
            </a:xfrm>
            <a:prstGeom prst="roundRect">
              <a:avLst>
                <a:gd fmla="val 50000" name="adj"/>
              </a:avLst>
            </a:prstGeom>
            <a:solidFill>
              <a:srgbClr val="F6C65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g3f0cf9ddd64_0_1358"/>
            <p:cNvSpPr txBox="1"/>
            <p:nvPr/>
          </p:nvSpPr>
          <p:spPr>
            <a:xfrm>
              <a:off x="0" y="0"/>
              <a:ext cx="2057400" cy="361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190500" spcFirstLastPara="1" rIns="1905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F6C65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storage</a:t>
              </a:r>
              <a:endParaRPr sz="2800">
                <a:solidFill>
                  <a:srgbClr val="F6C65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F7FAFC"/>
                  </a:solidFill>
                  <a:latin typeface="Arial"/>
                  <a:ea typeface="Arial"/>
                  <a:cs typeface="Arial"/>
                  <a:sym typeface="Arial"/>
                </a:rPr>
                <a:t>Data quality &gt; quantity</a:t>
              </a:r>
              <a:endParaRPr b="1" sz="1500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A7B7CC"/>
                  </a:solidFill>
                  <a:latin typeface="Arial"/>
                  <a:ea typeface="Arial"/>
                  <a:cs typeface="Arial"/>
                  <a:sym typeface="Arial"/>
                </a:rPr>
                <a:t>Clean, aligned supervision consistently outperformed larger noisy datasets.</a:t>
              </a:r>
              <a:endParaRPr b="0" sz="1100">
                <a:solidFill>
                  <a:srgbClr val="A7B7C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32" name="Google Shape;532;g3f0cf9ddd64_0_1358"/>
          <p:cNvGrpSpPr/>
          <p:nvPr/>
        </p:nvGrpSpPr>
        <p:grpSpPr>
          <a:xfrm>
            <a:off x="2819400" y="1714500"/>
            <a:ext cx="2057400" cy="3619500"/>
            <a:chOff x="0" y="0"/>
            <a:chExt cx="2057400" cy="3619500"/>
          </a:xfrm>
        </p:grpSpPr>
        <p:sp>
          <p:nvSpPr>
            <p:cNvPr id="533" name="Google Shape;533;g3f0cf9ddd64_0_1358"/>
            <p:cNvSpPr/>
            <p:nvPr/>
          </p:nvSpPr>
          <p:spPr>
            <a:xfrm>
              <a:off x="0" y="0"/>
              <a:ext cx="2057400" cy="3619500"/>
            </a:xfrm>
            <a:prstGeom prst="roundRect">
              <a:avLst>
                <a:gd fmla="val 3703" name="adj"/>
              </a:avLst>
            </a:prstGeom>
            <a:solidFill>
              <a:srgbClr val="14243A"/>
            </a:solidFill>
            <a:ln cap="flat" cmpd="sng" w="14300">
              <a:solidFill>
                <a:srgbClr val="1B2E4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g3f0cf9ddd64_0_1358"/>
            <p:cNvSpPr/>
            <p:nvPr/>
          </p:nvSpPr>
          <p:spPr>
            <a:xfrm>
              <a:off x="0" y="0"/>
              <a:ext cx="2057400" cy="57300"/>
            </a:xfrm>
            <a:prstGeom prst="roundRect">
              <a:avLst>
                <a:gd fmla="val 50000" name="adj"/>
              </a:avLst>
            </a:prstGeom>
            <a:solidFill>
              <a:srgbClr val="21C7A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g3f0cf9ddd64_0_1358"/>
            <p:cNvSpPr txBox="1"/>
            <p:nvPr/>
          </p:nvSpPr>
          <p:spPr>
            <a:xfrm>
              <a:off x="0" y="0"/>
              <a:ext cx="2057400" cy="361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190500" spcFirstLastPara="1" rIns="1905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21C7A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fact_check</a:t>
              </a:r>
              <a:endParaRPr sz="2800">
                <a:solidFill>
                  <a:srgbClr val="21C7A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F7FAFC"/>
                  </a:solidFill>
                  <a:latin typeface="Arial"/>
                  <a:ea typeface="Arial"/>
                  <a:cs typeface="Arial"/>
                  <a:sym typeface="Arial"/>
                </a:rPr>
                <a:t>Validation before training</a:t>
              </a:r>
              <a:endParaRPr b="1" sz="1500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A7B7CC"/>
                  </a:solidFill>
                  <a:latin typeface="Arial"/>
                  <a:ea typeface="Arial"/>
                  <a:cs typeface="Arial"/>
                  <a:sym typeface="Arial"/>
                </a:rPr>
                <a:t>AST, compilation, Tree-sitter and semantic alignment formed a trusted corpus boundary.</a:t>
              </a:r>
              <a:endParaRPr b="0" sz="1100">
                <a:solidFill>
                  <a:srgbClr val="A7B7C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36" name="Google Shape;536;g3f0cf9ddd64_0_1358"/>
          <p:cNvGrpSpPr/>
          <p:nvPr/>
        </p:nvGrpSpPr>
        <p:grpSpPr>
          <a:xfrm>
            <a:off x="5067300" y="1714500"/>
            <a:ext cx="2057400" cy="3619500"/>
            <a:chOff x="0" y="0"/>
            <a:chExt cx="2057400" cy="3619500"/>
          </a:xfrm>
        </p:grpSpPr>
        <p:sp>
          <p:nvSpPr>
            <p:cNvPr id="537" name="Google Shape;537;g3f0cf9ddd64_0_1358"/>
            <p:cNvSpPr/>
            <p:nvPr/>
          </p:nvSpPr>
          <p:spPr>
            <a:xfrm>
              <a:off x="0" y="0"/>
              <a:ext cx="2057400" cy="3619500"/>
            </a:xfrm>
            <a:prstGeom prst="roundRect">
              <a:avLst>
                <a:gd fmla="val 3703" name="adj"/>
              </a:avLst>
            </a:prstGeom>
            <a:solidFill>
              <a:srgbClr val="14243A"/>
            </a:solidFill>
            <a:ln cap="flat" cmpd="sng" w="14300">
              <a:solidFill>
                <a:srgbClr val="1B2E4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g3f0cf9ddd64_0_1358"/>
            <p:cNvSpPr/>
            <p:nvPr/>
          </p:nvSpPr>
          <p:spPr>
            <a:xfrm>
              <a:off x="0" y="0"/>
              <a:ext cx="2057400" cy="57300"/>
            </a:xfrm>
            <a:prstGeom prst="roundRect">
              <a:avLst>
                <a:gd fmla="val 50000" name="adj"/>
              </a:avLst>
            </a:prstGeom>
            <a:solidFill>
              <a:srgbClr val="A88B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g3f0cf9ddd64_0_1358"/>
            <p:cNvSpPr txBox="1"/>
            <p:nvPr/>
          </p:nvSpPr>
          <p:spPr>
            <a:xfrm>
              <a:off x="0" y="0"/>
              <a:ext cx="2057400" cy="361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190500" spcFirstLastPara="1" rIns="1905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A88B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vpn_key</a:t>
              </a:r>
              <a:endParaRPr sz="2800">
                <a:solidFill>
                  <a:srgbClr val="A88B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F7FAFC"/>
                  </a:solidFill>
                  <a:latin typeface="Arial"/>
                  <a:ea typeface="Arial"/>
                  <a:cs typeface="Arial"/>
                  <a:sym typeface="Arial"/>
                </a:rPr>
                <a:t>Prompt contracts matter</a:t>
              </a:r>
              <a:endParaRPr b="1" sz="1500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A7B7CC"/>
                  </a:solidFill>
                  <a:latin typeface="Arial"/>
                  <a:ea typeface="Arial"/>
                  <a:cs typeface="Arial"/>
                  <a:sym typeface="Arial"/>
                </a:rPr>
                <a:t>Explicit task tokens and output contracts reduced interference across six tasks.</a:t>
              </a:r>
              <a:endParaRPr b="0" sz="1100">
                <a:solidFill>
                  <a:srgbClr val="A7B7C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40" name="Google Shape;540;g3f0cf9ddd64_0_1358"/>
          <p:cNvGrpSpPr/>
          <p:nvPr/>
        </p:nvGrpSpPr>
        <p:grpSpPr>
          <a:xfrm>
            <a:off x="7315200" y="1714500"/>
            <a:ext cx="2057400" cy="3619500"/>
            <a:chOff x="0" y="0"/>
            <a:chExt cx="2057400" cy="3619500"/>
          </a:xfrm>
        </p:grpSpPr>
        <p:sp>
          <p:nvSpPr>
            <p:cNvPr id="541" name="Google Shape;541;g3f0cf9ddd64_0_1358"/>
            <p:cNvSpPr/>
            <p:nvPr/>
          </p:nvSpPr>
          <p:spPr>
            <a:xfrm>
              <a:off x="0" y="0"/>
              <a:ext cx="2057400" cy="3619500"/>
            </a:xfrm>
            <a:prstGeom prst="roundRect">
              <a:avLst>
                <a:gd fmla="val 3703" name="adj"/>
              </a:avLst>
            </a:prstGeom>
            <a:solidFill>
              <a:srgbClr val="14243A"/>
            </a:solidFill>
            <a:ln cap="flat" cmpd="sng" w="14300">
              <a:solidFill>
                <a:srgbClr val="1B2E4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g3f0cf9ddd64_0_1358"/>
            <p:cNvSpPr/>
            <p:nvPr/>
          </p:nvSpPr>
          <p:spPr>
            <a:xfrm>
              <a:off x="0" y="0"/>
              <a:ext cx="2057400" cy="57300"/>
            </a:xfrm>
            <a:prstGeom prst="roundRect">
              <a:avLst>
                <a:gd fmla="val 50000" name="adj"/>
              </a:avLst>
            </a:prstGeom>
            <a:solidFill>
              <a:srgbClr val="39C6F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g3f0cf9ddd64_0_1358"/>
            <p:cNvSpPr txBox="1"/>
            <p:nvPr/>
          </p:nvSpPr>
          <p:spPr>
            <a:xfrm>
              <a:off x="0" y="0"/>
              <a:ext cx="2057400" cy="361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190500" spcFirstLastPara="1" rIns="1905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39C6F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analytics</a:t>
              </a:r>
              <a:endParaRPr sz="2800">
                <a:solidFill>
                  <a:srgbClr val="39C6F4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F7FAFC"/>
                  </a:solidFill>
                  <a:latin typeface="Arial"/>
                  <a:ea typeface="Arial"/>
                  <a:cs typeface="Arial"/>
                  <a:sym typeface="Arial"/>
                </a:rPr>
                <a:t>Evaluation must fit the task</a:t>
              </a:r>
              <a:endParaRPr b="1" sz="1500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A7B7CC"/>
                  </a:solidFill>
                  <a:latin typeface="Arial"/>
                  <a:ea typeface="Arial"/>
                  <a:cs typeface="Arial"/>
                  <a:sym typeface="Arial"/>
                </a:rPr>
                <a:t>Compilation, parsing and semantic metrics revealed failures that BLEU alone missed.</a:t>
              </a:r>
              <a:endParaRPr b="0" sz="1100">
                <a:solidFill>
                  <a:srgbClr val="A7B7C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44" name="Google Shape;544;g3f0cf9ddd64_0_1358"/>
          <p:cNvGrpSpPr/>
          <p:nvPr/>
        </p:nvGrpSpPr>
        <p:grpSpPr>
          <a:xfrm>
            <a:off x="9563100" y="1714500"/>
            <a:ext cx="2057400" cy="3619500"/>
            <a:chOff x="0" y="0"/>
            <a:chExt cx="2057400" cy="3619500"/>
          </a:xfrm>
        </p:grpSpPr>
        <p:sp>
          <p:nvSpPr>
            <p:cNvPr id="545" name="Google Shape;545;g3f0cf9ddd64_0_1358"/>
            <p:cNvSpPr/>
            <p:nvPr/>
          </p:nvSpPr>
          <p:spPr>
            <a:xfrm>
              <a:off x="0" y="0"/>
              <a:ext cx="2057400" cy="3619500"/>
            </a:xfrm>
            <a:prstGeom prst="roundRect">
              <a:avLst>
                <a:gd fmla="val 3703" name="adj"/>
              </a:avLst>
            </a:prstGeom>
            <a:solidFill>
              <a:srgbClr val="14243A"/>
            </a:solidFill>
            <a:ln cap="flat" cmpd="sng" w="14300">
              <a:solidFill>
                <a:srgbClr val="1B2E4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g3f0cf9ddd64_0_1358"/>
            <p:cNvSpPr/>
            <p:nvPr/>
          </p:nvSpPr>
          <p:spPr>
            <a:xfrm>
              <a:off x="0" y="0"/>
              <a:ext cx="2057400" cy="57300"/>
            </a:xfrm>
            <a:prstGeom prst="roundRect">
              <a:avLst>
                <a:gd fmla="val 50000" name="adj"/>
              </a:avLst>
            </a:prstGeom>
            <a:solidFill>
              <a:srgbClr val="53D17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g3f0cf9ddd64_0_1358"/>
            <p:cNvSpPr txBox="1"/>
            <p:nvPr/>
          </p:nvSpPr>
          <p:spPr>
            <a:xfrm>
              <a:off x="0" y="0"/>
              <a:ext cx="2057400" cy="361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190500" spcFirstLastPara="1" rIns="1905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53D17A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extension</a:t>
              </a:r>
              <a:endParaRPr sz="2800">
                <a:solidFill>
                  <a:srgbClr val="53D17A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F7FAFC"/>
                  </a:solidFill>
                  <a:latin typeface="Arial"/>
                  <a:ea typeface="Arial"/>
                  <a:cs typeface="Arial"/>
                  <a:sym typeface="Arial"/>
                </a:rPr>
                <a:t>Modularity accelerates scale</a:t>
              </a:r>
              <a:endParaRPr b="1" sz="1500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A7B7CC"/>
                  </a:solidFill>
                  <a:latin typeface="Arial"/>
                  <a:ea typeface="Arial"/>
                  <a:cs typeface="Arial"/>
                  <a:sym typeface="Arial"/>
                </a:rPr>
                <a:t>Reusable corpus, training and evaluation modules enabled Stage 4 and future RAG integration.</a:t>
              </a:r>
              <a:endParaRPr b="0" sz="1100">
                <a:solidFill>
                  <a:srgbClr val="A7B7C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48" name="Google Shape;548;g3f0cf9ddd64_0_1358"/>
          <p:cNvSpPr txBox="1"/>
          <p:nvPr>
            <p:ph idx="4294967295" type="sldNum"/>
          </p:nvPr>
        </p:nvSpPr>
        <p:spPr>
          <a:xfrm>
            <a:off x="11704320" y="6483096"/>
            <a:ext cx="8001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900">
                <a:solidFill>
                  <a:srgbClr val="6F829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>
              <a:solidFill>
                <a:srgbClr val="6F829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3f0cf9ddd64_0_1609"/>
          <p:cNvSpPr/>
          <p:nvPr/>
        </p:nvSpPr>
        <p:spPr>
          <a:xfrm>
            <a:off x="548640" y="338328"/>
            <a:ext cx="1417200" cy="402300"/>
          </a:xfrm>
          <a:prstGeom prst="roundRect">
            <a:avLst>
              <a:gd fmla="val 18182" name="adj"/>
            </a:avLst>
          </a:prstGeom>
          <a:solidFill>
            <a:srgbClr val="39C6F4">
              <a:alpha val="87843"/>
            </a:srgbClr>
          </a:solidFill>
          <a:ln cap="flat" cmpd="sng" w="12700">
            <a:solidFill>
              <a:srgbClr val="39C6F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g3f0cf9ddd64_0_1609"/>
          <p:cNvSpPr/>
          <p:nvPr/>
        </p:nvSpPr>
        <p:spPr>
          <a:xfrm>
            <a:off x="658368" y="448056"/>
            <a:ext cx="1188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628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B1628"/>
                </a:solidFill>
                <a:latin typeface="Arial"/>
                <a:ea typeface="Arial"/>
                <a:cs typeface="Arial"/>
                <a:sym typeface="Arial"/>
              </a:rPr>
              <a:t>STAGE 4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g3f0cf9ddd64_0_1609"/>
          <p:cNvSpPr/>
          <p:nvPr/>
        </p:nvSpPr>
        <p:spPr>
          <a:xfrm>
            <a:off x="2148840" y="347472"/>
            <a:ext cx="9327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rPr>
              <a:t>Repository Awareness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g3f0cf9ddd64_0_1609"/>
          <p:cNvSpPr/>
          <p:nvPr/>
        </p:nvSpPr>
        <p:spPr>
          <a:xfrm>
            <a:off x="658368" y="960120"/>
            <a:ext cx="10789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B7CC"/>
              </a:buClr>
              <a:buSzPts val="1700"/>
              <a:buFont typeface="Arial"/>
              <a:buNone/>
            </a:pPr>
            <a:r>
              <a:rPr lang="en-US" sz="1700">
                <a:solidFill>
                  <a:srgbClr val="A7B7CC"/>
                </a:solidFill>
                <a:latin typeface="Arial"/>
                <a:ea typeface="Arial"/>
                <a:cs typeface="Arial"/>
                <a:sym typeface="Arial"/>
              </a:rPr>
              <a:t>Move from single-function intelligence to understanding the structure and relationships of an entire codebase.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58" name="Google Shape;558;g3f0cf9ddd64_0_1609"/>
          <p:cNvGrpSpPr/>
          <p:nvPr/>
        </p:nvGrpSpPr>
        <p:grpSpPr>
          <a:xfrm>
            <a:off x="571500" y="1524000"/>
            <a:ext cx="2057400" cy="1666800"/>
            <a:chOff x="0" y="0"/>
            <a:chExt cx="2057400" cy="1666800"/>
          </a:xfrm>
        </p:grpSpPr>
        <p:sp>
          <p:nvSpPr>
            <p:cNvPr id="559" name="Google Shape;559;g3f0cf9ddd64_0_1609"/>
            <p:cNvSpPr/>
            <p:nvPr/>
          </p:nvSpPr>
          <p:spPr>
            <a:xfrm>
              <a:off x="0" y="0"/>
              <a:ext cx="2057400" cy="1666800"/>
            </a:xfrm>
            <a:prstGeom prst="roundRect">
              <a:avLst>
                <a:gd fmla="val 4571" name="adj"/>
              </a:avLst>
            </a:prstGeom>
            <a:solidFill>
              <a:srgbClr val="14243A"/>
            </a:solidFill>
            <a:ln cap="flat" cmpd="sng" w="14300">
              <a:solidFill>
                <a:srgbClr val="1B2E4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g3f0cf9ddd64_0_1609"/>
            <p:cNvSpPr/>
            <p:nvPr/>
          </p:nvSpPr>
          <p:spPr>
            <a:xfrm>
              <a:off x="0" y="0"/>
              <a:ext cx="2057400" cy="38100"/>
            </a:xfrm>
            <a:prstGeom prst="roundRect">
              <a:avLst>
                <a:gd fmla="val 50000" name="adj"/>
              </a:avLst>
            </a:prstGeom>
            <a:solidFill>
              <a:srgbClr val="39C6F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g3f0cf9ddd64_0_1609"/>
            <p:cNvSpPr txBox="1"/>
            <p:nvPr/>
          </p:nvSpPr>
          <p:spPr>
            <a:xfrm>
              <a:off x="0" y="0"/>
              <a:ext cx="2057400" cy="166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52400" lIns="152400" spcFirstLastPara="1" rIns="152400" wrap="square" tIns="15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39C6F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schema</a:t>
              </a:r>
              <a:endParaRPr sz="2400">
                <a:solidFill>
                  <a:srgbClr val="39C6F4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F7FAFC"/>
                  </a:solidFill>
                  <a:latin typeface="Arial"/>
                  <a:ea typeface="Arial"/>
                  <a:cs typeface="Arial"/>
                  <a:sym typeface="Arial"/>
                </a:rPr>
                <a:t>AST Parser</a:t>
              </a:r>
              <a:endParaRPr b="1" sz="1300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825">
                  <a:solidFill>
                    <a:srgbClr val="A7B7CC"/>
                  </a:solidFill>
                  <a:latin typeface="Arial"/>
                  <a:ea typeface="Arial"/>
                  <a:cs typeface="Arial"/>
                  <a:sym typeface="Arial"/>
                </a:rPr>
                <a:t>functions • classes • imports</a:t>
              </a:r>
              <a:endParaRPr sz="825">
                <a:solidFill>
                  <a:srgbClr val="A7B7C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62" name="Google Shape;562;g3f0cf9ddd64_0_1609"/>
          <p:cNvGrpSpPr/>
          <p:nvPr/>
        </p:nvGrpSpPr>
        <p:grpSpPr>
          <a:xfrm>
            <a:off x="2628900" y="2257425"/>
            <a:ext cx="171600" cy="57300"/>
            <a:chOff x="0" y="-28575"/>
            <a:chExt cx="171600" cy="57300"/>
          </a:xfrm>
        </p:grpSpPr>
        <p:sp>
          <p:nvSpPr>
            <p:cNvPr id="563" name="Google Shape;563;g3f0cf9ddd64_0_1609"/>
            <p:cNvSpPr/>
            <p:nvPr/>
          </p:nvSpPr>
          <p:spPr>
            <a:xfrm>
              <a:off x="0" y="0"/>
              <a:ext cx="114300" cy="0"/>
            </a:xfrm>
            <a:custGeom>
              <a:rect b="b" l="l" r="r" t="t"/>
              <a:pathLst>
                <a:path extrusionOk="0" fill="none" h="120000" w="120000">
                  <a:moveTo>
                    <a:pt x="0" y="0"/>
                  </a:moveTo>
                  <a:lnTo>
                    <a:pt x="120000" y="0"/>
                  </a:lnTo>
                </a:path>
              </a:pathLst>
            </a:custGeom>
            <a:solidFill>
              <a:srgbClr val="FFFFFF"/>
            </a:solidFill>
            <a:ln cap="flat" cmpd="sng" w="19050">
              <a:solidFill>
                <a:srgbClr val="6F82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g3f0cf9ddd64_0_1609"/>
            <p:cNvSpPr/>
            <p:nvPr/>
          </p:nvSpPr>
          <p:spPr>
            <a:xfrm>
              <a:off x="114300" y="-28575"/>
              <a:ext cx="57300" cy="573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6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6F829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65" name="Google Shape;565;g3f0cf9ddd64_0_1609"/>
          <p:cNvGrpSpPr/>
          <p:nvPr/>
        </p:nvGrpSpPr>
        <p:grpSpPr>
          <a:xfrm>
            <a:off x="2819400" y="1524000"/>
            <a:ext cx="2057400" cy="1666800"/>
            <a:chOff x="0" y="0"/>
            <a:chExt cx="2057400" cy="1666800"/>
          </a:xfrm>
        </p:grpSpPr>
        <p:sp>
          <p:nvSpPr>
            <p:cNvPr id="566" name="Google Shape;566;g3f0cf9ddd64_0_1609"/>
            <p:cNvSpPr/>
            <p:nvPr/>
          </p:nvSpPr>
          <p:spPr>
            <a:xfrm>
              <a:off x="0" y="0"/>
              <a:ext cx="2057400" cy="1666800"/>
            </a:xfrm>
            <a:prstGeom prst="roundRect">
              <a:avLst>
                <a:gd fmla="val 4571" name="adj"/>
              </a:avLst>
            </a:prstGeom>
            <a:solidFill>
              <a:srgbClr val="14243A"/>
            </a:solidFill>
            <a:ln cap="flat" cmpd="sng" w="14300">
              <a:solidFill>
                <a:srgbClr val="1B2E4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g3f0cf9ddd64_0_1609"/>
            <p:cNvSpPr/>
            <p:nvPr/>
          </p:nvSpPr>
          <p:spPr>
            <a:xfrm>
              <a:off x="0" y="0"/>
              <a:ext cx="2057400" cy="38100"/>
            </a:xfrm>
            <a:prstGeom prst="roundRect">
              <a:avLst>
                <a:gd fmla="val 50000" name="adj"/>
              </a:avLst>
            </a:prstGeom>
            <a:solidFill>
              <a:srgbClr val="21C7A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g3f0cf9ddd64_0_1609"/>
            <p:cNvSpPr txBox="1"/>
            <p:nvPr/>
          </p:nvSpPr>
          <p:spPr>
            <a:xfrm>
              <a:off x="0" y="0"/>
              <a:ext cx="2057400" cy="166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52400" lIns="152400" spcFirstLastPara="1" rIns="152400" wrap="square" tIns="15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21C7A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grain</a:t>
              </a:r>
              <a:endParaRPr sz="2400">
                <a:solidFill>
                  <a:srgbClr val="21C7A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F7FAFC"/>
                  </a:solidFill>
                  <a:latin typeface="Arial"/>
                  <a:ea typeface="Arial"/>
                  <a:cs typeface="Arial"/>
                  <a:sym typeface="Arial"/>
                </a:rPr>
                <a:t>Embeddings</a:t>
              </a:r>
              <a:endParaRPr b="1" sz="1300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825">
                  <a:solidFill>
                    <a:srgbClr val="A7B7CC"/>
                  </a:solidFill>
                  <a:latin typeface="Arial"/>
                  <a:ea typeface="Arial"/>
                  <a:cs typeface="Arial"/>
                  <a:sym typeface="Arial"/>
                </a:rPr>
                <a:t>384-d semantic vectors</a:t>
              </a:r>
              <a:endParaRPr sz="825">
                <a:solidFill>
                  <a:srgbClr val="A7B7C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69" name="Google Shape;569;g3f0cf9ddd64_0_1609"/>
          <p:cNvGrpSpPr/>
          <p:nvPr/>
        </p:nvGrpSpPr>
        <p:grpSpPr>
          <a:xfrm>
            <a:off x="4876800" y="2257425"/>
            <a:ext cx="171600" cy="57300"/>
            <a:chOff x="0" y="-28575"/>
            <a:chExt cx="171600" cy="57300"/>
          </a:xfrm>
        </p:grpSpPr>
        <p:sp>
          <p:nvSpPr>
            <p:cNvPr id="570" name="Google Shape;570;g3f0cf9ddd64_0_1609"/>
            <p:cNvSpPr/>
            <p:nvPr/>
          </p:nvSpPr>
          <p:spPr>
            <a:xfrm>
              <a:off x="0" y="0"/>
              <a:ext cx="114300" cy="0"/>
            </a:xfrm>
            <a:custGeom>
              <a:rect b="b" l="l" r="r" t="t"/>
              <a:pathLst>
                <a:path extrusionOk="0" fill="none" h="120000" w="120000">
                  <a:moveTo>
                    <a:pt x="0" y="0"/>
                  </a:moveTo>
                  <a:lnTo>
                    <a:pt x="120000" y="0"/>
                  </a:lnTo>
                </a:path>
              </a:pathLst>
            </a:custGeom>
            <a:solidFill>
              <a:srgbClr val="FFFFFF"/>
            </a:solidFill>
            <a:ln cap="flat" cmpd="sng" w="19050">
              <a:solidFill>
                <a:srgbClr val="6F82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g3f0cf9ddd64_0_1609"/>
            <p:cNvSpPr/>
            <p:nvPr/>
          </p:nvSpPr>
          <p:spPr>
            <a:xfrm>
              <a:off x="114300" y="-28575"/>
              <a:ext cx="57300" cy="573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6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6F829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72" name="Google Shape;572;g3f0cf9ddd64_0_1609"/>
          <p:cNvGrpSpPr/>
          <p:nvPr/>
        </p:nvGrpSpPr>
        <p:grpSpPr>
          <a:xfrm>
            <a:off x="5067300" y="1524000"/>
            <a:ext cx="2057400" cy="1666800"/>
            <a:chOff x="0" y="0"/>
            <a:chExt cx="2057400" cy="1666800"/>
          </a:xfrm>
        </p:grpSpPr>
        <p:sp>
          <p:nvSpPr>
            <p:cNvPr id="573" name="Google Shape;573;g3f0cf9ddd64_0_1609"/>
            <p:cNvSpPr/>
            <p:nvPr/>
          </p:nvSpPr>
          <p:spPr>
            <a:xfrm>
              <a:off x="0" y="0"/>
              <a:ext cx="2057400" cy="1666800"/>
            </a:xfrm>
            <a:prstGeom prst="roundRect">
              <a:avLst>
                <a:gd fmla="val 4571" name="adj"/>
              </a:avLst>
            </a:prstGeom>
            <a:solidFill>
              <a:srgbClr val="14243A"/>
            </a:solidFill>
            <a:ln cap="flat" cmpd="sng" w="14300">
              <a:solidFill>
                <a:srgbClr val="1B2E4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g3f0cf9ddd64_0_1609"/>
            <p:cNvSpPr/>
            <p:nvPr/>
          </p:nvSpPr>
          <p:spPr>
            <a:xfrm>
              <a:off x="0" y="0"/>
              <a:ext cx="2057400" cy="38100"/>
            </a:xfrm>
            <a:prstGeom prst="roundRect">
              <a:avLst>
                <a:gd fmla="val 50000" name="adj"/>
              </a:avLst>
            </a:prstGeom>
            <a:solidFill>
              <a:srgbClr val="F6C65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g3f0cf9ddd64_0_1609"/>
            <p:cNvSpPr txBox="1"/>
            <p:nvPr/>
          </p:nvSpPr>
          <p:spPr>
            <a:xfrm>
              <a:off x="0" y="0"/>
              <a:ext cx="2057400" cy="166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52400" lIns="152400" spcFirstLastPara="1" rIns="152400" wrap="square" tIns="15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F6C65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storage</a:t>
              </a:r>
              <a:endParaRPr sz="2400">
                <a:solidFill>
                  <a:srgbClr val="F6C65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F7FAFC"/>
                  </a:solidFill>
                  <a:latin typeface="Arial"/>
                  <a:ea typeface="Arial"/>
                  <a:cs typeface="Arial"/>
                  <a:sym typeface="Arial"/>
                </a:rPr>
                <a:t>FAISS Index</a:t>
              </a:r>
              <a:endParaRPr b="1" sz="1300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825">
                  <a:solidFill>
                    <a:srgbClr val="A7B7CC"/>
                  </a:solidFill>
                  <a:latin typeface="Arial"/>
                  <a:ea typeface="Arial"/>
                  <a:cs typeface="Arial"/>
                  <a:sym typeface="Arial"/>
                </a:rPr>
                <a:t>fast nearest-neighbor search</a:t>
              </a:r>
              <a:endParaRPr sz="825">
                <a:solidFill>
                  <a:srgbClr val="A7B7C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76" name="Google Shape;576;g3f0cf9ddd64_0_1609"/>
          <p:cNvGrpSpPr/>
          <p:nvPr/>
        </p:nvGrpSpPr>
        <p:grpSpPr>
          <a:xfrm>
            <a:off x="7124700" y="2257425"/>
            <a:ext cx="171600" cy="57300"/>
            <a:chOff x="0" y="-28575"/>
            <a:chExt cx="171600" cy="57300"/>
          </a:xfrm>
        </p:grpSpPr>
        <p:sp>
          <p:nvSpPr>
            <p:cNvPr id="577" name="Google Shape;577;g3f0cf9ddd64_0_1609"/>
            <p:cNvSpPr/>
            <p:nvPr/>
          </p:nvSpPr>
          <p:spPr>
            <a:xfrm>
              <a:off x="0" y="0"/>
              <a:ext cx="114300" cy="0"/>
            </a:xfrm>
            <a:custGeom>
              <a:rect b="b" l="l" r="r" t="t"/>
              <a:pathLst>
                <a:path extrusionOk="0" fill="none" h="120000" w="120000">
                  <a:moveTo>
                    <a:pt x="0" y="0"/>
                  </a:moveTo>
                  <a:lnTo>
                    <a:pt x="120000" y="0"/>
                  </a:lnTo>
                </a:path>
              </a:pathLst>
            </a:custGeom>
            <a:solidFill>
              <a:srgbClr val="FFFFFF"/>
            </a:solidFill>
            <a:ln cap="flat" cmpd="sng" w="19050">
              <a:solidFill>
                <a:srgbClr val="6F82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g3f0cf9ddd64_0_1609"/>
            <p:cNvSpPr/>
            <p:nvPr/>
          </p:nvSpPr>
          <p:spPr>
            <a:xfrm>
              <a:off x="114300" y="-28575"/>
              <a:ext cx="57300" cy="573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6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6F829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79" name="Google Shape;579;g3f0cf9ddd64_0_1609"/>
          <p:cNvGrpSpPr/>
          <p:nvPr/>
        </p:nvGrpSpPr>
        <p:grpSpPr>
          <a:xfrm>
            <a:off x="7315200" y="1524000"/>
            <a:ext cx="2057400" cy="1666800"/>
            <a:chOff x="0" y="0"/>
            <a:chExt cx="2057400" cy="1666800"/>
          </a:xfrm>
        </p:grpSpPr>
        <p:sp>
          <p:nvSpPr>
            <p:cNvPr id="580" name="Google Shape;580;g3f0cf9ddd64_0_1609"/>
            <p:cNvSpPr/>
            <p:nvPr/>
          </p:nvSpPr>
          <p:spPr>
            <a:xfrm>
              <a:off x="0" y="0"/>
              <a:ext cx="2057400" cy="1666800"/>
            </a:xfrm>
            <a:prstGeom prst="roundRect">
              <a:avLst>
                <a:gd fmla="val 4571" name="adj"/>
              </a:avLst>
            </a:prstGeom>
            <a:solidFill>
              <a:srgbClr val="14243A"/>
            </a:solidFill>
            <a:ln cap="flat" cmpd="sng" w="14300">
              <a:solidFill>
                <a:srgbClr val="1B2E4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g3f0cf9ddd64_0_1609"/>
            <p:cNvSpPr/>
            <p:nvPr/>
          </p:nvSpPr>
          <p:spPr>
            <a:xfrm>
              <a:off x="0" y="0"/>
              <a:ext cx="2057400" cy="38100"/>
            </a:xfrm>
            <a:prstGeom prst="roundRect">
              <a:avLst>
                <a:gd fmla="val 50000" name="adj"/>
              </a:avLst>
            </a:prstGeom>
            <a:solidFill>
              <a:srgbClr val="A88B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g3f0cf9ddd64_0_1609"/>
            <p:cNvSpPr txBox="1"/>
            <p:nvPr/>
          </p:nvSpPr>
          <p:spPr>
            <a:xfrm>
              <a:off x="0" y="0"/>
              <a:ext cx="2057400" cy="166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52400" lIns="152400" spcFirstLastPara="1" rIns="152400" wrap="square" tIns="15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A88B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hub</a:t>
              </a:r>
              <a:endParaRPr sz="2400">
                <a:solidFill>
                  <a:srgbClr val="A88B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F7FAFC"/>
                  </a:solidFill>
                  <a:latin typeface="Arial"/>
                  <a:ea typeface="Arial"/>
                  <a:cs typeface="Arial"/>
                  <a:sym typeface="Arial"/>
                </a:rPr>
                <a:t>Dependency Tracer</a:t>
              </a:r>
              <a:endParaRPr b="1" sz="1300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825">
                  <a:solidFill>
                    <a:srgbClr val="A7B7CC"/>
                  </a:solidFill>
                  <a:latin typeface="Arial"/>
                  <a:ea typeface="Arial"/>
                  <a:cs typeface="Arial"/>
                  <a:sym typeface="Arial"/>
                </a:rPr>
                <a:t>import + call graphs</a:t>
              </a:r>
              <a:endParaRPr sz="825">
                <a:solidFill>
                  <a:srgbClr val="A7B7C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83" name="Google Shape;583;g3f0cf9ddd64_0_1609"/>
          <p:cNvGrpSpPr/>
          <p:nvPr/>
        </p:nvGrpSpPr>
        <p:grpSpPr>
          <a:xfrm>
            <a:off x="9372600" y="2257425"/>
            <a:ext cx="171600" cy="57300"/>
            <a:chOff x="0" y="-28575"/>
            <a:chExt cx="171600" cy="57300"/>
          </a:xfrm>
        </p:grpSpPr>
        <p:sp>
          <p:nvSpPr>
            <p:cNvPr id="584" name="Google Shape;584;g3f0cf9ddd64_0_1609"/>
            <p:cNvSpPr/>
            <p:nvPr/>
          </p:nvSpPr>
          <p:spPr>
            <a:xfrm>
              <a:off x="0" y="0"/>
              <a:ext cx="114300" cy="0"/>
            </a:xfrm>
            <a:custGeom>
              <a:rect b="b" l="l" r="r" t="t"/>
              <a:pathLst>
                <a:path extrusionOk="0" fill="none" h="120000" w="120000">
                  <a:moveTo>
                    <a:pt x="0" y="0"/>
                  </a:moveTo>
                  <a:lnTo>
                    <a:pt x="120000" y="0"/>
                  </a:lnTo>
                </a:path>
              </a:pathLst>
            </a:custGeom>
            <a:solidFill>
              <a:srgbClr val="FFFFFF"/>
            </a:solidFill>
            <a:ln cap="flat" cmpd="sng" w="19050">
              <a:solidFill>
                <a:srgbClr val="6F82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" name="Google Shape;585;g3f0cf9ddd64_0_1609"/>
            <p:cNvSpPr/>
            <p:nvPr/>
          </p:nvSpPr>
          <p:spPr>
            <a:xfrm>
              <a:off x="114300" y="-28575"/>
              <a:ext cx="57300" cy="573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6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6F829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86" name="Google Shape;586;g3f0cf9ddd64_0_1609"/>
          <p:cNvGrpSpPr/>
          <p:nvPr/>
        </p:nvGrpSpPr>
        <p:grpSpPr>
          <a:xfrm>
            <a:off x="9563100" y="1524000"/>
            <a:ext cx="2057400" cy="1666800"/>
            <a:chOff x="0" y="0"/>
            <a:chExt cx="2057400" cy="1666800"/>
          </a:xfrm>
        </p:grpSpPr>
        <p:sp>
          <p:nvSpPr>
            <p:cNvPr id="587" name="Google Shape;587;g3f0cf9ddd64_0_1609"/>
            <p:cNvSpPr/>
            <p:nvPr/>
          </p:nvSpPr>
          <p:spPr>
            <a:xfrm>
              <a:off x="0" y="0"/>
              <a:ext cx="2057400" cy="1666800"/>
            </a:xfrm>
            <a:prstGeom prst="roundRect">
              <a:avLst>
                <a:gd fmla="val 4571" name="adj"/>
              </a:avLst>
            </a:prstGeom>
            <a:solidFill>
              <a:srgbClr val="14243A"/>
            </a:solidFill>
            <a:ln cap="flat" cmpd="sng" w="14300">
              <a:solidFill>
                <a:srgbClr val="1B2E4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g3f0cf9ddd64_0_1609"/>
            <p:cNvSpPr/>
            <p:nvPr/>
          </p:nvSpPr>
          <p:spPr>
            <a:xfrm>
              <a:off x="0" y="0"/>
              <a:ext cx="2057400" cy="38100"/>
            </a:xfrm>
            <a:prstGeom prst="roundRect">
              <a:avLst>
                <a:gd fmla="val 50000" name="adj"/>
              </a:avLst>
            </a:prstGeom>
            <a:solidFill>
              <a:srgbClr val="53D17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g3f0cf9ddd64_0_1609"/>
            <p:cNvSpPr txBox="1"/>
            <p:nvPr/>
          </p:nvSpPr>
          <p:spPr>
            <a:xfrm>
              <a:off x="0" y="0"/>
              <a:ext cx="2057400" cy="166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52400" lIns="152400" spcFirstLastPara="1" rIns="152400" wrap="square" tIns="15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53D17A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travel_explore</a:t>
              </a:r>
              <a:endParaRPr sz="2400">
                <a:solidFill>
                  <a:srgbClr val="53D17A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F7FAFC"/>
                  </a:solidFill>
                  <a:latin typeface="Arial"/>
                  <a:ea typeface="Arial"/>
                  <a:cs typeface="Arial"/>
                  <a:sym typeface="Arial"/>
                </a:rPr>
                <a:t>Repository Explorer</a:t>
              </a:r>
              <a:endParaRPr b="1" sz="1300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825">
                  <a:solidFill>
                    <a:srgbClr val="A7B7CC"/>
                  </a:solidFill>
                  <a:latin typeface="Arial"/>
                  <a:ea typeface="Arial"/>
                  <a:cs typeface="Arial"/>
                  <a:sym typeface="Arial"/>
                </a:rPr>
                <a:t>unified query interface</a:t>
              </a:r>
              <a:endParaRPr sz="825">
                <a:solidFill>
                  <a:srgbClr val="A7B7C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90" name="Google Shape;590;g3f0cf9ddd64_0_1609"/>
          <p:cNvGrpSpPr/>
          <p:nvPr/>
        </p:nvGrpSpPr>
        <p:grpSpPr>
          <a:xfrm>
            <a:off x="571500" y="3905250"/>
            <a:ext cx="3429000" cy="2190900"/>
            <a:chOff x="0" y="0"/>
            <a:chExt cx="3429000" cy="2190900"/>
          </a:xfrm>
        </p:grpSpPr>
        <p:sp>
          <p:nvSpPr>
            <p:cNvPr id="591" name="Google Shape;591;g3f0cf9ddd64_0_1609"/>
            <p:cNvSpPr/>
            <p:nvPr/>
          </p:nvSpPr>
          <p:spPr>
            <a:xfrm>
              <a:off x="0" y="0"/>
              <a:ext cx="3429000" cy="2190900"/>
            </a:xfrm>
            <a:prstGeom prst="roundRect">
              <a:avLst>
                <a:gd fmla="val 3478" name="adj"/>
              </a:avLst>
            </a:prstGeom>
            <a:solidFill>
              <a:srgbClr val="14243A"/>
            </a:solidFill>
            <a:ln cap="flat" cmpd="sng" w="14300">
              <a:solidFill>
                <a:srgbClr val="1B2E4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g3f0cf9ddd64_0_1609"/>
            <p:cNvSpPr/>
            <p:nvPr/>
          </p:nvSpPr>
          <p:spPr>
            <a:xfrm>
              <a:off x="0" y="0"/>
              <a:ext cx="3429000" cy="47700"/>
            </a:xfrm>
            <a:prstGeom prst="roundRect">
              <a:avLst>
                <a:gd fmla="val 50000" name="adj"/>
              </a:avLst>
            </a:prstGeom>
            <a:solidFill>
              <a:srgbClr val="39C6F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" name="Google Shape;593;g3f0cf9ddd64_0_1609"/>
            <p:cNvSpPr txBox="1"/>
            <p:nvPr/>
          </p:nvSpPr>
          <p:spPr>
            <a:xfrm>
              <a:off x="0" y="0"/>
              <a:ext cx="34290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39C6F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psychology</a:t>
              </a:r>
              <a:endParaRPr sz="2800">
                <a:solidFill>
                  <a:srgbClr val="39C6F4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7FAFC"/>
                  </a:solidFill>
                  <a:latin typeface="Arial"/>
                  <a:ea typeface="Arial"/>
                  <a:cs typeface="Arial"/>
                  <a:sym typeface="Arial"/>
                </a:rPr>
                <a:t>Semantic search</a:t>
              </a:r>
              <a:endParaRPr b="1" sz="1600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150">
                  <a:solidFill>
                    <a:srgbClr val="A7B7CC"/>
                  </a:solidFill>
                  <a:latin typeface="Arial"/>
                  <a:ea typeface="Arial"/>
                  <a:cs typeface="Arial"/>
                  <a:sym typeface="Arial"/>
                </a:rPr>
                <a:t>Find code by meaning using natural-language queries.</a:t>
              </a:r>
              <a:endParaRPr sz="1150">
                <a:solidFill>
                  <a:srgbClr val="A7B7C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94" name="Google Shape;594;g3f0cf9ddd64_0_1609"/>
          <p:cNvGrpSpPr/>
          <p:nvPr/>
        </p:nvGrpSpPr>
        <p:grpSpPr>
          <a:xfrm>
            <a:off x="4381500" y="3905250"/>
            <a:ext cx="3429000" cy="2190900"/>
            <a:chOff x="0" y="0"/>
            <a:chExt cx="3429000" cy="2190900"/>
          </a:xfrm>
        </p:grpSpPr>
        <p:sp>
          <p:nvSpPr>
            <p:cNvPr id="595" name="Google Shape;595;g3f0cf9ddd64_0_1609"/>
            <p:cNvSpPr/>
            <p:nvPr/>
          </p:nvSpPr>
          <p:spPr>
            <a:xfrm>
              <a:off x="0" y="0"/>
              <a:ext cx="3429000" cy="2190900"/>
            </a:xfrm>
            <a:prstGeom prst="roundRect">
              <a:avLst>
                <a:gd fmla="val 3478" name="adj"/>
              </a:avLst>
            </a:prstGeom>
            <a:solidFill>
              <a:srgbClr val="14243A"/>
            </a:solidFill>
            <a:ln cap="flat" cmpd="sng" w="14300">
              <a:solidFill>
                <a:srgbClr val="1B2E4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g3f0cf9ddd64_0_1609"/>
            <p:cNvSpPr/>
            <p:nvPr/>
          </p:nvSpPr>
          <p:spPr>
            <a:xfrm>
              <a:off x="0" y="0"/>
              <a:ext cx="3429000" cy="47700"/>
            </a:xfrm>
            <a:prstGeom prst="roundRect">
              <a:avLst>
                <a:gd fmla="val 50000" name="adj"/>
              </a:avLst>
            </a:prstGeom>
            <a:solidFill>
              <a:srgbClr val="21C7A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g3f0cf9ddd64_0_1609"/>
            <p:cNvSpPr txBox="1"/>
            <p:nvPr/>
          </p:nvSpPr>
          <p:spPr>
            <a:xfrm>
              <a:off x="0" y="0"/>
              <a:ext cx="34290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21C7A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fact_check</a:t>
              </a:r>
              <a:endParaRPr sz="2800">
                <a:solidFill>
                  <a:srgbClr val="21C7A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7FAFC"/>
                  </a:solidFill>
                  <a:latin typeface="Arial"/>
                  <a:ea typeface="Arial"/>
                  <a:cs typeface="Arial"/>
                  <a:sym typeface="Arial"/>
                </a:rPr>
                <a:t>Exact lookup</a:t>
              </a:r>
              <a:endParaRPr b="1" sz="1600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150">
                  <a:solidFill>
                    <a:srgbClr val="A7B7CC"/>
                  </a:solidFill>
                  <a:latin typeface="Arial"/>
                  <a:ea typeface="Arial"/>
                  <a:cs typeface="Arial"/>
                  <a:sym typeface="Arial"/>
                </a:rPr>
                <a:t>Retrieve a function, class or source block instantly by name.</a:t>
              </a:r>
              <a:endParaRPr sz="1150">
                <a:solidFill>
                  <a:srgbClr val="A7B7C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98" name="Google Shape;598;g3f0cf9ddd64_0_1609"/>
          <p:cNvGrpSpPr/>
          <p:nvPr/>
        </p:nvGrpSpPr>
        <p:grpSpPr>
          <a:xfrm>
            <a:off x="8191500" y="3905250"/>
            <a:ext cx="3429000" cy="2190900"/>
            <a:chOff x="0" y="0"/>
            <a:chExt cx="3429000" cy="2190900"/>
          </a:xfrm>
        </p:grpSpPr>
        <p:sp>
          <p:nvSpPr>
            <p:cNvPr id="599" name="Google Shape;599;g3f0cf9ddd64_0_1609"/>
            <p:cNvSpPr/>
            <p:nvPr/>
          </p:nvSpPr>
          <p:spPr>
            <a:xfrm>
              <a:off x="0" y="0"/>
              <a:ext cx="3429000" cy="2190900"/>
            </a:xfrm>
            <a:prstGeom prst="roundRect">
              <a:avLst>
                <a:gd fmla="val 3478" name="adj"/>
              </a:avLst>
            </a:prstGeom>
            <a:solidFill>
              <a:srgbClr val="14243A"/>
            </a:solidFill>
            <a:ln cap="flat" cmpd="sng" w="14300">
              <a:solidFill>
                <a:srgbClr val="1B2E4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g3f0cf9ddd64_0_1609"/>
            <p:cNvSpPr/>
            <p:nvPr/>
          </p:nvSpPr>
          <p:spPr>
            <a:xfrm>
              <a:off x="0" y="0"/>
              <a:ext cx="3429000" cy="47700"/>
            </a:xfrm>
            <a:prstGeom prst="roundRect">
              <a:avLst>
                <a:gd fmla="val 50000" name="adj"/>
              </a:avLst>
            </a:prstGeom>
            <a:solidFill>
              <a:srgbClr val="A88B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g3f0cf9ddd64_0_1609"/>
            <p:cNvSpPr txBox="1"/>
            <p:nvPr/>
          </p:nvSpPr>
          <p:spPr>
            <a:xfrm>
              <a:off x="0" y="0"/>
              <a:ext cx="34290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A88B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lan</a:t>
              </a:r>
              <a:endParaRPr sz="2800">
                <a:solidFill>
                  <a:srgbClr val="A88B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7FAFC"/>
                  </a:solidFill>
                  <a:latin typeface="Arial"/>
                  <a:ea typeface="Arial"/>
                  <a:cs typeface="Arial"/>
                  <a:sym typeface="Arial"/>
                </a:rPr>
                <a:t>Structural query</a:t>
              </a:r>
              <a:endParaRPr b="1" sz="1600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150">
                  <a:solidFill>
                    <a:srgbClr val="A7B7CC"/>
                  </a:solidFill>
                  <a:latin typeface="Arial"/>
                  <a:ea typeface="Arial"/>
                  <a:cs typeface="Arial"/>
                  <a:sym typeface="Arial"/>
                </a:rPr>
                <a:t>Trace dependencies, dependents and function-call relationships.</a:t>
              </a:r>
              <a:endParaRPr sz="1150">
                <a:solidFill>
                  <a:srgbClr val="A7B7C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02" name="Google Shape;602;g3f0cf9ddd64_0_1609"/>
          <p:cNvSpPr/>
          <p:nvPr/>
        </p:nvSpPr>
        <p:spPr>
          <a:xfrm>
            <a:off x="571500" y="3476625"/>
            <a:ext cx="28575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39C6F4"/>
                </a:solidFill>
                <a:latin typeface="Arial"/>
                <a:ea typeface="Arial"/>
                <a:cs typeface="Arial"/>
                <a:sym typeface="Arial"/>
              </a:rPr>
              <a:t>Three query modes</a:t>
            </a:r>
            <a:endParaRPr b="1" sz="1500">
              <a:solidFill>
                <a:srgbClr val="39C6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g3f0cf9ddd64_0_1609"/>
          <p:cNvSpPr txBox="1"/>
          <p:nvPr>
            <p:ph idx="4294967295" type="sldNum"/>
          </p:nvPr>
        </p:nvSpPr>
        <p:spPr>
          <a:xfrm>
            <a:off x="11704320" y="6483096"/>
            <a:ext cx="8001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900">
                <a:solidFill>
                  <a:srgbClr val="6F829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>
              <a:solidFill>
                <a:srgbClr val="6F829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g3f0cf9ddd64_0_1508"/>
          <p:cNvSpPr/>
          <p:nvPr/>
        </p:nvSpPr>
        <p:spPr>
          <a:xfrm>
            <a:off x="548640" y="310896"/>
            <a:ext cx="5029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C6F4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39C6F4"/>
                </a:solidFill>
                <a:latin typeface="Arial"/>
                <a:ea typeface="Arial"/>
                <a:cs typeface="Arial"/>
                <a:sym typeface="Arial"/>
              </a:rPr>
              <a:t>FUTURE ROADMAP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g3f0cf9ddd64_0_1508"/>
          <p:cNvSpPr/>
          <p:nvPr/>
        </p:nvSpPr>
        <p:spPr>
          <a:xfrm>
            <a:off x="548640" y="585216"/>
            <a:ext cx="10972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rPr>
              <a:t>Next: connect intelligence, context and action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11" name="Google Shape;611;g3f0cf9ddd64_0_1508"/>
          <p:cNvGrpSpPr/>
          <p:nvPr/>
        </p:nvGrpSpPr>
        <p:grpSpPr>
          <a:xfrm>
            <a:off x="548640" y="1333500"/>
            <a:ext cx="3429000" cy="2809800"/>
            <a:chOff x="0" y="0"/>
            <a:chExt cx="3429000" cy="2809800"/>
          </a:xfrm>
        </p:grpSpPr>
        <p:sp>
          <p:nvSpPr>
            <p:cNvPr id="612" name="Google Shape;612;g3f0cf9ddd64_0_1508"/>
            <p:cNvSpPr/>
            <p:nvPr/>
          </p:nvSpPr>
          <p:spPr>
            <a:xfrm>
              <a:off x="0" y="0"/>
              <a:ext cx="3429000" cy="2809800"/>
            </a:xfrm>
            <a:prstGeom prst="roundRect">
              <a:avLst>
                <a:gd fmla="val 2711" name="adj"/>
              </a:avLst>
            </a:prstGeom>
            <a:solidFill>
              <a:srgbClr val="14243A"/>
            </a:solidFill>
            <a:ln cap="flat" cmpd="sng" w="14300">
              <a:solidFill>
                <a:srgbClr val="1B2E4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g3f0cf9ddd64_0_1508"/>
            <p:cNvSpPr/>
            <p:nvPr/>
          </p:nvSpPr>
          <p:spPr>
            <a:xfrm>
              <a:off x="0" y="0"/>
              <a:ext cx="3429000" cy="57300"/>
            </a:xfrm>
            <a:prstGeom prst="roundRect">
              <a:avLst>
                <a:gd fmla="val 50000" name="adj"/>
              </a:avLst>
            </a:prstGeom>
            <a:solidFill>
              <a:srgbClr val="39C6F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g3f0cf9ddd64_0_1508"/>
            <p:cNvSpPr txBox="1"/>
            <p:nvPr/>
          </p:nvSpPr>
          <p:spPr>
            <a:xfrm>
              <a:off x="0" y="0"/>
              <a:ext cx="3429000" cy="2809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228600" lIns="190500" spcFirstLastPara="1" rIns="1905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39C6F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layers</a:t>
              </a:r>
              <a:endParaRPr sz="2400">
                <a:solidFill>
                  <a:srgbClr val="39C6F4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39C6F4"/>
                  </a:solidFill>
                  <a:latin typeface="Arial"/>
                  <a:ea typeface="Arial"/>
                  <a:cs typeface="Arial"/>
                  <a:sym typeface="Arial"/>
                </a:rPr>
                <a:t>NOW</a:t>
              </a:r>
              <a:endParaRPr b="1" sz="1100">
                <a:solidFill>
                  <a:srgbClr val="39C6F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F7FAFC"/>
                  </a:solidFill>
                  <a:latin typeface="Arial"/>
                  <a:ea typeface="Arial"/>
                  <a:cs typeface="Arial"/>
                  <a:sym typeface="Arial"/>
                </a:rPr>
                <a:t>Integrate Stage 4 with Combined Stage</a:t>
              </a:r>
              <a:endParaRPr b="1" sz="1500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A7B7CC"/>
                  </a:solidFill>
                  <a:latin typeface="Arial"/>
                  <a:ea typeface="Arial"/>
                  <a:cs typeface="Arial"/>
                  <a:sym typeface="Arial"/>
                </a:rPr>
                <a:t>Use the Repository Explorer as context provider for all six model tasks.</a:t>
              </a:r>
              <a:endParaRPr b="0" sz="1100">
                <a:solidFill>
                  <a:srgbClr val="A7B7C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15" name="Google Shape;615;g3f0cf9ddd64_0_1508"/>
          <p:cNvGrpSpPr/>
          <p:nvPr/>
        </p:nvGrpSpPr>
        <p:grpSpPr>
          <a:xfrm>
            <a:off x="4381500" y="1333500"/>
            <a:ext cx="3429000" cy="2809800"/>
            <a:chOff x="0" y="0"/>
            <a:chExt cx="3429000" cy="2809800"/>
          </a:xfrm>
        </p:grpSpPr>
        <p:sp>
          <p:nvSpPr>
            <p:cNvPr id="616" name="Google Shape;616;g3f0cf9ddd64_0_1508"/>
            <p:cNvSpPr/>
            <p:nvPr/>
          </p:nvSpPr>
          <p:spPr>
            <a:xfrm>
              <a:off x="0" y="0"/>
              <a:ext cx="3429000" cy="2809800"/>
            </a:xfrm>
            <a:prstGeom prst="roundRect">
              <a:avLst>
                <a:gd fmla="val 2711" name="adj"/>
              </a:avLst>
            </a:prstGeom>
            <a:solidFill>
              <a:srgbClr val="14243A"/>
            </a:solidFill>
            <a:ln cap="flat" cmpd="sng" w="14300">
              <a:solidFill>
                <a:srgbClr val="1B2E4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g3f0cf9ddd64_0_1508"/>
            <p:cNvSpPr/>
            <p:nvPr/>
          </p:nvSpPr>
          <p:spPr>
            <a:xfrm>
              <a:off x="0" y="0"/>
              <a:ext cx="3429000" cy="57300"/>
            </a:xfrm>
            <a:prstGeom prst="roundRect">
              <a:avLst>
                <a:gd fmla="val 50000" name="adj"/>
              </a:avLst>
            </a:prstGeom>
            <a:solidFill>
              <a:srgbClr val="21C7A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g3f0cf9ddd64_0_1508"/>
            <p:cNvSpPr txBox="1"/>
            <p:nvPr/>
          </p:nvSpPr>
          <p:spPr>
            <a:xfrm>
              <a:off x="0" y="0"/>
              <a:ext cx="3429000" cy="2809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228600" lIns="190500" spcFirstLastPara="1" rIns="1905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21C7A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storage</a:t>
              </a:r>
              <a:endParaRPr sz="2400">
                <a:solidFill>
                  <a:srgbClr val="21C7A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21C7A8"/>
                  </a:solidFill>
                  <a:latin typeface="Arial"/>
                  <a:ea typeface="Arial"/>
                  <a:cs typeface="Arial"/>
                  <a:sym typeface="Arial"/>
                </a:rPr>
                <a:t>STAGE 5</a:t>
              </a:r>
              <a:endParaRPr b="1" sz="1100">
                <a:solidFill>
                  <a:srgbClr val="21C7A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F7FAFC"/>
                  </a:solidFill>
                  <a:latin typeface="Arial"/>
                  <a:ea typeface="Arial"/>
                  <a:cs typeface="Arial"/>
                  <a:sym typeface="Arial"/>
                </a:rPr>
                <a:t>Repository-grounded RAG</a:t>
              </a:r>
              <a:endParaRPr b="1" sz="1500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A7B7CC"/>
                  </a:solidFill>
                  <a:latin typeface="Arial"/>
                  <a:ea typeface="Arial"/>
                  <a:cs typeface="Arial"/>
                  <a:sym typeface="Arial"/>
                </a:rPr>
                <a:t>Retrieve relevant code, dependencies and examples before generation or translation.</a:t>
              </a:r>
              <a:endParaRPr b="0" sz="1100">
                <a:solidFill>
                  <a:srgbClr val="A7B7C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19" name="Google Shape;619;g3f0cf9ddd64_0_1508"/>
          <p:cNvGrpSpPr/>
          <p:nvPr/>
        </p:nvGrpSpPr>
        <p:grpSpPr>
          <a:xfrm>
            <a:off x="8214360" y="1333500"/>
            <a:ext cx="3429000" cy="2809800"/>
            <a:chOff x="0" y="0"/>
            <a:chExt cx="3429000" cy="2809800"/>
          </a:xfrm>
        </p:grpSpPr>
        <p:sp>
          <p:nvSpPr>
            <p:cNvPr id="620" name="Google Shape;620;g3f0cf9ddd64_0_1508"/>
            <p:cNvSpPr/>
            <p:nvPr/>
          </p:nvSpPr>
          <p:spPr>
            <a:xfrm>
              <a:off x="0" y="0"/>
              <a:ext cx="3429000" cy="2809800"/>
            </a:xfrm>
            <a:prstGeom prst="roundRect">
              <a:avLst>
                <a:gd fmla="val 2711" name="adj"/>
              </a:avLst>
            </a:prstGeom>
            <a:solidFill>
              <a:srgbClr val="14243A"/>
            </a:solidFill>
            <a:ln cap="flat" cmpd="sng" w="14300">
              <a:solidFill>
                <a:srgbClr val="1B2E4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g3f0cf9ddd64_0_1508"/>
            <p:cNvSpPr/>
            <p:nvPr/>
          </p:nvSpPr>
          <p:spPr>
            <a:xfrm>
              <a:off x="0" y="0"/>
              <a:ext cx="3429000" cy="57300"/>
            </a:xfrm>
            <a:prstGeom prst="roundRect">
              <a:avLst>
                <a:gd fmla="val 50000" name="adj"/>
              </a:avLst>
            </a:prstGeom>
            <a:solidFill>
              <a:srgbClr val="A88B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g3f0cf9ddd64_0_1508"/>
            <p:cNvSpPr txBox="1"/>
            <p:nvPr/>
          </p:nvSpPr>
          <p:spPr>
            <a:xfrm>
              <a:off x="0" y="0"/>
              <a:ext cx="3429000" cy="2809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228600" lIns="190500" spcFirstLastPara="1" rIns="1905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A88B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psychology</a:t>
              </a:r>
              <a:endParaRPr sz="2400">
                <a:solidFill>
                  <a:srgbClr val="A88B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A88BFF"/>
                  </a:solidFill>
                  <a:latin typeface="Arial"/>
                  <a:ea typeface="Arial"/>
                  <a:cs typeface="Arial"/>
                  <a:sym typeface="Arial"/>
                </a:rPr>
                <a:t>STAGE 6</a:t>
              </a:r>
              <a:endParaRPr b="1" sz="1100">
                <a:solidFill>
                  <a:srgbClr val="A88B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F7FAFC"/>
                  </a:solidFill>
                  <a:latin typeface="Arial"/>
                  <a:ea typeface="Arial"/>
                  <a:cs typeface="Arial"/>
                  <a:sym typeface="Arial"/>
                </a:rPr>
                <a:t>LangGraph Agentic Assistant</a:t>
              </a:r>
              <a:endParaRPr b="1" sz="1500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A7B7CC"/>
                  </a:solidFill>
                  <a:latin typeface="Arial"/>
                  <a:ea typeface="Arial"/>
                  <a:cs typeface="Arial"/>
                  <a:sym typeface="Arial"/>
                </a:rPr>
                <a:t>Planner • Retriever • Generator • Validator for multi-step development workflows.</a:t>
              </a:r>
              <a:endParaRPr b="0" sz="1100">
                <a:solidFill>
                  <a:srgbClr val="A7B7C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23" name="Google Shape;623;g3f0cf9ddd64_0_1508"/>
          <p:cNvGrpSpPr/>
          <p:nvPr/>
        </p:nvGrpSpPr>
        <p:grpSpPr>
          <a:xfrm>
            <a:off x="548640" y="4381500"/>
            <a:ext cx="11094600" cy="1428900"/>
            <a:chOff x="0" y="0"/>
            <a:chExt cx="11094600" cy="1428900"/>
          </a:xfrm>
        </p:grpSpPr>
        <p:sp>
          <p:nvSpPr>
            <p:cNvPr id="624" name="Google Shape;624;g3f0cf9ddd64_0_1508"/>
            <p:cNvSpPr/>
            <p:nvPr/>
          </p:nvSpPr>
          <p:spPr>
            <a:xfrm>
              <a:off x="0" y="0"/>
              <a:ext cx="11094600" cy="1428900"/>
            </a:xfrm>
            <a:prstGeom prst="roundRect">
              <a:avLst>
                <a:gd fmla="val 5333" name="adj"/>
              </a:avLst>
            </a:prstGeom>
            <a:solidFill>
              <a:srgbClr val="14243A"/>
            </a:solidFill>
            <a:ln cap="flat" cmpd="sng" w="14300">
              <a:solidFill>
                <a:srgbClr val="1B2E4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" name="Google Shape;625;g3f0cf9ddd64_0_1508"/>
            <p:cNvSpPr/>
            <p:nvPr/>
          </p:nvSpPr>
          <p:spPr>
            <a:xfrm>
              <a:off x="0" y="0"/>
              <a:ext cx="11094600" cy="57300"/>
            </a:xfrm>
            <a:prstGeom prst="roundRect">
              <a:avLst>
                <a:gd fmla="val 50000" name="adj"/>
              </a:avLst>
            </a:prstGeom>
            <a:solidFill>
              <a:srgbClr val="53D17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g3f0cf9ddd64_0_1508"/>
            <p:cNvSpPr txBox="1"/>
            <p:nvPr/>
          </p:nvSpPr>
          <p:spPr>
            <a:xfrm>
              <a:off x="0" y="0"/>
              <a:ext cx="11094600" cy="1428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381000" spcFirstLastPara="1" rIns="38100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53D17A"/>
                  </a:solidFill>
                  <a:latin typeface="Arial"/>
                  <a:ea typeface="Arial"/>
                  <a:cs typeface="Arial"/>
                  <a:sym typeface="Arial"/>
                </a:rPr>
                <a:t>TARGET OUTCOME</a:t>
              </a:r>
              <a:endParaRPr b="1" sz="1100">
                <a:solidFill>
                  <a:srgbClr val="53D17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7FAFC"/>
                  </a:solidFill>
                  <a:latin typeface="Arial"/>
                  <a:ea typeface="Arial"/>
                  <a:cs typeface="Arial"/>
                  <a:sym typeface="Arial"/>
                </a:rPr>
                <a:t>A repository-aware assistant that plans, retrieves, generates, validates and iterates — with measurable engineering safeguards.</a:t>
              </a:r>
              <a:endParaRPr b="1" sz="1600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27" name="Google Shape;627;g3f0cf9ddd64_0_1508"/>
          <p:cNvSpPr txBox="1"/>
          <p:nvPr>
            <p:ph idx="4294967295" type="sldNum"/>
          </p:nvPr>
        </p:nvSpPr>
        <p:spPr>
          <a:xfrm>
            <a:off x="11704320" y="6483096"/>
            <a:ext cx="8001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900">
                <a:solidFill>
                  <a:srgbClr val="6F829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>
              <a:solidFill>
                <a:srgbClr val="6F829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628"/>
        </a:solidFill>
      </p:bgPr>
    </p:bg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g3f0cf9ddd64_0_1435"/>
          <p:cNvSpPr/>
          <p:nvPr/>
        </p:nvSpPr>
        <p:spPr>
          <a:xfrm>
            <a:off x="0" y="0"/>
            <a:ext cx="12191700" cy="73200"/>
          </a:xfrm>
          <a:prstGeom prst="rect">
            <a:avLst/>
          </a:prstGeom>
          <a:solidFill>
            <a:srgbClr val="39C6F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g3f0cf9ddd64_0_1435"/>
          <p:cNvSpPr/>
          <p:nvPr/>
        </p:nvSpPr>
        <p:spPr>
          <a:xfrm>
            <a:off x="502920" y="6510528"/>
            <a:ext cx="4114800" cy="164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F829B"/>
                </a:solidFill>
                <a:latin typeface="Arial"/>
                <a:ea typeface="Arial"/>
                <a:cs typeface="Arial"/>
                <a:sym typeface="Arial"/>
              </a:rPr>
              <a:t>RepoCoder Studio | Group 46</a:t>
            </a:r>
            <a:endParaRPr sz="900">
              <a:solidFill>
                <a:srgbClr val="6F829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g3f0cf9ddd64_0_1435"/>
          <p:cNvSpPr/>
          <p:nvPr/>
        </p:nvSpPr>
        <p:spPr>
          <a:xfrm>
            <a:off x="7498080" y="6510528"/>
            <a:ext cx="4160400" cy="164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F829B"/>
                </a:solidFill>
                <a:latin typeface="Arial"/>
                <a:ea typeface="Arial"/>
                <a:cs typeface="Arial"/>
                <a:sym typeface="Arial"/>
              </a:rPr>
              <a:t>IIIT Hyderabad AIML Certification Program</a:t>
            </a:r>
            <a:endParaRPr sz="900">
              <a:solidFill>
                <a:srgbClr val="6F829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g3f0cf9ddd64_0_1435"/>
          <p:cNvSpPr/>
          <p:nvPr/>
        </p:nvSpPr>
        <p:spPr>
          <a:xfrm>
            <a:off x="548640" y="310896"/>
            <a:ext cx="5029200" cy="201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39C6F4"/>
                </a:solidFill>
                <a:latin typeface="Arial"/>
                <a:ea typeface="Arial"/>
                <a:cs typeface="Arial"/>
                <a:sym typeface="Arial"/>
              </a:rPr>
              <a:t>SUMMARY &amp; DISCUSSION</a:t>
            </a:r>
            <a:endParaRPr b="1" sz="1000">
              <a:solidFill>
                <a:srgbClr val="39C6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g3f0cf9ddd64_0_1435"/>
          <p:cNvSpPr/>
          <p:nvPr/>
        </p:nvSpPr>
        <p:spPr>
          <a:xfrm>
            <a:off x="548640" y="585216"/>
            <a:ext cx="10972800" cy="502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rPr>
              <a:t>What we built — and why it matters</a:t>
            </a:r>
            <a:endParaRPr b="1" sz="2800">
              <a:solidFill>
                <a:srgbClr val="F7FAF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38" name="Google Shape;638;g3f0cf9ddd64_0_1435"/>
          <p:cNvGrpSpPr/>
          <p:nvPr/>
        </p:nvGrpSpPr>
        <p:grpSpPr>
          <a:xfrm>
            <a:off x="548640" y="1428750"/>
            <a:ext cx="3429000" cy="2857500"/>
            <a:chOff x="0" y="0"/>
            <a:chExt cx="3429000" cy="2857500"/>
          </a:xfrm>
        </p:grpSpPr>
        <p:sp>
          <p:nvSpPr>
            <p:cNvPr id="639" name="Google Shape;639;g3f0cf9ddd64_0_1435"/>
            <p:cNvSpPr/>
            <p:nvPr/>
          </p:nvSpPr>
          <p:spPr>
            <a:xfrm>
              <a:off x="0" y="0"/>
              <a:ext cx="3429000" cy="2857500"/>
            </a:xfrm>
            <a:prstGeom prst="roundRect">
              <a:avLst>
                <a:gd fmla="val 2666" name="adj"/>
              </a:avLst>
            </a:prstGeom>
            <a:solidFill>
              <a:srgbClr val="14243A"/>
            </a:solidFill>
            <a:ln cap="flat" cmpd="sng" w="14300">
              <a:solidFill>
                <a:srgbClr val="1B2E4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g3f0cf9ddd64_0_1435"/>
            <p:cNvSpPr/>
            <p:nvPr/>
          </p:nvSpPr>
          <p:spPr>
            <a:xfrm>
              <a:off x="0" y="0"/>
              <a:ext cx="3429000" cy="57300"/>
            </a:xfrm>
            <a:prstGeom prst="roundRect">
              <a:avLst>
                <a:gd fmla="val 50000" name="adj"/>
              </a:avLst>
            </a:prstGeom>
            <a:solidFill>
              <a:srgbClr val="53D17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g3f0cf9ddd64_0_1435"/>
            <p:cNvSpPr txBox="1"/>
            <p:nvPr/>
          </p:nvSpPr>
          <p:spPr>
            <a:xfrm>
              <a:off x="0" y="0"/>
              <a:ext cx="34290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190500" spcFirstLastPara="1" rIns="1905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53D17A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check_circle</a:t>
              </a:r>
              <a:endParaRPr sz="2800">
                <a:solidFill>
                  <a:srgbClr val="53D17A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F7FAFC"/>
                  </a:solidFill>
                  <a:latin typeface="Arial"/>
                  <a:ea typeface="Arial"/>
                  <a:cs typeface="Arial"/>
                  <a:sym typeface="Arial"/>
                </a:rPr>
                <a:t>BUILT</a:t>
              </a:r>
              <a:endParaRPr b="1" sz="1500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150">
                  <a:solidFill>
                    <a:srgbClr val="A7B7CC"/>
                  </a:solidFill>
                  <a:latin typeface="Arial"/>
                  <a:ea typeface="Arial"/>
                  <a:cs typeface="Arial"/>
                  <a:sym typeface="Arial"/>
                </a:rPr>
                <a:t>A validated six-task code-intelligence model plus a completed repository explorer.</a:t>
              </a:r>
              <a:endParaRPr b="0" sz="1150">
                <a:solidFill>
                  <a:srgbClr val="A7B7C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42" name="Google Shape;642;g3f0cf9ddd64_0_1435"/>
          <p:cNvGrpSpPr/>
          <p:nvPr/>
        </p:nvGrpSpPr>
        <p:grpSpPr>
          <a:xfrm>
            <a:off x="4381500" y="1428750"/>
            <a:ext cx="3429000" cy="2857500"/>
            <a:chOff x="0" y="0"/>
            <a:chExt cx="3429000" cy="2857500"/>
          </a:xfrm>
        </p:grpSpPr>
        <p:sp>
          <p:nvSpPr>
            <p:cNvPr id="643" name="Google Shape;643;g3f0cf9ddd64_0_1435"/>
            <p:cNvSpPr/>
            <p:nvPr/>
          </p:nvSpPr>
          <p:spPr>
            <a:xfrm>
              <a:off x="0" y="0"/>
              <a:ext cx="3429000" cy="2857500"/>
            </a:xfrm>
            <a:prstGeom prst="roundRect">
              <a:avLst>
                <a:gd fmla="val 2666" name="adj"/>
              </a:avLst>
            </a:prstGeom>
            <a:solidFill>
              <a:srgbClr val="14243A"/>
            </a:solidFill>
            <a:ln cap="flat" cmpd="sng" w="14300">
              <a:solidFill>
                <a:srgbClr val="1B2E4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" name="Google Shape;644;g3f0cf9ddd64_0_1435"/>
            <p:cNvSpPr/>
            <p:nvPr/>
          </p:nvSpPr>
          <p:spPr>
            <a:xfrm>
              <a:off x="0" y="0"/>
              <a:ext cx="3429000" cy="57300"/>
            </a:xfrm>
            <a:prstGeom prst="roundRect">
              <a:avLst>
                <a:gd fmla="val 50000" name="adj"/>
              </a:avLst>
            </a:prstGeom>
            <a:solidFill>
              <a:srgbClr val="39C6F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g3f0cf9ddd64_0_1435"/>
            <p:cNvSpPr txBox="1"/>
            <p:nvPr/>
          </p:nvSpPr>
          <p:spPr>
            <a:xfrm>
              <a:off x="0" y="0"/>
              <a:ext cx="34290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190500" spcFirstLastPara="1" rIns="1905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39C6F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verified</a:t>
              </a:r>
              <a:endParaRPr sz="2800">
                <a:solidFill>
                  <a:srgbClr val="39C6F4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F7FAFC"/>
                  </a:solidFill>
                  <a:latin typeface="Arial"/>
                  <a:ea typeface="Arial"/>
                  <a:cs typeface="Arial"/>
                  <a:sym typeface="Arial"/>
                </a:rPr>
                <a:t>PROVED</a:t>
              </a:r>
              <a:endParaRPr b="1" sz="1500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150">
                  <a:solidFill>
                    <a:srgbClr val="A7B7CC"/>
                  </a:solidFill>
                  <a:latin typeface="Arial"/>
                  <a:ea typeface="Arial"/>
                  <a:cs typeface="Arial"/>
                  <a:sym typeface="Arial"/>
                </a:rPr>
                <a:t>Data quality, prompt contracts and task-aware evaluation can make a 0.5B model meaningfully better.</a:t>
              </a:r>
              <a:endParaRPr b="0" sz="1150">
                <a:solidFill>
                  <a:srgbClr val="A7B7C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46" name="Google Shape;646;g3f0cf9ddd64_0_1435"/>
          <p:cNvGrpSpPr/>
          <p:nvPr/>
        </p:nvGrpSpPr>
        <p:grpSpPr>
          <a:xfrm>
            <a:off x="8214360" y="1428750"/>
            <a:ext cx="3429000" cy="2857500"/>
            <a:chOff x="0" y="0"/>
            <a:chExt cx="3429000" cy="2857500"/>
          </a:xfrm>
        </p:grpSpPr>
        <p:sp>
          <p:nvSpPr>
            <p:cNvPr id="647" name="Google Shape;647;g3f0cf9ddd64_0_1435"/>
            <p:cNvSpPr/>
            <p:nvPr/>
          </p:nvSpPr>
          <p:spPr>
            <a:xfrm>
              <a:off x="0" y="0"/>
              <a:ext cx="3429000" cy="2857500"/>
            </a:xfrm>
            <a:prstGeom prst="roundRect">
              <a:avLst>
                <a:gd fmla="val 2666" name="adj"/>
              </a:avLst>
            </a:prstGeom>
            <a:solidFill>
              <a:srgbClr val="14243A"/>
            </a:solidFill>
            <a:ln cap="flat" cmpd="sng" w="14300">
              <a:solidFill>
                <a:srgbClr val="1B2E4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8" name="Google Shape;648;g3f0cf9ddd64_0_1435"/>
            <p:cNvSpPr/>
            <p:nvPr/>
          </p:nvSpPr>
          <p:spPr>
            <a:xfrm>
              <a:off x="0" y="0"/>
              <a:ext cx="3429000" cy="57300"/>
            </a:xfrm>
            <a:prstGeom prst="roundRect">
              <a:avLst>
                <a:gd fmla="val 50000" name="adj"/>
              </a:avLst>
            </a:prstGeom>
            <a:solidFill>
              <a:srgbClr val="A88B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g3f0cf9ddd64_0_1435"/>
            <p:cNvSpPr txBox="1"/>
            <p:nvPr/>
          </p:nvSpPr>
          <p:spPr>
            <a:xfrm>
              <a:off x="0" y="0"/>
              <a:ext cx="34290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190500" spcFirstLastPara="1" rIns="1905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A88B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fast_forward</a:t>
              </a:r>
              <a:endParaRPr sz="2800">
                <a:solidFill>
                  <a:srgbClr val="A88B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F7FAFC"/>
                  </a:solidFill>
                  <a:latin typeface="Arial"/>
                  <a:ea typeface="Arial"/>
                  <a:cs typeface="Arial"/>
                  <a:sym typeface="Arial"/>
                </a:rPr>
                <a:t>NEXT</a:t>
              </a:r>
              <a:endParaRPr b="1" sz="1500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150">
                  <a:solidFill>
                    <a:srgbClr val="A7B7CC"/>
                  </a:solidFill>
                </a:rPr>
                <a:t>Deployment Model and </a:t>
              </a:r>
              <a:endParaRPr sz="1150">
                <a:solidFill>
                  <a:srgbClr val="A7B7CC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50">
                  <a:solidFill>
                    <a:srgbClr val="A7B7CC"/>
                  </a:solidFill>
                  <a:latin typeface="Arial"/>
                  <a:ea typeface="Arial"/>
                  <a:cs typeface="Arial"/>
                  <a:sym typeface="Arial"/>
                </a:rPr>
                <a:t>Ground the model in repository context, then orchestrate RAG and agentic workflows.</a:t>
              </a:r>
              <a:endParaRPr b="0" sz="1150">
                <a:solidFill>
                  <a:srgbClr val="A7B7C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50" name="Google Shape;650;g3f0cf9ddd64_0_1435"/>
          <p:cNvGrpSpPr/>
          <p:nvPr/>
        </p:nvGrpSpPr>
        <p:grpSpPr>
          <a:xfrm>
            <a:off x="548640" y="4572000"/>
            <a:ext cx="11094600" cy="1428900"/>
            <a:chOff x="0" y="0"/>
            <a:chExt cx="11094600" cy="1428900"/>
          </a:xfrm>
        </p:grpSpPr>
        <p:sp>
          <p:nvSpPr>
            <p:cNvPr id="651" name="Google Shape;651;g3f0cf9ddd64_0_1435"/>
            <p:cNvSpPr/>
            <p:nvPr/>
          </p:nvSpPr>
          <p:spPr>
            <a:xfrm>
              <a:off x="0" y="0"/>
              <a:ext cx="11094600" cy="1428900"/>
            </a:xfrm>
            <a:prstGeom prst="roundRect">
              <a:avLst>
                <a:gd fmla="val 5333" name="adj"/>
              </a:avLst>
            </a:prstGeom>
            <a:solidFill>
              <a:srgbClr val="14243A"/>
            </a:solidFill>
            <a:ln cap="flat" cmpd="sng" w="14300">
              <a:solidFill>
                <a:srgbClr val="1B2E4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" name="Google Shape;652;g3f0cf9ddd64_0_1435"/>
            <p:cNvSpPr/>
            <p:nvPr/>
          </p:nvSpPr>
          <p:spPr>
            <a:xfrm>
              <a:off x="0" y="0"/>
              <a:ext cx="11094600" cy="57300"/>
            </a:xfrm>
            <a:prstGeom prst="roundRect">
              <a:avLst>
                <a:gd fmla="val 50000" name="adj"/>
              </a:avLst>
            </a:prstGeom>
            <a:solidFill>
              <a:srgbClr val="21C7A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3" name="Google Shape;653;g3f0cf9ddd64_0_1435"/>
            <p:cNvSpPr txBox="1"/>
            <p:nvPr/>
          </p:nvSpPr>
          <p:spPr>
            <a:xfrm>
              <a:off x="381000" y="0"/>
              <a:ext cx="47625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200">
                  <a:solidFill>
                    <a:srgbClr val="F7FAFC"/>
                  </a:solidFill>
                  <a:latin typeface="Arial"/>
                  <a:ea typeface="Arial"/>
                  <a:cs typeface="Arial"/>
                  <a:sym typeface="Arial"/>
                </a:rPr>
                <a:t>Thank you</a:t>
              </a:r>
              <a:endParaRPr b="1" sz="3200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4" name="Google Shape;654;g3f0cf9ddd64_0_1435"/>
            <p:cNvSpPr txBox="1"/>
            <p:nvPr/>
          </p:nvSpPr>
          <p:spPr>
            <a:xfrm>
              <a:off x="5951220" y="0"/>
              <a:ext cx="47625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39C6F4"/>
                  </a:solidFill>
                  <a:latin typeface="Arial"/>
                  <a:ea typeface="Arial"/>
                  <a:cs typeface="Arial"/>
                  <a:sym typeface="Arial"/>
                </a:rPr>
                <a:t>Questions &amp; Discussion</a:t>
              </a:r>
              <a:endParaRPr b="1" sz="1800">
                <a:solidFill>
                  <a:srgbClr val="39C6F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r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6F829B"/>
                  </a:solidFill>
                  <a:latin typeface="Arial"/>
                  <a:ea typeface="Arial"/>
                  <a:cs typeface="Arial"/>
                  <a:sym typeface="Arial"/>
                </a:rPr>
                <a:t>RepoCoder Studio • Group 46</a:t>
              </a:r>
              <a:endParaRPr sz="1100">
                <a:solidFill>
                  <a:srgbClr val="6F829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2026-07-04T20:55:47Z</dcterms:created>
  <dc:creator>RepoCoder Studio - Group 46</dc:creator>
</cp:coreProperties>
</file>