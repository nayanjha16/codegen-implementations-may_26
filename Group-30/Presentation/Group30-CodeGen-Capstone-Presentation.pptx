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>
        <p:scale>
          <a:sx n="100" d="100"/>
          <a:sy n="100" d="100"/>
        </p:scale>
        <p:origin x="58" y="-51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5989320"/>
            <a:ext cx="12191695" cy="18288"/>
          </a:xfrm>
          <a:prstGeom prst="rect">
            <a:avLst/>
          </a:prstGeom>
          <a:solidFill>
            <a:srgbClr val="E8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8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8FB4C6"/>
                </a:solidFill>
                <a:latin typeface="Calibri"/>
              </a:rPr>
              <a:t>IIIT HYDERABAD CAPSTONE PROJECT  —  GROUP 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1033272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 i="0">
                <a:solidFill>
                  <a:srgbClr val="FFFFFF"/>
                </a:solidFill>
                <a:latin typeface="Calibri"/>
              </a:rPr>
              <a:t>CodeGen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880360"/>
            <a:ext cx="103327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 i="1">
                <a:solidFill>
                  <a:srgbClr val="C7D9E2"/>
                </a:solidFill>
                <a:latin typeface="Calibri"/>
              </a:rPr>
              <a:t>Cross-Language Code Generation with Fine-Tuned LLMs</a:t>
            </a:r>
            <a:br/>
            <a:r>
              <a:rPr sz="1900" b="0" i="1">
                <a:solidFill>
                  <a:srgbClr val="C7D9E2"/>
                </a:solidFill>
                <a:latin typeface="Calibri"/>
              </a:rPr>
              <a:t>Natural Language → Python → C++, with Voice-Enabled Interaction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3977639"/>
            <a:ext cx="2194560" cy="27940"/>
          </a:xfrm>
          <a:prstGeom prst="rect">
            <a:avLst/>
          </a:prstGeom>
          <a:solidFill>
            <a:srgbClr val="E8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4206240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87A3B"/>
                </a:solidFill>
                <a:latin typeface="Calibri"/>
              </a:rPr>
              <a:t>TEAM MEMBERS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4572000"/>
            <a:ext cx="512064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600" b="1">
                <a:solidFill>
                  <a:srgbClr val="1F7A8C"/>
                </a:solidFill>
                <a:latin typeface="Calibri"/>
              </a:rPr>
              <a:t>▪  </a:t>
            </a:r>
            <a:r>
              <a:rPr sz="1600" b="0" i="0">
                <a:solidFill>
                  <a:srgbClr val="FFFFFF"/>
                </a:solidFill>
                <a:latin typeface="Calibri"/>
              </a:rPr>
              <a:t>Taran Tripathi</a:t>
            </a:r>
          </a:p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600" b="1">
                <a:solidFill>
                  <a:srgbClr val="1F7A8C"/>
                </a:solidFill>
                <a:latin typeface="Calibri"/>
              </a:rPr>
              <a:t>▪  </a:t>
            </a:r>
            <a:r>
              <a:rPr sz="1600" b="0" i="0">
                <a:solidFill>
                  <a:srgbClr val="FFFFFF"/>
                </a:solidFill>
                <a:latin typeface="Calibri"/>
              </a:rPr>
              <a:t>Prakhar Nigam</a:t>
            </a:r>
          </a:p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600" b="1">
                <a:solidFill>
                  <a:srgbClr val="1F7A8C"/>
                </a:solidFill>
                <a:latin typeface="Calibri"/>
              </a:rPr>
              <a:t>▪  </a:t>
            </a:r>
            <a:r>
              <a:rPr sz="1600" b="0" i="0">
                <a:solidFill>
                  <a:srgbClr val="FFFFFF"/>
                </a:solidFill>
                <a:latin typeface="Calibri"/>
              </a:rPr>
              <a:t>Kihim Lohitha</a:t>
            </a:r>
          </a:p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600" b="1">
                <a:solidFill>
                  <a:srgbClr val="1F7A8C"/>
                </a:solidFill>
                <a:latin typeface="Calibri"/>
              </a:rPr>
              <a:t>▪  </a:t>
            </a:r>
            <a:r>
              <a:rPr sz="1600" b="0" i="0">
                <a:solidFill>
                  <a:srgbClr val="FFFFFF"/>
                </a:solidFill>
                <a:latin typeface="Calibri"/>
              </a:rPr>
              <a:t>Tushnik Chakrabarty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4206240"/>
            <a:ext cx="48463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87A3B"/>
                </a:solidFill>
                <a:latin typeface="Calibri"/>
              </a:rPr>
              <a:t>PROJECT GUIDANCE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4572000"/>
            <a:ext cx="484632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500" b="1">
                <a:solidFill>
                  <a:srgbClr val="1F7A8C"/>
                </a:solidFill>
                <a:latin typeface="Calibri"/>
              </a:rPr>
              <a:t>▪  </a:t>
            </a:r>
            <a:r>
              <a:rPr sz="1500" b="1">
                <a:solidFill>
                  <a:srgbClr val="0F2A4A"/>
                </a:solidFill>
                <a:latin typeface="Calibri"/>
              </a:rPr>
              <a:t>Supervisor: </a:t>
            </a:r>
            <a:r>
              <a:rPr sz="1500" b="0" i="0">
                <a:solidFill>
                  <a:srgbClr val="FFFFFF"/>
                </a:solidFill>
                <a:latin typeface="Calibri"/>
              </a:rPr>
              <a:t>Prof. Anil Neelkanti</a:t>
            </a:r>
          </a:p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500" b="1">
                <a:solidFill>
                  <a:srgbClr val="1F7A8C"/>
                </a:solidFill>
                <a:latin typeface="Calibri"/>
              </a:rPr>
              <a:t>▪  </a:t>
            </a:r>
            <a:r>
              <a:rPr sz="1500" b="1">
                <a:solidFill>
                  <a:srgbClr val="0F2A4A"/>
                </a:solidFill>
                <a:latin typeface="Calibri"/>
              </a:rPr>
              <a:t>Mentors: </a:t>
            </a:r>
            <a:r>
              <a:rPr sz="1500" b="0" i="0">
                <a:solidFill>
                  <a:srgbClr val="FFFFFF"/>
                </a:solidFill>
                <a:latin typeface="Calibri"/>
              </a:rPr>
              <a:t>Pawan Baswani, Nayan Anand Jha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635508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1">
                <a:solidFill>
                  <a:srgbClr val="555F6E"/>
                </a:solidFill>
                <a:latin typeface="Calibri"/>
              </a:rPr>
              <a:t>PG Certification Program in Artificial Intelligence and Machine Learning — Cohort 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8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8FB4C6"/>
                </a:solidFill>
                <a:latin typeface="Calibri"/>
              </a:rPr>
              <a:t>MOTIVATION &amp; SCOPE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051560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FFFFFF"/>
                </a:solidFill>
                <a:latin typeface="Calibri"/>
              </a:rPr>
              <a:t>Project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384048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1" i="0">
                <a:solidFill>
                  <a:srgbClr val="8FB4C6"/>
                </a:solidFill>
                <a:latin typeface="Calibri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555F6E"/>
                </a:solidFill>
                <a:latin typeface="Calibri"/>
              </a:rPr>
              <a:t>IIIT Hyderabad Capstone Project — Group 30 : CodeGen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80160"/>
            <a:ext cx="111556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0F2A4A"/>
                </a:solidFill>
                <a:latin typeface="Calibri"/>
              </a:rPr>
              <a:t>Problem Statement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627632"/>
            <a:ext cx="1115568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1A1F2B"/>
                </a:solidFill>
                <a:latin typeface="Calibri"/>
              </a:rPr>
              <a:t>LLMs increasingly understand and synthesize code, not just natural language. This project applies and fine-tunes an LLM to translate between natural language and two programming languages (Python, C++) — demonstrating a path to extend code-generation support to languages an LLM was not originally trained 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606040"/>
            <a:ext cx="5440680" cy="3566160"/>
          </a:xfrm>
          <a:prstGeom prst="rect">
            <a:avLst/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263640" y="2606040"/>
            <a:ext cx="5440680" cy="3566160"/>
          </a:xfrm>
          <a:prstGeom prst="rect">
            <a:avLst/>
          </a:prstGeom>
          <a:solidFill>
            <a:srgbClr val="FC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02920" y="2606040"/>
            <a:ext cx="5440680" cy="502920"/>
          </a:xfrm>
          <a:prstGeom prst="rect">
            <a:avLst/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263640" y="2606040"/>
            <a:ext cx="5440680" cy="502920"/>
          </a:xfrm>
          <a:prstGeom prst="rect">
            <a:avLst/>
          </a:prstGeom>
          <a:solidFill>
            <a:srgbClr val="E8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31520" y="2697480"/>
            <a:ext cx="49834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BASE WORK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697480"/>
            <a:ext cx="49834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STRETCH GOAL WORK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337560"/>
            <a:ext cx="4892040" cy="234512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300" b="1" dirty="0">
                <a:solidFill>
                  <a:srgbClr val="1F7A8C"/>
                </a:solidFill>
                <a:latin typeface="Calibri"/>
              </a:rPr>
              <a:t>▪  </a:t>
            </a:r>
            <a:r>
              <a:rPr sz="1300" b="0" i="0" dirty="0">
                <a:solidFill>
                  <a:srgbClr val="1A1F2B"/>
                </a:solidFill>
                <a:latin typeface="Calibri"/>
              </a:rPr>
              <a:t>Baseline accuracy for NL → Python</a:t>
            </a:r>
            <a:r>
              <a:rPr lang="en-US" sz="1300" b="0" i="0" dirty="0">
                <a:solidFill>
                  <a:srgbClr val="1A1F2B"/>
                </a:solidFill>
                <a:latin typeface="Calibri"/>
              </a:rPr>
              <a:t>/C++</a:t>
            </a:r>
            <a:r>
              <a:rPr sz="1300" b="0" i="0" dirty="0">
                <a:solidFill>
                  <a:srgbClr val="1A1F2B"/>
                </a:solidFill>
                <a:latin typeface="Calibri"/>
              </a:rPr>
              <a:t> and Python → C++ generation using Qwen2.5-Coder-7B-Instruct</a:t>
            </a:r>
          </a:p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300" b="1" dirty="0">
                <a:solidFill>
                  <a:srgbClr val="1F7A8C"/>
                </a:solidFill>
                <a:latin typeface="Calibri"/>
              </a:rPr>
              <a:t>▪  </a:t>
            </a:r>
            <a:r>
              <a:rPr sz="1300" b="0" i="0" dirty="0" err="1">
                <a:solidFill>
                  <a:srgbClr val="1A1F2B"/>
                </a:solidFill>
                <a:latin typeface="Calibri"/>
              </a:rPr>
              <a:t>LoRA</a:t>
            </a:r>
            <a:r>
              <a:rPr sz="1300" b="0" i="0" dirty="0">
                <a:solidFill>
                  <a:srgbClr val="1A1F2B"/>
                </a:solidFill>
                <a:latin typeface="Calibri"/>
              </a:rPr>
              <a:t> fine-tuning in two phases: NL → PL1 (Python</a:t>
            </a:r>
            <a:r>
              <a:rPr lang="en-US" sz="1300" b="0" i="0" dirty="0">
                <a:solidFill>
                  <a:srgbClr val="1A1F2B"/>
                </a:solidFill>
                <a:latin typeface="Calibri"/>
              </a:rPr>
              <a:t>/C++</a:t>
            </a:r>
            <a:r>
              <a:rPr sz="1300" b="0" i="0" dirty="0">
                <a:solidFill>
                  <a:srgbClr val="1A1F2B"/>
                </a:solidFill>
                <a:latin typeface="Calibri"/>
              </a:rPr>
              <a:t>) and PL1 → PL2 (Python  </a:t>
            </a:r>
            <a:r>
              <a:rPr lang="en-US" sz="1300" b="0" i="0" dirty="0">
                <a:solidFill>
                  <a:srgbClr val="1A1F2B"/>
                </a:solidFill>
                <a:latin typeface="Calibri"/>
              </a:rPr>
              <a:t>-&gt; </a:t>
            </a:r>
            <a:r>
              <a:rPr sz="1300" b="0" i="0" dirty="0">
                <a:solidFill>
                  <a:srgbClr val="1A1F2B"/>
                </a:solidFill>
                <a:latin typeface="Calibri"/>
              </a:rPr>
              <a:t>C++)</a:t>
            </a:r>
            <a:endParaRPr lang="en-US" sz="1300" b="0" i="0" dirty="0">
              <a:solidFill>
                <a:srgbClr val="1A1F2B"/>
              </a:solidFill>
              <a:latin typeface="Calibri"/>
            </a:endParaRP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lang="en-US" sz="1300" b="1" dirty="0">
                <a:solidFill>
                  <a:srgbClr val="1F7A8C"/>
                </a:solidFill>
              </a:rPr>
              <a:t>▪  </a:t>
            </a:r>
            <a:r>
              <a:rPr lang="en-US" sz="1300" dirty="0">
                <a:solidFill>
                  <a:srgbClr val="1A1F2B"/>
                </a:solidFill>
              </a:rPr>
              <a:t>PL1-&gt; PL2. PL1-&gt; Documentation-&gt; PL2 Code -&gt; Translate to PL1 -&gt; Compare with ground truth PL1</a:t>
            </a:r>
          </a:p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300" b="1" dirty="0">
                <a:solidFill>
                  <a:srgbClr val="1F7A8C"/>
                </a:solidFill>
                <a:latin typeface="Calibri"/>
              </a:rPr>
              <a:t>▪  </a:t>
            </a:r>
            <a:r>
              <a:rPr sz="1300" b="0" i="0" dirty="0">
                <a:solidFill>
                  <a:srgbClr val="1A1F2B"/>
                </a:solidFill>
                <a:latin typeface="Calibri"/>
              </a:rPr>
              <a:t>Best documentation selected from 3 generation iterations, scored per record</a:t>
            </a:r>
          </a:p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300" b="1" dirty="0">
                <a:solidFill>
                  <a:srgbClr val="1F7A8C"/>
                </a:solidFill>
                <a:latin typeface="Calibri"/>
              </a:rPr>
              <a:t>▪  </a:t>
            </a:r>
            <a:r>
              <a:rPr sz="1300" b="0" i="0" dirty="0">
                <a:solidFill>
                  <a:srgbClr val="1A1F2B"/>
                </a:solidFill>
                <a:latin typeface="Calibri"/>
              </a:rPr>
              <a:t>Evaluation via AST similarity + </a:t>
            </a:r>
            <a:r>
              <a:rPr sz="1300" b="0" i="0" dirty="0" err="1">
                <a:solidFill>
                  <a:srgbClr val="1A1F2B"/>
                </a:solidFill>
                <a:latin typeface="Calibri"/>
              </a:rPr>
              <a:t>GraphCodeBERTScore</a:t>
            </a:r>
            <a:r>
              <a:rPr sz="1300" b="0" i="0" dirty="0">
                <a:solidFill>
                  <a:srgbClr val="1A1F2B"/>
                </a:solidFill>
                <a:latin typeface="Calibri"/>
              </a:rPr>
              <a:t> + LLM-as-judge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3337560"/>
            <a:ext cx="4892040" cy="274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300" b="1">
                <a:solidFill>
                  <a:srgbClr val="1F7A8C"/>
                </a:solidFill>
                <a:latin typeface="Calibri"/>
              </a:rPr>
              <a:t>▪  </a:t>
            </a:r>
            <a:r>
              <a:rPr sz="1300" b="0" i="0">
                <a:solidFill>
                  <a:srgbClr val="1A1F2B"/>
                </a:solidFill>
                <a:latin typeface="Calibri"/>
              </a:rPr>
              <a:t>ASR (Whisper) — speak a natural-language prompt → transcribed → code generated (NL → PL)</a:t>
            </a:r>
          </a:p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300" b="1">
                <a:solidFill>
                  <a:srgbClr val="1F7A8C"/>
                </a:solidFill>
                <a:latin typeface="Calibri"/>
              </a:rPr>
              <a:t>▪  </a:t>
            </a:r>
            <a:r>
              <a:rPr sz="1300" b="0" i="0">
                <a:solidFill>
                  <a:srgbClr val="1A1F2B"/>
                </a:solidFill>
                <a:latin typeface="Calibri"/>
              </a:rPr>
              <a:t>Text interface for PL → PL — paste Python, convert directly to C++</a:t>
            </a:r>
          </a:p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300" b="1">
                <a:solidFill>
                  <a:srgbClr val="1F7A8C"/>
                </a:solidFill>
                <a:latin typeface="Calibri"/>
              </a:rPr>
              <a:t>▪  </a:t>
            </a:r>
            <a:r>
              <a:rPr sz="1300" b="0" i="0">
                <a:solidFill>
                  <a:srgbClr val="1A1F2B"/>
                </a:solidFill>
                <a:latin typeface="Calibri"/>
              </a:rPr>
              <a:t>Auto task-detection — LLM classifier routes input to the correct LoRA adapter</a:t>
            </a:r>
          </a:p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300" b="1">
                <a:solidFill>
                  <a:srgbClr val="1F7A8C"/>
                </a:solidFill>
                <a:latin typeface="Calibri"/>
              </a:rPr>
              <a:t>▪  </a:t>
            </a:r>
            <a:r>
              <a:rPr sz="1300" b="0" i="0">
                <a:solidFill>
                  <a:srgbClr val="1A1F2B"/>
                </a:solidFill>
                <a:latin typeface="Calibri"/>
              </a:rPr>
              <a:t>Delivered as a live, voice-enabled Gradio web application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8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8FB4C6"/>
                </a:solidFill>
                <a:latin typeface="Calibri"/>
              </a:rPr>
              <a:t>SYSTEM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051560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FFFFFF"/>
                </a:solidFill>
                <a:latin typeface="Calibri"/>
              </a:rPr>
              <a:t>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384048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1" i="0">
                <a:solidFill>
                  <a:srgbClr val="8FB4C6"/>
                </a:solidFill>
                <a:latin typeface="Calibri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555F6E"/>
                </a:solidFill>
                <a:latin typeface="Calibri"/>
              </a:rPr>
              <a:t>IIIT Hyderabad Capstone Project — Group 30 : CodeGen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34440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2A4A"/>
                </a:solidFill>
                <a:latin typeface="Calibri"/>
              </a:rPr>
              <a:t>End-to-End Pipeline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27632"/>
            <a:ext cx="1783080" cy="868680"/>
          </a:xfrm>
          <a:prstGeom prst="roundRect">
            <a:avLst>
              <a:gd name="adj" fmla="val 12000"/>
            </a:avLst>
          </a:prstGeom>
          <a:solidFill>
            <a:srgbClr val="1F7A8C"/>
          </a:solidFill>
          <a:ln w="9525">
            <a:solidFill>
              <a:srgbClr val="1F7A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0800" rIns="76200" bIns="50800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the-stack-dedup
Dataset
(Python + C++)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296000" y="1961388"/>
            <a:ext cx="137160" cy="201168"/>
          </a:xfrm>
          <a:prstGeom prst="rightArrow">
            <a:avLst/>
          </a:prstGeom>
          <a:solidFill>
            <a:srgbClr val="555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2560320" y="1627632"/>
            <a:ext cx="1783080" cy="868680"/>
          </a:xfrm>
          <a:prstGeom prst="roundRect">
            <a:avLst>
              <a:gd name="adj" fmla="val 12000"/>
            </a:avLst>
          </a:prstGeom>
          <a:solidFill>
            <a:srgbClr val="1F7A8C"/>
          </a:solidFill>
          <a:ln w="9525">
            <a:solidFill>
              <a:srgbClr val="1F7A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0800" rIns="76200" bIns="50800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Documentation
Generator
(Qwen2.5-Coder)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353400" y="1961388"/>
            <a:ext cx="137160" cy="201168"/>
          </a:xfrm>
          <a:prstGeom prst="rightArrow">
            <a:avLst/>
          </a:prstGeom>
          <a:solidFill>
            <a:srgbClr val="555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4617720" y="1627632"/>
            <a:ext cx="1783080" cy="868680"/>
          </a:xfrm>
          <a:prstGeom prst="roundRect">
            <a:avLst>
              <a:gd name="adj" fmla="val 12000"/>
            </a:avLst>
          </a:prstGeom>
          <a:solidFill>
            <a:srgbClr val="0F2A4A"/>
          </a:solidFill>
          <a:ln w="9525">
            <a:solidFill>
              <a:srgbClr val="0F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0800" rIns="76200" bIns="50800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Code Generator
+ LoRA Adapters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410800" y="1961388"/>
            <a:ext cx="137160" cy="201168"/>
          </a:xfrm>
          <a:prstGeom prst="rightArrow">
            <a:avLst/>
          </a:prstGeom>
          <a:solidFill>
            <a:srgbClr val="555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6675120" y="1627632"/>
            <a:ext cx="1783080" cy="868680"/>
          </a:xfrm>
          <a:prstGeom prst="roundRect">
            <a:avLst>
              <a:gd name="adj" fmla="val 12000"/>
            </a:avLst>
          </a:prstGeom>
          <a:solidFill>
            <a:srgbClr val="1F7A8C"/>
          </a:solidFill>
          <a:ln w="9525">
            <a:solidFill>
              <a:srgbClr val="1F7A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0800" rIns="76200" bIns="50800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AST +
GraphCodeBERT
Scoring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8468200" y="1961388"/>
            <a:ext cx="137160" cy="201168"/>
          </a:xfrm>
          <a:prstGeom prst="rightArrow">
            <a:avLst/>
          </a:prstGeom>
          <a:solidFill>
            <a:srgbClr val="555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8732520" y="1627632"/>
            <a:ext cx="1783080" cy="868680"/>
          </a:xfrm>
          <a:prstGeom prst="roundRect">
            <a:avLst>
              <a:gd name="adj" fmla="val 12000"/>
            </a:avLst>
          </a:prstGeom>
          <a:solidFill>
            <a:srgbClr val="E87A3B"/>
          </a:solidFill>
          <a:ln w="9525">
            <a:solidFill>
              <a:srgbClr val="E87A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0800" rIns="76200" bIns="50800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Best-of-3
Selection → Store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2743200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2A4A"/>
                </a:solidFill>
                <a:latin typeface="Calibri"/>
              </a:rPr>
              <a:t>Three-Phase Workflow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154680"/>
            <a:ext cx="3520440" cy="777240"/>
          </a:xfrm>
          <a:prstGeom prst="roundRect">
            <a:avLst>
              <a:gd name="adj" fmla="val 12000"/>
            </a:avLst>
          </a:prstGeom>
          <a:solidFill>
            <a:srgbClr val="2C4A66"/>
          </a:solidFill>
          <a:ln w="9525">
            <a:solidFill>
              <a:srgbClr val="2C4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0800" rIns="76200" bIns="5080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Baseline Phase
(base model accuracy)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4033360" y="3438144"/>
            <a:ext cx="320040" cy="201168"/>
          </a:xfrm>
          <a:prstGeom prst="rightArrow">
            <a:avLst/>
          </a:prstGeom>
          <a:solidFill>
            <a:srgbClr val="555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4480560" y="3154680"/>
            <a:ext cx="3520440" cy="777240"/>
          </a:xfrm>
          <a:prstGeom prst="roundRect">
            <a:avLst>
              <a:gd name="adj" fmla="val 12000"/>
            </a:avLst>
          </a:prstGeom>
          <a:solidFill>
            <a:srgbClr val="2C4A66"/>
          </a:solidFill>
          <a:ln w="9525">
            <a:solidFill>
              <a:srgbClr val="2C4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0800" rIns="76200" bIns="5080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LoRA Fine-Tuning Phase
(NL→PL1, PL1→PL2)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8011000" y="3438144"/>
            <a:ext cx="320040" cy="201168"/>
          </a:xfrm>
          <a:prstGeom prst="rightArrow">
            <a:avLst/>
          </a:prstGeom>
          <a:solidFill>
            <a:srgbClr val="555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8458200" y="3154680"/>
            <a:ext cx="3520440" cy="777240"/>
          </a:xfrm>
          <a:prstGeom prst="roundRect">
            <a:avLst>
              <a:gd name="adj" fmla="val 12000"/>
            </a:avLst>
          </a:prstGeom>
          <a:solidFill>
            <a:srgbClr val="2C4A66"/>
          </a:solidFill>
          <a:ln w="9525">
            <a:solidFill>
              <a:srgbClr val="2C4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0800" rIns="76200" bIns="5080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Validation Phase
(held-out evaluation)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4251960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2A4A"/>
                </a:solidFill>
                <a:latin typeface="Calibri"/>
              </a:rPr>
              <a:t>Design Pattern: Singleton Model Management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4617720"/>
            <a:ext cx="1115568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300" b="1">
                <a:solidFill>
                  <a:srgbClr val="1F7A8C"/>
                </a:solidFill>
                <a:latin typeface="Calibri"/>
              </a:rPr>
              <a:t>▪  </a:t>
            </a:r>
            <a:r>
              <a:rPr sz="1300" b="1">
                <a:solidFill>
                  <a:srgbClr val="0F2A4A"/>
                </a:solidFill>
                <a:latin typeface="Calibri"/>
              </a:rPr>
              <a:t>SingletonMeta</a:t>
            </a:r>
            <a:r>
              <a:rPr sz="1300" b="0" i="0">
                <a:solidFill>
                  <a:srgbClr val="1A1F2B"/>
                </a:solidFill>
                <a:latin typeface="Calibri"/>
              </a:rPr>
              <a:t>Every heavyweight component — </a:t>
            </a:r>
          </a:p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300" b="1">
                <a:solidFill>
                  <a:srgbClr val="1F7A8C"/>
                </a:solidFill>
                <a:latin typeface="Calibri"/>
              </a:rPr>
              <a:t>▪  </a:t>
            </a:r>
            <a:r>
              <a:rPr sz="1300" b="0" i="0">
                <a:solidFill>
                  <a:srgbClr val="1A1F2B"/>
                </a:solidFill>
                <a:latin typeface="Calibri"/>
              </a:rPr>
              <a:t>QwenModelBase, CodeDocumentationGenerator, QwenCodeGenerator, LLMJudge, AST, GraphCodeBERTScorer, FilteredDataset, BaselineData — is implemented as a singleton</a:t>
            </a:r>
          </a:p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300" b="1">
                <a:solidFill>
                  <a:srgbClr val="1F7A8C"/>
                </a:solidFill>
                <a:latin typeface="Calibri"/>
              </a:rPr>
              <a:t>▪  </a:t>
            </a:r>
            <a:r>
              <a:rPr sz="1300" b="0" i="0">
                <a:solidFill>
                  <a:srgbClr val="1A1F2B"/>
                </a:solidFill>
                <a:latin typeface="Calibri"/>
              </a:rPr>
              <a:t>Prevents redundant model reloads across pipeline stages — critical for GPU memory efficiency</a:t>
            </a:r>
          </a:p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300" b="1">
                <a:solidFill>
                  <a:srgbClr val="1F7A8C"/>
                </a:solidFill>
                <a:latin typeface="Calibri"/>
              </a:rPr>
              <a:t>▪  </a:t>
            </a:r>
            <a:r>
              <a:rPr sz="1300" b="0" i="0">
                <a:solidFill>
                  <a:srgbClr val="1A1F2B"/>
                </a:solidFill>
                <a:latin typeface="Calibri"/>
              </a:rPr>
              <a:t>BaselineData orchestrates the full workflow: loads/unloads models, runs baseline + validation, computes summary statistics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8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8FB4C6"/>
                </a:solidFill>
                <a:latin typeface="Calibri"/>
              </a:rPr>
              <a:t>DATA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051560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FFFFFF"/>
                </a:solidFill>
                <a:latin typeface="Calibri"/>
              </a:rPr>
              <a:t>Dataset &amp; Training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384048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1" i="0">
                <a:solidFill>
                  <a:srgbClr val="8FB4C6"/>
                </a:solidFill>
                <a:latin typeface="Calibri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555F6E"/>
                </a:solidFill>
                <a:latin typeface="Calibri"/>
              </a:rPr>
              <a:t>IIIT Hyderabad Capstone Project — Group 30 : CodeGen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8016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F2A4A"/>
                </a:solidFill>
                <a:latin typeface="Calibri"/>
              </a:rPr>
              <a:t>Data Source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645920"/>
            <a:ext cx="548640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250" b="1">
                <a:solidFill>
                  <a:srgbClr val="1F7A8C"/>
                </a:solidFill>
                <a:latin typeface="Calibri"/>
              </a:rPr>
              <a:t>▪  </a:t>
            </a:r>
            <a:r>
              <a:rPr sz="1250" b="1">
                <a:solidFill>
                  <a:srgbClr val="0F2A4A"/>
                </a:solidFill>
                <a:latin typeface="Calibri"/>
              </a:rPr>
              <a:t> (HuggingFace) — deduplicated Python &amp; C++ source files</a:t>
            </a:r>
            <a:r>
              <a:rPr sz="1250" b="0" i="0">
                <a:solidFill>
                  <a:srgbClr val="1A1F2B"/>
                </a:solidFill>
                <a:latin typeface="Calibri"/>
              </a:rPr>
              <a:t>bigcode/the-stack-dedup</a:t>
            </a:r>
          </a:p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250" b="1">
                <a:solidFill>
                  <a:srgbClr val="1F7A8C"/>
                </a:solidFill>
                <a:latin typeface="Calibri"/>
              </a:rPr>
              <a:t>▪  </a:t>
            </a:r>
            <a:r>
              <a:rPr sz="1250" b="1">
                <a:solidFill>
                  <a:srgbClr val="0F2A4A"/>
                </a:solidFill>
                <a:latin typeface="Calibri"/>
              </a:rPr>
              <a:t>hexsha (id), content (code), lang, max_stars_count</a:t>
            </a:r>
            <a:r>
              <a:rPr sz="1250" b="0" i="0">
                <a:solidFill>
                  <a:srgbClr val="1A1F2B"/>
                </a:solidFill>
                <a:latin typeface="Calibri"/>
              </a:rPr>
              <a:t>Fields used: </a:t>
            </a:r>
          </a:p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250" b="1">
                <a:solidFill>
                  <a:srgbClr val="1F7A8C"/>
                </a:solidFill>
                <a:latin typeface="Calibri"/>
              </a:rPr>
              <a:t>▪  </a:t>
            </a:r>
            <a:r>
              <a:rPr sz="1250" b="0" i="0">
                <a:solidFill>
                  <a:srgbClr val="1A1F2B"/>
                </a:solidFill>
                <a:latin typeface="Calibri"/>
              </a:rPr>
              <a:t>Streamed, filtered to Python/C++, then enriched (language tag, documentation cache, score placeholders)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06324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F2A4A"/>
                </a:solidFill>
                <a:latin typeface="Calibri"/>
              </a:rPr>
              <a:t>Why Caching Matters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429000"/>
            <a:ext cx="54864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250" b="1">
                <a:solidFill>
                  <a:srgbClr val="1F7A8C"/>
                </a:solidFill>
                <a:latin typeface="Calibri"/>
              </a:rPr>
              <a:t>▪  </a:t>
            </a:r>
            <a:r>
              <a:rPr sz="1250" b="0" i="0">
                <a:solidFill>
                  <a:srgbClr val="1A1F2B"/>
                </a:solidFill>
                <a:latin typeface="Calibri"/>
              </a:rPr>
              <a:t>Streaming from HuggingFace on every pass is slow — caching gives instant reloads</a:t>
            </a:r>
          </a:p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250" b="1">
                <a:solidFill>
                  <a:srgbClr val="1F7A8C"/>
                </a:solidFill>
                <a:latin typeface="Calibri"/>
              </a:rPr>
              <a:t>▪  </a:t>
            </a:r>
            <a:r>
              <a:rPr sz="1250" b="0" i="0">
                <a:solidFill>
                  <a:srgbClr val="1A1F2B"/>
                </a:solidFill>
                <a:latin typeface="Calibri"/>
              </a:rPr>
              <a:t>Baseline computation needs multiple passes over the same records</a:t>
            </a:r>
          </a:p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250" b="1">
                <a:solidFill>
                  <a:srgbClr val="1F7A8C"/>
                </a:solidFill>
                <a:latin typeface="Calibri"/>
              </a:rPr>
              <a:t>▪  </a:t>
            </a:r>
            <a:r>
              <a:rPr sz="1250" b="0" i="0">
                <a:solidFill>
                  <a:srgbClr val="1A1F2B"/>
                </a:solidFill>
                <a:latin typeface="Calibri"/>
              </a:rPr>
              <a:t>Guarantees consistent records across runs and experiments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280160"/>
            <a:ext cx="5257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F2A4A"/>
                </a:solidFill>
                <a:latin typeface="Calibri"/>
              </a:rPr>
              <a:t>Dataset Split (equal thirds)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400800" y="1645920"/>
          <a:ext cx="5257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21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60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495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Phase</a:t>
                      </a:r>
                    </a:p>
                  </a:txBody>
                  <a:tcPr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Split</a:t>
                      </a:r>
                    </a:p>
                  </a:txBody>
                  <a:tcPr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Purpose</a:t>
                      </a:r>
                    </a:p>
                  </a:txBody>
                  <a:tcPr anchor="ctr">
                    <a:solidFill>
                      <a:srgbClr val="0F2A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86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F2B"/>
                          </a:solidFill>
                          <a:latin typeface="Calibri"/>
                        </a:rPr>
                        <a:t>Baseline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F2B"/>
                          </a:solidFill>
                          <a:latin typeface="Calibri"/>
                        </a:rPr>
                        <a:t>1/3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F2B"/>
                          </a:solidFill>
                          <a:latin typeface="Calibri"/>
                        </a:rPr>
                        <a:t>Base-model accuracy computation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86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F2B"/>
                          </a:solidFill>
                          <a:latin typeface="Calibri"/>
                        </a:rPr>
                        <a:t>LoRA Training</a:t>
                      </a:r>
                    </a:p>
                  </a:txBody>
                  <a:tcPr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F2B"/>
                          </a:solidFill>
                          <a:latin typeface="Calibri"/>
                        </a:rPr>
                        <a:t>1/3</a:t>
                      </a:r>
                    </a:p>
                  </a:txBody>
                  <a:tcPr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F2B"/>
                          </a:solidFill>
                          <a:latin typeface="Calibri"/>
                        </a:rPr>
                        <a:t>Fine-tuning the adapters</a:t>
                      </a:r>
                    </a:p>
                  </a:txBody>
                  <a:tcPr anchor="ctr">
                    <a:solidFill>
                      <a:srgbClr val="EEF2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86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F2B"/>
                          </a:solidFill>
                          <a:latin typeface="Calibri"/>
                        </a:rPr>
                        <a:t>Validation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F2B"/>
                          </a:solidFill>
                          <a:latin typeface="Calibri"/>
                        </a:rPr>
                        <a:t>1/3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F2B"/>
                          </a:solidFill>
                          <a:latin typeface="Calibri"/>
                        </a:rPr>
                        <a:t>Held-out evaluation of fine-tuned model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6400800" y="3520440"/>
            <a:ext cx="5257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F2A4A"/>
                </a:solidFill>
                <a:latin typeface="Calibri"/>
              </a:rPr>
              <a:t>Run to Date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886200"/>
            <a:ext cx="52578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250" b="1">
                <a:solidFill>
                  <a:srgbClr val="1F7A8C"/>
                </a:solidFill>
                <a:latin typeface="Calibri"/>
              </a:rPr>
              <a:t>▪  </a:t>
            </a:r>
            <a:r>
              <a:rPr sz="1250" b="1">
                <a:solidFill>
                  <a:srgbClr val="0F2A4A"/>
                </a:solidFill>
                <a:latin typeface="Calibri"/>
              </a:rPr>
              <a:t>Baseline records processed: </a:t>
            </a:r>
            <a:r>
              <a:rPr sz="1250" b="0" i="0">
                <a:solidFill>
                  <a:srgbClr val="1A1F2B"/>
                </a:solidFill>
                <a:latin typeface="Calibri"/>
              </a:rPr>
              <a:t>167</a:t>
            </a:r>
          </a:p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250" b="1">
                <a:solidFill>
                  <a:srgbClr val="1F7A8C"/>
                </a:solidFill>
                <a:latin typeface="Calibri"/>
              </a:rPr>
              <a:t>▪  </a:t>
            </a:r>
            <a:r>
              <a:rPr sz="1250" b="1">
                <a:solidFill>
                  <a:srgbClr val="0F2A4A"/>
                </a:solidFill>
                <a:latin typeface="Calibri"/>
              </a:rPr>
              <a:t>Language split: </a:t>
            </a:r>
            <a:r>
              <a:rPr sz="1250" b="0" i="0">
                <a:solidFill>
                  <a:srgbClr val="1A1F2B"/>
                </a:solidFill>
                <a:latin typeface="Calibri"/>
              </a:rPr>
              <a:t>84 Python  /  83 C++</a:t>
            </a:r>
          </a:p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250" b="1">
                <a:solidFill>
                  <a:srgbClr val="1F7A8C"/>
                </a:solidFill>
                <a:latin typeface="Calibri"/>
              </a:rPr>
              <a:t>▪  </a:t>
            </a:r>
            <a:r>
              <a:rPr sz="1250" b="0" i="0">
                <a:solidFill>
                  <a:srgbClr val="1A1F2B"/>
                </a:solidFill>
                <a:latin typeface="Calibri"/>
              </a:rPr>
              <a:t>GPU memory limits (see Issues &amp; Learnings) constrained full-dataset runs on available T4/L4 hardware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8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8FB4C6"/>
                </a:solidFill>
                <a:latin typeface="Calibri"/>
              </a:rPr>
              <a:t>MODELS &amp; FINE-TUNING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051560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FFFFFF"/>
                </a:solidFill>
                <a:latin typeface="Calibri"/>
              </a:rPr>
              <a:t>Model Details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384048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1" i="0">
                <a:solidFill>
                  <a:srgbClr val="8FB4C6"/>
                </a:solidFill>
                <a:latin typeface="Calibri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555F6E"/>
                </a:solidFill>
                <a:latin typeface="Calibri"/>
              </a:rPr>
              <a:t>IIIT Hyderabad Capstone Project — Group 30 : CodeGen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8741260"/>
              </p:ext>
            </p:extLst>
          </p:nvPr>
        </p:nvGraphicFramePr>
        <p:xfrm>
          <a:off x="502920" y="1325880"/>
          <a:ext cx="11201400" cy="27965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43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565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80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648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Component</a:t>
                      </a:r>
                    </a:p>
                  </a:txBody>
                  <a:tcPr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Purpose</a:t>
                      </a:r>
                    </a:p>
                  </a:txBody>
                  <a:tcPr anchor="ctr">
                    <a:solidFill>
                      <a:srgbClr val="0F2A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4820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A1F2B"/>
                          </a:solidFill>
                          <a:latin typeface="Calibri"/>
                        </a:rPr>
                        <a:t>Base LLM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A1F2B"/>
                          </a:solidFill>
                          <a:latin typeface="Calibri"/>
                        </a:rPr>
                        <a:t>Qwen/Qwen2.5-Coder-7B-Instruct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A1F2B"/>
                          </a:solidFill>
                          <a:latin typeface="Calibri"/>
                        </a:rPr>
                        <a:t>Documentation generation, code generation, LLM-judge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4820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A1F2B"/>
                          </a:solidFill>
                          <a:latin typeface="Calibri"/>
                        </a:rPr>
                        <a:t>Fine-tuning</a:t>
                      </a:r>
                    </a:p>
                  </a:txBody>
                  <a:tcPr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A1F2B"/>
                          </a:solidFill>
                          <a:latin typeface="Calibri"/>
                        </a:rPr>
                        <a:t>LoRA  (r=16, α=32)  +  4-bit NF4 quantization</a:t>
                      </a:r>
                    </a:p>
                  </a:txBody>
                  <a:tcPr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dirty="0">
                          <a:solidFill>
                            <a:srgbClr val="1A1F2B"/>
                          </a:solidFill>
                          <a:latin typeface="Calibri"/>
                        </a:rPr>
                        <a:t>Two adapters: </a:t>
                      </a:r>
                      <a:r>
                        <a:rPr sz="1250" dirty="0" err="1">
                          <a:solidFill>
                            <a:srgbClr val="1A1F2B"/>
                          </a:solidFill>
                          <a:latin typeface="Calibri"/>
                        </a:rPr>
                        <a:t>NL→Python</a:t>
                      </a:r>
                      <a:r>
                        <a:rPr lang="en-US" sz="1250" dirty="0">
                          <a:solidFill>
                            <a:srgbClr val="1A1F2B"/>
                          </a:solidFill>
                          <a:latin typeface="Calibri"/>
                        </a:rPr>
                        <a:t>/C++</a:t>
                      </a:r>
                      <a:r>
                        <a:rPr sz="1250" dirty="0">
                          <a:solidFill>
                            <a:srgbClr val="1A1F2B"/>
                          </a:solidFill>
                          <a:latin typeface="Calibri"/>
                        </a:rPr>
                        <a:t>, </a:t>
                      </a:r>
                      <a:r>
                        <a:rPr sz="1250" dirty="0" err="1">
                          <a:solidFill>
                            <a:srgbClr val="1A1F2B"/>
                          </a:solidFill>
                          <a:latin typeface="Calibri"/>
                        </a:rPr>
                        <a:t>Python→C</a:t>
                      </a:r>
                      <a:r>
                        <a:rPr sz="1250" dirty="0">
                          <a:solidFill>
                            <a:srgbClr val="1A1F2B"/>
                          </a:solidFill>
                          <a:latin typeface="Calibri"/>
                        </a:rPr>
                        <a:t>++</a:t>
                      </a:r>
                    </a:p>
                  </a:txBody>
                  <a:tcPr anchor="ctr">
                    <a:solidFill>
                      <a:srgbClr val="EEF2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4820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A1F2B"/>
                          </a:solidFill>
                          <a:latin typeface="Calibri"/>
                        </a:rPr>
                        <a:t>Semantic similarity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A1F2B"/>
                          </a:solidFill>
                          <a:latin typeface="Calibri"/>
                        </a:rPr>
                        <a:t>microsoft/graphcodebert-base</a:t>
                      </a:r>
                    </a:p>
                    <a:p>
                      <a:r>
                        <a:rPr sz="1250">
                          <a:solidFill>
                            <a:srgbClr val="1A1F2B"/>
                          </a:solidFill>
                          <a:latin typeface="Calibri"/>
                        </a:rPr>
                        <a:t>(via sentence-transformers)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A1F2B"/>
                          </a:solidFill>
                          <a:latin typeface="Calibri"/>
                        </a:rPr>
                        <a:t>Embedding cosine similarity between code pairs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4820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A1F2B"/>
                          </a:solidFill>
                          <a:latin typeface="Calibri"/>
                        </a:rPr>
                        <a:t>Structural similarity</a:t>
                      </a:r>
                    </a:p>
                  </a:txBody>
                  <a:tcPr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A1F2B"/>
                          </a:solidFill>
                          <a:latin typeface="Calibri"/>
                        </a:rPr>
                        <a:t>tree-sitter (Python &amp; C++ grammars)</a:t>
                      </a:r>
                    </a:p>
                  </a:txBody>
                  <a:tcPr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A1F2B"/>
                          </a:solidFill>
                          <a:latin typeface="Calibri"/>
                        </a:rPr>
                        <a:t>AST generation + node-level similarity comparison</a:t>
                      </a:r>
                    </a:p>
                  </a:txBody>
                  <a:tcPr anchor="ctr">
                    <a:solidFill>
                      <a:srgbClr val="EEF2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64820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A1F2B"/>
                          </a:solidFill>
                          <a:latin typeface="Calibri"/>
                        </a:rPr>
                        <a:t>Speech-to-text (stretch)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A1F2B"/>
                          </a:solidFill>
                          <a:latin typeface="Calibri"/>
                        </a:rPr>
                        <a:t>openai/whisper-base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dirty="0">
                          <a:solidFill>
                            <a:srgbClr val="1A1F2B"/>
                          </a:solidFill>
                          <a:latin typeface="Calibri"/>
                        </a:rPr>
                        <a:t>Voice-prompt transcription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02920" y="4343400"/>
            <a:ext cx="111556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F2A4A"/>
                </a:solidFill>
                <a:latin typeface="Calibri"/>
              </a:rPr>
              <a:t>Key Notes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709160"/>
            <a:ext cx="1115568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300" b="1">
                <a:solidFill>
                  <a:srgbClr val="1F7A8C"/>
                </a:solidFill>
                <a:latin typeface="Calibri"/>
              </a:rPr>
              <a:t>▪  </a:t>
            </a:r>
            <a:r>
              <a:rPr sz="1300" b="1">
                <a:solidFill>
                  <a:srgbClr val="0F2A4A"/>
                </a:solidFill>
                <a:latin typeface="Calibri"/>
              </a:rPr>
              <a:t>PeftModel</a:t>
            </a:r>
            <a:r>
              <a:rPr sz="1300" b="0" i="0">
                <a:solidFill>
                  <a:srgbClr val="1A1F2B"/>
                </a:solidFill>
                <a:latin typeface="Calibri"/>
              </a:rPr>
              <a:t>Two adapters share one 4-bit quantized base model via PEFT's multi-adapter </a:t>
            </a:r>
          </a:p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300" b="1">
                <a:solidFill>
                  <a:srgbClr val="1F7A8C"/>
                </a:solidFill>
                <a:latin typeface="Calibri"/>
              </a:rPr>
              <a:t>▪  </a:t>
            </a:r>
            <a:r>
              <a:rPr sz="1300" b="0" i="0">
                <a:solidFill>
                  <a:srgbClr val="1A1F2B"/>
                </a:solidFill>
                <a:latin typeface="Calibri"/>
              </a:rPr>
              <a:t> — hot-swapped at inference time</a:t>
            </a:r>
          </a:p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300" b="1">
                <a:solidFill>
                  <a:srgbClr val="1F7A8C"/>
                </a:solidFill>
                <a:latin typeface="Calibri"/>
              </a:rPr>
              <a:t>▪  </a:t>
            </a:r>
            <a:r>
              <a:rPr sz="1300" b="1">
                <a:solidFill>
                  <a:srgbClr val="0F2A4A"/>
                </a:solidFill>
                <a:latin typeface="Calibri"/>
              </a:rPr>
              <a:t>Qwen model scores generated C++ code 0–1 </a:t>
            </a:r>
            <a:r>
              <a:rPr sz="1300" b="0" i="0">
                <a:solidFill>
                  <a:srgbClr val="1A1F2B"/>
                </a:solidFill>
                <a:latin typeface="Calibri"/>
              </a:rPr>
              <a:t>LLM-as-judge: </a:t>
            </a:r>
          </a:p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300" b="1">
                <a:solidFill>
                  <a:srgbClr val="1F7A8C"/>
                </a:solidFill>
                <a:latin typeface="Calibri"/>
              </a:rPr>
              <a:t>▪  </a:t>
            </a:r>
            <a:r>
              <a:rPr sz="1300" b="0" i="0">
                <a:solidFill>
                  <a:srgbClr val="1A1F2B"/>
                </a:solidFill>
                <a:latin typeface="Calibri"/>
              </a:rPr>
              <a:t>against documentation + reference before it is accepted for back-translation (quality threshold = 0.3)</a:t>
            </a:r>
          </a:p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300" b="1">
                <a:solidFill>
                  <a:srgbClr val="1F7A8C"/>
                </a:solidFill>
                <a:latin typeface="Calibri"/>
              </a:rPr>
              <a:t>▪  </a:t>
            </a:r>
            <a:r>
              <a:rPr sz="1300" b="0" i="0">
                <a:solidFill>
                  <a:srgbClr val="1A1F2B"/>
                </a:solidFill>
                <a:latin typeface="Calibri"/>
              </a:rPr>
              <a:t>Tokenizer is shared from the base model — not bundled inside each LoRA adapter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8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8FB4C6"/>
                </a:solidFill>
                <a:latin typeface="Calibri"/>
              </a:rPr>
              <a:t>DEMO APPLICATION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051560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FFFFFF"/>
                </a:solidFill>
                <a:latin typeface="Calibri"/>
              </a:rPr>
              <a:t>User Interface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384048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1" i="0">
                <a:solidFill>
                  <a:srgbClr val="8FB4C6"/>
                </a:solidFill>
                <a:latin typeface="Calibri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555F6E"/>
                </a:solidFill>
                <a:latin typeface="Calibri"/>
              </a:rPr>
              <a:t>IIIT Hyderabad Capstone Project — Group 30 : CodeGen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34440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2A4A"/>
                </a:solidFill>
                <a:latin typeface="Calibri"/>
              </a:rPr>
              <a:t>Interaction Flow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00200"/>
            <a:ext cx="1965960" cy="868680"/>
          </a:xfrm>
          <a:prstGeom prst="roundRect">
            <a:avLst>
              <a:gd name="adj" fmla="val 12000"/>
            </a:avLst>
          </a:prstGeom>
          <a:solidFill>
            <a:srgbClr val="1F7A8C"/>
          </a:solidFill>
          <a:ln w="9525">
            <a:solidFill>
              <a:srgbClr val="1F7A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0800" rIns="76200" bIns="5080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Text Input  or
Voice Recording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476880" y="1933956"/>
            <a:ext cx="246888" cy="201168"/>
          </a:xfrm>
          <a:prstGeom prst="rightArrow">
            <a:avLst/>
          </a:prstGeom>
          <a:solidFill>
            <a:srgbClr val="555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2761488" y="1600200"/>
            <a:ext cx="1965960" cy="868680"/>
          </a:xfrm>
          <a:prstGeom prst="roundRect">
            <a:avLst>
              <a:gd name="adj" fmla="val 12000"/>
            </a:avLst>
          </a:prstGeom>
          <a:solidFill>
            <a:srgbClr val="2C4A66"/>
          </a:solidFill>
          <a:ln w="9525">
            <a:solidFill>
              <a:srgbClr val="2C4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0800" rIns="76200" bIns="5080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Whisper ASR
(if voice)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735448" y="1933956"/>
            <a:ext cx="246888" cy="201168"/>
          </a:xfrm>
          <a:prstGeom prst="rightArrow">
            <a:avLst/>
          </a:prstGeom>
          <a:solidFill>
            <a:srgbClr val="555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5020056" y="1600200"/>
            <a:ext cx="1965960" cy="868680"/>
          </a:xfrm>
          <a:prstGeom prst="roundRect">
            <a:avLst>
              <a:gd name="adj" fmla="val 12000"/>
            </a:avLst>
          </a:prstGeom>
          <a:solidFill>
            <a:srgbClr val="0F2A4A"/>
          </a:solidFill>
          <a:ln w="9525">
            <a:solidFill>
              <a:srgbClr val="0F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0800" rIns="76200" bIns="5080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Auto-Detect Task
(LLM classifier)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994016" y="1933956"/>
            <a:ext cx="246888" cy="201168"/>
          </a:xfrm>
          <a:prstGeom prst="rightArrow">
            <a:avLst/>
          </a:prstGeom>
          <a:solidFill>
            <a:srgbClr val="555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7278624" y="1600200"/>
            <a:ext cx="1965960" cy="868680"/>
          </a:xfrm>
          <a:prstGeom prst="roundRect">
            <a:avLst>
              <a:gd name="adj" fmla="val 12000"/>
            </a:avLst>
          </a:prstGeom>
          <a:solidFill>
            <a:srgbClr val="1F7A8C"/>
          </a:solidFill>
          <a:ln w="9525">
            <a:solidFill>
              <a:srgbClr val="1F7A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0800" rIns="76200" bIns="5080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Load LoRA Adapter
(NL→PY  /  PY→CPP)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9252584" y="1933956"/>
            <a:ext cx="246888" cy="201168"/>
          </a:xfrm>
          <a:prstGeom prst="rightArrow">
            <a:avLst/>
          </a:prstGeom>
          <a:solidFill>
            <a:srgbClr val="555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9537192" y="1600200"/>
            <a:ext cx="1965960" cy="868680"/>
          </a:xfrm>
          <a:prstGeom prst="roundRect">
            <a:avLst>
              <a:gd name="adj" fmla="val 12000"/>
            </a:avLst>
          </a:prstGeom>
          <a:solidFill>
            <a:srgbClr val="E87A3B"/>
          </a:solidFill>
          <a:ln w="9525">
            <a:solidFill>
              <a:srgbClr val="E87A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0800" rIns="76200" bIns="5080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Generate + Syntax-
Highlighted Output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278892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F2A4A"/>
                </a:solidFill>
                <a:latin typeface="Calibri"/>
              </a:rPr>
              <a:t>Modes Supported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3154680"/>
            <a:ext cx="5486400" cy="2194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300" b="1">
                <a:solidFill>
                  <a:srgbClr val="1F7A8C"/>
                </a:solidFill>
                <a:latin typeface="Calibri"/>
              </a:rPr>
              <a:t>▪  </a:t>
            </a:r>
            <a:r>
              <a:rPr sz="1300" b="0" i="0">
                <a:solidFill>
                  <a:srgbClr val="1A1F2B"/>
                </a:solidFill>
                <a:latin typeface="Calibri"/>
              </a:rPr>
              <a:t>NL → Python — generate code from a plain-English description</a:t>
            </a:r>
          </a:p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300" b="1">
                <a:solidFill>
                  <a:srgbClr val="1F7A8C"/>
                </a:solidFill>
                <a:latin typeface="Calibri"/>
              </a:rPr>
              <a:t>▪  </a:t>
            </a:r>
            <a:r>
              <a:rPr sz="1300" b="0" i="0">
                <a:solidFill>
                  <a:srgbClr val="1A1F2B"/>
                </a:solidFill>
                <a:latin typeface="Calibri"/>
              </a:rPr>
              <a:t>Python → C++ — paste Python, get an equivalent C++ implementation</a:t>
            </a:r>
          </a:p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300" b="1">
                <a:solidFill>
                  <a:srgbClr val="1F7A8C"/>
                </a:solidFill>
                <a:latin typeface="Calibri"/>
              </a:rPr>
              <a:t>▪  </a:t>
            </a:r>
            <a:r>
              <a:rPr sz="1300" b="0" i="0">
                <a:solidFill>
                  <a:srgbClr val="1A1F2B"/>
                </a:solidFill>
                <a:latin typeface="Calibri"/>
              </a:rPr>
              <a:t>Auto — system classifies intent and routes automatically</a:t>
            </a:r>
          </a:p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300" b="1">
                <a:solidFill>
                  <a:srgbClr val="1F7A8C"/>
                </a:solidFill>
                <a:latin typeface="Calibri"/>
              </a:rPr>
              <a:t>▪  </a:t>
            </a:r>
            <a:r>
              <a:rPr sz="1300" b="0" i="0">
                <a:solidFill>
                  <a:srgbClr val="1A1F2B"/>
                </a:solidFill>
                <a:latin typeface="Calibri"/>
              </a:rPr>
              <a:t>Voice input — microphone recording transcribed before routing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2788920"/>
            <a:ext cx="5257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F2A4A"/>
                </a:solidFill>
                <a:latin typeface="Calibri"/>
              </a:rPr>
              <a:t>Delivery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3154680"/>
            <a:ext cx="5257800" cy="2194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300" b="1">
                <a:solidFill>
                  <a:srgbClr val="1F7A8C"/>
                </a:solidFill>
                <a:latin typeface="Calibri"/>
              </a:rPr>
              <a:t>▪  </a:t>
            </a:r>
            <a:r>
              <a:rPr sz="1300" b="1">
                <a:solidFill>
                  <a:srgbClr val="0F2A4A"/>
                </a:solidFill>
                <a:latin typeface="Calibri"/>
              </a:rPr>
              <a:t>Gradio</a:t>
            </a:r>
            <a:r>
              <a:rPr sz="1300" b="0" i="0">
                <a:solidFill>
                  <a:srgbClr val="1A1F2B"/>
                </a:solidFill>
                <a:latin typeface="Calibri"/>
              </a:rPr>
              <a:t>Built with </a:t>
            </a:r>
          </a:p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300" b="1">
                <a:solidFill>
                  <a:srgbClr val="1F7A8C"/>
                </a:solidFill>
                <a:latin typeface="Calibri"/>
              </a:rPr>
              <a:t>▪  </a:t>
            </a:r>
            <a:r>
              <a:rPr sz="1300" b="0" i="0">
                <a:solidFill>
                  <a:srgbClr val="1A1F2B"/>
                </a:solidFill>
                <a:latin typeface="Calibri"/>
              </a:rPr>
              <a:t> — shareable public web URL</a:t>
            </a:r>
          </a:p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300" b="1">
                <a:solidFill>
                  <a:srgbClr val="1F7A8C"/>
                </a:solidFill>
                <a:latin typeface="Calibri"/>
              </a:rPr>
              <a:t>▪  </a:t>
            </a:r>
            <a:r>
              <a:rPr sz="1300" b="0" i="0">
                <a:solidFill>
                  <a:srgbClr val="1A1F2B"/>
                </a:solidFill>
                <a:latin typeface="Calibri"/>
              </a:rPr>
              <a:t>Runs on Google Colab with T4 / L4 GPU acceleration</a:t>
            </a:r>
          </a:p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300" b="1">
                <a:solidFill>
                  <a:srgbClr val="1F7A8C"/>
                </a:solidFill>
                <a:latin typeface="Calibri"/>
              </a:rPr>
              <a:t>▪  </a:t>
            </a:r>
            <a:r>
              <a:rPr sz="1300" b="0" i="0">
                <a:solidFill>
                  <a:srgbClr val="1A1F2B"/>
                </a:solidFill>
                <a:latin typeface="Calibri"/>
              </a:rPr>
              <a:t>Adapters + base model downloaded and 4-bit quantized at startup</a:t>
            </a:r>
          </a:p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300" b="1">
                <a:solidFill>
                  <a:srgbClr val="1F7A8C"/>
                </a:solidFill>
                <a:latin typeface="Calibri"/>
              </a:rPr>
              <a:t>▪  </a:t>
            </a:r>
            <a:r>
              <a:rPr sz="1300" b="0" i="0">
                <a:solidFill>
                  <a:srgbClr val="1A1F2B"/>
                </a:solidFill>
                <a:latin typeface="Calibri"/>
              </a:rPr>
              <a:t>Generated code shown with syntax highlighting and a task-status message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8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8FB4C6"/>
                </a:solidFill>
                <a:latin typeface="Calibri"/>
              </a:rPr>
              <a:t>MEASURING QUALITY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051560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FFFFFF"/>
                </a:solidFill>
                <a:latin typeface="Calibri"/>
              </a:rPr>
              <a:t>Scoring &amp; Evaluation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384048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1" i="0">
                <a:solidFill>
                  <a:srgbClr val="8FB4C6"/>
                </a:solidFill>
                <a:latin typeface="Calibri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555F6E"/>
                </a:solidFill>
                <a:latin typeface="Calibri"/>
              </a:rPr>
              <a:t>IIIT Hyderabad Capstone Project — Group 30 : CodeGen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371600"/>
            <a:ext cx="82296" cy="777240"/>
          </a:xfrm>
          <a:prstGeom prst="rect">
            <a:avLst/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371600"/>
            <a:ext cx="274320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0F2A4A"/>
                </a:solidFill>
                <a:latin typeface="Calibri"/>
              </a:rPr>
              <a:t>AST Similarity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1371600"/>
            <a:ext cx="804672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1A1F2B"/>
                </a:solidFill>
                <a:latin typeface="Calibri"/>
              </a:rPr>
              <a:t>tree-sitter parses generated &amp; ground-truth code; node-level tree similarity used (exact-match ASTs are too formatting-sensitive — e.g. spacing in a function signature changes the raw tree)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267712"/>
            <a:ext cx="82296" cy="777240"/>
          </a:xfrm>
          <a:prstGeom prst="rect">
            <a:avLst/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" y="2267712"/>
            <a:ext cx="274320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0F2A4A"/>
                </a:solidFill>
                <a:latin typeface="Calibri"/>
              </a:rPr>
              <a:t>GraphCodeBERTScore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2267712"/>
            <a:ext cx="804672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1A1F2B"/>
                </a:solidFill>
                <a:latin typeface="Calibri"/>
              </a:rPr>
              <a:t>Cosine similarity between GraphCodeBERT embeddings of the two code snippets — captures semantic equivalence even when structure differs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163824"/>
            <a:ext cx="82296" cy="777240"/>
          </a:xfrm>
          <a:prstGeom prst="rect">
            <a:avLst/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77240" y="3163824"/>
            <a:ext cx="274320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0F2A4A"/>
                </a:solidFill>
                <a:latin typeface="Calibri"/>
              </a:rPr>
              <a:t>Average Score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3163824"/>
            <a:ext cx="804672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1A1F2B"/>
                </a:solidFill>
                <a:latin typeface="Calibri"/>
              </a:rPr>
              <a:t>Mean of AST Similarity and GraphCodeBERTScore — the primary per-record quality metric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4059936"/>
            <a:ext cx="82296" cy="777240"/>
          </a:xfrm>
          <a:prstGeom prst="rect">
            <a:avLst/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77240" y="4059936"/>
            <a:ext cx="274320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0F2A4A"/>
                </a:solidFill>
                <a:latin typeface="Calibri"/>
              </a:rPr>
              <a:t>LLM-as-Judge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4059936"/>
            <a:ext cx="804672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1A1F2B"/>
                </a:solidFill>
                <a:latin typeface="Calibri"/>
              </a:rPr>
              <a:t>Qwen2.5-Coder scores generated C++ (0–1) against documentation + reference before it is accepted for Python back-translation; quality threshold = 0.3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5047488"/>
            <a:ext cx="11185855" cy="19050"/>
          </a:xfrm>
          <a:prstGeom prst="rect">
            <a:avLst/>
          </a:prstGeom>
          <a:solidFill>
            <a:srgbClr val="D8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02920" y="5276088"/>
            <a:ext cx="111556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0F2A4A"/>
                </a:solidFill>
                <a:latin typeface="Calibri"/>
              </a:rPr>
              <a:t>Best-of-3 &amp; Aggregation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5641848"/>
            <a:ext cx="111556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250" b="1">
                <a:solidFill>
                  <a:srgbClr val="1F7A8C"/>
                </a:solidFill>
                <a:latin typeface="Calibri"/>
              </a:rPr>
              <a:t>▪  </a:t>
            </a:r>
            <a:r>
              <a:rPr sz="1250" b="1">
                <a:solidFill>
                  <a:srgbClr val="0F2A4A"/>
                </a:solidFill>
                <a:latin typeface="Calibri"/>
              </a:rPr>
              <a:t>3 times</a:t>
            </a:r>
            <a:r>
              <a:rPr sz="1250" b="0" i="0">
                <a:solidFill>
                  <a:srgbClr val="1A1F2B"/>
                </a:solidFill>
                <a:latin typeface="Calibri"/>
              </a:rPr>
              <a:t>Each generation step (documentation, code, PL1→PL2) is repeated </a:t>
            </a:r>
          </a:p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250" b="1">
                <a:solidFill>
                  <a:srgbClr val="1F7A8C"/>
                </a:solidFill>
                <a:latin typeface="Calibri"/>
              </a:rPr>
              <a:t>▪  </a:t>
            </a:r>
            <a:r>
              <a:rPr sz="1250" b="0" i="0">
                <a:solidFill>
                  <a:srgbClr val="1A1F2B"/>
                </a:solidFill>
                <a:latin typeface="Calibri"/>
              </a:rPr>
              <a:t>; the highest-scoring attempt is retained per record</a:t>
            </a:r>
          </a:p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250" b="1">
                <a:solidFill>
                  <a:srgbClr val="1F7A8C"/>
                </a:solidFill>
                <a:latin typeface="Calibri"/>
              </a:rPr>
              <a:t>▪  </a:t>
            </a:r>
            <a:r>
              <a:rPr sz="1250" b="0" i="0">
                <a:solidFill>
                  <a:srgbClr val="1A1F2B"/>
                </a:solidFill>
                <a:latin typeface="Calibri"/>
              </a:rPr>
              <a:t>compute_summary() aggregates results by language (Python / C++) and by phase (NL→PL, NL→PL1→PL2)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8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8FB4C6"/>
                </a:solidFill>
                <a:latin typeface="Calibri"/>
              </a:rPr>
              <a:t>BASELINE FINDINGS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051560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Results Summary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384048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1" i="0">
                <a:solidFill>
                  <a:srgbClr val="8FB4C6"/>
                </a:solidFill>
                <a:latin typeface="Calibri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555F6E"/>
                </a:solidFill>
                <a:latin typeface="Calibri"/>
              </a:rPr>
              <a:t>IIIT Hyderabad Capstone Project — Group 30 : CodeGen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325880"/>
            <a:ext cx="2606040" cy="1188720"/>
          </a:xfrm>
          <a:prstGeom prst="rect">
            <a:avLst/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02920" y="1325880"/>
            <a:ext cx="73152" cy="1188720"/>
          </a:xfrm>
          <a:prstGeom prst="rect">
            <a:avLst/>
          </a:prstGeom>
          <a:solidFill>
            <a:srgbClr val="E8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1463040"/>
            <a:ext cx="22402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0F2A4A"/>
                </a:solidFill>
                <a:latin typeface="Calibri"/>
              </a:rPr>
              <a:t>167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103120"/>
            <a:ext cx="2240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555F6E"/>
                </a:solidFill>
                <a:latin typeface="Calibri"/>
              </a:rPr>
              <a:t>Records Processed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37560" y="1325880"/>
            <a:ext cx="2606040" cy="1188720"/>
          </a:xfrm>
          <a:prstGeom prst="rect">
            <a:avLst/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337560" y="1325880"/>
            <a:ext cx="73152" cy="1188720"/>
          </a:xfrm>
          <a:prstGeom prst="rect">
            <a:avLst/>
          </a:prstGeom>
          <a:solidFill>
            <a:srgbClr val="E8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566160" y="1463040"/>
            <a:ext cx="22402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0F2A4A"/>
                </a:solidFill>
                <a:latin typeface="Calibri"/>
              </a:rPr>
              <a:t>0.7250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2103120"/>
            <a:ext cx="2240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555F6E"/>
                </a:solidFill>
                <a:latin typeface="Calibri"/>
              </a:rPr>
              <a:t>NL → PL Avg Score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72200" y="1325880"/>
            <a:ext cx="2606040" cy="1188720"/>
          </a:xfrm>
          <a:prstGeom prst="rect">
            <a:avLst/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172200" y="1325880"/>
            <a:ext cx="73152" cy="1188720"/>
          </a:xfrm>
          <a:prstGeom prst="rect">
            <a:avLst/>
          </a:prstGeom>
          <a:solidFill>
            <a:srgbClr val="E8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00800" y="1463040"/>
            <a:ext cx="22402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0F2A4A"/>
                </a:solidFill>
                <a:latin typeface="Calibri"/>
              </a:rPr>
              <a:t>0.9127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103120"/>
            <a:ext cx="2240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555F6E"/>
                </a:solidFill>
                <a:latin typeface="Calibri"/>
              </a:rPr>
              <a:t>GraphCodeBERT Score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06840" y="1325880"/>
            <a:ext cx="2606040" cy="1188720"/>
          </a:xfrm>
          <a:prstGeom prst="rect">
            <a:avLst/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9006840" y="1325880"/>
            <a:ext cx="73152" cy="1188720"/>
          </a:xfrm>
          <a:prstGeom prst="rect">
            <a:avLst/>
          </a:prstGeom>
          <a:solidFill>
            <a:srgbClr val="E8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235440" y="1463040"/>
            <a:ext cx="22402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0F2A4A"/>
                </a:solidFill>
                <a:latin typeface="Calibri"/>
              </a:rPr>
              <a:t>0.5374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35440" y="2103120"/>
            <a:ext cx="2240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555F6E"/>
                </a:solidFill>
                <a:latin typeface="Calibri"/>
              </a:rPr>
              <a:t>AST Similarity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283464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0F2A4A"/>
                </a:solidFill>
                <a:latin typeface="Calibri"/>
              </a:rPr>
              <a:t>Baseline Summary (n=167)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502920" y="3200400"/>
          <a:ext cx="5532119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6184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7027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8006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Score</a:t>
                      </a:r>
                    </a:p>
                  </a:txBody>
                  <a:tcPr anchor="ctr">
                    <a:solidFill>
                      <a:srgbClr val="0F2A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0060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A1F2B"/>
                          </a:solidFill>
                          <a:latin typeface="Calibri"/>
                        </a:rPr>
                        <a:t>Python records (n=84)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A1F2B"/>
                          </a:solidFill>
                          <a:latin typeface="Calibri"/>
                        </a:rPr>
                        <a:t>0.7357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0060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A1F2B"/>
                          </a:solidFill>
                          <a:latin typeface="Calibri"/>
                        </a:rPr>
                        <a:t>C++ records (n=83)</a:t>
                      </a:r>
                    </a:p>
                  </a:txBody>
                  <a:tcPr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A1F2B"/>
                          </a:solidFill>
                          <a:latin typeface="Calibri"/>
                        </a:rPr>
                        <a:t>0.7142</a:t>
                      </a:r>
                    </a:p>
                  </a:txBody>
                  <a:tcPr anchor="ctr">
                    <a:solidFill>
                      <a:srgbClr val="EEF2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0060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A1F2B"/>
                          </a:solidFill>
                          <a:latin typeface="Calibri"/>
                        </a:rPr>
                        <a:t>NL → PL AST Score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A1F2B"/>
                          </a:solidFill>
                          <a:latin typeface="Calibri"/>
                        </a:rPr>
                        <a:t>0.5374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0060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A1F2B"/>
                          </a:solidFill>
                          <a:latin typeface="Calibri"/>
                        </a:rPr>
                        <a:t>NL → PL GraphCodeBERTScore</a:t>
                      </a:r>
                    </a:p>
                  </a:txBody>
                  <a:tcPr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A1F2B"/>
                          </a:solidFill>
                          <a:latin typeface="Calibri"/>
                        </a:rPr>
                        <a:t>0.9127</a:t>
                      </a:r>
                    </a:p>
                  </a:txBody>
                  <a:tcPr anchor="ctr">
                    <a:solidFill>
                      <a:srgbClr val="EEF2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80060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A1F2B"/>
                          </a:solidFill>
                          <a:latin typeface="Calibri"/>
                        </a:rPr>
                        <a:t>NL → PL1 → PL2 round-trip (n=83)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A1F2B"/>
                          </a:solidFill>
                          <a:latin typeface="Calibri"/>
                        </a:rPr>
                        <a:t>0.6857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309360" y="2834640"/>
            <a:ext cx="5349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0F2A4A"/>
                </a:solidFill>
                <a:latin typeface="Calibri"/>
              </a:rPr>
              <a:t>Reading the Numbers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3246120"/>
            <a:ext cx="5349240" cy="16498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250" b="1" dirty="0">
                <a:solidFill>
                  <a:srgbClr val="1F7A8C"/>
                </a:solidFill>
                <a:latin typeface="Calibri"/>
              </a:rPr>
              <a:t>▪  </a:t>
            </a:r>
            <a:r>
              <a:rPr sz="1250" b="1" dirty="0">
                <a:solidFill>
                  <a:srgbClr val="0F2A4A"/>
                </a:solidFill>
                <a:latin typeface="Calibri"/>
              </a:rPr>
              <a:t>meaning-equivalent</a:t>
            </a:r>
            <a:r>
              <a:rPr lang="en-US" sz="1250" b="1" dirty="0">
                <a:solidFill>
                  <a:srgbClr val="0F2A4A"/>
                </a:solidFill>
                <a:latin typeface="Calibri"/>
              </a:rPr>
              <a:t> </a:t>
            </a:r>
            <a:r>
              <a:rPr sz="1250" b="0" i="0" dirty="0">
                <a:solidFill>
                  <a:srgbClr val="1A1F2B"/>
                </a:solidFill>
                <a:latin typeface="Calibri"/>
              </a:rPr>
              <a:t>High </a:t>
            </a:r>
            <a:r>
              <a:rPr sz="1250" b="0" i="0" dirty="0" err="1">
                <a:solidFill>
                  <a:srgbClr val="1A1F2B"/>
                </a:solidFill>
                <a:latin typeface="Calibri"/>
              </a:rPr>
              <a:t>GraphCodeBERTScore</a:t>
            </a:r>
            <a:r>
              <a:rPr sz="1250" b="0" i="0" dirty="0">
                <a:solidFill>
                  <a:srgbClr val="1A1F2B"/>
                </a:solidFill>
                <a:latin typeface="Calibri"/>
              </a:rPr>
              <a:t> (0.91) vs. lower AST score (0.54) → generated code is often </a:t>
            </a:r>
            <a:r>
              <a:rPr sz="1250" b="1" dirty="0">
                <a:solidFill>
                  <a:srgbClr val="0F2A4A"/>
                </a:solidFill>
                <a:latin typeface="Calibri"/>
              </a:rPr>
              <a:t>structurally divergent</a:t>
            </a:r>
            <a:r>
              <a:rPr sz="1250" b="0" i="0" dirty="0">
                <a:solidFill>
                  <a:srgbClr val="1A1F2B"/>
                </a:solidFill>
                <a:latin typeface="Calibri"/>
              </a:rPr>
              <a:t> from ground truth (different idioms / formatting)</a:t>
            </a:r>
          </a:p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250" b="1" dirty="0">
                <a:solidFill>
                  <a:srgbClr val="1F7A8C"/>
                </a:solidFill>
                <a:latin typeface="Calibri"/>
              </a:rPr>
              <a:t>▪  </a:t>
            </a:r>
            <a:r>
              <a:rPr sz="1250" b="0" i="0" dirty="0">
                <a:solidFill>
                  <a:srgbClr val="1A1F2B"/>
                </a:solidFill>
                <a:latin typeface="Calibri"/>
              </a:rPr>
              <a:t>Python (0.7357) and C++ (0.7142) NL→PL scores are close — base model generalizes reasonably across both languages</a:t>
            </a:r>
          </a:p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250" b="1" dirty="0">
                <a:solidFill>
                  <a:srgbClr val="1F7A8C"/>
                </a:solidFill>
                <a:latin typeface="Calibri"/>
              </a:rPr>
              <a:t>▪  </a:t>
            </a:r>
            <a:r>
              <a:rPr sz="1250" b="0" i="0" dirty="0">
                <a:solidFill>
                  <a:srgbClr val="1A1F2B"/>
                </a:solidFill>
                <a:latin typeface="Calibri"/>
              </a:rPr>
              <a:t>Round-trip NL→PL1→PL2 (0.6857) is lower than single-hop NL→PL, as expected — errors compound across two generation steps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8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8FB4C6"/>
                </a:solidFill>
                <a:latin typeface="Calibri"/>
              </a:rPr>
              <a:t>RETROSPECTIVE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051560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Issues and Learnings from the Capstone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384048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1" i="0">
                <a:solidFill>
                  <a:srgbClr val="8FB4C6"/>
                </a:solidFill>
                <a:latin typeface="Calibri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555F6E"/>
                </a:solidFill>
                <a:latin typeface="Calibri"/>
              </a:rPr>
              <a:t>IIIT Hyderabad Capstone Project — Group 30 : CodeGen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11480" y="1234440"/>
          <a:ext cx="11384279" cy="5257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9198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644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84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Issue Faced</a:t>
                      </a:r>
                    </a:p>
                  </a:txBody>
                  <a:tcPr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Learning</a:t>
                      </a:r>
                    </a:p>
                  </a:txBody>
                  <a:tcPr anchor="ctr">
                    <a:solidFill>
                      <a:srgbClr val="0F2A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30">
                          <a:solidFill>
                            <a:srgbClr val="1A1F2B"/>
                          </a:solidFill>
                          <a:latin typeface="Calibri"/>
                        </a:rPr>
                        <a:t>No dataset had matching Python &amp; C++ code for the same intent</a:t>
                      </a:r>
                    </a:p>
                  </a:txBody>
                  <a:tcPr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30">
                          <a:solidFill>
                            <a:srgbClr val="1A1F2B"/>
                          </a:solidFill>
                          <a:latin typeface="Calibri"/>
                        </a:rPr>
                        <a:t>Generate PL2 from the PL1 documentation; treat the original PL1 as ground truth for the reverse check</a:t>
                      </a:r>
                    </a:p>
                  </a:txBody>
                  <a:tcPr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30">
                          <a:solidFill>
                            <a:srgbClr val="1A1F2B"/>
                          </a:solidFill>
                          <a:latin typeface="Calibri"/>
                        </a:rPr>
                        <a:t>Python code used packages with no C++ equivalent</a:t>
                      </a:r>
                    </a:p>
                  </a:txBody>
                  <a:tcPr marT="38100" marB="38100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30">
                          <a:solidFill>
                            <a:srgbClr val="1A1F2B"/>
                          </a:solidFill>
                          <a:latin typeface="Calibri"/>
                        </a:rPr>
                        <a:t>Reversed the pipeline — generate documentation from C++, produce Python from it, then convert back to C++</a:t>
                      </a:r>
                    </a:p>
                  </a:txBody>
                  <a:tcPr marT="38100" marB="38100" anchor="ctr">
                    <a:solidFill>
                      <a:srgbClr val="EEF2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30">
                          <a:solidFill>
                            <a:srgbClr val="1A1F2B"/>
                          </a:solidFill>
                          <a:latin typeface="Calibri"/>
                        </a:rPr>
                        <a:t>codegen-350M-multi is a completion model — kept repeating documentation instead of generating code</a:t>
                      </a:r>
                    </a:p>
                  </a:txBody>
                  <a:tcPr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30">
                          <a:solidFill>
                            <a:srgbClr val="1A1F2B"/>
                          </a:solidFill>
                          <a:latin typeface="Calibri"/>
                        </a:rPr>
                        <a:t>Wrong model choice for NL→PL; switched to Qwen/Qwen2.5-Coder-7B-Instruct</a:t>
                      </a:r>
                    </a:p>
                  </a:txBody>
                  <a:tcPr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30">
                          <a:solidFill>
                            <a:srgbClr val="1A1F2B"/>
                          </a:solidFill>
                          <a:latin typeface="Calibri"/>
                        </a:rPr>
                        <a:t>codegen-350M-multi threw index-out-of-bounds errors; CUDA:1 tensors held garbage values — hooks, rope_scaling and token-limit fixes all failed</a:t>
                      </a:r>
                    </a:p>
                  </a:txBody>
                  <a:tcPr marT="38100" marB="38100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30">
                          <a:solidFill>
                            <a:srgbClr val="1A1F2B"/>
                          </a:solidFill>
                          <a:latin typeface="Calibri"/>
                        </a:rPr>
                        <a:t>Pinned to a single GPU (CUDA_VISIBLE_DEVICES) with CUDA_LAUNCH_BLOCKING / TORCH_USE_CUDA_DSA for debugging</a:t>
                      </a:r>
                    </a:p>
                  </a:txBody>
                  <a:tcPr marT="38100" marB="38100" anchor="ctr">
                    <a:solidFill>
                      <a:srgbClr val="EEF2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30">
                          <a:solidFill>
                            <a:srgbClr val="1A1F2B"/>
                          </a:solidFill>
                          <a:latin typeface="Calibri"/>
                        </a:rPr>
                        <a:t>7B model's VRAM footprint too large for the available GPUs</a:t>
                      </a:r>
                    </a:p>
                  </a:txBody>
                  <a:tcPr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30">
                          <a:solidFill>
                            <a:srgbClr val="1A1F2B"/>
                          </a:solidFill>
                          <a:latin typeface="Calibri"/>
                        </a:rPr>
                        <a:t>4-bit quantization (BitsAndBytes) cut usage from ~14 GB to ~4 GB</a:t>
                      </a:r>
                    </a:p>
                  </a:txBody>
                  <a:tcPr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30">
                          <a:solidFill>
                            <a:srgbClr val="1A1F2B"/>
                          </a:solidFill>
                          <a:latin typeface="Calibri"/>
                        </a:rPr>
                        <a:t>Fine-tuning still hit a hard OOM ceiling — only ~33 records could be processed</a:t>
                      </a:r>
                    </a:p>
                  </a:txBody>
                  <a:tcPr marT="38100" marB="38100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30">
                          <a:solidFill>
                            <a:srgbClr val="1A1F2B"/>
                          </a:solidFill>
                          <a:latin typeface="Calibri"/>
                        </a:rPr>
                        <a:t>Cache-clearing + garbage collection helped marginally; no complete fix found</a:t>
                      </a:r>
                    </a:p>
                  </a:txBody>
                  <a:tcPr marT="38100" marB="38100" anchor="ctr">
                    <a:solidFill>
                      <a:srgbClr val="EEF2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30">
                          <a:solidFill>
                            <a:srgbClr val="1A1F2B"/>
                          </a:solidFill>
                          <a:latin typeface="Calibri"/>
                        </a:rPr>
                        <a:t>One Qwen model overloaded with three roles — documentation generation, code generation, and LLM-judge</a:t>
                      </a:r>
                    </a:p>
                  </a:txBody>
                  <a:tcPr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30">
                          <a:solidFill>
                            <a:srgbClr val="1A1F2B"/>
                          </a:solidFill>
                          <a:latin typeface="Calibri"/>
                        </a:rPr>
                        <a:t>Accepted as a memory-driven design constraint; no alternative model was available</a:t>
                      </a:r>
                    </a:p>
                  </a:txBody>
                  <a:tcPr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30">
                          <a:solidFill>
                            <a:srgbClr val="1A1F2B"/>
                          </a:solidFill>
                          <a:latin typeface="Calibri"/>
                        </a:rPr>
                        <a:t>Judging code correctness without compiling or executing it</a:t>
                      </a:r>
                    </a:p>
                  </a:txBody>
                  <a:tcPr marT="38100" marB="38100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30">
                          <a:solidFill>
                            <a:srgbClr val="1A1F2B"/>
                          </a:solidFill>
                          <a:latin typeface="Calibri"/>
                        </a:rPr>
                        <a:t>Used Qwen as an LLM-judge scoring compiles / logic_correct / edge_cases / verdict, plus a 0–1 score</a:t>
                      </a:r>
                    </a:p>
                  </a:txBody>
                  <a:tcPr marT="38100" marB="38100" anchor="ctr">
                    <a:solidFill>
                      <a:srgbClr val="EEF2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8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8FB4C6"/>
                </a:solidFill>
                <a:latin typeface="Calibri"/>
              </a:rPr>
              <a:t>WHAT'S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051560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FFFFFF"/>
                </a:solidFill>
                <a:latin typeface="Calibri"/>
              </a:rPr>
              <a:t>Future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384048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1" i="0">
                <a:solidFill>
                  <a:srgbClr val="8FB4C6"/>
                </a:solidFill>
                <a:latin typeface="Calibri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555F6E"/>
                </a:solidFill>
                <a:latin typeface="Calibri"/>
              </a:rPr>
              <a:t>IIIT Hyderabad Capstone Project — Group 30 : CodeGen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417320"/>
            <a:ext cx="11155680" cy="4937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>
              <a:lnSpc>
                <a:spcPct val="108000"/>
              </a:lnSpc>
              <a:spcAft>
                <a:spcPts val="1800"/>
              </a:spcAft>
            </a:pPr>
            <a:r>
              <a:rPr sz="1550" b="1" dirty="0">
                <a:solidFill>
                  <a:srgbClr val="1F7A8C"/>
                </a:solidFill>
                <a:latin typeface="Calibri"/>
              </a:rPr>
              <a:t>▪  </a:t>
            </a:r>
            <a:r>
              <a:rPr sz="1550" b="0" i="0" dirty="0">
                <a:solidFill>
                  <a:srgbClr val="1A1F2B"/>
                </a:solidFill>
                <a:latin typeface="Calibri"/>
              </a:rPr>
              <a:t>Curate a parallel Python–C++ dataset with shared intent/documentation for more reliable PL1→PL2 evaluation</a:t>
            </a:r>
          </a:p>
          <a:p>
            <a:pPr marL="0" indent="0" algn="l">
              <a:lnSpc>
                <a:spcPct val="108000"/>
              </a:lnSpc>
              <a:spcAft>
                <a:spcPts val="1800"/>
              </a:spcAft>
            </a:pPr>
            <a:r>
              <a:rPr sz="1550" b="1" dirty="0">
                <a:solidFill>
                  <a:srgbClr val="1F7A8C"/>
                </a:solidFill>
                <a:latin typeface="Calibri"/>
              </a:rPr>
              <a:t>▪  </a:t>
            </a:r>
            <a:r>
              <a:rPr sz="1550" b="0" i="0" dirty="0">
                <a:solidFill>
                  <a:srgbClr val="1A1F2B"/>
                </a:solidFill>
                <a:latin typeface="Calibri"/>
              </a:rPr>
              <a:t>Add execution-based validation — auto-generate test cases and run code in a sandbox to confirm functional equivalence, not just similarity scores</a:t>
            </a:r>
          </a:p>
          <a:p>
            <a:pPr marL="0" indent="0" algn="l">
              <a:lnSpc>
                <a:spcPct val="108000"/>
              </a:lnSpc>
              <a:spcAft>
                <a:spcPts val="1800"/>
              </a:spcAft>
            </a:pPr>
            <a:r>
              <a:rPr sz="1550" b="1" dirty="0">
                <a:solidFill>
                  <a:srgbClr val="1F7A8C"/>
                </a:solidFill>
                <a:latin typeface="Calibri"/>
              </a:rPr>
              <a:t>▪  </a:t>
            </a:r>
            <a:r>
              <a:rPr sz="1550" b="0" i="0" dirty="0">
                <a:solidFill>
                  <a:srgbClr val="1A1F2B"/>
                </a:solidFill>
                <a:latin typeface="Calibri"/>
              </a:rPr>
              <a:t>Scale baseline &amp; validation runs to the full dataset once GPU memory/fragmentation issues are resolved</a:t>
            </a:r>
          </a:p>
          <a:p>
            <a:pPr marL="0" indent="0" algn="l">
              <a:lnSpc>
                <a:spcPct val="108000"/>
              </a:lnSpc>
              <a:spcAft>
                <a:spcPts val="1800"/>
              </a:spcAft>
            </a:pPr>
            <a:r>
              <a:rPr sz="1550" b="1" dirty="0">
                <a:solidFill>
                  <a:srgbClr val="1F7A8C"/>
                </a:solidFill>
                <a:latin typeface="Calibri"/>
              </a:rPr>
              <a:t>▪  </a:t>
            </a:r>
            <a:r>
              <a:rPr sz="1550" b="0" i="0" dirty="0">
                <a:solidFill>
                  <a:srgbClr val="1A1F2B"/>
                </a:solidFill>
                <a:latin typeface="Calibri"/>
              </a:rPr>
              <a:t>Tune the relative weighting of AST, </a:t>
            </a:r>
            <a:r>
              <a:rPr sz="1550" b="0" i="0" dirty="0" err="1">
                <a:solidFill>
                  <a:srgbClr val="1A1F2B"/>
                </a:solidFill>
                <a:latin typeface="Calibri"/>
              </a:rPr>
              <a:t>GraphCodeBERTScore</a:t>
            </a:r>
            <a:r>
              <a:rPr sz="1550" b="0" i="0" dirty="0">
                <a:solidFill>
                  <a:srgbClr val="1A1F2B"/>
                </a:solidFill>
                <a:latin typeface="Calibri"/>
              </a:rPr>
              <a:t>, and execution accuracy in the final accuracy metric</a:t>
            </a:r>
          </a:p>
          <a:p>
            <a:pPr marL="0" indent="0" algn="l">
              <a:lnSpc>
                <a:spcPct val="108000"/>
              </a:lnSpc>
              <a:spcAft>
                <a:spcPts val="1800"/>
              </a:spcAft>
            </a:pPr>
            <a:r>
              <a:rPr sz="1550" b="1" dirty="0">
                <a:solidFill>
                  <a:srgbClr val="1F7A8C"/>
                </a:solidFill>
                <a:latin typeface="Calibri"/>
              </a:rPr>
              <a:t>▪  </a:t>
            </a:r>
            <a:r>
              <a:rPr sz="1550" b="0" i="0" dirty="0">
                <a:solidFill>
                  <a:srgbClr val="1A1F2B"/>
                </a:solidFill>
                <a:latin typeface="Calibri"/>
              </a:rPr>
              <a:t>Text-to-speech readout of generated documentation — extends the voice stretch goal end-to-end</a:t>
            </a:r>
          </a:p>
          <a:p>
            <a:pPr marL="0" indent="0" algn="l">
              <a:lnSpc>
                <a:spcPct val="108000"/>
              </a:lnSpc>
              <a:spcAft>
                <a:spcPts val="1800"/>
              </a:spcAft>
            </a:pPr>
            <a:r>
              <a:rPr sz="1550" b="1" dirty="0">
                <a:solidFill>
                  <a:srgbClr val="1F7A8C"/>
                </a:solidFill>
                <a:latin typeface="Calibri"/>
              </a:rPr>
              <a:t>▪  </a:t>
            </a:r>
            <a:r>
              <a:rPr sz="1550" b="0" i="0" dirty="0">
                <a:solidFill>
                  <a:srgbClr val="1A1F2B"/>
                </a:solidFill>
                <a:latin typeface="Calibri"/>
              </a:rPr>
              <a:t>Extend beyond Python/C++ to lower-resource, legacy languages (e.g. Ada95) — real-world need given shrinking specialist workforces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8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1033272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 i="0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3429000"/>
            <a:ext cx="103327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E87A3B"/>
                </a:solidFill>
                <a:latin typeface="Calibri"/>
              </a:rPr>
              <a:t>Questions &amp; Discussion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4114800"/>
            <a:ext cx="2194560" cy="27940"/>
          </a:xfrm>
          <a:prstGeom prst="rect">
            <a:avLst/>
          </a:prstGeom>
          <a:solidFill>
            <a:srgbClr val="E8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4434840"/>
            <a:ext cx="73152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500" b="1">
                <a:solidFill>
                  <a:srgbClr val="1F7A8C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C7D9E2"/>
                </a:solidFill>
                <a:latin typeface="Calibri"/>
              </a:rPr>
              <a:t>Taran Tripathi, Prakhar Nigam, Kihim Lohitha, Tushnik Chakrabarty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512064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555F6E"/>
                </a:solidFill>
                <a:latin typeface="Calibri"/>
              </a:rPr>
              <a:t>CodeGen — IIIT Hyderabad Capstone Project, Group 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Metadata/LabelInfo.xml><?xml version="1.0" encoding="utf-8"?>
<clbl:labelList xmlns:clbl="http://schemas.microsoft.com/office/2020/mipLabelMetadata">
  <clbl:label id="{4447dd6a-a4a1-440b-a6a3-9124ef1ee017}" enabled="1" method="Privileged" siteId="{7a18110d-ef9b-4274-acef-e62ab0fe28ed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15</TotalTime>
  <Words>1659</Words>
  <Application>Microsoft Office PowerPoint</Application>
  <PresentationFormat>Widescreen</PresentationFormat>
  <Paragraphs>208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Tripathi, Taran (IND)</cp:lastModifiedBy>
  <cp:revision>2</cp:revision>
  <dcterms:created xsi:type="dcterms:W3CDTF">2013-01-27T09:14:16Z</dcterms:created>
  <dcterms:modified xsi:type="dcterms:W3CDTF">2026-07-05T01:42:47Z</dcterms:modified>
  <cp:category/>
</cp:coreProperties>
</file>